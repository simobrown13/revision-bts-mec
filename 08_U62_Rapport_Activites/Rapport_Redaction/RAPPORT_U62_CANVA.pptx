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00000" y="0"/>
            <a:ext cx="3060000" cy="1069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0000" y="8640000"/>
            <a:ext cx="2520000" cy="2052000"/>
          </a:xfrm>
          <a:prstGeom prst="roundRect">
            <a:avLst>
              <a:gd name="adj" fmla="val 15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20000" y="7740000"/>
            <a:ext cx="1440000" cy="1007999"/>
          </a:xfrm>
          <a:prstGeom prst="roundRect">
            <a:avLst>
              <a:gd name="adj" fmla="val 1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8000" y="540000"/>
            <a:ext cx="1080000"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SESSION 2026</a:t>
            </a:r>
          </a:p>
        </p:txBody>
      </p:sp>
      <p:sp>
        <p:nvSpPr>
          <p:cNvPr id="6" name="TextBox 5"/>
          <p:cNvSpPr txBox="1"/>
          <p:nvPr/>
        </p:nvSpPr>
        <p:spPr>
          <a:xfrm>
            <a:off x="1872000" y="540000"/>
            <a:ext cx="1800000" cy="251999"/>
          </a:xfrm>
          <a:prstGeom prst="rect">
            <a:avLst/>
          </a:prstGeom>
          <a:noFill/>
        </p:spPr>
        <p:txBody>
          <a:bodyPr wrap="square">
            <a:spAutoFit/>
          </a:bodyPr>
          <a:lstStyle/>
          <a:p>
            <a:pPr algn="l">
              <a:defRPr sz="800" b="0">
                <a:solidFill>
                  <a:srgbClr val="888888"/>
                </a:solidFill>
                <a:latin typeface="Montserrat"/>
              </a:defRPr>
            </a:pPr>
            <a:r>
              <a:t>Academie de Lyon</a:t>
            </a:r>
          </a:p>
        </p:txBody>
      </p:sp>
      <p:sp>
        <p:nvSpPr>
          <p:cNvPr id="7" name="TextBox 6"/>
          <p:cNvSpPr txBox="1"/>
          <p:nvPr/>
        </p:nvSpPr>
        <p:spPr>
          <a:xfrm>
            <a:off x="648000" y="2520000"/>
            <a:ext cx="3240000" cy="180000"/>
          </a:xfrm>
          <a:prstGeom prst="rect">
            <a:avLst/>
          </a:prstGeom>
          <a:noFill/>
        </p:spPr>
        <p:txBody>
          <a:bodyPr wrap="square">
            <a:spAutoFit/>
          </a:bodyPr>
          <a:lstStyle/>
          <a:p>
            <a:pPr algn="l">
              <a:defRPr sz="700" b="1">
                <a:solidFill>
                  <a:srgbClr val="F39200"/>
                </a:solidFill>
                <a:latin typeface="Montserrat"/>
              </a:defRPr>
            </a:pPr>
            <a:r>
              <a:t>DOSSIER DE SYNTHESE</a:t>
            </a:r>
          </a:p>
        </p:txBody>
      </p:sp>
      <p:sp>
        <p:nvSpPr>
          <p:cNvPr id="8" name="TextBox 7"/>
          <p:cNvSpPr txBox="1"/>
          <p:nvPr/>
        </p:nvSpPr>
        <p:spPr>
          <a:xfrm>
            <a:off x="648000" y="2880000"/>
            <a:ext cx="3600000" cy="720000"/>
          </a:xfrm>
          <a:prstGeom prst="rect">
            <a:avLst/>
          </a:prstGeom>
          <a:noFill/>
        </p:spPr>
        <p:txBody>
          <a:bodyPr wrap="square">
            <a:spAutoFit/>
          </a:bodyPr>
          <a:lstStyle/>
          <a:p>
            <a:pPr algn="l">
              <a:defRPr sz="3200" b="1">
                <a:solidFill>
                  <a:srgbClr val="1E3A5F"/>
                </a:solidFill>
                <a:latin typeface="Montserrat"/>
              </a:defRPr>
            </a:pPr>
            <a:r>
              <a:t>RAPPORT</a:t>
            </a:r>
            <a:br/>
            <a:r>
              <a:t>D'ACTIVITES</a:t>
            </a:r>
          </a:p>
        </p:txBody>
      </p:sp>
      <p:sp>
        <p:nvSpPr>
          <p:cNvPr id="9" name="TextBox 8"/>
          <p:cNvSpPr txBox="1"/>
          <p:nvPr/>
        </p:nvSpPr>
        <p:spPr>
          <a:xfrm>
            <a:off x="648000" y="4140000"/>
            <a:ext cx="3600000" cy="432000"/>
          </a:xfrm>
          <a:prstGeom prst="rect">
            <a:avLst/>
          </a:prstGeom>
          <a:noFill/>
        </p:spPr>
        <p:txBody>
          <a:bodyPr wrap="square">
            <a:spAutoFit/>
          </a:bodyPr>
          <a:lstStyle/>
          <a:p>
            <a:pPr algn="l">
              <a:defRPr sz="3200" b="1">
                <a:solidFill>
                  <a:srgbClr val="F39200"/>
                </a:solidFill>
                <a:latin typeface="Montserrat"/>
              </a:defRPr>
            </a:pPr>
            <a:r>
              <a:t>PROFESSIONNELLES</a:t>
            </a:r>
          </a:p>
        </p:txBody>
      </p:sp>
      <p:sp>
        <p:nvSpPr>
          <p:cNvPr id="10" name="Rectangle 9"/>
          <p:cNvSpPr/>
          <p:nvPr/>
        </p:nvSpPr>
        <p:spPr>
          <a:xfrm>
            <a:off x="648000" y="4752000"/>
            <a:ext cx="144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000" y="5040000"/>
            <a:ext cx="3600000" cy="720000"/>
          </a:xfrm>
          <a:prstGeom prst="rect">
            <a:avLst/>
          </a:prstGeom>
          <a:noFill/>
        </p:spPr>
        <p:txBody>
          <a:bodyPr wrap="square">
            <a:spAutoFit/>
          </a:bodyPr>
          <a:lstStyle/>
          <a:p>
            <a:pPr algn="just">
              <a:defRPr sz="900" b="0">
                <a:solidFill>
                  <a:srgbClr val="555555"/>
                </a:solidFill>
                <a:latin typeface="Inter"/>
              </a:defRPr>
            </a:pPr>
            <a:r>
              <a:t>Analyse technique et economique de projets d'infrastructure au Maroc et en France. 82,5 M DH d'investissements analyses a travers 5 situations professionnelles et 7 marches publics.</a:t>
            </a:r>
          </a:p>
        </p:txBody>
      </p:sp>
      <p:sp>
        <p:nvSpPr>
          <p:cNvPr id="12" name="TextBox 11"/>
          <p:cNvSpPr txBox="1"/>
          <p:nvPr/>
        </p:nvSpPr>
        <p:spPr>
          <a:xfrm>
            <a:off x="648000" y="7920000"/>
            <a:ext cx="1800000" cy="144000"/>
          </a:xfrm>
          <a:prstGeom prst="rect">
            <a:avLst/>
          </a:prstGeom>
          <a:noFill/>
        </p:spPr>
        <p:txBody>
          <a:bodyPr wrap="square">
            <a:spAutoFit/>
          </a:bodyPr>
          <a:lstStyle/>
          <a:p>
            <a:pPr algn="l">
              <a:defRPr sz="700" b="1">
                <a:solidFill>
                  <a:srgbClr val="F39200"/>
                </a:solidFill>
                <a:latin typeface="Montserrat"/>
              </a:defRPr>
            </a:pPr>
            <a:r>
              <a:t>CANDIDAT</a:t>
            </a:r>
          </a:p>
        </p:txBody>
      </p:sp>
      <p:sp>
        <p:nvSpPr>
          <p:cNvPr id="13" name="TextBox 12"/>
          <p:cNvSpPr txBox="1"/>
          <p:nvPr/>
        </p:nvSpPr>
        <p:spPr>
          <a:xfrm>
            <a:off x="648000" y="8172000"/>
            <a:ext cx="1800000" cy="360000"/>
          </a:xfrm>
          <a:prstGeom prst="rect">
            <a:avLst/>
          </a:prstGeom>
          <a:noFill/>
        </p:spPr>
        <p:txBody>
          <a:bodyPr wrap="square">
            <a:spAutoFit/>
          </a:bodyPr>
          <a:lstStyle/>
          <a:p>
            <a:pPr algn="l">
              <a:defRPr sz="2400" b="1">
                <a:solidFill>
                  <a:srgbClr val="1E3A5F"/>
                </a:solidFill>
                <a:latin typeface="Montserrat"/>
              </a:defRPr>
            </a:pPr>
            <a:r>
              <a:t>BAHAFID</a:t>
            </a:r>
          </a:p>
        </p:txBody>
      </p:sp>
      <p:sp>
        <p:nvSpPr>
          <p:cNvPr id="14" name="TextBox 13"/>
          <p:cNvSpPr txBox="1"/>
          <p:nvPr/>
        </p:nvSpPr>
        <p:spPr>
          <a:xfrm>
            <a:off x="648000" y="8820000"/>
            <a:ext cx="1800000" cy="360000"/>
          </a:xfrm>
          <a:prstGeom prst="rect">
            <a:avLst/>
          </a:prstGeom>
          <a:noFill/>
        </p:spPr>
        <p:txBody>
          <a:bodyPr wrap="square">
            <a:spAutoFit/>
          </a:bodyPr>
          <a:lstStyle/>
          <a:p>
            <a:pPr algn="l">
              <a:defRPr sz="2400" b="1">
                <a:solidFill>
                  <a:srgbClr val="F39200"/>
                </a:solidFill>
                <a:latin typeface="Montserrat"/>
              </a:defRPr>
            </a:pPr>
            <a:r>
              <a:t>Mohamed</a:t>
            </a:r>
          </a:p>
        </p:txBody>
      </p:sp>
      <p:sp>
        <p:nvSpPr>
          <p:cNvPr id="15" name="TextBox 14"/>
          <p:cNvSpPr txBox="1"/>
          <p:nvPr/>
        </p:nvSpPr>
        <p:spPr>
          <a:xfrm>
            <a:off x="648000" y="9432000"/>
            <a:ext cx="1800000" cy="180000"/>
          </a:xfrm>
          <a:prstGeom prst="rect">
            <a:avLst/>
          </a:prstGeom>
          <a:noFill/>
        </p:spPr>
        <p:txBody>
          <a:bodyPr wrap="square">
            <a:spAutoFit/>
          </a:bodyPr>
          <a:lstStyle/>
          <a:p>
            <a:pPr algn="l">
              <a:defRPr sz="800" b="0">
                <a:solidFill>
                  <a:srgbClr val="888888"/>
                </a:solidFill>
                <a:latin typeface="Inter"/>
              </a:defRPr>
            </a:pPr>
            <a:r>
              <a:t>N. 02537399911</a:t>
            </a:r>
          </a:p>
        </p:txBody>
      </p:sp>
      <p:sp>
        <p:nvSpPr>
          <p:cNvPr id="16" name="Rounded Rectangle 15"/>
          <p:cNvSpPr/>
          <p:nvPr/>
        </p:nvSpPr>
        <p:spPr>
          <a:xfrm>
            <a:off x="2880000" y="8460000"/>
            <a:ext cx="900000" cy="251999"/>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BTS MEC</a:t>
            </a:r>
          </a:p>
        </p:txBody>
      </p:sp>
      <p:sp>
        <p:nvSpPr>
          <p:cNvPr id="17" name="TextBox 16"/>
          <p:cNvSpPr txBox="1"/>
          <p:nvPr/>
        </p:nvSpPr>
        <p:spPr>
          <a:xfrm>
            <a:off x="2520000" y="8820000"/>
            <a:ext cx="1620000" cy="360000"/>
          </a:xfrm>
          <a:prstGeom prst="rect">
            <a:avLst/>
          </a:prstGeom>
          <a:noFill/>
        </p:spPr>
        <p:txBody>
          <a:bodyPr wrap="square">
            <a:spAutoFit/>
          </a:bodyPr>
          <a:lstStyle/>
          <a:p>
            <a:pPr algn="ctr">
              <a:defRPr sz="800" b="0">
                <a:solidFill>
                  <a:srgbClr val="888888"/>
                </a:solidFill>
                <a:latin typeface="Inter"/>
              </a:defRPr>
            </a:pPr>
            <a:r>
              <a:t>Management Economique</a:t>
            </a:r>
            <a:br/>
            <a:r>
              <a:t>de la Construction</a:t>
            </a:r>
          </a:p>
        </p:txBody>
      </p:sp>
      <p:sp>
        <p:nvSpPr>
          <p:cNvPr id="18" name="Oval 17"/>
          <p:cNvSpPr/>
          <p:nvPr/>
        </p:nvSpPr>
        <p:spPr>
          <a:xfrm>
            <a:off x="4860000" y="1080000"/>
            <a:ext cx="1440000" cy="1440000"/>
          </a:xfrm>
          <a:prstGeom prst="ellipse">
            <a:avLst/>
          </a:prstGeom>
          <a:solidFill>
            <a:srgbClr val="4AB0A8">
              <a:lumMod val="85000"/>
              <a:lumOff val="15000"/>
            </a:srgbClr>
          </a:solidFill>
          <a:ln w="19050">
            <a:solidFill>
              <a:srgbClr val="FFFF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7560000" cy="1980000"/>
          </a:xfrm>
          <a:prstGeom prst="roundRect">
            <a:avLst>
              <a:gd name="adj" fmla="val 5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540000"/>
            <a:ext cx="6120000" cy="1080000"/>
          </a:xfrm>
          <a:prstGeom prst="rect">
            <a:avLst/>
          </a:prstGeom>
          <a:noFill/>
        </p:spPr>
        <p:txBody>
          <a:bodyPr wrap="square">
            <a:spAutoFit/>
          </a:bodyPr>
          <a:lstStyle/>
          <a:p>
            <a:pPr algn="l">
              <a:defRPr sz="2400" b="1">
                <a:solidFill>
                  <a:srgbClr val="FFFFFF"/>
                </a:solidFill>
                <a:latin typeface="Montserrat"/>
              </a:defRPr>
            </a:pPr>
            <a:r>
              <a:t>FICHE D'IDENTITE</a:t>
            </a:r>
            <a:br/>
            <a:r>
              <a:t>DU CANDIDAT</a:t>
            </a:r>
          </a:p>
        </p:txBody>
      </p:sp>
      <p:sp>
        <p:nvSpPr>
          <p:cNvPr id="4" name="Rectangle 3"/>
          <p:cNvSpPr/>
          <p:nvPr/>
        </p:nvSpPr>
        <p:spPr>
          <a:xfrm>
            <a:off x="648000" y="2340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8000" y="2520000"/>
            <a:ext cx="6120000" cy="360000"/>
          </a:xfrm>
          <a:prstGeom prst="rect">
            <a:avLst/>
          </a:prstGeom>
          <a:noFill/>
        </p:spPr>
        <p:txBody>
          <a:bodyPr wrap="square">
            <a:spAutoFit/>
          </a:bodyPr>
          <a:lstStyle/>
          <a:p>
            <a:pPr algn="just">
              <a:defRPr sz="900" b="0">
                <a:solidFill>
                  <a:srgbClr val="555555"/>
                </a:solidFill>
                <a:latin typeface="Inter"/>
              </a:defRPr>
            </a:pPr>
            <a:r>
              <a:t>Presentation complete du candidat, de son parcours et de son activite actuelle.</a:t>
            </a:r>
          </a:p>
        </p:txBody>
      </p:sp>
      <p:sp>
        <p:nvSpPr>
          <p:cNvPr id="6" name="Rounded Rectangle 5"/>
          <p:cNvSpPr/>
          <p:nvPr/>
        </p:nvSpPr>
        <p:spPr>
          <a:xfrm>
            <a:off x="648000" y="3060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8000" y="3473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000" y="3114000"/>
            <a:ext cx="1620000" cy="324000"/>
          </a:xfrm>
          <a:prstGeom prst="rect">
            <a:avLst/>
          </a:prstGeom>
          <a:noFill/>
        </p:spPr>
        <p:txBody>
          <a:bodyPr wrap="square">
            <a:spAutoFit/>
          </a:bodyPr>
          <a:lstStyle/>
          <a:p>
            <a:pPr algn="l">
              <a:defRPr sz="800" b="1">
                <a:solidFill>
                  <a:srgbClr val="F39200"/>
                </a:solidFill>
                <a:latin typeface="Inter"/>
              </a:defRPr>
            </a:pPr>
            <a:r>
              <a:t>Candidat</a:t>
            </a:r>
          </a:p>
        </p:txBody>
      </p:sp>
      <p:sp>
        <p:nvSpPr>
          <p:cNvPr id="9" name="TextBox 8"/>
          <p:cNvSpPr txBox="1"/>
          <p:nvPr/>
        </p:nvSpPr>
        <p:spPr>
          <a:xfrm>
            <a:off x="2520000" y="3114000"/>
            <a:ext cx="4140000" cy="324000"/>
          </a:xfrm>
          <a:prstGeom prst="rect">
            <a:avLst/>
          </a:prstGeom>
          <a:noFill/>
        </p:spPr>
        <p:txBody>
          <a:bodyPr wrap="square">
            <a:spAutoFit/>
          </a:bodyPr>
          <a:lstStyle/>
          <a:p>
            <a:pPr algn="l">
              <a:defRPr sz="900" b="0">
                <a:solidFill>
                  <a:srgbClr val="2D2D2D"/>
                </a:solidFill>
                <a:latin typeface="Inter"/>
              </a:defRPr>
            </a:pPr>
            <a:r>
              <a:t>BAHAFID Mohamed</a:t>
            </a:r>
          </a:p>
        </p:txBody>
      </p:sp>
      <p:sp>
        <p:nvSpPr>
          <p:cNvPr id="10" name="Rounded Rectangle 9"/>
          <p:cNvSpPr/>
          <p:nvPr/>
        </p:nvSpPr>
        <p:spPr>
          <a:xfrm>
            <a:off x="648000" y="3528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8000" y="3941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000" y="3582000"/>
            <a:ext cx="1620000" cy="324000"/>
          </a:xfrm>
          <a:prstGeom prst="rect">
            <a:avLst/>
          </a:prstGeom>
          <a:noFill/>
        </p:spPr>
        <p:txBody>
          <a:bodyPr wrap="square">
            <a:spAutoFit/>
          </a:bodyPr>
          <a:lstStyle/>
          <a:p>
            <a:pPr algn="l">
              <a:defRPr sz="800" b="1">
                <a:solidFill>
                  <a:srgbClr val="F39200"/>
                </a:solidFill>
                <a:latin typeface="Inter"/>
              </a:defRPr>
            </a:pPr>
            <a:r>
              <a:t>N° Candidat</a:t>
            </a:r>
          </a:p>
        </p:txBody>
      </p:sp>
      <p:sp>
        <p:nvSpPr>
          <p:cNvPr id="13" name="TextBox 12"/>
          <p:cNvSpPr txBox="1"/>
          <p:nvPr/>
        </p:nvSpPr>
        <p:spPr>
          <a:xfrm>
            <a:off x="2520000" y="3582000"/>
            <a:ext cx="4140000" cy="324000"/>
          </a:xfrm>
          <a:prstGeom prst="rect">
            <a:avLst/>
          </a:prstGeom>
          <a:noFill/>
        </p:spPr>
        <p:txBody>
          <a:bodyPr wrap="square">
            <a:spAutoFit/>
          </a:bodyPr>
          <a:lstStyle/>
          <a:p>
            <a:pPr algn="l">
              <a:defRPr sz="900" b="0">
                <a:solidFill>
                  <a:srgbClr val="2D2D2D"/>
                </a:solidFill>
                <a:latin typeface="Inter"/>
              </a:defRPr>
            </a:pPr>
            <a:r>
              <a:t>02537399911</a:t>
            </a:r>
          </a:p>
        </p:txBody>
      </p:sp>
      <p:sp>
        <p:nvSpPr>
          <p:cNvPr id="14" name="Rounded Rectangle 13"/>
          <p:cNvSpPr/>
          <p:nvPr/>
        </p:nvSpPr>
        <p:spPr>
          <a:xfrm>
            <a:off x="648000" y="3996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8000" y="4409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2000" y="4050000"/>
            <a:ext cx="1620000" cy="324000"/>
          </a:xfrm>
          <a:prstGeom prst="rect">
            <a:avLst/>
          </a:prstGeom>
          <a:noFill/>
        </p:spPr>
        <p:txBody>
          <a:bodyPr wrap="square">
            <a:spAutoFit/>
          </a:bodyPr>
          <a:lstStyle/>
          <a:p>
            <a:pPr algn="l">
              <a:defRPr sz="800" b="1">
                <a:solidFill>
                  <a:srgbClr val="F39200"/>
                </a:solidFill>
                <a:latin typeface="Inter"/>
              </a:defRPr>
            </a:pPr>
            <a:r>
              <a:t>Académie</a:t>
            </a:r>
          </a:p>
        </p:txBody>
      </p:sp>
      <p:sp>
        <p:nvSpPr>
          <p:cNvPr id="17" name="TextBox 16"/>
          <p:cNvSpPr txBox="1"/>
          <p:nvPr/>
        </p:nvSpPr>
        <p:spPr>
          <a:xfrm>
            <a:off x="2520000" y="4050000"/>
            <a:ext cx="4140000" cy="324000"/>
          </a:xfrm>
          <a:prstGeom prst="rect">
            <a:avLst/>
          </a:prstGeom>
          <a:noFill/>
        </p:spPr>
        <p:txBody>
          <a:bodyPr wrap="square">
            <a:spAutoFit/>
          </a:bodyPr>
          <a:lstStyle/>
          <a:p>
            <a:pPr algn="l">
              <a:defRPr sz="900" b="0">
                <a:solidFill>
                  <a:srgbClr val="2D2D2D"/>
                </a:solidFill>
                <a:latin typeface="Inter"/>
              </a:defRPr>
            </a:pPr>
            <a:r>
              <a:t>Lyon</a:t>
            </a:r>
          </a:p>
        </p:txBody>
      </p:sp>
      <p:sp>
        <p:nvSpPr>
          <p:cNvPr id="18" name="Rounded Rectangle 17"/>
          <p:cNvSpPr/>
          <p:nvPr/>
        </p:nvSpPr>
        <p:spPr>
          <a:xfrm>
            <a:off x="648000" y="4464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8000" y="4877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2000" y="4518000"/>
            <a:ext cx="1620000" cy="324000"/>
          </a:xfrm>
          <a:prstGeom prst="rect">
            <a:avLst/>
          </a:prstGeom>
          <a:noFill/>
        </p:spPr>
        <p:txBody>
          <a:bodyPr wrap="square">
            <a:spAutoFit/>
          </a:bodyPr>
          <a:lstStyle/>
          <a:p>
            <a:pPr algn="l">
              <a:defRPr sz="800" b="1">
                <a:solidFill>
                  <a:srgbClr val="F39200"/>
                </a:solidFill>
                <a:latin typeface="Inter"/>
              </a:defRPr>
            </a:pPr>
            <a:r>
              <a:t>Structure d'accueil</a:t>
            </a:r>
          </a:p>
        </p:txBody>
      </p:sp>
      <p:sp>
        <p:nvSpPr>
          <p:cNvPr id="21" name="TextBox 20"/>
          <p:cNvSpPr txBox="1"/>
          <p:nvPr/>
        </p:nvSpPr>
        <p:spPr>
          <a:xfrm>
            <a:off x="2520000" y="4518000"/>
            <a:ext cx="4140000" cy="324000"/>
          </a:xfrm>
          <a:prstGeom prst="rect">
            <a:avLst/>
          </a:prstGeom>
          <a:noFill/>
        </p:spPr>
        <p:txBody>
          <a:bodyPr wrap="square">
            <a:spAutoFit/>
          </a:bodyPr>
          <a:lstStyle/>
          <a:p>
            <a:pPr algn="l">
              <a:defRPr sz="900" b="0">
                <a:solidFill>
                  <a:srgbClr val="2D2D2D"/>
                </a:solidFill>
                <a:latin typeface="Inter"/>
              </a:defRPr>
            </a:pPr>
            <a:r>
              <a:t>Conseil Régional de Béni Mellal-Khénifra (Maroc)</a:t>
            </a:r>
          </a:p>
        </p:txBody>
      </p:sp>
      <p:sp>
        <p:nvSpPr>
          <p:cNvPr id="22" name="Rounded Rectangle 21"/>
          <p:cNvSpPr/>
          <p:nvPr/>
        </p:nvSpPr>
        <p:spPr>
          <a:xfrm>
            <a:off x="648000" y="4932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8000" y="5345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000" y="4986000"/>
            <a:ext cx="1620000" cy="324000"/>
          </a:xfrm>
          <a:prstGeom prst="rect">
            <a:avLst/>
          </a:prstGeom>
          <a:noFill/>
        </p:spPr>
        <p:txBody>
          <a:bodyPr wrap="square">
            <a:spAutoFit/>
          </a:bodyPr>
          <a:lstStyle/>
          <a:p>
            <a:pPr algn="l">
              <a:defRPr sz="800" b="1">
                <a:solidFill>
                  <a:srgbClr val="F39200"/>
                </a:solidFill>
                <a:latin typeface="Inter"/>
              </a:defRPr>
            </a:pPr>
            <a:r>
              <a:t>Direction</a:t>
            </a:r>
          </a:p>
        </p:txBody>
      </p:sp>
      <p:sp>
        <p:nvSpPr>
          <p:cNvPr id="25" name="TextBox 24"/>
          <p:cNvSpPr txBox="1"/>
          <p:nvPr/>
        </p:nvSpPr>
        <p:spPr>
          <a:xfrm>
            <a:off x="2520000" y="4986000"/>
            <a:ext cx="4140000" cy="324000"/>
          </a:xfrm>
          <a:prstGeom prst="rect">
            <a:avLst/>
          </a:prstGeom>
          <a:noFill/>
        </p:spPr>
        <p:txBody>
          <a:bodyPr wrap="square">
            <a:spAutoFit/>
          </a:bodyPr>
          <a:lstStyle/>
          <a:p>
            <a:pPr algn="l">
              <a:defRPr sz="900" b="0">
                <a:solidFill>
                  <a:srgbClr val="2D2D2D"/>
                </a:solidFill>
                <a:latin typeface="Inter"/>
              </a:defRPr>
            </a:pPr>
            <a:r>
              <a:t>Agence d'Exécution des Projets</a:t>
            </a:r>
          </a:p>
        </p:txBody>
      </p:sp>
      <p:sp>
        <p:nvSpPr>
          <p:cNvPr id="26" name="Rounded Rectangle 25"/>
          <p:cNvSpPr/>
          <p:nvPr/>
        </p:nvSpPr>
        <p:spPr>
          <a:xfrm>
            <a:off x="648000" y="5400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8000" y="5813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2000" y="5454000"/>
            <a:ext cx="1620000" cy="324000"/>
          </a:xfrm>
          <a:prstGeom prst="rect">
            <a:avLst/>
          </a:prstGeom>
          <a:noFill/>
        </p:spPr>
        <p:txBody>
          <a:bodyPr wrap="square">
            <a:spAutoFit/>
          </a:bodyPr>
          <a:lstStyle/>
          <a:p>
            <a:pPr algn="l">
              <a:defRPr sz="800" b="1">
                <a:solidFill>
                  <a:srgbClr val="F39200"/>
                </a:solidFill>
                <a:latin typeface="Inter"/>
              </a:defRPr>
            </a:pPr>
            <a:r>
              <a:t>Poste occupé</a:t>
            </a:r>
          </a:p>
        </p:txBody>
      </p:sp>
      <p:sp>
        <p:nvSpPr>
          <p:cNvPr id="29" name="TextBox 28"/>
          <p:cNvSpPr txBox="1"/>
          <p:nvPr/>
        </p:nvSpPr>
        <p:spPr>
          <a:xfrm>
            <a:off x="2520000" y="5454000"/>
            <a:ext cx="4140000" cy="324000"/>
          </a:xfrm>
          <a:prstGeom prst="rect">
            <a:avLst/>
          </a:prstGeom>
          <a:noFill/>
        </p:spPr>
        <p:txBody>
          <a:bodyPr wrap="square">
            <a:spAutoFit/>
          </a:bodyPr>
          <a:lstStyle/>
          <a:p>
            <a:pPr algn="l">
              <a:defRPr sz="900" b="0">
                <a:solidFill>
                  <a:srgbClr val="2D2D2D"/>
                </a:solidFill>
                <a:latin typeface="Inter"/>
              </a:defRPr>
            </a:pPr>
            <a:r>
              <a:t>Technicien Études et Suivi des Travaux</a:t>
            </a:r>
          </a:p>
        </p:txBody>
      </p:sp>
      <p:sp>
        <p:nvSpPr>
          <p:cNvPr id="30" name="Rounded Rectangle 29"/>
          <p:cNvSpPr/>
          <p:nvPr/>
        </p:nvSpPr>
        <p:spPr>
          <a:xfrm>
            <a:off x="648000" y="5868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8000" y="6281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2000" y="5922000"/>
            <a:ext cx="1620000" cy="324000"/>
          </a:xfrm>
          <a:prstGeom prst="rect">
            <a:avLst/>
          </a:prstGeom>
          <a:noFill/>
        </p:spPr>
        <p:txBody>
          <a:bodyPr wrap="square">
            <a:spAutoFit/>
          </a:bodyPr>
          <a:lstStyle/>
          <a:p>
            <a:pPr algn="l">
              <a:defRPr sz="800" b="1">
                <a:solidFill>
                  <a:srgbClr val="F39200"/>
                </a:solidFill>
                <a:latin typeface="Inter"/>
              </a:defRPr>
            </a:pPr>
            <a:r>
              <a:t>Durée d'expérience</a:t>
            </a:r>
          </a:p>
        </p:txBody>
      </p:sp>
      <p:sp>
        <p:nvSpPr>
          <p:cNvPr id="33" name="TextBox 32"/>
          <p:cNvSpPr txBox="1"/>
          <p:nvPr/>
        </p:nvSpPr>
        <p:spPr>
          <a:xfrm>
            <a:off x="2520000" y="5922000"/>
            <a:ext cx="4140000" cy="324000"/>
          </a:xfrm>
          <a:prstGeom prst="rect">
            <a:avLst/>
          </a:prstGeom>
          <a:noFill/>
        </p:spPr>
        <p:txBody>
          <a:bodyPr wrap="square">
            <a:spAutoFit/>
          </a:bodyPr>
          <a:lstStyle/>
          <a:p>
            <a:pPr algn="l">
              <a:defRPr sz="900" b="0">
                <a:solidFill>
                  <a:srgbClr val="2D2D2D"/>
                </a:solidFill>
                <a:latin typeface="Inter"/>
              </a:defRPr>
            </a:pPr>
            <a:r>
              <a:t>8 ans dans le BTP (3 ans Maroc + 5 ans France)</a:t>
            </a:r>
          </a:p>
        </p:txBody>
      </p:sp>
      <p:sp>
        <p:nvSpPr>
          <p:cNvPr id="34" name="Rounded Rectangle 33"/>
          <p:cNvSpPr/>
          <p:nvPr/>
        </p:nvSpPr>
        <p:spPr>
          <a:xfrm>
            <a:off x="648000" y="6336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8000" y="6749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2000" y="6390000"/>
            <a:ext cx="1620000" cy="324000"/>
          </a:xfrm>
          <a:prstGeom prst="rect">
            <a:avLst/>
          </a:prstGeom>
          <a:noFill/>
        </p:spPr>
        <p:txBody>
          <a:bodyPr wrap="square">
            <a:spAutoFit/>
          </a:bodyPr>
          <a:lstStyle/>
          <a:p>
            <a:pPr algn="l">
              <a:defRPr sz="800" b="1">
                <a:solidFill>
                  <a:srgbClr val="F39200"/>
                </a:solidFill>
                <a:latin typeface="Inter"/>
              </a:defRPr>
            </a:pPr>
            <a:r>
              <a:t>Formation BIM</a:t>
            </a:r>
          </a:p>
        </p:txBody>
      </p:sp>
      <p:sp>
        <p:nvSpPr>
          <p:cNvPr id="37" name="TextBox 36"/>
          <p:cNvSpPr txBox="1"/>
          <p:nvPr/>
        </p:nvSpPr>
        <p:spPr>
          <a:xfrm>
            <a:off x="2520000" y="6390000"/>
            <a:ext cx="4140000" cy="324000"/>
          </a:xfrm>
          <a:prstGeom prst="rect">
            <a:avLst/>
          </a:prstGeom>
          <a:noFill/>
        </p:spPr>
        <p:txBody>
          <a:bodyPr wrap="square">
            <a:spAutoFit/>
          </a:bodyPr>
          <a:lstStyle/>
          <a:p>
            <a:pPr algn="l">
              <a:defRPr sz="900" b="0">
                <a:solidFill>
                  <a:srgbClr val="2D2D2D"/>
                </a:solidFill>
                <a:latin typeface="Inter"/>
              </a:defRPr>
            </a:pPr>
            <a:r>
              <a:t>Technicien Modeleur BIM – AFPA Colmar (8 mois)</a:t>
            </a:r>
          </a:p>
        </p:txBody>
      </p:sp>
      <p:sp>
        <p:nvSpPr>
          <p:cNvPr id="38" name="Rounded Rectangle 37"/>
          <p:cNvSpPr/>
          <p:nvPr/>
        </p:nvSpPr>
        <p:spPr>
          <a:xfrm>
            <a:off x="648000" y="6804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8000" y="7217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2000" y="6858000"/>
            <a:ext cx="1620000" cy="324000"/>
          </a:xfrm>
          <a:prstGeom prst="rect">
            <a:avLst/>
          </a:prstGeom>
          <a:noFill/>
        </p:spPr>
        <p:txBody>
          <a:bodyPr wrap="square">
            <a:spAutoFit/>
          </a:bodyPr>
          <a:lstStyle/>
          <a:p>
            <a:pPr algn="l">
              <a:defRPr sz="800" b="1">
                <a:solidFill>
                  <a:srgbClr val="F39200"/>
                </a:solidFill>
                <a:latin typeface="Inter"/>
              </a:defRPr>
            </a:pPr>
            <a:r>
              <a:t>Activité actuelle</a:t>
            </a:r>
          </a:p>
        </p:txBody>
      </p:sp>
      <p:sp>
        <p:nvSpPr>
          <p:cNvPr id="41" name="TextBox 40"/>
          <p:cNvSpPr txBox="1"/>
          <p:nvPr/>
        </p:nvSpPr>
        <p:spPr>
          <a:xfrm>
            <a:off x="2520000" y="6858000"/>
            <a:ext cx="4140000" cy="324000"/>
          </a:xfrm>
          <a:prstGeom prst="rect">
            <a:avLst/>
          </a:prstGeom>
          <a:noFill/>
        </p:spPr>
        <p:txBody>
          <a:bodyPr wrap="square">
            <a:spAutoFit/>
          </a:bodyPr>
          <a:lstStyle/>
          <a:p>
            <a:pPr algn="l">
              <a:defRPr sz="900" b="0">
                <a:solidFill>
                  <a:srgbClr val="2D2D2D"/>
                </a:solidFill>
                <a:latin typeface="Inter"/>
              </a:defRPr>
            </a:pPr>
            <a:r>
              <a:t>BIMCO – Projeteur BIM / Économiste de la construction</a:t>
            </a:r>
          </a:p>
        </p:txBody>
      </p:sp>
      <p:sp>
        <p:nvSpPr>
          <p:cNvPr id="42" name="Rounded Rectangle 41"/>
          <p:cNvSpPr/>
          <p:nvPr/>
        </p:nvSpPr>
        <p:spPr>
          <a:xfrm>
            <a:off x="648000" y="7272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8000" y="7685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2000" y="7326000"/>
            <a:ext cx="1620000" cy="324000"/>
          </a:xfrm>
          <a:prstGeom prst="rect">
            <a:avLst/>
          </a:prstGeom>
          <a:noFill/>
        </p:spPr>
        <p:txBody>
          <a:bodyPr wrap="square">
            <a:spAutoFit/>
          </a:bodyPr>
          <a:lstStyle/>
          <a:p>
            <a:pPr algn="l">
              <a:defRPr sz="800" b="1">
                <a:solidFill>
                  <a:srgbClr val="F39200"/>
                </a:solidFill>
                <a:latin typeface="Inter"/>
              </a:defRPr>
            </a:pPr>
            <a:r>
              <a:t>SIREN / APE</a:t>
            </a:r>
          </a:p>
        </p:txBody>
      </p:sp>
      <p:sp>
        <p:nvSpPr>
          <p:cNvPr id="45" name="TextBox 44"/>
          <p:cNvSpPr txBox="1"/>
          <p:nvPr/>
        </p:nvSpPr>
        <p:spPr>
          <a:xfrm>
            <a:off x="2520000" y="7326000"/>
            <a:ext cx="4140000" cy="324000"/>
          </a:xfrm>
          <a:prstGeom prst="rect">
            <a:avLst/>
          </a:prstGeom>
          <a:noFill/>
        </p:spPr>
        <p:txBody>
          <a:bodyPr wrap="square">
            <a:spAutoFit/>
          </a:bodyPr>
          <a:lstStyle/>
          <a:p>
            <a:pPr algn="l">
              <a:defRPr sz="900" b="0">
                <a:solidFill>
                  <a:srgbClr val="2D2D2D"/>
                </a:solidFill>
                <a:latin typeface="Inter"/>
              </a:defRPr>
            </a:pPr>
            <a:r>
              <a:t>999580053 / 7112B – Ingénierie, études techniques</a:t>
            </a:r>
          </a:p>
        </p:txBody>
      </p:sp>
      <p:sp>
        <p:nvSpPr>
          <p:cNvPr id="46" name="Rounded Rectangle 45"/>
          <p:cNvSpPr/>
          <p:nvPr/>
        </p:nvSpPr>
        <p:spPr>
          <a:xfrm>
            <a:off x="648000" y="7740000"/>
            <a:ext cx="6263999" cy="43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8000" y="8153999"/>
            <a:ext cx="6263999" cy="1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2000" y="7794000"/>
            <a:ext cx="1620000" cy="324000"/>
          </a:xfrm>
          <a:prstGeom prst="rect">
            <a:avLst/>
          </a:prstGeom>
          <a:noFill/>
        </p:spPr>
        <p:txBody>
          <a:bodyPr wrap="square">
            <a:spAutoFit/>
          </a:bodyPr>
          <a:lstStyle/>
          <a:p>
            <a:pPr algn="l">
              <a:defRPr sz="800" b="1">
                <a:solidFill>
                  <a:srgbClr val="F39200"/>
                </a:solidFill>
                <a:latin typeface="Inter"/>
              </a:defRPr>
            </a:pPr>
            <a:r>
              <a:t>Siège</a:t>
            </a:r>
          </a:p>
        </p:txBody>
      </p:sp>
      <p:sp>
        <p:nvSpPr>
          <p:cNvPr id="49" name="TextBox 48"/>
          <p:cNvSpPr txBox="1"/>
          <p:nvPr/>
        </p:nvSpPr>
        <p:spPr>
          <a:xfrm>
            <a:off x="2520000" y="7794000"/>
            <a:ext cx="4140000" cy="324000"/>
          </a:xfrm>
          <a:prstGeom prst="rect">
            <a:avLst/>
          </a:prstGeom>
          <a:noFill/>
        </p:spPr>
        <p:txBody>
          <a:bodyPr wrap="square">
            <a:spAutoFit/>
          </a:bodyPr>
          <a:lstStyle/>
          <a:p>
            <a:pPr algn="l">
              <a:defRPr sz="900" b="0">
                <a:solidFill>
                  <a:srgbClr val="2D2D2D"/>
                </a:solidFill>
                <a:latin typeface="Inter"/>
              </a:defRPr>
            </a:pPr>
            <a:r>
              <a:t>44 rue de la République, 42510 Bussières (Loire)</a:t>
            </a:r>
          </a:p>
        </p:txBody>
      </p:sp>
      <p:sp>
        <p:nvSpPr>
          <p:cNvPr id="50" name="Rounded Rectangle 49"/>
          <p:cNvSpPr/>
          <p:nvPr/>
        </p:nvSpPr>
        <p:spPr>
          <a:xfrm>
            <a:off x="648000" y="8640000"/>
            <a:ext cx="1980000" cy="7920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8000" y="8640000"/>
            <a:ext cx="1980000" cy="54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6000" y="8748000"/>
            <a:ext cx="1764000" cy="360000"/>
          </a:xfrm>
          <a:prstGeom prst="rect">
            <a:avLst/>
          </a:prstGeom>
          <a:noFill/>
        </p:spPr>
        <p:txBody>
          <a:bodyPr wrap="square">
            <a:spAutoFit/>
          </a:bodyPr>
          <a:lstStyle/>
          <a:p>
            <a:pPr algn="ctr">
              <a:defRPr sz="1800" b="1">
                <a:solidFill>
                  <a:srgbClr val="5CC8C0"/>
                </a:solidFill>
                <a:latin typeface="Montserrat"/>
              </a:defRPr>
            </a:pPr>
            <a:r>
              <a:t>8 ans</a:t>
            </a:r>
          </a:p>
        </p:txBody>
      </p:sp>
      <p:sp>
        <p:nvSpPr>
          <p:cNvPr id="53" name="TextBox 52"/>
          <p:cNvSpPr txBox="1"/>
          <p:nvPr/>
        </p:nvSpPr>
        <p:spPr>
          <a:xfrm>
            <a:off x="756000" y="9143999"/>
            <a:ext cx="1764000" cy="216000"/>
          </a:xfrm>
          <a:prstGeom prst="rect">
            <a:avLst/>
          </a:prstGeom>
          <a:noFill/>
        </p:spPr>
        <p:txBody>
          <a:bodyPr wrap="square">
            <a:spAutoFit/>
          </a:bodyPr>
          <a:lstStyle/>
          <a:p>
            <a:pPr algn="ctr">
              <a:defRPr sz="700" b="0">
                <a:solidFill>
                  <a:srgbClr val="888888"/>
                </a:solidFill>
                <a:latin typeface="Inter"/>
              </a:defRPr>
            </a:pPr>
            <a:r>
              <a:t>Experience BTP</a:t>
            </a:r>
          </a:p>
        </p:txBody>
      </p:sp>
      <p:sp>
        <p:nvSpPr>
          <p:cNvPr id="54" name="Rounded Rectangle 53"/>
          <p:cNvSpPr/>
          <p:nvPr/>
        </p:nvSpPr>
        <p:spPr>
          <a:xfrm>
            <a:off x="2808000" y="8640000"/>
            <a:ext cx="1980000" cy="7920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808000" y="8640000"/>
            <a:ext cx="1980000" cy="54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16000" y="8748000"/>
            <a:ext cx="1764000" cy="360000"/>
          </a:xfrm>
          <a:prstGeom prst="rect">
            <a:avLst/>
          </a:prstGeom>
          <a:noFill/>
        </p:spPr>
        <p:txBody>
          <a:bodyPr wrap="square">
            <a:spAutoFit/>
          </a:bodyPr>
          <a:lstStyle/>
          <a:p>
            <a:pPr algn="ctr">
              <a:defRPr sz="1800" b="1">
                <a:solidFill>
                  <a:srgbClr val="F39200"/>
                </a:solidFill>
                <a:latin typeface="Montserrat"/>
              </a:defRPr>
            </a:pPr>
            <a:r>
              <a:t>2 pays</a:t>
            </a:r>
          </a:p>
        </p:txBody>
      </p:sp>
      <p:sp>
        <p:nvSpPr>
          <p:cNvPr id="57" name="TextBox 56"/>
          <p:cNvSpPr txBox="1"/>
          <p:nvPr/>
        </p:nvSpPr>
        <p:spPr>
          <a:xfrm>
            <a:off x="2916000" y="9143999"/>
            <a:ext cx="1764000" cy="216000"/>
          </a:xfrm>
          <a:prstGeom prst="rect">
            <a:avLst/>
          </a:prstGeom>
          <a:noFill/>
        </p:spPr>
        <p:txBody>
          <a:bodyPr wrap="square">
            <a:spAutoFit/>
          </a:bodyPr>
          <a:lstStyle/>
          <a:p>
            <a:pPr algn="ctr">
              <a:defRPr sz="700" b="0">
                <a:solidFill>
                  <a:srgbClr val="888888"/>
                </a:solidFill>
                <a:latin typeface="Inter"/>
              </a:defRPr>
            </a:pPr>
            <a:r>
              <a:t>Maroc + France</a:t>
            </a:r>
          </a:p>
        </p:txBody>
      </p:sp>
      <p:sp>
        <p:nvSpPr>
          <p:cNvPr id="58" name="Rounded Rectangle 57"/>
          <p:cNvSpPr/>
          <p:nvPr/>
        </p:nvSpPr>
        <p:spPr>
          <a:xfrm>
            <a:off x="4968000" y="8640000"/>
            <a:ext cx="1980000" cy="7920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968000" y="8640000"/>
            <a:ext cx="1980000" cy="54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76000" y="8748000"/>
            <a:ext cx="1764000" cy="360000"/>
          </a:xfrm>
          <a:prstGeom prst="rect">
            <a:avLst/>
          </a:prstGeom>
          <a:noFill/>
        </p:spPr>
        <p:txBody>
          <a:bodyPr wrap="square">
            <a:spAutoFit/>
          </a:bodyPr>
          <a:lstStyle/>
          <a:p>
            <a:pPr algn="ctr">
              <a:defRPr sz="1800" b="1">
                <a:solidFill>
                  <a:srgbClr val="1E3A5F"/>
                </a:solidFill>
                <a:latin typeface="Montserrat"/>
              </a:defRPr>
            </a:pPr>
            <a:r>
              <a:t>7</a:t>
            </a:r>
          </a:p>
        </p:txBody>
      </p:sp>
      <p:sp>
        <p:nvSpPr>
          <p:cNvPr id="61" name="TextBox 60"/>
          <p:cNvSpPr txBox="1"/>
          <p:nvPr/>
        </p:nvSpPr>
        <p:spPr>
          <a:xfrm>
            <a:off x="5076000" y="9143999"/>
            <a:ext cx="1764000" cy="216000"/>
          </a:xfrm>
          <a:prstGeom prst="rect">
            <a:avLst/>
          </a:prstGeom>
          <a:noFill/>
        </p:spPr>
        <p:txBody>
          <a:bodyPr wrap="square">
            <a:spAutoFit/>
          </a:bodyPr>
          <a:lstStyle/>
          <a:p>
            <a:pPr algn="ctr">
              <a:defRPr sz="700" b="0">
                <a:solidFill>
                  <a:srgbClr val="888888"/>
                </a:solidFill>
                <a:latin typeface="Inter"/>
              </a:defRPr>
            </a:pPr>
            <a:r>
              <a:t>Marches publics</a:t>
            </a:r>
          </a:p>
        </p:txBody>
      </p:sp>
      <p:sp>
        <p:nvSpPr>
          <p:cNvPr id="62" name="Rounded Rectangle 61"/>
          <p:cNvSpPr/>
          <p:nvPr/>
        </p:nvSpPr>
        <p:spPr>
          <a:xfrm>
            <a:off x="648000" y="9648000"/>
            <a:ext cx="6263999" cy="360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0000" y="9684000"/>
            <a:ext cx="5760000" cy="288000"/>
          </a:xfrm>
          <a:prstGeom prst="rect">
            <a:avLst/>
          </a:prstGeom>
          <a:noFill/>
        </p:spPr>
        <p:txBody>
          <a:bodyPr wrap="square">
            <a:spAutoFit/>
          </a:bodyPr>
          <a:lstStyle/>
          <a:p>
            <a:pPr algn="ctr">
              <a:defRPr sz="800" b="1">
                <a:solidFill>
                  <a:srgbClr val="FFFFFF"/>
                </a:solidFill>
                <a:latin typeface="Inter"/>
              </a:defRPr>
            </a:pPr>
            <a:r>
              <a:t>gestion.bimco-consulting.fr | BIMCO – Expert BIM &amp; Économie de la Construction</a:t>
            </a:r>
          </a:p>
        </p:txBody>
      </p:sp>
      <p:sp>
        <p:nvSpPr>
          <p:cNvPr id="64" name="TextBox 63"/>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000" y="2160000"/>
            <a:ext cx="5760000" cy="792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0000" y="900000"/>
            <a:ext cx="720000" cy="288000"/>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0" y="648000"/>
            <a:ext cx="4320000" cy="900000"/>
          </a:xfrm>
          <a:prstGeom prst="rect">
            <a:avLst/>
          </a:prstGeom>
          <a:noFill/>
        </p:spPr>
        <p:txBody>
          <a:bodyPr wrap="square">
            <a:spAutoFit/>
          </a:bodyPr>
          <a:lstStyle/>
          <a:p>
            <a:pPr algn="l">
              <a:defRPr sz="3000" b="1">
                <a:solidFill>
                  <a:srgbClr val="FFFFFF"/>
                </a:solidFill>
                <a:latin typeface="Montserrat"/>
              </a:defRPr>
            </a:pPr>
            <a:r>
              <a:t>Sommaire</a:t>
            </a:r>
          </a:p>
        </p:txBody>
      </p:sp>
      <p:sp>
        <p:nvSpPr>
          <p:cNvPr id="6" name="TextBox 5"/>
          <p:cNvSpPr txBox="1"/>
          <p:nvPr/>
        </p:nvSpPr>
        <p:spPr>
          <a:xfrm>
            <a:off x="1260000" y="2520000"/>
            <a:ext cx="5040000" cy="288000"/>
          </a:xfrm>
          <a:prstGeom prst="rect">
            <a:avLst/>
          </a:prstGeom>
          <a:noFill/>
        </p:spPr>
        <p:txBody>
          <a:bodyPr wrap="square">
            <a:spAutoFit/>
          </a:bodyPr>
          <a:lstStyle/>
          <a:p>
            <a:pPr algn="l">
              <a:defRPr sz="1100" b="1">
                <a:solidFill>
                  <a:srgbClr val="1E3A5F"/>
                </a:solidFill>
                <a:latin typeface="Montserrat"/>
              </a:defRPr>
            </a:pPr>
            <a:r>
              <a:t>Introduction et parcours</a:t>
            </a:r>
          </a:p>
        </p:txBody>
      </p:sp>
      <p:sp>
        <p:nvSpPr>
          <p:cNvPr id="7" name="TextBox 6"/>
          <p:cNvSpPr txBox="1"/>
          <p:nvPr/>
        </p:nvSpPr>
        <p:spPr>
          <a:xfrm>
            <a:off x="1260000" y="2808000"/>
            <a:ext cx="5040000" cy="180000"/>
          </a:xfrm>
          <a:prstGeom prst="rect">
            <a:avLst/>
          </a:prstGeom>
          <a:noFill/>
        </p:spPr>
        <p:txBody>
          <a:bodyPr wrap="square">
            <a:spAutoFit/>
          </a:bodyPr>
          <a:lstStyle/>
          <a:p>
            <a:pPr algn="l">
              <a:defRPr sz="800" b="0">
                <a:solidFill>
                  <a:srgbClr val="888888"/>
                </a:solidFill>
                <a:latin typeface="Inter"/>
              </a:defRPr>
            </a:pPr>
            <a:r>
              <a:t>Contexte du rapport, objectifs, parcours en 5 phases</a:t>
            </a:r>
          </a:p>
        </p:txBody>
      </p:sp>
      <p:sp>
        <p:nvSpPr>
          <p:cNvPr id="8" name="TextBox 7"/>
          <p:cNvSpPr txBox="1"/>
          <p:nvPr/>
        </p:nvSpPr>
        <p:spPr>
          <a:xfrm>
            <a:off x="1260000" y="3023999"/>
            <a:ext cx="5040000" cy="180000"/>
          </a:xfrm>
          <a:prstGeom prst="rect">
            <a:avLst/>
          </a:prstGeom>
          <a:noFill/>
        </p:spPr>
        <p:txBody>
          <a:bodyPr wrap="square">
            <a:spAutoFit/>
          </a:bodyPr>
          <a:lstStyle/>
          <a:p>
            <a:pPr algn="l">
              <a:defRPr sz="800" b="1">
                <a:solidFill>
                  <a:srgbClr val="F39200"/>
                </a:solidFill>
                <a:latin typeface="Montserrat"/>
              </a:defRPr>
            </a:pPr>
            <a:r>
              <a:t>p. 4</a:t>
            </a:r>
          </a:p>
        </p:txBody>
      </p:sp>
      <p:sp>
        <p:nvSpPr>
          <p:cNvPr id="9" name="Rectangle 8"/>
          <p:cNvSpPr/>
          <p:nvPr/>
        </p:nvSpPr>
        <p:spPr>
          <a:xfrm>
            <a:off x="1260000" y="3240000"/>
            <a:ext cx="5040000" cy="10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0000" y="3347999"/>
            <a:ext cx="5040000" cy="288000"/>
          </a:xfrm>
          <a:prstGeom prst="rect">
            <a:avLst/>
          </a:prstGeom>
          <a:noFill/>
        </p:spPr>
        <p:txBody>
          <a:bodyPr wrap="square">
            <a:spAutoFit/>
          </a:bodyPr>
          <a:lstStyle/>
          <a:p>
            <a:pPr algn="l">
              <a:defRPr sz="1100" b="1">
                <a:solidFill>
                  <a:srgbClr val="1E3A5F"/>
                </a:solidFill>
                <a:latin typeface="Montserrat"/>
              </a:defRPr>
            </a:pPr>
            <a:r>
              <a:t>Cadre professionnel</a:t>
            </a:r>
          </a:p>
        </p:txBody>
      </p:sp>
      <p:sp>
        <p:nvSpPr>
          <p:cNvPr id="11" name="TextBox 10"/>
          <p:cNvSpPr txBox="1"/>
          <p:nvPr/>
        </p:nvSpPr>
        <p:spPr>
          <a:xfrm>
            <a:off x="1260000" y="3635999"/>
            <a:ext cx="5040000" cy="180000"/>
          </a:xfrm>
          <a:prstGeom prst="rect">
            <a:avLst/>
          </a:prstGeom>
          <a:noFill/>
        </p:spPr>
        <p:txBody>
          <a:bodyPr wrap="square">
            <a:spAutoFit/>
          </a:bodyPr>
          <a:lstStyle/>
          <a:p>
            <a:pPr algn="l">
              <a:defRPr sz="800" b="0">
                <a:solidFill>
                  <a:srgbClr val="888888"/>
                </a:solidFill>
                <a:latin typeface="Inter"/>
              </a:defRPr>
            </a:pPr>
            <a:r>
              <a:t>Conseil Régional | BIMCO | Outils et méthodes</a:t>
            </a:r>
          </a:p>
        </p:txBody>
      </p:sp>
      <p:sp>
        <p:nvSpPr>
          <p:cNvPr id="12" name="TextBox 11"/>
          <p:cNvSpPr txBox="1"/>
          <p:nvPr/>
        </p:nvSpPr>
        <p:spPr>
          <a:xfrm>
            <a:off x="1260000" y="3851998"/>
            <a:ext cx="5040000" cy="180000"/>
          </a:xfrm>
          <a:prstGeom prst="rect">
            <a:avLst/>
          </a:prstGeom>
          <a:noFill/>
        </p:spPr>
        <p:txBody>
          <a:bodyPr wrap="square">
            <a:spAutoFit/>
          </a:bodyPr>
          <a:lstStyle/>
          <a:p>
            <a:pPr algn="l">
              <a:defRPr sz="800" b="1">
                <a:solidFill>
                  <a:srgbClr val="F39200"/>
                </a:solidFill>
                <a:latin typeface="Montserrat"/>
              </a:defRPr>
            </a:pPr>
            <a:r>
              <a:t>p. 5-7</a:t>
            </a:r>
          </a:p>
        </p:txBody>
      </p:sp>
      <p:sp>
        <p:nvSpPr>
          <p:cNvPr id="13" name="Rectangle 12"/>
          <p:cNvSpPr/>
          <p:nvPr/>
        </p:nvSpPr>
        <p:spPr>
          <a:xfrm>
            <a:off x="1260000" y="4067999"/>
            <a:ext cx="5040000" cy="10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60000" y="4175998"/>
            <a:ext cx="5040000" cy="288000"/>
          </a:xfrm>
          <a:prstGeom prst="rect">
            <a:avLst/>
          </a:prstGeom>
          <a:noFill/>
        </p:spPr>
        <p:txBody>
          <a:bodyPr wrap="square">
            <a:spAutoFit/>
          </a:bodyPr>
          <a:lstStyle/>
          <a:p>
            <a:pPr algn="l">
              <a:defRPr sz="1100" b="1">
                <a:solidFill>
                  <a:srgbClr val="1E3A5F"/>
                </a:solidFill>
                <a:latin typeface="Montserrat"/>
              </a:defRPr>
            </a:pPr>
            <a:r>
              <a:t>Projet 1 : Mise à niveau 4 communes</a:t>
            </a:r>
          </a:p>
        </p:txBody>
      </p:sp>
      <p:sp>
        <p:nvSpPr>
          <p:cNvPr id="15" name="TextBox 14"/>
          <p:cNvSpPr txBox="1"/>
          <p:nvPr/>
        </p:nvSpPr>
        <p:spPr>
          <a:xfrm>
            <a:off x="1260000" y="4463998"/>
            <a:ext cx="5040000" cy="180000"/>
          </a:xfrm>
          <a:prstGeom prst="rect">
            <a:avLst/>
          </a:prstGeom>
          <a:noFill/>
        </p:spPr>
        <p:txBody>
          <a:bodyPr wrap="square">
            <a:spAutoFit/>
          </a:bodyPr>
          <a:lstStyle/>
          <a:p>
            <a:pPr algn="l">
              <a:defRPr sz="800" b="0">
                <a:solidFill>
                  <a:srgbClr val="888888"/>
                </a:solidFill>
                <a:latin typeface="Inter"/>
              </a:defRPr>
            </a:pPr>
            <a:r>
              <a:t>53,5 M DH TTC – 5 situations professionnelles analysées</a:t>
            </a:r>
          </a:p>
        </p:txBody>
      </p:sp>
      <p:sp>
        <p:nvSpPr>
          <p:cNvPr id="16" name="TextBox 15"/>
          <p:cNvSpPr txBox="1"/>
          <p:nvPr/>
        </p:nvSpPr>
        <p:spPr>
          <a:xfrm>
            <a:off x="1260000" y="4679997"/>
            <a:ext cx="5040000" cy="180000"/>
          </a:xfrm>
          <a:prstGeom prst="rect">
            <a:avLst/>
          </a:prstGeom>
          <a:noFill/>
        </p:spPr>
        <p:txBody>
          <a:bodyPr wrap="square">
            <a:spAutoFit/>
          </a:bodyPr>
          <a:lstStyle/>
          <a:p>
            <a:pPr algn="l">
              <a:defRPr sz="800" b="1">
                <a:solidFill>
                  <a:srgbClr val="F39200"/>
                </a:solidFill>
                <a:latin typeface="Montserrat"/>
              </a:defRPr>
            </a:pPr>
            <a:r>
              <a:t>p. 8-15</a:t>
            </a:r>
          </a:p>
        </p:txBody>
      </p:sp>
      <p:sp>
        <p:nvSpPr>
          <p:cNvPr id="17" name="Rectangle 16"/>
          <p:cNvSpPr/>
          <p:nvPr/>
        </p:nvSpPr>
        <p:spPr>
          <a:xfrm>
            <a:off x="1260000" y="4895998"/>
            <a:ext cx="5040000" cy="10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60000" y="5003997"/>
            <a:ext cx="5040000" cy="288000"/>
          </a:xfrm>
          <a:prstGeom prst="rect">
            <a:avLst/>
          </a:prstGeom>
          <a:noFill/>
        </p:spPr>
        <p:txBody>
          <a:bodyPr wrap="square">
            <a:spAutoFit/>
          </a:bodyPr>
          <a:lstStyle/>
          <a:p>
            <a:pPr algn="l">
              <a:defRPr sz="1100" b="1">
                <a:solidFill>
                  <a:srgbClr val="1E3A5F"/>
                </a:solidFill>
                <a:latin typeface="Montserrat"/>
              </a:defRPr>
            </a:pPr>
            <a:r>
              <a:t>Projet 2 : Route Lehri-Kerrouchen</a:t>
            </a:r>
          </a:p>
        </p:txBody>
      </p:sp>
      <p:sp>
        <p:nvSpPr>
          <p:cNvPr id="19" name="TextBox 18"/>
          <p:cNvSpPr txBox="1"/>
          <p:nvPr/>
        </p:nvSpPr>
        <p:spPr>
          <a:xfrm>
            <a:off x="1260000" y="5291997"/>
            <a:ext cx="5040000" cy="180000"/>
          </a:xfrm>
          <a:prstGeom prst="rect">
            <a:avLst/>
          </a:prstGeom>
          <a:noFill/>
        </p:spPr>
        <p:txBody>
          <a:bodyPr wrap="square">
            <a:spAutoFit/>
          </a:bodyPr>
          <a:lstStyle/>
          <a:p>
            <a:pPr algn="l">
              <a:defRPr sz="800" b="0">
                <a:solidFill>
                  <a:srgbClr val="888888"/>
                </a:solidFill>
                <a:latin typeface="Inter"/>
              </a:defRPr>
            </a:pPr>
            <a:r>
              <a:t>29 M DH TTC – 25 km en zone montagneuse</a:t>
            </a:r>
          </a:p>
        </p:txBody>
      </p:sp>
      <p:sp>
        <p:nvSpPr>
          <p:cNvPr id="20" name="TextBox 19"/>
          <p:cNvSpPr txBox="1"/>
          <p:nvPr/>
        </p:nvSpPr>
        <p:spPr>
          <a:xfrm>
            <a:off x="1260000" y="5507996"/>
            <a:ext cx="5040000" cy="180000"/>
          </a:xfrm>
          <a:prstGeom prst="rect">
            <a:avLst/>
          </a:prstGeom>
          <a:noFill/>
        </p:spPr>
        <p:txBody>
          <a:bodyPr wrap="square">
            <a:spAutoFit/>
          </a:bodyPr>
          <a:lstStyle/>
          <a:p>
            <a:pPr algn="l">
              <a:defRPr sz="800" b="1">
                <a:solidFill>
                  <a:srgbClr val="F39200"/>
                </a:solidFill>
                <a:latin typeface="Montserrat"/>
              </a:defRPr>
            </a:pPr>
            <a:r>
              <a:t>p. 16-20</a:t>
            </a:r>
          </a:p>
        </p:txBody>
      </p:sp>
      <p:sp>
        <p:nvSpPr>
          <p:cNvPr id="21" name="Rectangle 20"/>
          <p:cNvSpPr/>
          <p:nvPr/>
        </p:nvSpPr>
        <p:spPr>
          <a:xfrm>
            <a:off x="1260000" y="5723997"/>
            <a:ext cx="5040000" cy="10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60000" y="5831996"/>
            <a:ext cx="5040000" cy="288000"/>
          </a:xfrm>
          <a:prstGeom prst="rect">
            <a:avLst/>
          </a:prstGeom>
          <a:noFill/>
        </p:spPr>
        <p:txBody>
          <a:bodyPr wrap="square">
            <a:spAutoFit/>
          </a:bodyPr>
          <a:lstStyle/>
          <a:p>
            <a:pPr algn="l">
              <a:defRPr sz="1100" b="1">
                <a:solidFill>
                  <a:srgbClr val="1E3A5F"/>
                </a:solidFill>
                <a:latin typeface="Montserrat"/>
              </a:defRPr>
            </a:pPr>
            <a:r>
              <a:t>Activités complémentaires</a:t>
            </a:r>
          </a:p>
        </p:txBody>
      </p:sp>
      <p:sp>
        <p:nvSpPr>
          <p:cNvPr id="23" name="TextBox 22"/>
          <p:cNvSpPr txBox="1"/>
          <p:nvPr/>
        </p:nvSpPr>
        <p:spPr>
          <a:xfrm>
            <a:off x="1260000" y="6119996"/>
            <a:ext cx="5040000" cy="180000"/>
          </a:xfrm>
          <a:prstGeom prst="rect">
            <a:avLst/>
          </a:prstGeom>
          <a:noFill/>
        </p:spPr>
        <p:txBody>
          <a:bodyPr wrap="square">
            <a:spAutoFit/>
          </a:bodyPr>
          <a:lstStyle/>
          <a:p>
            <a:pPr algn="l">
              <a:defRPr sz="800" b="0">
                <a:solidFill>
                  <a:srgbClr val="888888"/>
                </a:solidFill>
                <a:latin typeface="Inter"/>
              </a:defRPr>
            </a:pPr>
            <a:r>
              <a:t>5 autres marchés au Maroc + Expérience terrain France</a:t>
            </a:r>
          </a:p>
        </p:txBody>
      </p:sp>
      <p:sp>
        <p:nvSpPr>
          <p:cNvPr id="24" name="TextBox 23"/>
          <p:cNvSpPr txBox="1"/>
          <p:nvPr/>
        </p:nvSpPr>
        <p:spPr>
          <a:xfrm>
            <a:off x="1260000" y="6335995"/>
            <a:ext cx="5040000" cy="180000"/>
          </a:xfrm>
          <a:prstGeom prst="rect">
            <a:avLst/>
          </a:prstGeom>
          <a:noFill/>
        </p:spPr>
        <p:txBody>
          <a:bodyPr wrap="square">
            <a:spAutoFit/>
          </a:bodyPr>
          <a:lstStyle/>
          <a:p>
            <a:pPr algn="l">
              <a:defRPr sz="800" b="1">
                <a:solidFill>
                  <a:srgbClr val="F39200"/>
                </a:solidFill>
                <a:latin typeface="Montserrat"/>
              </a:defRPr>
            </a:pPr>
            <a:r>
              <a:t>p. 21</a:t>
            </a:r>
          </a:p>
        </p:txBody>
      </p:sp>
      <p:sp>
        <p:nvSpPr>
          <p:cNvPr id="25" name="Rectangle 24"/>
          <p:cNvSpPr/>
          <p:nvPr/>
        </p:nvSpPr>
        <p:spPr>
          <a:xfrm>
            <a:off x="1260000" y="6551996"/>
            <a:ext cx="5040000" cy="10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60000" y="6659995"/>
            <a:ext cx="5040000" cy="288000"/>
          </a:xfrm>
          <a:prstGeom prst="rect">
            <a:avLst/>
          </a:prstGeom>
          <a:noFill/>
        </p:spPr>
        <p:txBody>
          <a:bodyPr wrap="square">
            <a:spAutoFit/>
          </a:bodyPr>
          <a:lstStyle/>
          <a:p>
            <a:pPr algn="l">
              <a:defRPr sz="1100" b="1">
                <a:solidFill>
                  <a:srgbClr val="1E3A5F"/>
                </a:solidFill>
                <a:latin typeface="Montserrat"/>
              </a:defRPr>
            </a:pPr>
            <a:r>
              <a:t>Bilan et analyse</a:t>
            </a:r>
          </a:p>
        </p:txBody>
      </p:sp>
      <p:sp>
        <p:nvSpPr>
          <p:cNvPr id="27" name="TextBox 26"/>
          <p:cNvSpPr txBox="1"/>
          <p:nvPr/>
        </p:nvSpPr>
        <p:spPr>
          <a:xfrm>
            <a:off x="1260000" y="6947995"/>
            <a:ext cx="5040000" cy="180000"/>
          </a:xfrm>
          <a:prstGeom prst="rect">
            <a:avLst/>
          </a:prstGeom>
          <a:noFill/>
        </p:spPr>
        <p:txBody>
          <a:bodyPr wrap="square">
            <a:spAutoFit/>
          </a:bodyPr>
          <a:lstStyle/>
          <a:p>
            <a:pPr algn="l">
              <a:defRPr sz="800" b="0">
                <a:solidFill>
                  <a:srgbClr val="888888"/>
                </a:solidFill>
                <a:latin typeface="Inter"/>
              </a:defRPr>
            </a:pPr>
            <a:r>
              <a:t>Synthèse compétences | Comparaison | Bilan réflexif | BIM</a:t>
            </a:r>
          </a:p>
        </p:txBody>
      </p:sp>
      <p:sp>
        <p:nvSpPr>
          <p:cNvPr id="28" name="TextBox 27"/>
          <p:cNvSpPr txBox="1"/>
          <p:nvPr/>
        </p:nvSpPr>
        <p:spPr>
          <a:xfrm>
            <a:off x="1260000" y="7163994"/>
            <a:ext cx="5040000" cy="180000"/>
          </a:xfrm>
          <a:prstGeom prst="rect">
            <a:avLst/>
          </a:prstGeom>
          <a:noFill/>
        </p:spPr>
        <p:txBody>
          <a:bodyPr wrap="square">
            <a:spAutoFit/>
          </a:bodyPr>
          <a:lstStyle/>
          <a:p>
            <a:pPr algn="l">
              <a:defRPr sz="800" b="1">
                <a:solidFill>
                  <a:srgbClr val="F39200"/>
                </a:solidFill>
                <a:latin typeface="Montserrat"/>
              </a:defRPr>
            </a:pPr>
            <a:r>
              <a:t>p. 22-26</a:t>
            </a:r>
          </a:p>
        </p:txBody>
      </p:sp>
      <p:sp>
        <p:nvSpPr>
          <p:cNvPr id="29" name="Rectangle 28"/>
          <p:cNvSpPr/>
          <p:nvPr/>
        </p:nvSpPr>
        <p:spPr>
          <a:xfrm>
            <a:off x="1260000" y="7379995"/>
            <a:ext cx="5040000" cy="10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60000" y="7487994"/>
            <a:ext cx="5040000" cy="288000"/>
          </a:xfrm>
          <a:prstGeom prst="rect">
            <a:avLst/>
          </a:prstGeom>
          <a:noFill/>
        </p:spPr>
        <p:txBody>
          <a:bodyPr wrap="square">
            <a:spAutoFit/>
          </a:bodyPr>
          <a:lstStyle/>
          <a:p>
            <a:pPr algn="l">
              <a:defRPr sz="1100" b="1">
                <a:solidFill>
                  <a:srgbClr val="1E3A5F"/>
                </a:solidFill>
                <a:latin typeface="Montserrat"/>
              </a:defRPr>
            </a:pPr>
            <a:r>
              <a:t>Projet professionnel</a:t>
            </a:r>
          </a:p>
        </p:txBody>
      </p:sp>
      <p:sp>
        <p:nvSpPr>
          <p:cNvPr id="31" name="TextBox 30"/>
          <p:cNvSpPr txBox="1"/>
          <p:nvPr/>
        </p:nvSpPr>
        <p:spPr>
          <a:xfrm>
            <a:off x="1260000" y="7775994"/>
            <a:ext cx="5040000" cy="180000"/>
          </a:xfrm>
          <a:prstGeom prst="rect">
            <a:avLst/>
          </a:prstGeom>
          <a:noFill/>
        </p:spPr>
        <p:txBody>
          <a:bodyPr wrap="square">
            <a:spAutoFit/>
          </a:bodyPr>
          <a:lstStyle/>
          <a:p>
            <a:pPr algn="l">
              <a:defRPr sz="800" b="0">
                <a:solidFill>
                  <a:srgbClr val="888888"/>
                </a:solidFill>
                <a:latin typeface="Inter"/>
              </a:defRPr>
            </a:pPr>
            <a:r>
              <a:t>Court, moyen et long terme – Vision BIMCO</a:t>
            </a:r>
          </a:p>
        </p:txBody>
      </p:sp>
      <p:sp>
        <p:nvSpPr>
          <p:cNvPr id="32" name="TextBox 31"/>
          <p:cNvSpPr txBox="1"/>
          <p:nvPr/>
        </p:nvSpPr>
        <p:spPr>
          <a:xfrm>
            <a:off x="1260000" y="7991993"/>
            <a:ext cx="5040000" cy="180000"/>
          </a:xfrm>
          <a:prstGeom prst="rect">
            <a:avLst/>
          </a:prstGeom>
          <a:noFill/>
        </p:spPr>
        <p:txBody>
          <a:bodyPr wrap="square">
            <a:spAutoFit/>
          </a:bodyPr>
          <a:lstStyle/>
          <a:p>
            <a:pPr algn="l">
              <a:defRPr sz="800" b="1">
                <a:solidFill>
                  <a:srgbClr val="F39200"/>
                </a:solidFill>
                <a:latin typeface="Montserrat"/>
              </a:defRPr>
            </a:pPr>
            <a:r>
              <a:t>p. 27</a:t>
            </a:r>
          </a:p>
        </p:txBody>
      </p:sp>
      <p:sp>
        <p:nvSpPr>
          <p:cNvPr id="33" name="Rectangle 32"/>
          <p:cNvSpPr/>
          <p:nvPr/>
        </p:nvSpPr>
        <p:spPr>
          <a:xfrm>
            <a:off x="1260000" y="8207994"/>
            <a:ext cx="5040000" cy="10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0000" y="8315993"/>
            <a:ext cx="5040000" cy="288000"/>
          </a:xfrm>
          <a:prstGeom prst="rect">
            <a:avLst/>
          </a:prstGeom>
          <a:noFill/>
        </p:spPr>
        <p:txBody>
          <a:bodyPr wrap="square">
            <a:spAutoFit/>
          </a:bodyPr>
          <a:lstStyle/>
          <a:p>
            <a:pPr algn="l">
              <a:defRPr sz="1100" b="1">
                <a:solidFill>
                  <a:srgbClr val="1E3A5F"/>
                </a:solidFill>
                <a:latin typeface="Montserrat"/>
              </a:defRPr>
            </a:pPr>
            <a:r>
              <a:t>Conclusion et annexes</a:t>
            </a:r>
          </a:p>
        </p:txBody>
      </p:sp>
      <p:sp>
        <p:nvSpPr>
          <p:cNvPr id="35" name="TextBox 34"/>
          <p:cNvSpPr txBox="1"/>
          <p:nvPr/>
        </p:nvSpPr>
        <p:spPr>
          <a:xfrm>
            <a:off x="1260000" y="8603993"/>
            <a:ext cx="5040000" cy="180000"/>
          </a:xfrm>
          <a:prstGeom prst="rect">
            <a:avLst/>
          </a:prstGeom>
          <a:noFill/>
        </p:spPr>
        <p:txBody>
          <a:bodyPr wrap="square">
            <a:spAutoFit/>
          </a:bodyPr>
          <a:lstStyle/>
          <a:p>
            <a:pPr algn="l">
              <a:defRPr sz="800" b="0">
                <a:solidFill>
                  <a:srgbClr val="888888"/>
                </a:solidFill>
                <a:latin typeface="Inter"/>
              </a:defRPr>
            </a:pPr>
            <a:r>
              <a:t>Bilan, perspectives, documents officiels, photos</a:t>
            </a:r>
          </a:p>
        </p:txBody>
      </p:sp>
      <p:sp>
        <p:nvSpPr>
          <p:cNvPr id="36" name="TextBox 35"/>
          <p:cNvSpPr txBox="1"/>
          <p:nvPr/>
        </p:nvSpPr>
        <p:spPr>
          <a:xfrm>
            <a:off x="1260000" y="8819992"/>
            <a:ext cx="5040000" cy="180000"/>
          </a:xfrm>
          <a:prstGeom prst="rect">
            <a:avLst/>
          </a:prstGeom>
          <a:noFill/>
        </p:spPr>
        <p:txBody>
          <a:bodyPr wrap="square">
            <a:spAutoFit/>
          </a:bodyPr>
          <a:lstStyle/>
          <a:p>
            <a:pPr algn="l">
              <a:defRPr sz="800" b="1">
                <a:solidFill>
                  <a:srgbClr val="F39200"/>
                </a:solidFill>
                <a:latin typeface="Montserrat"/>
              </a:defRPr>
            </a:pPr>
            <a:r>
              <a:t>p. 28-30</a:t>
            </a:r>
          </a:p>
        </p:txBody>
      </p:sp>
      <p:sp>
        <p:nvSpPr>
          <p:cNvPr id="37" name="Rectangle 36"/>
          <p:cNvSpPr/>
          <p:nvPr/>
        </p:nvSpPr>
        <p:spPr>
          <a:xfrm>
            <a:off x="1260000" y="9035993"/>
            <a:ext cx="5040000" cy="10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44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0000" y="360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0000" y="288000"/>
            <a:ext cx="5760000" cy="720000"/>
          </a:xfrm>
          <a:prstGeom prst="rect">
            <a:avLst/>
          </a:prstGeom>
          <a:noFill/>
        </p:spPr>
        <p:txBody>
          <a:bodyPr wrap="square">
            <a:spAutoFit/>
          </a:bodyPr>
          <a:lstStyle/>
          <a:p>
            <a:pPr algn="l">
              <a:defRPr sz="2200" b="1">
                <a:solidFill>
                  <a:srgbClr val="1E3A5F"/>
                </a:solidFill>
                <a:latin typeface="Montserrat"/>
              </a:defRPr>
            </a:pPr>
            <a:r>
              <a:t>INTRODUCTION</a:t>
            </a:r>
            <a:br/>
            <a:r>
              <a:t>ET PARCOURS</a:t>
            </a:r>
          </a:p>
        </p:txBody>
      </p:sp>
      <p:sp>
        <p:nvSpPr>
          <p:cNvPr id="5" name="Rectangle 4"/>
          <p:cNvSpPr/>
          <p:nvPr/>
        </p:nvSpPr>
        <p:spPr>
          <a:xfrm>
            <a:off x="648000" y="1260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8000" y="1440000"/>
            <a:ext cx="6263999" cy="540000"/>
          </a:xfrm>
          <a:prstGeom prst="rect">
            <a:avLst/>
          </a:prstGeom>
          <a:noFill/>
        </p:spPr>
        <p:txBody>
          <a:bodyPr wrap="square">
            <a:spAutoFit/>
          </a:bodyPr>
          <a:lstStyle/>
          <a:p>
            <a:pPr algn="just">
              <a:defRPr sz="900" b="0">
                <a:solidFill>
                  <a:srgbClr val="555555"/>
                </a:solidFill>
                <a:latin typeface="Inter"/>
              </a:defRPr>
            </a:pPr>
            <a:r>
              <a:t>Ce rapport présente mes activités professionnelles à travers 5 situations concrètes : estimation, analyse d'offres, suivi financier, communication de chantier et contrôle de cubatures. Chaque situation est analysée selon la méthode CPAR (Contexte / Problème / Action / Résultat).</a:t>
            </a:r>
          </a:p>
        </p:txBody>
      </p:sp>
      <p:sp>
        <p:nvSpPr>
          <p:cNvPr id="7" name="TextBox 6"/>
          <p:cNvSpPr txBox="1"/>
          <p:nvPr/>
        </p:nvSpPr>
        <p:spPr>
          <a:xfrm>
            <a:off x="648000" y="2160000"/>
            <a:ext cx="2880000" cy="180000"/>
          </a:xfrm>
          <a:prstGeom prst="rect">
            <a:avLst/>
          </a:prstGeom>
          <a:noFill/>
        </p:spPr>
        <p:txBody>
          <a:bodyPr wrap="square">
            <a:spAutoFit/>
          </a:bodyPr>
          <a:lstStyle/>
          <a:p>
            <a:pPr algn="l">
              <a:defRPr sz="700" b="1">
                <a:solidFill>
                  <a:srgbClr val="F39200"/>
                </a:solidFill>
                <a:latin typeface="Montserrat"/>
              </a:defRPr>
            </a:pPr>
            <a:r>
              <a:t>MON PARCOURS</a:t>
            </a:r>
          </a:p>
        </p:txBody>
      </p:sp>
      <p:sp>
        <p:nvSpPr>
          <p:cNvPr id="8" name="Oval 7"/>
          <p:cNvSpPr/>
          <p:nvPr/>
        </p:nvSpPr>
        <p:spPr>
          <a:xfrm>
            <a:off x="720000" y="2448000"/>
            <a:ext cx="216000" cy="216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9200" y="2664000"/>
            <a:ext cx="54000" cy="7920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2000" y="2412000"/>
            <a:ext cx="2160000" cy="144000"/>
          </a:xfrm>
          <a:prstGeom prst="rect">
            <a:avLst/>
          </a:prstGeom>
          <a:noFill/>
        </p:spPr>
        <p:txBody>
          <a:bodyPr wrap="square">
            <a:spAutoFit/>
          </a:bodyPr>
          <a:lstStyle/>
          <a:p>
            <a:pPr algn="l">
              <a:defRPr sz="700" b="1">
                <a:solidFill>
                  <a:srgbClr val="F39200"/>
                </a:solidFill>
                <a:latin typeface="Montserrat"/>
              </a:defRPr>
            </a:pPr>
            <a:r>
              <a:t>2014-2017</a:t>
            </a:r>
          </a:p>
        </p:txBody>
      </p:sp>
      <p:sp>
        <p:nvSpPr>
          <p:cNvPr id="11" name="TextBox 10"/>
          <p:cNvSpPr txBox="1"/>
          <p:nvPr/>
        </p:nvSpPr>
        <p:spPr>
          <a:xfrm>
            <a:off x="1152000" y="2573999"/>
            <a:ext cx="2160000" cy="180000"/>
          </a:xfrm>
          <a:prstGeom prst="rect">
            <a:avLst/>
          </a:prstGeom>
          <a:noFill/>
        </p:spPr>
        <p:txBody>
          <a:bodyPr wrap="square">
            <a:spAutoFit/>
          </a:bodyPr>
          <a:lstStyle/>
          <a:p>
            <a:pPr algn="l">
              <a:defRPr sz="900" b="1">
                <a:solidFill>
                  <a:srgbClr val="1E3A5F"/>
                </a:solidFill>
                <a:latin typeface="Montserrat"/>
              </a:defRPr>
            </a:pPr>
            <a:r>
              <a:t>Formation BTP</a:t>
            </a:r>
          </a:p>
        </p:txBody>
      </p:sp>
      <p:sp>
        <p:nvSpPr>
          <p:cNvPr id="12" name="TextBox 11"/>
          <p:cNvSpPr txBox="1"/>
          <p:nvPr/>
        </p:nvSpPr>
        <p:spPr>
          <a:xfrm>
            <a:off x="1152000" y="2754000"/>
            <a:ext cx="2160000" cy="180000"/>
          </a:xfrm>
          <a:prstGeom prst="rect">
            <a:avLst/>
          </a:prstGeom>
          <a:noFill/>
        </p:spPr>
        <p:txBody>
          <a:bodyPr wrap="square">
            <a:spAutoFit/>
          </a:bodyPr>
          <a:lstStyle/>
          <a:p>
            <a:pPr algn="l">
              <a:defRPr sz="700" b="0">
                <a:solidFill>
                  <a:srgbClr val="888888"/>
                </a:solidFill>
                <a:latin typeface="Inter"/>
              </a:defRPr>
            </a:pPr>
            <a:r>
              <a:t>TS Gros Œuvre, ISBTP</a:t>
            </a:r>
          </a:p>
        </p:txBody>
      </p:sp>
      <p:sp>
        <p:nvSpPr>
          <p:cNvPr id="13" name="Oval 12"/>
          <p:cNvSpPr/>
          <p:nvPr/>
        </p:nvSpPr>
        <p:spPr>
          <a:xfrm>
            <a:off x="720000" y="3455999"/>
            <a:ext cx="216000" cy="216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9200" y="3671999"/>
            <a:ext cx="54000" cy="7920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000" y="3419999"/>
            <a:ext cx="2160000" cy="144000"/>
          </a:xfrm>
          <a:prstGeom prst="rect">
            <a:avLst/>
          </a:prstGeom>
          <a:noFill/>
        </p:spPr>
        <p:txBody>
          <a:bodyPr wrap="square">
            <a:spAutoFit/>
          </a:bodyPr>
          <a:lstStyle/>
          <a:p>
            <a:pPr algn="l">
              <a:defRPr sz="700" b="1">
                <a:solidFill>
                  <a:srgbClr val="F39200"/>
                </a:solidFill>
                <a:latin typeface="Montserrat"/>
              </a:defRPr>
            </a:pPr>
            <a:r>
              <a:t>2017-2022</a:t>
            </a:r>
          </a:p>
        </p:txBody>
      </p:sp>
      <p:sp>
        <p:nvSpPr>
          <p:cNvPr id="16" name="TextBox 15"/>
          <p:cNvSpPr txBox="1"/>
          <p:nvPr/>
        </p:nvSpPr>
        <p:spPr>
          <a:xfrm>
            <a:off x="1152000" y="3581998"/>
            <a:ext cx="2160000" cy="180000"/>
          </a:xfrm>
          <a:prstGeom prst="rect">
            <a:avLst/>
          </a:prstGeom>
          <a:noFill/>
        </p:spPr>
        <p:txBody>
          <a:bodyPr wrap="square">
            <a:spAutoFit/>
          </a:bodyPr>
          <a:lstStyle/>
          <a:p>
            <a:pPr algn="l">
              <a:defRPr sz="900" b="1">
                <a:solidFill>
                  <a:srgbClr val="1E3A5F"/>
                </a:solidFill>
                <a:latin typeface="Montserrat"/>
              </a:defRPr>
            </a:pPr>
            <a:r>
              <a:t>Chargé d'affaires</a:t>
            </a:r>
          </a:p>
        </p:txBody>
      </p:sp>
      <p:sp>
        <p:nvSpPr>
          <p:cNvPr id="17" name="TextBox 16"/>
          <p:cNvSpPr txBox="1"/>
          <p:nvPr/>
        </p:nvSpPr>
        <p:spPr>
          <a:xfrm>
            <a:off x="1152000" y="3761999"/>
            <a:ext cx="2160000" cy="180000"/>
          </a:xfrm>
          <a:prstGeom prst="rect">
            <a:avLst/>
          </a:prstGeom>
          <a:noFill/>
        </p:spPr>
        <p:txBody>
          <a:bodyPr wrap="square">
            <a:spAutoFit/>
          </a:bodyPr>
          <a:lstStyle/>
          <a:p>
            <a:pPr algn="l">
              <a:defRPr sz="700" b="0">
                <a:solidFill>
                  <a:srgbClr val="888888"/>
                </a:solidFill>
                <a:latin typeface="Inter"/>
              </a:defRPr>
            </a:pPr>
            <a:r>
              <a:t>Conseil Régional, 7 marchés, +100 M DH</a:t>
            </a:r>
          </a:p>
        </p:txBody>
      </p:sp>
      <p:sp>
        <p:nvSpPr>
          <p:cNvPr id="18" name="Oval 17"/>
          <p:cNvSpPr/>
          <p:nvPr/>
        </p:nvSpPr>
        <p:spPr>
          <a:xfrm>
            <a:off x="720000" y="4463998"/>
            <a:ext cx="216000" cy="216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9200" y="4679998"/>
            <a:ext cx="54000" cy="7920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52000" y="4427998"/>
            <a:ext cx="2160000" cy="144000"/>
          </a:xfrm>
          <a:prstGeom prst="rect">
            <a:avLst/>
          </a:prstGeom>
          <a:noFill/>
        </p:spPr>
        <p:txBody>
          <a:bodyPr wrap="square">
            <a:spAutoFit/>
          </a:bodyPr>
          <a:lstStyle/>
          <a:p>
            <a:pPr algn="l">
              <a:defRPr sz="700" b="1">
                <a:solidFill>
                  <a:srgbClr val="F39200"/>
                </a:solidFill>
                <a:latin typeface="Montserrat"/>
              </a:defRPr>
            </a:pPr>
            <a:r>
              <a:t>2022-2024</a:t>
            </a:r>
          </a:p>
        </p:txBody>
      </p:sp>
      <p:sp>
        <p:nvSpPr>
          <p:cNvPr id="21" name="TextBox 20"/>
          <p:cNvSpPr txBox="1"/>
          <p:nvPr/>
        </p:nvSpPr>
        <p:spPr>
          <a:xfrm>
            <a:off x="1152000" y="4589997"/>
            <a:ext cx="2160000" cy="180000"/>
          </a:xfrm>
          <a:prstGeom prst="rect">
            <a:avLst/>
          </a:prstGeom>
          <a:noFill/>
        </p:spPr>
        <p:txBody>
          <a:bodyPr wrap="square">
            <a:spAutoFit/>
          </a:bodyPr>
          <a:lstStyle/>
          <a:p>
            <a:pPr algn="l">
              <a:defRPr sz="900" b="1">
                <a:solidFill>
                  <a:srgbClr val="1E3A5F"/>
                </a:solidFill>
                <a:latin typeface="Montserrat"/>
              </a:defRPr>
            </a:pPr>
            <a:r>
              <a:t>Chef de chantier</a:t>
            </a:r>
          </a:p>
        </p:txBody>
      </p:sp>
      <p:sp>
        <p:nvSpPr>
          <p:cNvPr id="22" name="TextBox 21"/>
          <p:cNvSpPr txBox="1"/>
          <p:nvPr/>
        </p:nvSpPr>
        <p:spPr>
          <a:xfrm>
            <a:off x="1152000" y="4769998"/>
            <a:ext cx="2160000" cy="180000"/>
          </a:xfrm>
          <a:prstGeom prst="rect">
            <a:avLst/>
          </a:prstGeom>
          <a:noFill/>
        </p:spPr>
        <p:txBody>
          <a:bodyPr wrap="square">
            <a:spAutoFit/>
          </a:bodyPr>
          <a:lstStyle/>
          <a:p>
            <a:pPr algn="l">
              <a:defRPr sz="700" b="0">
                <a:solidFill>
                  <a:srgbClr val="888888"/>
                </a:solidFill>
                <a:latin typeface="Inter"/>
              </a:defRPr>
            </a:pPr>
            <a:r>
              <a:t>Ergalis + Minssieux, gros œuvre</a:t>
            </a:r>
          </a:p>
        </p:txBody>
      </p:sp>
      <p:sp>
        <p:nvSpPr>
          <p:cNvPr id="23" name="Oval 22"/>
          <p:cNvSpPr/>
          <p:nvPr/>
        </p:nvSpPr>
        <p:spPr>
          <a:xfrm>
            <a:off x="720000" y="5471997"/>
            <a:ext cx="216000" cy="216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9200" y="5687997"/>
            <a:ext cx="54000" cy="7920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52000" y="5435997"/>
            <a:ext cx="2160000" cy="144000"/>
          </a:xfrm>
          <a:prstGeom prst="rect">
            <a:avLst/>
          </a:prstGeom>
          <a:noFill/>
        </p:spPr>
        <p:txBody>
          <a:bodyPr wrap="square">
            <a:spAutoFit/>
          </a:bodyPr>
          <a:lstStyle/>
          <a:p>
            <a:pPr algn="l">
              <a:defRPr sz="700" b="1">
                <a:solidFill>
                  <a:srgbClr val="F39200"/>
                </a:solidFill>
                <a:latin typeface="Montserrat"/>
              </a:defRPr>
            </a:pPr>
            <a:r>
              <a:t>2023-2024</a:t>
            </a:r>
          </a:p>
        </p:txBody>
      </p:sp>
      <p:sp>
        <p:nvSpPr>
          <p:cNvPr id="26" name="TextBox 25"/>
          <p:cNvSpPr txBox="1"/>
          <p:nvPr/>
        </p:nvSpPr>
        <p:spPr>
          <a:xfrm>
            <a:off x="1152000" y="5597996"/>
            <a:ext cx="2160000" cy="180000"/>
          </a:xfrm>
          <a:prstGeom prst="rect">
            <a:avLst/>
          </a:prstGeom>
          <a:noFill/>
        </p:spPr>
        <p:txBody>
          <a:bodyPr wrap="square">
            <a:spAutoFit/>
          </a:bodyPr>
          <a:lstStyle/>
          <a:p>
            <a:pPr algn="l">
              <a:defRPr sz="900" b="1">
                <a:solidFill>
                  <a:srgbClr val="1E3A5F"/>
                </a:solidFill>
                <a:latin typeface="Montserrat"/>
              </a:defRPr>
            </a:pPr>
            <a:r>
              <a:t>Formation BIM</a:t>
            </a:r>
          </a:p>
        </p:txBody>
      </p:sp>
      <p:sp>
        <p:nvSpPr>
          <p:cNvPr id="27" name="TextBox 26"/>
          <p:cNvSpPr txBox="1"/>
          <p:nvPr/>
        </p:nvSpPr>
        <p:spPr>
          <a:xfrm>
            <a:off x="1152000" y="5777997"/>
            <a:ext cx="2160000" cy="180000"/>
          </a:xfrm>
          <a:prstGeom prst="rect">
            <a:avLst/>
          </a:prstGeom>
          <a:noFill/>
        </p:spPr>
        <p:txBody>
          <a:bodyPr wrap="square">
            <a:spAutoFit/>
          </a:bodyPr>
          <a:lstStyle/>
          <a:p>
            <a:pPr algn="l">
              <a:defRPr sz="700" b="0">
                <a:solidFill>
                  <a:srgbClr val="888888"/>
                </a:solidFill>
                <a:latin typeface="Inter"/>
              </a:defRPr>
            </a:pPr>
            <a:r>
              <a:t>Colmar, Revit, IFC, 8 mois</a:t>
            </a:r>
          </a:p>
        </p:txBody>
      </p:sp>
      <p:sp>
        <p:nvSpPr>
          <p:cNvPr id="28" name="Oval 27"/>
          <p:cNvSpPr/>
          <p:nvPr/>
        </p:nvSpPr>
        <p:spPr>
          <a:xfrm>
            <a:off x="720000" y="6479996"/>
            <a:ext cx="216000" cy="216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52000" y="6443996"/>
            <a:ext cx="2160000" cy="144000"/>
          </a:xfrm>
          <a:prstGeom prst="rect">
            <a:avLst/>
          </a:prstGeom>
          <a:noFill/>
        </p:spPr>
        <p:txBody>
          <a:bodyPr wrap="square">
            <a:spAutoFit/>
          </a:bodyPr>
          <a:lstStyle/>
          <a:p>
            <a:pPr algn="l">
              <a:defRPr sz="700" b="1">
                <a:solidFill>
                  <a:srgbClr val="F39200"/>
                </a:solidFill>
                <a:latin typeface="Montserrat"/>
              </a:defRPr>
            </a:pPr>
            <a:r>
              <a:t>Depuis 2026</a:t>
            </a:r>
          </a:p>
        </p:txBody>
      </p:sp>
      <p:sp>
        <p:nvSpPr>
          <p:cNvPr id="30" name="TextBox 29"/>
          <p:cNvSpPr txBox="1"/>
          <p:nvPr/>
        </p:nvSpPr>
        <p:spPr>
          <a:xfrm>
            <a:off x="1152000" y="6605995"/>
            <a:ext cx="2160000" cy="180000"/>
          </a:xfrm>
          <a:prstGeom prst="rect">
            <a:avLst/>
          </a:prstGeom>
          <a:noFill/>
        </p:spPr>
        <p:txBody>
          <a:bodyPr wrap="square">
            <a:spAutoFit/>
          </a:bodyPr>
          <a:lstStyle/>
          <a:p>
            <a:pPr algn="l">
              <a:defRPr sz="900" b="1">
                <a:solidFill>
                  <a:srgbClr val="1E3A5F"/>
                </a:solidFill>
                <a:latin typeface="Montserrat"/>
              </a:defRPr>
            </a:pPr>
            <a:r>
              <a:t>BIMCO</a:t>
            </a:r>
          </a:p>
        </p:txBody>
      </p:sp>
      <p:sp>
        <p:nvSpPr>
          <p:cNvPr id="31" name="TextBox 30"/>
          <p:cNvSpPr txBox="1"/>
          <p:nvPr/>
        </p:nvSpPr>
        <p:spPr>
          <a:xfrm>
            <a:off x="1152000" y="6785996"/>
            <a:ext cx="2160000" cy="180000"/>
          </a:xfrm>
          <a:prstGeom prst="rect">
            <a:avLst/>
          </a:prstGeom>
          <a:noFill/>
        </p:spPr>
        <p:txBody>
          <a:bodyPr wrap="square">
            <a:spAutoFit/>
          </a:bodyPr>
          <a:lstStyle/>
          <a:p>
            <a:pPr algn="l">
              <a:defRPr sz="700" b="0">
                <a:solidFill>
                  <a:srgbClr val="888888"/>
                </a:solidFill>
                <a:latin typeface="Inter"/>
              </a:defRPr>
            </a:pPr>
            <a:r>
              <a:t>Projeteur BIM + Économiste</a:t>
            </a:r>
          </a:p>
        </p:txBody>
      </p:sp>
      <p:sp>
        <p:nvSpPr>
          <p:cNvPr id="32" name="TextBox 31"/>
          <p:cNvSpPr txBox="1"/>
          <p:nvPr/>
        </p:nvSpPr>
        <p:spPr>
          <a:xfrm>
            <a:off x="3960000" y="2160000"/>
            <a:ext cx="2880000" cy="180000"/>
          </a:xfrm>
          <a:prstGeom prst="rect">
            <a:avLst/>
          </a:prstGeom>
          <a:noFill/>
        </p:spPr>
        <p:txBody>
          <a:bodyPr wrap="square">
            <a:spAutoFit/>
          </a:bodyPr>
          <a:lstStyle/>
          <a:p>
            <a:pPr algn="l">
              <a:defRPr sz="700" b="1">
                <a:solidFill>
                  <a:srgbClr val="F39200"/>
                </a:solidFill>
                <a:latin typeface="Montserrat"/>
              </a:defRPr>
            </a:pPr>
            <a:r>
              <a:t>CHIFFRES CLES</a:t>
            </a:r>
          </a:p>
        </p:txBody>
      </p:sp>
      <p:sp>
        <p:nvSpPr>
          <p:cNvPr id="33" name="Oval 32"/>
          <p:cNvSpPr/>
          <p:nvPr/>
        </p:nvSpPr>
        <p:spPr>
          <a:xfrm>
            <a:off x="4140000" y="2520000"/>
            <a:ext cx="648000" cy="648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40000" y="2628000"/>
            <a:ext cx="648000" cy="288000"/>
          </a:xfrm>
          <a:prstGeom prst="rect">
            <a:avLst/>
          </a:prstGeom>
          <a:noFill/>
        </p:spPr>
        <p:txBody>
          <a:bodyPr wrap="square">
            <a:spAutoFit/>
          </a:bodyPr>
          <a:lstStyle/>
          <a:p>
            <a:pPr algn="ctr">
              <a:defRPr sz="900" b="1">
                <a:solidFill>
                  <a:srgbClr val="FFFFFF"/>
                </a:solidFill>
                <a:latin typeface="Montserrat"/>
              </a:defRPr>
            </a:pPr>
            <a:r>
              <a:t>8 ans</a:t>
            </a:r>
          </a:p>
        </p:txBody>
      </p:sp>
      <p:sp>
        <p:nvSpPr>
          <p:cNvPr id="35" name="TextBox 34"/>
          <p:cNvSpPr txBox="1"/>
          <p:nvPr/>
        </p:nvSpPr>
        <p:spPr>
          <a:xfrm>
            <a:off x="4068000" y="3240000"/>
            <a:ext cx="792000" cy="180000"/>
          </a:xfrm>
          <a:prstGeom prst="rect">
            <a:avLst/>
          </a:prstGeom>
          <a:noFill/>
        </p:spPr>
        <p:txBody>
          <a:bodyPr wrap="square">
            <a:spAutoFit/>
          </a:bodyPr>
          <a:lstStyle/>
          <a:p>
            <a:pPr algn="ctr">
              <a:defRPr sz="700" b="0">
                <a:solidFill>
                  <a:srgbClr val="888888"/>
                </a:solidFill>
                <a:latin typeface="Inter"/>
              </a:defRPr>
            </a:pPr>
            <a:r>
              <a:t>d'expérience BTP</a:t>
            </a:r>
          </a:p>
        </p:txBody>
      </p:sp>
      <p:sp>
        <p:nvSpPr>
          <p:cNvPr id="36" name="Oval 35"/>
          <p:cNvSpPr/>
          <p:nvPr/>
        </p:nvSpPr>
        <p:spPr>
          <a:xfrm>
            <a:off x="4932000" y="2520000"/>
            <a:ext cx="648000" cy="648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32000" y="2628000"/>
            <a:ext cx="648000" cy="288000"/>
          </a:xfrm>
          <a:prstGeom prst="rect">
            <a:avLst/>
          </a:prstGeom>
          <a:noFill/>
        </p:spPr>
        <p:txBody>
          <a:bodyPr wrap="square">
            <a:spAutoFit/>
          </a:bodyPr>
          <a:lstStyle/>
          <a:p>
            <a:pPr algn="ctr">
              <a:defRPr sz="900" b="1">
                <a:solidFill>
                  <a:srgbClr val="FFFFFF"/>
                </a:solidFill>
                <a:latin typeface="Montserrat"/>
              </a:defRPr>
            </a:pPr>
            <a:r>
              <a:t>7 marchés</a:t>
            </a:r>
          </a:p>
        </p:txBody>
      </p:sp>
      <p:sp>
        <p:nvSpPr>
          <p:cNvPr id="38" name="TextBox 37"/>
          <p:cNvSpPr txBox="1"/>
          <p:nvPr/>
        </p:nvSpPr>
        <p:spPr>
          <a:xfrm>
            <a:off x="4860000" y="3240000"/>
            <a:ext cx="792000" cy="180000"/>
          </a:xfrm>
          <a:prstGeom prst="rect">
            <a:avLst/>
          </a:prstGeom>
          <a:noFill/>
        </p:spPr>
        <p:txBody>
          <a:bodyPr wrap="square">
            <a:spAutoFit/>
          </a:bodyPr>
          <a:lstStyle/>
          <a:p>
            <a:pPr algn="ctr">
              <a:defRPr sz="700" b="0">
                <a:solidFill>
                  <a:srgbClr val="888888"/>
                </a:solidFill>
                <a:latin typeface="Inter"/>
              </a:defRPr>
            </a:pPr>
            <a:r>
              <a:t>publics suivis</a:t>
            </a:r>
          </a:p>
        </p:txBody>
      </p:sp>
      <p:sp>
        <p:nvSpPr>
          <p:cNvPr id="39" name="Oval 38"/>
          <p:cNvSpPr/>
          <p:nvPr/>
        </p:nvSpPr>
        <p:spPr>
          <a:xfrm>
            <a:off x="5724000" y="2520000"/>
            <a:ext cx="648000" cy="648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24000" y="2628000"/>
            <a:ext cx="648000" cy="288000"/>
          </a:xfrm>
          <a:prstGeom prst="rect">
            <a:avLst/>
          </a:prstGeom>
          <a:noFill/>
        </p:spPr>
        <p:txBody>
          <a:bodyPr wrap="square">
            <a:spAutoFit/>
          </a:bodyPr>
          <a:lstStyle/>
          <a:p>
            <a:pPr algn="ctr">
              <a:defRPr sz="900" b="1">
                <a:solidFill>
                  <a:srgbClr val="FFFFFF"/>
                </a:solidFill>
                <a:latin typeface="Montserrat"/>
              </a:defRPr>
            </a:pPr>
            <a:r>
              <a:t>+100 M DH</a:t>
            </a:r>
          </a:p>
        </p:txBody>
      </p:sp>
      <p:sp>
        <p:nvSpPr>
          <p:cNvPr id="41" name="TextBox 40"/>
          <p:cNvSpPr txBox="1"/>
          <p:nvPr/>
        </p:nvSpPr>
        <p:spPr>
          <a:xfrm>
            <a:off x="5652000" y="3240000"/>
            <a:ext cx="792000" cy="180000"/>
          </a:xfrm>
          <a:prstGeom prst="rect">
            <a:avLst/>
          </a:prstGeom>
          <a:noFill/>
        </p:spPr>
        <p:txBody>
          <a:bodyPr wrap="square">
            <a:spAutoFit/>
          </a:bodyPr>
          <a:lstStyle/>
          <a:p>
            <a:pPr algn="ctr">
              <a:defRPr sz="700" b="0">
                <a:solidFill>
                  <a:srgbClr val="888888"/>
                </a:solidFill>
                <a:latin typeface="Inter"/>
              </a:defRPr>
            </a:pPr>
            <a:r>
              <a:t>d'investissements</a:t>
            </a:r>
          </a:p>
        </p:txBody>
      </p:sp>
      <p:sp>
        <p:nvSpPr>
          <p:cNvPr id="42" name="Oval 41"/>
          <p:cNvSpPr/>
          <p:nvPr/>
        </p:nvSpPr>
        <p:spPr>
          <a:xfrm>
            <a:off x="6516000" y="2520000"/>
            <a:ext cx="648000" cy="6480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16000" y="2628000"/>
            <a:ext cx="648000" cy="288000"/>
          </a:xfrm>
          <a:prstGeom prst="rect">
            <a:avLst/>
          </a:prstGeom>
          <a:noFill/>
        </p:spPr>
        <p:txBody>
          <a:bodyPr wrap="square">
            <a:spAutoFit/>
          </a:bodyPr>
          <a:lstStyle/>
          <a:p>
            <a:pPr algn="ctr">
              <a:defRPr sz="900" b="1">
                <a:solidFill>
                  <a:srgbClr val="FFFFFF"/>
                </a:solidFill>
                <a:latin typeface="Montserrat"/>
              </a:defRPr>
            </a:pPr>
            <a:r>
              <a:t>2 pays</a:t>
            </a:r>
          </a:p>
        </p:txBody>
      </p:sp>
      <p:sp>
        <p:nvSpPr>
          <p:cNvPr id="44" name="TextBox 43"/>
          <p:cNvSpPr txBox="1"/>
          <p:nvPr/>
        </p:nvSpPr>
        <p:spPr>
          <a:xfrm>
            <a:off x="6444000" y="3240000"/>
            <a:ext cx="792000" cy="180000"/>
          </a:xfrm>
          <a:prstGeom prst="rect">
            <a:avLst/>
          </a:prstGeom>
          <a:noFill/>
        </p:spPr>
        <p:txBody>
          <a:bodyPr wrap="square">
            <a:spAutoFit/>
          </a:bodyPr>
          <a:lstStyle/>
          <a:p>
            <a:pPr algn="ctr">
              <a:defRPr sz="700" b="0">
                <a:solidFill>
                  <a:srgbClr val="888888"/>
                </a:solidFill>
                <a:latin typeface="Inter"/>
              </a:defRPr>
            </a:pPr>
            <a:r>
              <a:t>Maroc + France</a:t>
            </a:r>
          </a:p>
        </p:txBody>
      </p:sp>
      <p:sp>
        <p:nvSpPr>
          <p:cNvPr id="45" name="Rounded Rectangle 44"/>
          <p:cNvSpPr/>
          <p:nvPr/>
        </p:nvSpPr>
        <p:spPr>
          <a:xfrm>
            <a:off x="3960000" y="3780000"/>
            <a:ext cx="3060000" cy="360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40000" y="3816000"/>
            <a:ext cx="2700000" cy="288000"/>
          </a:xfrm>
          <a:prstGeom prst="rect">
            <a:avLst/>
          </a:prstGeom>
          <a:noFill/>
        </p:spPr>
        <p:txBody>
          <a:bodyPr wrap="square">
            <a:spAutoFit/>
          </a:bodyPr>
          <a:lstStyle/>
          <a:p>
            <a:pPr algn="ctr">
              <a:defRPr sz="900" b="1">
                <a:solidFill>
                  <a:srgbClr val="FFFFFF"/>
                </a:solidFill>
                <a:latin typeface="Montserrat"/>
              </a:defRPr>
            </a:pPr>
            <a:r>
              <a:t>5 situations professionnelles</a:t>
            </a:r>
          </a:p>
        </p:txBody>
      </p:sp>
      <p:sp>
        <p:nvSpPr>
          <p:cNvPr id="47" name="TextBox 46"/>
          <p:cNvSpPr txBox="1"/>
          <p:nvPr/>
        </p:nvSpPr>
        <p:spPr>
          <a:xfrm>
            <a:off x="3960000" y="4320000"/>
            <a:ext cx="3060000" cy="432000"/>
          </a:xfrm>
          <a:prstGeom prst="rect">
            <a:avLst/>
          </a:prstGeom>
          <a:noFill/>
        </p:spPr>
        <p:txBody>
          <a:bodyPr wrap="square">
            <a:spAutoFit/>
          </a:bodyPr>
          <a:lstStyle/>
          <a:p>
            <a:pPr algn="l">
              <a:defRPr sz="800" b="0">
                <a:solidFill>
                  <a:srgbClr val="555555"/>
                </a:solidFill>
                <a:latin typeface="Inter"/>
              </a:defRPr>
            </a:pPr>
            <a:r>
              <a:t>Projet 1 : Mise à niveau de 4 communes (53,5 M DH TTC, 8 corps d'état)</a:t>
            </a:r>
          </a:p>
        </p:txBody>
      </p:sp>
      <p:sp>
        <p:nvSpPr>
          <p:cNvPr id="48" name="TextBox 47"/>
          <p:cNvSpPr txBox="1"/>
          <p:nvPr/>
        </p:nvSpPr>
        <p:spPr>
          <a:xfrm>
            <a:off x="3960000" y="4860000"/>
            <a:ext cx="3060000" cy="432000"/>
          </a:xfrm>
          <a:prstGeom prst="rect">
            <a:avLst/>
          </a:prstGeom>
          <a:noFill/>
        </p:spPr>
        <p:txBody>
          <a:bodyPr wrap="square">
            <a:spAutoFit/>
          </a:bodyPr>
          <a:lstStyle/>
          <a:p>
            <a:pPr algn="l">
              <a:defRPr sz="800" b="0">
                <a:solidFill>
                  <a:srgbClr val="555555"/>
                </a:solidFill>
                <a:latin typeface="Inter"/>
              </a:defRPr>
            </a:pPr>
            <a:r>
              <a:t>Projet 2 : Construction route Lehri-Kerrouchen, 25 km (29 M DH TTC)</a:t>
            </a:r>
          </a:p>
        </p:txBody>
      </p:sp>
      <p:sp>
        <p:nvSpPr>
          <p:cNvPr id="49" name="TextBox 48"/>
          <p:cNvSpPr txBox="1"/>
          <p:nvPr/>
        </p:nvSpPr>
        <p:spPr>
          <a:xfrm>
            <a:off x="648000" y="7740000"/>
            <a:ext cx="6263999" cy="180000"/>
          </a:xfrm>
          <a:prstGeom prst="rect">
            <a:avLst/>
          </a:prstGeom>
          <a:noFill/>
        </p:spPr>
        <p:txBody>
          <a:bodyPr wrap="square">
            <a:spAutoFit/>
          </a:bodyPr>
          <a:lstStyle/>
          <a:p>
            <a:pPr algn="ctr">
              <a:defRPr sz="700" b="1">
                <a:solidFill>
                  <a:srgbClr val="F39200"/>
                </a:solidFill>
                <a:latin typeface="Montserrat"/>
              </a:defRPr>
            </a:pPr>
            <a:r>
              <a:t>PROJETS ANALYSES</a:t>
            </a:r>
          </a:p>
        </p:txBody>
      </p:sp>
      <p:sp>
        <p:nvSpPr>
          <p:cNvPr id="50" name="Rounded Rectangle 49"/>
          <p:cNvSpPr/>
          <p:nvPr/>
        </p:nvSpPr>
        <p:spPr>
          <a:xfrm>
            <a:off x="648000" y="8028000"/>
            <a:ext cx="3060000" cy="7200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8000" y="8028000"/>
            <a:ext cx="54000" cy="720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28000" y="8172000"/>
            <a:ext cx="360000" cy="360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96000" y="8136000"/>
            <a:ext cx="2160000" cy="216000"/>
          </a:xfrm>
          <a:prstGeom prst="rect">
            <a:avLst/>
          </a:prstGeom>
          <a:noFill/>
        </p:spPr>
        <p:txBody>
          <a:bodyPr wrap="square">
            <a:spAutoFit/>
          </a:bodyPr>
          <a:lstStyle/>
          <a:p>
            <a:pPr algn="l">
              <a:defRPr sz="1000" b="1">
                <a:solidFill>
                  <a:srgbClr val="1E3A5F"/>
                </a:solidFill>
                <a:latin typeface="Montserrat"/>
              </a:defRPr>
            </a:pPr>
            <a:r>
              <a:t>Projet 1</a:t>
            </a:r>
          </a:p>
        </p:txBody>
      </p:sp>
      <p:sp>
        <p:nvSpPr>
          <p:cNvPr id="54" name="TextBox 53"/>
          <p:cNvSpPr txBox="1"/>
          <p:nvPr/>
        </p:nvSpPr>
        <p:spPr>
          <a:xfrm>
            <a:off x="1296000" y="8388000"/>
            <a:ext cx="2160000" cy="216000"/>
          </a:xfrm>
          <a:prstGeom prst="rect">
            <a:avLst/>
          </a:prstGeom>
          <a:noFill/>
        </p:spPr>
        <p:txBody>
          <a:bodyPr wrap="square">
            <a:spAutoFit/>
          </a:bodyPr>
          <a:lstStyle/>
          <a:p>
            <a:pPr algn="l">
              <a:defRPr sz="700" b="0">
                <a:solidFill>
                  <a:srgbClr val="888888"/>
                </a:solidFill>
                <a:latin typeface="Inter"/>
              </a:defRPr>
            </a:pPr>
            <a:r>
              <a:t>4 communes - 53,5 M DH TTC - VRD</a:t>
            </a:r>
          </a:p>
        </p:txBody>
      </p:sp>
      <p:sp>
        <p:nvSpPr>
          <p:cNvPr id="55" name="Rounded Rectangle 54"/>
          <p:cNvSpPr/>
          <p:nvPr/>
        </p:nvSpPr>
        <p:spPr>
          <a:xfrm>
            <a:off x="3888000" y="8028000"/>
            <a:ext cx="3060000" cy="7200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888000" y="8028000"/>
            <a:ext cx="54000" cy="720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068000" y="8172000"/>
            <a:ext cx="360000" cy="360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36000" y="8136000"/>
            <a:ext cx="2160000" cy="216000"/>
          </a:xfrm>
          <a:prstGeom prst="rect">
            <a:avLst/>
          </a:prstGeom>
          <a:noFill/>
        </p:spPr>
        <p:txBody>
          <a:bodyPr wrap="square">
            <a:spAutoFit/>
          </a:bodyPr>
          <a:lstStyle/>
          <a:p>
            <a:pPr algn="l">
              <a:defRPr sz="1000" b="1">
                <a:solidFill>
                  <a:srgbClr val="1E3A5F"/>
                </a:solidFill>
                <a:latin typeface="Montserrat"/>
              </a:defRPr>
            </a:pPr>
            <a:r>
              <a:t>Projet 2</a:t>
            </a:r>
          </a:p>
        </p:txBody>
      </p:sp>
      <p:sp>
        <p:nvSpPr>
          <p:cNvPr id="59" name="TextBox 58"/>
          <p:cNvSpPr txBox="1"/>
          <p:nvPr/>
        </p:nvSpPr>
        <p:spPr>
          <a:xfrm>
            <a:off x="4536000" y="8388000"/>
            <a:ext cx="2160000" cy="216000"/>
          </a:xfrm>
          <a:prstGeom prst="rect">
            <a:avLst/>
          </a:prstGeom>
          <a:noFill/>
        </p:spPr>
        <p:txBody>
          <a:bodyPr wrap="square">
            <a:spAutoFit/>
          </a:bodyPr>
          <a:lstStyle/>
          <a:p>
            <a:pPr algn="l">
              <a:defRPr sz="700" b="0">
                <a:solidFill>
                  <a:srgbClr val="888888"/>
                </a:solidFill>
                <a:latin typeface="Inter"/>
              </a:defRPr>
            </a:pPr>
            <a:r>
              <a:t>Lehri-Kerrouchen - 29 M DH - 25 km</a:t>
            </a:r>
          </a:p>
        </p:txBody>
      </p:sp>
      <p:sp>
        <p:nvSpPr>
          <p:cNvPr id="60" name="TextBox 59"/>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0000" y="1800000"/>
            <a:ext cx="3600000" cy="3600000"/>
          </a:xfrm>
          <a:prstGeom prst="ellipse">
            <a:avLst/>
          </a:prstGeom>
          <a:solidFill>
            <a:srgbClr val="48B4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760000" y="7200000"/>
            <a:ext cx="2880000" cy="2880000"/>
          </a:xfrm>
          <a:prstGeom prst="ellipse">
            <a:avLst/>
          </a:prstGeom>
          <a:solidFill>
            <a:srgbClr val="6BD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 y="3600000"/>
            <a:ext cx="6840000" cy="1080000"/>
          </a:xfrm>
          <a:prstGeom prst="rect">
            <a:avLst/>
          </a:prstGeom>
          <a:noFill/>
        </p:spPr>
        <p:txBody>
          <a:bodyPr wrap="square">
            <a:spAutoFit/>
          </a:bodyPr>
          <a:lstStyle/>
          <a:p>
            <a:pPr algn="ctr">
              <a:defRPr sz="7200" b="1">
                <a:solidFill>
                  <a:srgbClr val="7AE6DE"/>
                </a:solidFill>
                <a:latin typeface="Montserrat"/>
              </a:defRPr>
            </a:pPr>
            <a:r>
              <a:t>01</a:t>
            </a:r>
          </a:p>
        </p:txBody>
      </p:sp>
      <p:sp>
        <p:nvSpPr>
          <p:cNvPr id="6" name="TextBox 5"/>
          <p:cNvSpPr txBox="1"/>
          <p:nvPr/>
        </p:nvSpPr>
        <p:spPr>
          <a:xfrm>
            <a:off x="720000" y="5040000"/>
            <a:ext cx="6120000" cy="1080000"/>
          </a:xfrm>
          <a:prstGeom prst="rect">
            <a:avLst/>
          </a:prstGeom>
          <a:noFill/>
        </p:spPr>
        <p:txBody>
          <a:bodyPr wrap="square">
            <a:spAutoFit/>
          </a:bodyPr>
          <a:lstStyle/>
          <a:p>
            <a:pPr algn="ctr">
              <a:defRPr sz="2600" b="1">
                <a:solidFill>
                  <a:srgbClr val="FFFFFF"/>
                </a:solidFill>
                <a:latin typeface="Montserrat"/>
              </a:defRPr>
            </a:pPr>
            <a:r>
              <a:t>CADRE PROFESSIONNEL</a:t>
            </a:r>
          </a:p>
        </p:txBody>
      </p:sp>
      <p:sp>
        <p:nvSpPr>
          <p:cNvPr id="7" name="Rectangle 6"/>
          <p:cNvSpPr/>
          <p:nvPr/>
        </p:nvSpPr>
        <p:spPr>
          <a:xfrm>
            <a:off x="3060000" y="6300000"/>
            <a:ext cx="144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6660000"/>
            <a:ext cx="6120000" cy="720000"/>
          </a:xfrm>
          <a:prstGeom prst="rect">
            <a:avLst/>
          </a:prstGeom>
          <a:noFill/>
        </p:spPr>
        <p:txBody>
          <a:bodyPr wrap="square">
            <a:spAutoFit/>
          </a:bodyPr>
          <a:lstStyle/>
          <a:p>
            <a:pPr algn="ctr">
              <a:defRPr sz="1000" b="0">
                <a:solidFill>
                  <a:srgbClr val="98FFFC"/>
                </a:solidFill>
                <a:latin typeface="Inter"/>
              </a:defRPr>
            </a:pPr>
            <a:r>
              <a:t>Le Conseil Régional de Béni Mellal-Khénifra | Mon poste BIMCO – Mon activité indépendante | Outils et méthodes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7560000" cy="1800000"/>
          </a:xfrm>
          <a:prstGeom prst="roundRect">
            <a:avLst>
              <a:gd name="adj" fmla="val 5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0000" y="540000"/>
            <a:ext cx="432000" cy="432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80000"/>
            <a:ext cx="6120000" cy="180000"/>
          </a:xfrm>
          <a:prstGeom prst="rect">
            <a:avLst/>
          </a:prstGeom>
          <a:noFill/>
        </p:spPr>
        <p:txBody>
          <a:bodyPr wrap="square">
            <a:spAutoFit/>
          </a:bodyPr>
          <a:lstStyle/>
          <a:p>
            <a:pPr algn="l">
              <a:defRPr sz="700" b="1">
                <a:solidFill>
                  <a:srgbClr val="A0E0D8"/>
                </a:solidFill>
                <a:latin typeface="Montserrat"/>
              </a:defRPr>
            </a:pPr>
            <a:r>
              <a:t>STRUCTURE D'ACCUEIL</a:t>
            </a:r>
          </a:p>
        </p:txBody>
      </p:sp>
      <p:sp>
        <p:nvSpPr>
          <p:cNvPr id="5" name="TextBox 4"/>
          <p:cNvSpPr txBox="1"/>
          <p:nvPr/>
        </p:nvSpPr>
        <p:spPr>
          <a:xfrm>
            <a:off x="1152000" y="468000"/>
            <a:ext cx="5760000" cy="900000"/>
          </a:xfrm>
          <a:prstGeom prst="rect">
            <a:avLst/>
          </a:prstGeom>
          <a:noFill/>
        </p:spPr>
        <p:txBody>
          <a:bodyPr wrap="square">
            <a:spAutoFit/>
          </a:bodyPr>
          <a:lstStyle/>
          <a:p>
            <a:pPr algn="l">
              <a:defRPr sz="1800" b="1">
                <a:solidFill>
                  <a:srgbClr val="FFFFFF"/>
                </a:solidFill>
                <a:latin typeface="Montserrat"/>
              </a:defRPr>
            </a:pPr>
            <a:r>
              <a:t>CONSEIL RÉGIONAL DE BÉNI MELLAL-KHÉNIFRA</a:t>
            </a:r>
          </a:p>
        </p:txBody>
      </p:sp>
      <p:sp>
        <p:nvSpPr>
          <p:cNvPr id="6" name="Rectangle 5"/>
          <p:cNvSpPr/>
          <p:nvPr/>
        </p:nvSpPr>
        <p:spPr>
          <a:xfrm>
            <a:off x="648000" y="2088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2232000"/>
            <a:ext cx="3600000" cy="1080000"/>
          </a:xfrm>
          <a:prstGeom prst="rect">
            <a:avLst/>
          </a:prstGeom>
          <a:noFill/>
        </p:spPr>
        <p:txBody>
          <a:bodyPr wrap="square">
            <a:spAutoFit/>
          </a:bodyPr>
          <a:lstStyle/>
          <a:p>
            <a:pPr algn="just">
              <a:defRPr sz="900" b="0">
                <a:solidFill>
                  <a:srgbClr val="555555"/>
                </a:solidFill>
                <a:latin typeface="Inter"/>
              </a:defRPr>
            </a:pPr>
            <a:r>
              <a:t>Le Conseil Regional de Beni Mellal-Khenifra est une collectivite territoriale couvrant 5 provinces sur 28 374 km2, soit 2,5 millions d'habitants.</a:t>
            </a:r>
          </a:p>
        </p:txBody>
      </p:sp>
      <p:sp>
        <p:nvSpPr>
          <p:cNvPr id="8" name="Rounded Rectangle 7"/>
          <p:cNvSpPr/>
          <p:nvPr/>
        </p:nvSpPr>
        <p:spPr>
          <a:xfrm>
            <a:off x="648000" y="3420000"/>
            <a:ext cx="1620000" cy="72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6000" y="3564000"/>
            <a:ext cx="324000" cy="32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000" y="3528000"/>
            <a:ext cx="1007999" cy="216000"/>
          </a:xfrm>
          <a:prstGeom prst="rect">
            <a:avLst/>
          </a:prstGeom>
          <a:noFill/>
        </p:spPr>
        <p:txBody>
          <a:bodyPr wrap="square">
            <a:spAutoFit/>
          </a:bodyPr>
          <a:lstStyle/>
          <a:p>
            <a:pPr algn="l">
              <a:defRPr sz="900" b="1">
                <a:solidFill>
                  <a:srgbClr val="1E3A5F"/>
                </a:solidFill>
                <a:latin typeface="Montserrat"/>
              </a:defRPr>
            </a:pPr>
            <a:r>
              <a:t>5 Provinces</a:t>
            </a:r>
          </a:p>
        </p:txBody>
      </p:sp>
      <p:sp>
        <p:nvSpPr>
          <p:cNvPr id="11" name="TextBox 10"/>
          <p:cNvSpPr txBox="1"/>
          <p:nvPr/>
        </p:nvSpPr>
        <p:spPr>
          <a:xfrm>
            <a:off x="1188000" y="3780000"/>
            <a:ext cx="1007999" cy="180000"/>
          </a:xfrm>
          <a:prstGeom prst="rect">
            <a:avLst/>
          </a:prstGeom>
          <a:noFill/>
        </p:spPr>
        <p:txBody>
          <a:bodyPr wrap="square">
            <a:spAutoFit/>
          </a:bodyPr>
          <a:lstStyle/>
          <a:p>
            <a:pPr algn="l">
              <a:defRPr sz="700" b="0">
                <a:solidFill>
                  <a:srgbClr val="888888"/>
                </a:solidFill>
                <a:latin typeface="Inter"/>
              </a:defRPr>
            </a:pPr>
            <a:r>
              <a:t>28 374 km2</a:t>
            </a:r>
          </a:p>
        </p:txBody>
      </p:sp>
      <p:sp>
        <p:nvSpPr>
          <p:cNvPr id="12" name="Rounded Rectangle 11"/>
          <p:cNvSpPr/>
          <p:nvPr/>
        </p:nvSpPr>
        <p:spPr>
          <a:xfrm>
            <a:off x="2448000" y="3420000"/>
            <a:ext cx="1620000" cy="72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56000" y="3564000"/>
            <a:ext cx="324000" cy="324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88000" y="3528000"/>
            <a:ext cx="1007999" cy="216000"/>
          </a:xfrm>
          <a:prstGeom prst="rect">
            <a:avLst/>
          </a:prstGeom>
          <a:noFill/>
        </p:spPr>
        <p:txBody>
          <a:bodyPr wrap="square">
            <a:spAutoFit/>
          </a:bodyPr>
          <a:lstStyle/>
          <a:p>
            <a:pPr algn="l">
              <a:defRPr sz="900" b="1">
                <a:solidFill>
                  <a:srgbClr val="1E3A5F"/>
                </a:solidFill>
                <a:latin typeface="Montserrat"/>
              </a:defRPr>
            </a:pPr>
            <a:r>
              <a:t>2,5 M</a:t>
            </a:r>
          </a:p>
        </p:txBody>
      </p:sp>
      <p:sp>
        <p:nvSpPr>
          <p:cNvPr id="15" name="TextBox 14"/>
          <p:cNvSpPr txBox="1"/>
          <p:nvPr/>
        </p:nvSpPr>
        <p:spPr>
          <a:xfrm>
            <a:off x="2988000" y="3780000"/>
            <a:ext cx="1007999" cy="180000"/>
          </a:xfrm>
          <a:prstGeom prst="rect">
            <a:avLst/>
          </a:prstGeom>
          <a:noFill/>
        </p:spPr>
        <p:txBody>
          <a:bodyPr wrap="square">
            <a:spAutoFit/>
          </a:bodyPr>
          <a:lstStyle/>
          <a:p>
            <a:pPr algn="l">
              <a:defRPr sz="700" b="0">
                <a:solidFill>
                  <a:srgbClr val="888888"/>
                </a:solidFill>
                <a:latin typeface="Inter"/>
              </a:defRPr>
            </a:pPr>
            <a:r>
              <a:t>Habitants</a:t>
            </a:r>
          </a:p>
        </p:txBody>
      </p:sp>
      <p:sp>
        <p:nvSpPr>
          <p:cNvPr id="16" name="Rounded Rectangle 15"/>
          <p:cNvSpPr/>
          <p:nvPr/>
        </p:nvSpPr>
        <p:spPr>
          <a:xfrm>
            <a:off x="648000" y="4320000"/>
            <a:ext cx="1620000" cy="72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6000" y="4464000"/>
            <a:ext cx="324000" cy="324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000" y="4428000"/>
            <a:ext cx="1007999" cy="216000"/>
          </a:xfrm>
          <a:prstGeom prst="rect">
            <a:avLst/>
          </a:prstGeom>
          <a:noFill/>
        </p:spPr>
        <p:txBody>
          <a:bodyPr wrap="square">
            <a:spAutoFit/>
          </a:bodyPr>
          <a:lstStyle/>
          <a:p>
            <a:pPr algn="l">
              <a:defRPr sz="900" b="1">
                <a:solidFill>
                  <a:srgbClr val="1E3A5F"/>
                </a:solidFill>
                <a:latin typeface="Montserrat"/>
              </a:defRPr>
            </a:pPr>
            <a:r>
              <a:t>Routes</a:t>
            </a:r>
          </a:p>
        </p:txBody>
      </p:sp>
      <p:sp>
        <p:nvSpPr>
          <p:cNvPr id="19" name="TextBox 18"/>
          <p:cNvSpPr txBox="1"/>
          <p:nvPr/>
        </p:nvSpPr>
        <p:spPr>
          <a:xfrm>
            <a:off x="1188000" y="4680000"/>
            <a:ext cx="1007999" cy="180000"/>
          </a:xfrm>
          <a:prstGeom prst="rect">
            <a:avLst/>
          </a:prstGeom>
          <a:noFill/>
        </p:spPr>
        <p:txBody>
          <a:bodyPr wrap="square">
            <a:spAutoFit/>
          </a:bodyPr>
          <a:lstStyle/>
          <a:p>
            <a:pPr algn="l">
              <a:defRPr sz="700" b="0">
                <a:solidFill>
                  <a:srgbClr val="888888"/>
                </a:solidFill>
                <a:latin typeface="Inter"/>
              </a:defRPr>
            </a:pPr>
            <a:r>
              <a:t>VRD, AEP</a:t>
            </a:r>
          </a:p>
        </p:txBody>
      </p:sp>
      <p:sp>
        <p:nvSpPr>
          <p:cNvPr id="20" name="Rounded Rectangle 19"/>
          <p:cNvSpPr/>
          <p:nvPr/>
        </p:nvSpPr>
        <p:spPr>
          <a:xfrm>
            <a:off x="2448000" y="4320000"/>
            <a:ext cx="1620000" cy="72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556000" y="4464000"/>
            <a:ext cx="324000" cy="32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88000" y="4428000"/>
            <a:ext cx="1007999" cy="216000"/>
          </a:xfrm>
          <a:prstGeom prst="rect">
            <a:avLst/>
          </a:prstGeom>
          <a:noFill/>
        </p:spPr>
        <p:txBody>
          <a:bodyPr wrap="square">
            <a:spAutoFit/>
          </a:bodyPr>
          <a:lstStyle/>
          <a:p>
            <a:pPr algn="l">
              <a:defRPr sz="900" b="1">
                <a:solidFill>
                  <a:srgbClr val="1E3A5F"/>
                </a:solidFill>
                <a:latin typeface="Montserrat"/>
              </a:defRPr>
            </a:pPr>
            <a:r>
              <a:t>Decret</a:t>
            </a:r>
          </a:p>
        </p:txBody>
      </p:sp>
      <p:sp>
        <p:nvSpPr>
          <p:cNvPr id="23" name="TextBox 22"/>
          <p:cNvSpPr txBox="1"/>
          <p:nvPr/>
        </p:nvSpPr>
        <p:spPr>
          <a:xfrm>
            <a:off x="2988000" y="4680000"/>
            <a:ext cx="1007999" cy="180000"/>
          </a:xfrm>
          <a:prstGeom prst="rect">
            <a:avLst/>
          </a:prstGeom>
          <a:noFill/>
        </p:spPr>
        <p:txBody>
          <a:bodyPr wrap="square">
            <a:spAutoFit/>
          </a:bodyPr>
          <a:lstStyle/>
          <a:p>
            <a:pPr algn="l">
              <a:defRPr sz="700" b="0">
                <a:solidFill>
                  <a:srgbClr val="888888"/>
                </a:solidFill>
                <a:latin typeface="Inter"/>
              </a:defRPr>
            </a:pPr>
            <a:r>
              <a:t>n.2-12-349</a:t>
            </a:r>
          </a:p>
        </p:txBody>
      </p:sp>
      <p:sp>
        <p:nvSpPr>
          <p:cNvPr id="24" name="Rounded Rectangle 23"/>
          <p:cNvSpPr/>
          <p:nvPr/>
        </p:nvSpPr>
        <p:spPr>
          <a:xfrm>
            <a:off x="4320000" y="2160000"/>
            <a:ext cx="2700000" cy="324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28000" y="2340000"/>
            <a:ext cx="2520000" cy="216000"/>
          </a:xfrm>
          <a:prstGeom prst="rect">
            <a:avLst/>
          </a:prstGeom>
          <a:noFill/>
        </p:spPr>
        <p:txBody>
          <a:bodyPr wrap="square">
            <a:spAutoFit/>
          </a:bodyPr>
          <a:lstStyle/>
          <a:p>
            <a:pPr algn="ctr">
              <a:defRPr sz="800" b="0">
                <a:solidFill>
                  <a:srgbClr val="888888"/>
                </a:solidFill>
                <a:latin typeface="Inter"/>
              </a:defRPr>
            </a:pPr>
            <a:r>
              <a:t>President du Conseil Regional</a:t>
            </a:r>
          </a:p>
        </p:txBody>
      </p:sp>
      <p:sp>
        <p:nvSpPr>
          <p:cNvPr id="26" name="Rectangle 25"/>
          <p:cNvSpPr/>
          <p:nvPr/>
        </p:nvSpPr>
        <p:spPr>
          <a:xfrm>
            <a:off x="5580000" y="2592000"/>
            <a:ext cx="36000" cy="1800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8000" y="2808000"/>
            <a:ext cx="2520000" cy="216000"/>
          </a:xfrm>
          <a:prstGeom prst="rect">
            <a:avLst/>
          </a:prstGeom>
          <a:noFill/>
        </p:spPr>
        <p:txBody>
          <a:bodyPr wrap="square">
            <a:spAutoFit/>
          </a:bodyPr>
          <a:lstStyle/>
          <a:p>
            <a:pPr algn="ctr">
              <a:defRPr sz="900" b="1">
                <a:solidFill>
                  <a:srgbClr val="1E3A5F"/>
                </a:solidFill>
                <a:latin typeface="Montserrat"/>
              </a:defRPr>
            </a:pPr>
            <a:r>
              <a:t>Directeur de l'Agence - M. DOGHMANI</a:t>
            </a:r>
          </a:p>
        </p:txBody>
      </p:sp>
      <p:sp>
        <p:nvSpPr>
          <p:cNvPr id="28" name="Rectangle 27"/>
          <p:cNvSpPr/>
          <p:nvPr/>
        </p:nvSpPr>
        <p:spPr>
          <a:xfrm>
            <a:off x="5580000" y="3060000"/>
            <a:ext cx="36000" cy="1800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28000" y="3276000"/>
            <a:ext cx="2520000" cy="180000"/>
          </a:xfrm>
          <a:prstGeom prst="rect">
            <a:avLst/>
          </a:prstGeom>
          <a:noFill/>
        </p:spPr>
        <p:txBody>
          <a:bodyPr wrap="square">
            <a:spAutoFit/>
          </a:bodyPr>
          <a:lstStyle/>
          <a:p>
            <a:pPr algn="ctr">
              <a:defRPr sz="700" b="0">
                <a:solidFill>
                  <a:srgbClr val="888888"/>
                </a:solidFill>
                <a:latin typeface="Inter"/>
              </a:defRPr>
            </a:pPr>
            <a:r>
              <a:t>Études &amp; Programmation | Marchés &amp; Contrats | Suivi des Travaux</a:t>
            </a:r>
          </a:p>
        </p:txBody>
      </p:sp>
      <p:sp>
        <p:nvSpPr>
          <p:cNvPr id="30" name="Rounded Rectangle 29"/>
          <p:cNvSpPr/>
          <p:nvPr/>
        </p:nvSpPr>
        <p:spPr>
          <a:xfrm>
            <a:off x="4680000" y="3600000"/>
            <a:ext cx="1980000" cy="360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2000" y="3636000"/>
            <a:ext cx="1800000" cy="288000"/>
          </a:xfrm>
          <a:prstGeom prst="rect">
            <a:avLst/>
          </a:prstGeom>
          <a:noFill/>
        </p:spPr>
        <p:txBody>
          <a:bodyPr wrap="square">
            <a:spAutoFit/>
          </a:bodyPr>
          <a:lstStyle/>
          <a:p>
            <a:pPr algn="ctr">
              <a:defRPr sz="700" b="1">
                <a:solidFill>
                  <a:srgbClr val="FFFFFF"/>
                </a:solidFill>
                <a:latin typeface="Montserrat"/>
              </a:defRPr>
            </a:pPr>
            <a:r>
              <a:t>TECHNICIEN DE SUIVI</a:t>
            </a:r>
            <a:br/>
            <a:r>
              <a:t>BAHAFID Mohamed</a:t>
            </a:r>
          </a:p>
        </p:txBody>
      </p:sp>
      <p:sp>
        <p:nvSpPr>
          <p:cNvPr id="32" name="TextBox 31"/>
          <p:cNvSpPr txBox="1"/>
          <p:nvPr/>
        </p:nvSpPr>
        <p:spPr>
          <a:xfrm>
            <a:off x="648000" y="5400000"/>
            <a:ext cx="6263999" cy="180000"/>
          </a:xfrm>
          <a:prstGeom prst="rect">
            <a:avLst/>
          </a:prstGeom>
          <a:noFill/>
        </p:spPr>
        <p:txBody>
          <a:bodyPr wrap="square">
            <a:spAutoFit/>
          </a:bodyPr>
          <a:lstStyle/>
          <a:p>
            <a:pPr algn="ctr">
              <a:defRPr sz="700" b="1">
                <a:solidFill>
                  <a:srgbClr val="F39200"/>
                </a:solidFill>
                <a:latin typeface="Montserrat"/>
              </a:defRPr>
            </a:pPr>
            <a:r>
              <a:t>MISSIONS PRINCIPALES</a:t>
            </a:r>
          </a:p>
        </p:txBody>
      </p:sp>
      <p:sp>
        <p:nvSpPr>
          <p:cNvPr id="33" name="Oval 32"/>
          <p:cNvSpPr/>
          <p:nvPr/>
        </p:nvSpPr>
        <p:spPr>
          <a:xfrm>
            <a:off x="648000" y="5796000"/>
            <a:ext cx="288000" cy="288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0000" y="5760000"/>
            <a:ext cx="2700000" cy="540000"/>
          </a:xfrm>
          <a:prstGeom prst="rect">
            <a:avLst/>
          </a:prstGeom>
          <a:noFill/>
        </p:spPr>
        <p:txBody>
          <a:bodyPr wrap="square">
            <a:spAutoFit/>
          </a:bodyPr>
          <a:lstStyle/>
          <a:p>
            <a:pPr algn="l">
              <a:defRPr sz="800" b="0">
                <a:solidFill>
                  <a:srgbClr val="555555"/>
                </a:solidFill>
                <a:latin typeface="Inter"/>
              </a:defRPr>
            </a:pPr>
            <a:r>
              <a:t>Métrés détaillés et estimations confidentielles de l'administration</a:t>
            </a:r>
          </a:p>
        </p:txBody>
      </p:sp>
      <p:sp>
        <p:nvSpPr>
          <p:cNvPr id="35" name="Oval 34"/>
          <p:cNvSpPr/>
          <p:nvPr/>
        </p:nvSpPr>
        <p:spPr>
          <a:xfrm>
            <a:off x="3959999" y="5796000"/>
            <a:ext cx="288000" cy="288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91999" y="5760000"/>
            <a:ext cx="2700000" cy="540000"/>
          </a:xfrm>
          <a:prstGeom prst="rect">
            <a:avLst/>
          </a:prstGeom>
          <a:noFill/>
        </p:spPr>
        <p:txBody>
          <a:bodyPr wrap="square">
            <a:spAutoFit/>
          </a:bodyPr>
          <a:lstStyle/>
          <a:p>
            <a:pPr algn="l">
              <a:defRPr sz="800" b="0">
                <a:solidFill>
                  <a:srgbClr val="555555"/>
                </a:solidFill>
                <a:latin typeface="Inter"/>
              </a:defRPr>
            </a:pPr>
            <a:r>
              <a:t>Préparation des DCE : CPS, RC, BPDE, vérification cohérence</a:t>
            </a:r>
          </a:p>
        </p:txBody>
      </p:sp>
      <p:sp>
        <p:nvSpPr>
          <p:cNvPr id="37" name="Oval 36"/>
          <p:cNvSpPr/>
          <p:nvPr/>
        </p:nvSpPr>
        <p:spPr>
          <a:xfrm>
            <a:off x="648000" y="6516000"/>
            <a:ext cx="288000" cy="288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0000" y="6480000"/>
            <a:ext cx="2700000" cy="540000"/>
          </a:xfrm>
          <a:prstGeom prst="rect">
            <a:avLst/>
          </a:prstGeom>
          <a:noFill/>
        </p:spPr>
        <p:txBody>
          <a:bodyPr wrap="square">
            <a:spAutoFit/>
          </a:bodyPr>
          <a:lstStyle/>
          <a:p>
            <a:pPr algn="l">
              <a:defRPr sz="800" b="0">
                <a:solidFill>
                  <a:srgbClr val="555555"/>
                </a:solidFill>
                <a:latin typeface="Inter"/>
              </a:defRPr>
            </a:pPr>
            <a:r>
              <a:t>Analyse des offres et participation à la CAO (membre technique)</a:t>
            </a:r>
          </a:p>
        </p:txBody>
      </p:sp>
      <p:sp>
        <p:nvSpPr>
          <p:cNvPr id="39" name="Oval 38"/>
          <p:cNvSpPr/>
          <p:nvPr/>
        </p:nvSpPr>
        <p:spPr>
          <a:xfrm>
            <a:off x="3959999" y="6516000"/>
            <a:ext cx="288000" cy="288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91999" y="6480000"/>
            <a:ext cx="2700000" cy="540000"/>
          </a:xfrm>
          <a:prstGeom prst="rect">
            <a:avLst/>
          </a:prstGeom>
          <a:noFill/>
        </p:spPr>
        <p:txBody>
          <a:bodyPr wrap="square">
            <a:spAutoFit/>
          </a:bodyPr>
          <a:lstStyle/>
          <a:p>
            <a:pPr algn="l">
              <a:defRPr sz="800" b="0">
                <a:solidFill>
                  <a:srgbClr val="555555"/>
                </a:solidFill>
                <a:latin typeface="Inter"/>
              </a:defRPr>
            </a:pPr>
            <a:r>
              <a:t>Suivi financier : situations mensuelles, décomptes, avenants</a:t>
            </a:r>
          </a:p>
        </p:txBody>
      </p:sp>
      <p:sp>
        <p:nvSpPr>
          <p:cNvPr id="41" name="Oval 40"/>
          <p:cNvSpPr/>
          <p:nvPr/>
        </p:nvSpPr>
        <p:spPr>
          <a:xfrm>
            <a:off x="648000" y="7236000"/>
            <a:ext cx="288000" cy="288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80000" y="7200000"/>
            <a:ext cx="2700000" cy="540000"/>
          </a:xfrm>
          <a:prstGeom prst="rect">
            <a:avLst/>
          </a:prstGeom>
          <a:noFill/>
        </p:spPr>
        <p:txBody>
          <a:bodyPr wrap="square">
            <a:spAutoFit/>
          </a:bodyPr>
          <a:lstStyle/>
          <a:p>
            <a:pPr algn="l">
              <a:defRPr sz="800" b="0">
                <a:solidFill>
                  <a:srgbClr val="555555"/>
                </a:solidFill>
                <a:latin typeface="Inter"/>
              </a:defRPr>
            </a:pPr>
            <a:r>
              <a:t>Visites de chantier, attachements contradictoires, PV de réception</a:t>
            </a:r>
          </a:p>
        </p:txBody>
      </p:sp>
      <p:sp>
        <p:nvSpPr>
          <p:cNvPr id="43" name="TextBox 42"/>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44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0000" y="360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51999"/>
            <a:ext cx="3600000" cy="216000"/>
          </a:xfrm>
          <a:prstGeom prst="rect">
            <a:avLst/>
          </a:prstGeom>
          <a:noFill/>
        </p:spPr>
        <p:txBody>
          <a:bodyPr wrap="square">
            <a:spAutoFit/>
          </a:bodyPr>
          <a:lstStyle/>
          <a:p>
            <a:pPr algn="l">
              <a:defRPr sz="1200" b="1">
                <a:solidFill>
                  <a:srgbClr val="F39200"/>
                </a:solidFill>
                <a:latin typeface="Montserrat"/>
              </a:defRPr>
            </a:pPr>
            <a:r>
              <a:t>BIMCO</a:t>
            </a:r>
          </a:p>
        </p:txBody>
      </p:sp>
      <p:sp>
        <p:nvSpPr>
          <p:cNvPr id="5" name="TextBox 4"/>
          <p:cNvSpPr txBox="1"/>
          <p:nvPr/>
        </p:nvSpPr>
        <p:spPr>
          <a:xfrm>
            <a:off x="1152000" y="432000"/>
            <a:ext cx="5760000" cy="540000"/>
          </a:xfrm>
          <a:prstGeom prst="rect">
            <a:avLst/>
          </a:prstGeom>
          <a:noFill/>
        </p:spPr>
        <p:txBody>
          <a:bodyPr wrap="square">
            <a:spAutoFit/>
          </a:bodyPr>
          <a:lstStyle/>
          <a:p>
            <a:pPr algn="l">
              <a:defRPr sz="1800" b="1">
                <a:solidFill>
                  <a:srgbClr val="1E3A5F"/>
                </a:solidFill>
                <a:latin typeface="Montserrat"/>
              </a:defRPr>
            </a:pPr>
            <a:r>
              <a:t>EXPERT BIM &amp;</a:t>
            </a:r>
            <a:br/>
            <a:r>
              <a:t>ECONOMIE DE LA CONSTRUCTION</a:t>
            </a:r>
          </a:p>
        </p:txBody>
      </p:sp>
      <p:sp>
        <p:nvSpPr>
          <p:cNvPr id="6" name="Rectangle 5"/>
          <p:cNvSpPr/>
          <p:nvPr/>
        </p:nvSpPr>
        <p:spPr>
          <a:xfrm>
            <a:off x="648000" y="1260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1440000"/>
            <a:ext cx="6263999" cy="360000"/>
          </a:xfrm>
          <a:prstGeom prst="rect">
            <a:avLst/>
          </a:prstGeom>
          <a:noFill/>
        </p:spPr>
        <p:txBody>
          <a:bodyPr wrap="square">
            <a:spAutoFit/>
          </a:bodyPr>
          <a:lstStyle/>
          <a:p>
            <a:pPr algn="just">
              <a:defRPr sz="900" b="0">
                <a:solidFill>
                  <a:srgbClr val="555555"/>
                </a:solidFill>
                <a:latin typeface="Inter"/>
              </a:defRPr>
            </a:pPr>
            <a:r>
              <a:t>Cree le 9 janvier 2026, BIMCO est une entreprise d'ingenierie specialisee dans le BIM et l'economie de la construction. SIREN : 999580053 | APE : 7112B.</a:t>
            </a:r>
          </a:p>
        </p:txBody>
      </p:sp>
      <p:sp>
        <p:nvSpPr>
          <p:cNvPr id="8" name="TextBox 7"/>
          <p:cNvSpPr txBox="1"/>
          <p:nvPr/>
        </p:nvSpPr>
        <p:spPr>
          <a:xfrm>
            <a:off x="648000" y="1980000"/>
            <a:ext cx="2880000" cy="180000"/>
          </a:xfrm>
          <a:prstGeom prst="rect">
            <a:avLst/>
          </a:prstGeom>
          <a:noFill/>
        </p:spPr>
        <p:txBody>
          <a:bodyPr wrap="square">
            <a:spAutoFit/>
          </a:bodyPr>
          <a:lstStyle/>
          <a:p>
            <a:pPr algn="ctr">
              <a:defRPr sz="700" b="1">
                <a:solidFill>
                  <a:srgbClr val="F39200"/>
                </a:solidFill>
                <a:latin typeface="Montserrat"/>
              </a:defRPr>
            </a:pPr>
            <a:r>
              <a:t>EXPERTISE</a:t>
            </a:r>
          </a:p>
        </p:txBody>
      </p:sp>
      <p:sp>
        <p:nvSpPr>
          <p:cNvPr id="9" name="Oval 8"/>
          <p:cNvSpPr/>
          <p:nvPr/>
        </p:nvSpPr>
        <p:spPr>
          <a:xfrm>
            <a:off x="720000" y="2340000"/>
            <a:ext cx="288000" cy="288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2000" y="2304000"/>
            <a:ext cx="2160000" cy="180000"/>
          </a:xfrm>
          <a:prstGeom prst="rect">
            <a:avLst/>
          </a:prstGeom>
          <a:noFill/>
        </p:spPr>
        <p:txBody>
          <a:bodyPr wrap="square">
            <a:spAutoFit/>
          </a:bodyPr>
          <a:lstStyle/>
          <a:p>
            <a:pPr algn="l">
              <a:defRPr sz="900" b="1">
                <a:solidFill>
                  <a:srgbClr val="1E3A5F"/>
                </a:solidFill>
                <a:latin typeface="Montserrat"/>
              </a:defRPr>
            </a:pPr>
            <a:r>
              <a:t>Projeteur BIM</a:t>
            </a:r>
          </a:p>
        </p:txBody>
      </p:sp>
      <p:sp>
        <p:nvSpPr>
          <p:cNvPr id="11" name="TextBox 10"/>
          <p:cNvSpPr txBox="1"/>
          <p:nvPr/>
        </p:nvSpPr>
        <p:spPr>
          <a:xfrm>
            <a:off x="1152000" y="2520000"/>
            <a:ext cx="2160000" cy="180000"/>
          </a:xfrm>
          <a:prstGeom prst="rect">
            <a:avLst/>
          </a:prstGeom>
          <a:noFill/>
        </p:spPr>
        <p:txBody>
          <a:bodyPr wrap="square">
            <a:spAutoFit/>
          </a:bodyPr>
          <a:lstStyle/>
          <a:p>
            <a:pPr algn="l">
              <a:defRPr sz="700" b="0">
                <a:solidFill>
                  <a:srgbClr val="888888"/>
                </a:solidFill>
                <a:latin typeface="Inter"/>
              </a:defRPr>
            </a:pPr>
            <a:r>
              <a:t>Revit, Navisworks, IFC</a:t>
            </a:r>
          </a:p>
        </p:txBody>
      </p:sp>
      <p:sp>
        <p:nvSpPr>
          <p:cNvPr id="12" name="Oval 11"/>
          <p:cNvSpPr/>
          <p:nvPr/>
        </p:nvSpPr>
        <p:spPr>
          <a:xfrm>
            <a:off x="720000" y="3060000"/>
            <a:ext cx="288000" cy="288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52000" y="3024000"/>
            <a:ext cx="2160000" cy="180000"/>
          </a:xfrm>
          <a:prstGeom prst="rect">
            <a:avLst/>
          </a:prstGeom>
          <a:noFill/>
        </p:spPr>
        <p:txBody>
          <a:bodyPr wrap="square">
            <a:spAutoFit/>
          </a:bodyPr>
          <a:lstStyle/>
          <a:p>
            <a:pPr algn="l">
              <a:defRPr sz="900" b="1">
                <a:solidFill>
                  <a:srgbClr val="1E3A5F"/>
                </a:solidFill>
                <a:latin typeface="Montserrat"/>
              </a:defRPr>
            </a:pPr>
            <a:r>
              <a:t>Métrés</a:t>
            </a:r>
          </a:p>
        </p:txBody>
      </p:sp>
      <p:sp>
        <p:nvSpPr>
          <p:cNvPr id="14" name="TextBox 13"/>
          <p:cNvSpPr txBox="1"/>
          <p:nvPr/>
        </p:nvSpPr>
        <p:spPr>
          <a:xfrm>
            <a:off x="1152000" y="3240000"/>
            <a:ext cx="2160000" cy="180000"/>
          </a:xfrm>
          <a:prstGeom prst="rect">
            <a:avLst/>
          </a:prstGeom>
          <a:noFill/>
        </p:spPr>
        <p:txBody>
          <a:bodyPr wrap="square">
            <a:spAutoFit/>
          </a:bodyPr>
          <a:lstStyle/>
          <a:p>
            <a:pPr algn="l">
              <a:defRPr sz="700" b="0">
                <a:solidFill>
                  <a:srgbClr val="888888"/>
                </a:solidFill>
                <a:latin typeface="Inter"/>
              </a:defRPr>
            </a:pPr>
            <a:r>
              <a:t>BIM + traditionnel</a:t>
            </a:r>
          </a:p>
        </p:txBody>
      </p:sp>
      <p:sp>
        <p:nvSpPr>
          <p:cNvPr id="15" name="Oval 14"/>
          <p:cNvSpPr/>
          <p:nvPr/>
        </p:nvSpPr>
        <p:spPr>
          <a:xfrm>
            <a:off x="720000" y="3780000"/>
            <a:ext cx="288000" cy="288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52000" y="3744000"/>
            <a:ext cx="2160000" cy="180000"/>
          </a:xfrm>
          <a:prstGeom prst="rect">
            <a:avLst/>
          </a:prstGeom>
          <a:noFill/>
        </p:spPr>
        <p:txBody>
          <a:bodyPr wrap="square">
            <a:spAutoFit/>
          </a:bodyPr>
          <a:lstStyle/>
          <a:p>
            <a:pPr algn="l">
              <a:defRPr sz="900" b="1">
                <a:solidFill>
                  <a:srgbClr val="1E3A5F"/>
                </a:solidFill>
                <a:latin typeface="Montserrat"/>
              </a:defRPr>
            </a:pPr>
            <a:r>
              <a:t>Études de prix</a:t>
            </a:r>
          </a:p>
        </p:txBody>
      </p:sp>
      <p:sp>
        <p:nvSpPr>
          <p:cNvPr id="17" name="TextBox 16"/>
          <p:cNvSpPr txBox="1"/>
          <p:nvPr/>
        </p:nvSpPr>
        <p:spPr>
          <a:xfrm>
            <a:off x="1152000" y="3960000"/>
            <a:ext cx="2160000" cy="180000"/>
          </a:xfrm>
          <a:prstGeom prst="rect">
            <a:avLst/>
          </a:prstGeom>
          <a:noFill/>
        </p:spPr>
        <p:txBody>
          <a:bodyPr wrap="square">
            <a:spAutoFit/>
          </a:bodyPr>
          <a:lstStyle/>
          <a:p>
            <a:pPr algn="l">
              <a:defRPr sz="700" b="0">
                <a:solidFill>
                  <a:srgbClr val="888888"/>
                </a:solidFill>
                <a:latin typeface="Inter"/>
              </a:defRPr>
            </a:pPr>
            <a:r>
              <a:t>Estimations, DPGF</a:t>
            </a:r>
          </a:p>
        </p:txBody>
      </p:sp>
      <p:sp>
        <p:nvSpPr>
          <p:cNvPr id="18" name="Oval 17"/>
          <p:cNvSpPr/>
          <p:nvPr/>
        </p:nvSpPr>
        <p:spPr>
          <a:xfrm>
            <a:off x="720000" y="4500000"/>
            <a:ext cx="288000" cy="288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000" y="4464000"/>
            <a:ext cx="2160000" cy="180000"/>
          </a:xfrm>
          <a:prstGeom prst="rect">
            <a:avLst/>
          </a:prstGeom>
          <a:noFill/>
        </p:spPr>
        <p:txBody>
          <a:bodyPr wrap="square">
            <a:spAutoFit/>
          </a:bodyPr>
          <a:lstStyle/>
          <a:p>
            <a:pPr algn="l">
              <a:defRPr sz="900" b="1">
                <a:solidFill>
                  <a:srgbClr val="1E3A5F"/>
                </a:solidFill>
                <a:latin typeface="Montserrat"/>
              </a:defRPr>
            </a:pPr>
            <a:r>
              <a:t>Outils numériques</a:t>
            </a:r>
          </a:p>
        </p:txBody>
      </p:sp>
      <p:sp>
        <p:nvSpPr>
          <p:cNvPr id="20" name="TextBox 19"/>
          <p:cNvSpPr txBox="1"/>
          <p:nvPr/>
        </p:nvSpPr>
        <p:spPr>
          <a:xfrm>
            <a:off x="1152000" y="4680000"/>
            <a:ext cx="2160000" cy="180000"/>
          </a:xfrm>
          <a:prstGeom prst="rect">
            <a:avLst/>
          </a:prstGeom>
          <a:noFill/>
        </p:spPr>
        <p:txBody>
          <a:bodyPr wrap="square">
            <a:spAutoFit/>
          </a:bodyPr>
          <a:lstStyle/>
          <a:p>
            <a:pPr algn="l">
              <a:defRPr sz="700" b="0">
                <a:solidFill>
                  <a:srgbClr val="888888"/>
                </a:solidFill>
                <a:latin typeface="Inter"/>
              </a:defRPr>
            </a:pPr>
            <a:r>
              <a:t>Python, C#, Apps</a:t>
            </a:r>
          </a:p>
        </p:txBody>
      </p:sp>
      <p:sp>
        <p:nvSpPr>
          <p:cNvPr id="21" name="Rounded Rectangle 20"/>
          <p:cNvSpPr/>
          <p:nvPr/>
        </p:nvSpPr>
        <p:spPr>
          <a:xfrm>
            <a:off x="648000" y="5400000"/>
            <a:ext cx="2880000" cy="900000"/>
          </a:xfrm>
          <a:prstGeom prst="roundRect">
            <a:avLst>
              <a:gd name="adj" fmla="val 1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999" y="5508000"/>
            <a:ext cx="2520000" cy="216000"/>
          </a:xfrm>
          <a:prstGeom prst="rect">
            <a:avLst/>
          </a:prstGeom>
          <a:noFill/>
        </p:spPr>
        <p:txBody>
          <a:bodyPr wrap="square">
            <a:spAutoFit/>
          </a:bodyPr>
          <a:lstStyle/>
          <a:p>
            <a:pPr algn="ctr">
              <a:defRPr sz="900" b="1">
                <a:solidFill>
                  <a:srgbClr val="1E3A5F"/>
                </a:solidFill>
                <a:latin typeface="Montserrat"/>
              </a:defRPr>
            </a:pPr>
            <a:r>
              <a:t>Application « Gestion Chantiers »</a:t>
            </a:r>
          </a:p>
        </p:txBody>
      </p:sp>
      <p:sp>
        <p:nvSpPr>
          <p:cNvPr id="23" name="TextBox 22"/>
          <p:cNvSpPr txBox="1"/>
          <p:nvPr/>
        </p:nvSpPr>
        <p:spPr>
          <a:xfrm>
            <a:off x="827999" y="5760000"/>
            <a:ext cx="2520000" cy="180000"/>
          </a:xfrm>
          <a:prstGeom prst="rect">
            <a:avLst/>
          </a:prstGeom>
          <a:noFill/>
        </p:spPr>
        <p:txBody>
          <a:bodyPr wrap="square">
            <a:spAutoFit/>
          </a:bodyPr>
          <a:lstStyle/>
          <a:p>
            <a:pPr algn="ctr">
              <a:defRPr sz="800" b="1">
                <a:solidFill>
                  <a:srgbClr val="F39200"/>
                </a:solidFill>
                <a:latin typeface="Inter"/>
              </a:defRPr>
            </a:pPr>
            <a:r>
              <a:t>gestion.bimco-consulting.fr</a:t>
            </a:r>
          </a:p>
        </p:txBody>
      </p:sp>
      <p:sp>
        <p:nvSpPr>
          <p:cNvPr id="24" name="TextBox 23"/>
          <p:cNvSpPr txBox="1"/>
          <p:nvPr/>
        </p:nvSpPr>
        <p:spPr>
          <a:xfrm>
            <a:off x="827999" y="5976000"/>
            <a:ext cx="2520000" cy="180000"/>
          </a:xfrm>
          <a:prstGeom prst="rect">
            <a:avLst/>
          </a:prstGeom>
          <a:noFill/>
        </p:spPr>
        <p:txBody>
          <a:bodyPr wrap="square">
            <a:spAutoFit/>
          </a:bodyPr>
          <a:lstStyle/>
          <a:p>
            <a:pPr algn="ctr">
              <a:defRPr sz="700" b="0">
                <a:solidFill>
                  <a:srgbClr val="888888"/>
                </a:solidFill>
                <a:latin typeface="Inter"/>
              </a:defRPr>
            </a:pPr>
            <a:r>
              <a:t>React/TypeScript | Node.js | PostgreSQL | Docker</a:t>
            </a:r>
          </a:p>
        </p:txBody>
      </p:sp>
      <p:sp>
        <p:nvSpPr>
          <p:cNvPr id="25" name="TextBox 24"/>
          <p:cNvSpPr txBox="1"/>
          <p:nvPr/>
        </p:nvSpPr>
        <p:spPr>
          <a:xfrm>
            <a:off x="3960000" y="1980000"/>
            <a:ext cx="2880000" cy="180000"/>
          </a:xfrm>
          <a:prstGeom prst="rect">
            <a:avLst/>
          </a:prstGeom>
          <a:noFill/>
        </p:spPr>
        <p:txBody>
          <a:bodyPr wrap="square">
            <a:spAutoFit/>
          </a:bodyPr>
          <a:lstStyle/>
          <a:p>
            <a:pPr algn="ctr">
              <a:defRPr sz="700" b="1">
                <a:solidFill>
                  <a:srgbClr val="F39200"/>
                </a:solidFill>
                <a:latin typeface="Montserrat"/>
              </a:defRPr>
            </a:pPr>
            <a:r>
              <a:t>COMPETENCES</a:t>
            </a:r>
          </a:p>
        </p:txBody>
      </p:sp>
      <p:sp>
        <p:nvSpPr>
          <p:cNvPr id="26" name="TextBox 25"/>
          <p:cNvSpPr txBox="1"/>
          <p:nvPr/>
        </p:nvSpPr>
        <p:spPr>
          <a:xfrm>
            <a:off x="3960000" y="2340000"/>
            <a:ext cx="1260000" cy="180000"/>
          </a:xfrm>
          <a:prstGeom prst="rect">
            <a:avLst/>
          </a:prstGeom>
          <a:noFill/>
        </p:spPr>
        <p:txBody>
          <a:bodyPr wrap="square">
            <a:spAutoFit/>
          </a:bodyPr>
          <a:lstStyle/>
          <a:p>
            <a:pPr algn="r">
              <a:defRPr sz="800" b="1">
                <a:solidFill>
                  <a:srgbClr val="1E3A5F"/>
                </a:solidFill>
                <a:latin typeface="Inter"/>
              </a:defRPr>
            </a:pPr>
            <a:r>
              <a:t>Revit</a:t>
            </a:r>
          </a:p>
        </p:txBody>
      </p:sp>
      <p:sp>
        <p:nvSpPr>
          <p:cNvPr id="27" name="Rounded Rectangle 26"/>
          <p:cNvSpPr/>
          <p:nvPr/>
        </p:nvSpPr>
        <p:spPr>
          <a:xfrm>
            <a:off x="5400000" y="2376000"/>
            <a:ext cx="1440000" cy="216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00000" y="2376000"/>
            <a:ext cx="1296000" cy="216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72000" y="2376000"/>
            <a:ext cx="720000" cy="216000"/>
          </a:xfrm>
          <a:prstGeom prst="rect">
            <a:avLst/>
          </a:prstGeom>
          <a:noFill/>
        </p:spPr>
        <p:txBody>
          <a:bodyPr wrap="square">
            <a:spAutoFit/>
          </a:bodyPr>
          <a:lstStyle/>
          <a:p>
            <a:pPr algn="l">
              <a:defRPr sz="700" b="1">
                <a:solidFill>
                  <a:srgbClr val="FFFFFF"/>
                </a:solidFill>
                <a:latin typeface="Montserrat"/>
              </a:defRPr>
            </a:pPr>
            <a:r>
              <a:t>90%</a:t>
            </a:r>
          </a:p>
        </p:txBody>
      </p:sp>
      <p:sp>
        <p:nvSpPr>
          <p:cNvPr id="30" name="TextBox 29"/>
          <p:cNvSpPr txBox="1"/>
          <p:nvPr/>
        </p:nvSpPr>
        <p:spPr>
          <a:xfrm>
            <a:off x="3960000" y="2880000"/>
            <a:ext cx="1260000" cy="180000"/>
          </a:xfrm>
          <a:prstGeom prst="rect">
            <a:avLst/>
          </a:prstGeom>
          <a:noFill/>
        </p:spPr>
        <p:txBody>
          <a:bodyPr wrap="square">
            <a:spAutoFit/>
          </a:bodyPr>
          <a:lstStyle/>
          <a:p>
            <a:pPr algn="r">
              <a:defRPr sz="800" b="1">
                <a:solidFill>
                  <a:srgbClr val="1E3A5F"/>
                </a:solidFill>
                <a:latin typeface="Inter"/>
              </a:defRPr>
            </a:pPr>
            <a:r>
              <a:t>Excel avancé</a:t>
            </a:r>
          </a:p>
        </p:txBody>
      </p:sp>
      <p:sp>
        <p:nvSpPr>
          <p:cNvPr id="31" name="Rounded Rectangle 30"/>
          <p:cNvSpPr/>
          <p:nvPr/>
        </p:nvSpPr>
        <p:spPr>
          <a:xfrm>
            <a:off x="5400000" y="2916000"/>
            <a:ext cx="1440000" cy="216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400000" y="2916000"/>
            <a:ext cx="1368000" cy="216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72000" y="2916000"/>
            <a:ext cx="720000" cy="216000"/>
          </a:xfrm>
          <a:prstGeom prst="rect">
            <a:avLst/>
          </a:prstGeom>
          <a:noFill/>
        </p:spPr>
        <p:txBody>
          <a:bodyPr wrap="square">
            <a:spAutoFit/>
          </a:bodyPr>
          <a:lstStyle/>
          <a:p>
            <a:pPr algn="l">
              <a:defRPr sz="700" b="1">
                <a:solidFill>
                  <a:srgbClr val="FFFFFF"/>
                </a:solidFill>
                <a:latin typeface="Montserrat"/>
              </a:defRPr>
            </a:pPr>
            <a:r>
              <a:t>95%</a:t>
            </a:r>
          </a:p>
        </p:txBody>
      </p:sp>
      <p:sp>
        <p:nvSpPr>
          <p:cNvPr id="34" name="TextBox 33"/>
          <p:cNvSpPr txBox="1"/>
          <p:nvPr/>
        </p:nvSpPr>
        <p:spPr>
          <a:xfrm>
            <a:off x="3960000" y="3420000"/>
            <a:ext cx="1260000" cy="180000"/>
          </a:xfrm>
          <a:prstGeom prst="rect">
            <a:avLst/>
          </a:prstGeom>
          <a:noFill/>
        </p:spPr>
        <p:txBody>
          <a:bodyPr wrap="square">
            <a:spAutoFit/>
          </a:bodyPr>
          <a:lstStyle/>
          <a:p>
            <a:pPr algn="r">
              <a:defRPr sz="800" b="1">
                <a:solidFill>
                  <a:srgbClr val="1E3A5F"/>
                </a:solidFill>
                <a:latin typeface="Inter"/>
              </a:defRPr>
            </a:pPr>
            <a:r>
              <a:t>AutoCAD</a:t>
            </a:r>
          </a:p>
        </p:txBody>
      </p:sp>
      <p:sp>
        <p:nvSpPr>
          <p:cNvPr id="35" name="Rounded Rectangle 34"/>
          <p:cNvSpPr/>
          <p:nvPr/>
        </p:nvSpPr>
        <p:spPr>
          <a:xfrm>
            <a:off x="5400000" y="3456000"/>
            <a:ext cx="1440000" cy="216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400000" y="3456000"/>
            <a:ext cx="1224000" cy="216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72000" y="3456000"/>
            <a:ext cx="720000" cy="216000"/>
          </a:xfrm>
          <a:prstGeom prst="rect">
            <a:avLst/>
          </a:prstGeom>
          <a:noFill/>
        </p:spPr>
        <p:txBody>
          <a:bodyPr wrap="square">
            <a:spAutoFit/>
          </a:bodyPr>
          <a:lstStyle/>
          <a:p>
            <a:pPr algn="l">
              <a:defRPr sz="700" b="1">
                <a:solidFill>
                  <a:srgbClr val="FFFFFF"/>
                </a:solidFill>
                <a:latin typeface="Montserrat"/>
              </a:defRPr>
            </a:pPr>
            <a:r>
              <a:t>85%</a:t>
            </a:r>
          </a:p>
        </p:txBody>
      </p:sp>
      <p:sp>
        <p:nvSpPr>
          <p:cNvPr id="38" name="TextBox 37"/>
          <p:cNvSpPr txBox="1"/>
          <p:nvPr/>
        </p:nvSpPr>
        <p:spPr>
          <a:xfrm>
            <a:off x="3960000" y="3960000"/>
            <a:ext cx="1260000" cy="180000"/>
          </a:xfrm>
          <a:prstGeom prst="rect">
            <a:avLst/>
          </a:prstGeom>
          <a:noFill/>
        </p:spPr>
        <p:txBody>
          <a:bodyPr wrap="square">
            <a:spAutoFit/>
          </a:bodyPr>
          <a:lstStyle/>
          <a:p>
            <a:pPr algn="r">
              <a:defRPr sz="800" b="1">
                <a:solidFill>
                  <a:srgbClr val="1E3A5F"/>
                </a:solidFill>
                <a:latin typeface="Inter"/>
              </a:defRPr>
            </a:pPr>
            <a:r>
              <a:t>Navisworks</a:t>
            </a:r>
          </a:p>
        </p:txBody>
      </p:sp>
      <p:sp>
        <p:nvSpPr>
          <p:cNvPr id="39" name="Rounded Rectangle 38"/>
          <p:cNvSpPr/>
          <p:nvPr/>
        </p:nvSpPr>
        <p:spPr>
          <a:xfrm>
            <a:off x="5400000" y="3996000"/>
            <a:ext cx="1440000" cy="216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400000" y="3996000"/>
            <a:ext cx="1224000" cy="216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72000" y="3996000"/>
            <a:ext cx="720000" cy="216000"/>
          </a:xfrm>
          <a:prstGeom prst="rect">
            <a:avLst/>
          </a:prstGeom>
          <a:noFill/>
        </p:spPr>
        <p:txBody>
          <a:bodyPr wrap="square">
            <a:spAutoFit/>
          </a:bodyPr>
          <a:lstStyle/>
          <a:p>
            <a:pPr algn="l">
              <a:defRPr sz="700" b="1">
                <a:solidFill>
                  <a:srgbClr val="FFFFFF"/>
                </a:solidFill>
                <a:latin typeface="Montserrat"/>
              </a:defRPr>
            </a:pPr>
            <a:r>
              <a:t>85%</a:t>
            </a:r>
          </a:p>
        </p:txBody>
      </p:sp>
      <p:sp>
        <p:nvSpPr>
          <p:cNvPr id="42" name="TextBox 41"/>
          <p:cNvSpPr txBox="1"/>
          <p:nvPr/>
        </p:nvSpPr>
        <p:spPr>
          <a:xfrm>
            <a:off x="3960000" y="4500000"/>
            <a:ext cx="1260000" cy="180000"/>
          </a:xfrm>
          <a:prstGeom prst="rect">
            <a:avLst/>
          </a:prstGeom>
          <a:noFill/>
        </p:spPr>
        <p:txBody>
          <a:bodyPr wrap="square">
            <a:spAutoFit/>
          </a:bodyPr>
          <a:lstStyle/>
          <a:p>
            <a:pPr algn="r">
              <a:defRPr sz="800" b="1">
                <a:solidFill>
                  <a:srgbClr val="1E3A5F"/>
                </a:solidFill>
                <a:latin typeface="Inter"/>
              </a:defRPr>
            </a:pPr>
            <a:r>
              <a:t>Python</a:t>
            </a:r>
          </a:p>
        </p:txBody>
      </p:sp>
      <p:sp>
        <p:nvSpPr>
          <p:cNvPr id="43" name="Rounded Rectangle 42"/>
          <p:cNvSpPr/>
          <p:nvPr/>
        </p:nvSpPr>
        <p:spPr>
          <a:xfrm>
            <a:off x="5400000" y="4536000"/>
            <a:ext cx="1440000" cy="216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400000" y="4536000"/>
            <a:ext cx="1152000" cy="216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72000" y="4536000"/>
            <a:ext cx="720000" cy="216000"/>
          </a:xfrm>
          <a:prstGeom prst="rect">
            <a:avLst/>
          </a:prstGeom>
          <a:noFill/>
        </p:spPr>
        <p:txBody>
          <a:bodyPr wrap="square">
            <a:spAutoFit/>
          </a:bodyPr>
          <a:lstStyle/>
          <a:p>
            <a:pPr algn="l">
              <a:defRPr sz="700" b="1">
                <a:solidFill>
                  <a:srgbClr val="FFFFFF"/>
                </a:solidFill>
                <a:latin typeface="Montserrat"/>
              </a:defRPr>
            </a:pPr>
            <a:r>
              <a:t>80%</a:t>
            </a:r>
          </a:p>
        </p:txBody>
      </p:sp>
      <p:sp>
        <p:nvSpPr>
          <p:cNvPr id="46" name="TextBox 45"/>
          <p:cNvSpPr txBox="1"/>
          <p:nvPr/>
        </p:nvSpPr>
        <p:spPr>
          <a:xfrm>
            <a:off x="3960000" y="5040000"/>
            <a:ext cx="1260000" cy="180000"/>
          </a:xfrm>
          <a:prstGeom prst="rect">
            <a:avLst/>
          </a:prstGeom>
          <a:noFill/>
        </p:spPr>
        <p:txBody>
          <a:bodyPr wrap="square">
            <a:spAutoFit/>
          </a:bodyPr>
          <a:lstStyle/>
          <a:p>
            <a:pPr algn="r">
              <a:defRPr sz="800" b="1">
                <a:solidFill>
                  <a:srgbClr val="1E3A5F"/>
                </a:solidFill>
                <a:latin typeface="Inter"/>
              </a:defRPr>
            </a:pPr>
            <a:r>
              <a:t>Dynamo</a:t>
            </a:r>
          </a:p>
        </p:txBody>
      </p:sp>
      <p:sp>
        <p:nvSpPr>
          <p:cNvPr id="47" name="Rounded Rectangle 46"/>
          <p:cNvSpPr/>
          <p:nvPr/>
        </p:nvSpPr>
        <p:spPr>
          <a:xfrm>
            <a:off x="5400000" y="5076000"/>
            <a:ext cx="1440000" cy="216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400000" y="5076000"/>
            <a:ext cx="1152000" cy="216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72000" y="5076000"/>
            <a:ext cx="720000" cy="216000"/>
          </a:xfrm>
          <a:prstGeom prst="rect">
            <a:avLst/>
          </a:prstGeom>
          <a:noFill/>
        </p:spPr>
        <p:txBody>
          <a:bodyPr wrap="square">
            <a:spAutoFit/>
          </a:bodyPr>
          <a:lstStyle/>
          <a:p>
            <a:pPr algn="l">
              <a:defRPr sz="700" b="1">
                <a:solidFill>
                  <a:srgbClr val="FFFFFF"/>
                </a:solidFill>
                <a:latin typeface="Montserrat"/>
              </a:defRPr>
            </a:pPr>
            <a:r>
              <a:t>80%</a:t>
            </a:r>
          </a:p>
        </p:txBody>
      </p:sp>
      <p:sp>
        <p:nvSpPr>
          <p:cNvPr id="50" name="Rounded Rectangle 49"/>
          <p:cNvSpPr/>
          <p:nvPr/>
        </p:nvSpPr>
        <p:spPr>
          <a:xfrm>
            <a:off x="3960000" y="5760000"/>
            <a:ext cx="3060000" cy="432000"/>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40000" y="5796000"/>
            <a:ext cx="2700000" cy="360000"/>
          </a:xfrm>
          <a:prstGeom prst="rect">
            <a:avLst/>
          </a:prstGeom>
          <a:noFill/>
        </p:spPr>
        <p:txBody>
          <a:bodyPr wrap="square">
            <a:spAutoFit/>
          </a:bodyPr>
          <a:lstStyle/>
          <a:p>
            <a:pPr algn="ctr">
              <a:defRPr sz="800" b="1">
                <a:solidFill>
                  <a:srgbClr val="FFFFFF"/>
                </a:solidFill>
                <a:latin typeface="Montserrat"/>
              </a:defRPr>
            </a:pPr>
            <a:r>
              <a:t>TRIPLE COMPETENCE</a:t>
            </a:r>
            <a:br/>
            <a:r>
              <a:t>MOA + Execution + BIM</a:t>
            </a:r>
          </a:p>
        </p:txBody>
      </p:sp>
      <p:sp>
        <p:nvSpPr>
          <p:cNvPr id="52" name="Rounded Rectangle 51"/>
          <p:cNvSpPr/>
          <p:nvPr/>
        </p:nvSpPr>
        <p:spPr>
          <a:xfrm>
            <a:off x="6480000" y="8640000"/>
            <a:ext cx="1080000" cy="2052000"/>
          </a:xfrm>
          <a:prstGeom prst="roundRect">
            <a:avLst>
              <a:gd name="adj" fmla="val 15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120000" y="9720000"/>
            <a:ext cx="720000" cy="972000"/>
          </a:xfrm>
          <a:prstGeom prst="roundRect">
            <a:avLst>
              <a:gd name="adj" fmla="val 1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0000" y="1800000"/>
            <a:ext cx="3600000" cy="3600000"/>
          </a:xfrm>
          <a:prstGeom prst="ellipse">
            <a:avLst/>
          </a:prstGeom>
          <a:solidFill>
            <a:srgbClr val="48B4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760000" y="7200000"/>
            <a:ext cx="2880000" cy="2880000"/>
          </a:xfrm>
          <a:prstGeom prst="ellipse">
            <a:avLst/>
          </a:prstGeom>
          <a:solidFill>
            <a:srgbClr val="6BD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 y="3600000"/>
            <a:ext cx="6840000" cy="1080000"/>
          </a:xfrm>
          <a:prstGeom prst="rect">
            <a:avLst/>
          </a:prstGeom>
          <a:noFill/>
        </p:spPr>
        <p:txBody>
          <a:bodyPr wrap="square">
            <a:spAutoFit/>
          </a:bodyPr>
          <a:lstStyle/>
          <a:p>
            <a:pPr algn="ctr">
              <a:defRPr sz="7200" b="1">
                <a:solidFill>
                  <a:srgbClr val="7AE6DE"/>
                </a:solidFill>
                <a:latin typeface="Montserrat"/>
              </a:defRPr>
            </a:pPr>
            <a:r>
              <a:t>02</a:t>
            </a:r>
          </a:p>
        </p:txBody>
      </p:sp>
      <p:sp>
        <p:nvSpPr>
          <p:cNvPr id="6" name="TextBox 5"/>
          <p:cNvSpPr txBox="1"/>
          <p:nvPr/>
        </p:nvSpPr>
        <p:spPr>
          <a:xfrm>
            <a:off x="720000" y="5040000"/>
            <a:ext cx="6120000" cy="1080000"/>
          </a:xfrm>
          <a:prstGeom prst="rect">
            <a:avLst/>
          </a:prstGeom>
          <a:noFill/>
        </p:spPr>
        <p:txBody>
          <a:bodyPr wrap="square">
            <a:spAutoFit/>
          </a:bodyPr>
          <a:lstStyle/>
          <a:p>
            <a:pPr algn="ctr">
              <a:defRPr sz="2600" b="1">
                <a:solidFill>
                  <a:srgbClr val="FFFFFF"/>
                </a:solidFill>
                <a:latin typeface="Montserrat"/>
              </a:defRPr>
            </a:pPr>
            <a:r>
              <a:t>PROJET 1 : MISE À NIVEAU DE 4 COMMUNES</a:t>
            </a:r>
          </a:p>
        </p:txBody>
      </p:sp>
      <p:sp>
        <p:nvSpPr>
          <p:cNvPr id="7" name="Rectangle 6"/>
          <p:cNvSpPr/>
          <p:nvPr/>
        </p:nvSpPr>
        <p:spPr>
          <a:xfrm>
            <a:off x="3060000" y="6300000"/>
            <a:ext cx="144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6660000"/>
            <a:ext cx="6120000" cy="720000"/>
          </a:xfrm>
          <a:prstGeom prst="rect">
            <a:avLst/>
          </a:prstGeom>
          <a:noFill/>
        </p:spPr>
        <p:txBody>
          <a:bodyPr wrap="square">
            <a:spAutoFit/>
          </a:bodyPr>
          <a:lstStyle/>
          <a:p>
            <a:pPr algn="ctr">
              <a:defRPr sz="1000" b="0">
                <a:solidFill>
                  <a:srgbClr val="98FFFC"/>
                </a:solidFill>
                <a:latin typeface="Inter"/>
              </a:defRPr>
            </a:pPr>
            <a:r>
              <a:t>53,5 M DH TTC – 8 corps d'état – Province de Khénifra 5 situations professionnelles analysées (CPAR)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7560000" cy="1800000"/>
          </a:xfrm>
          <a:prstGeom prst="roundRect">
            <a:avLst>
              <a:gd name="adj" fmla="val 5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0000" y="432000"/>
            <a:ext cx="432000" cy="432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80000"/>
            <a:ext cx="1800000" cy="180000"/>
          </a:xfrm>
          <a:prstGeom prst="rect">
            <a:avLst/>
          </a:prstGeom>
          <a:noFill/>
        </p:spPr>
        <p:txBody>
          <a:bodyPr wrap="square">
            <a:spAutoFit/>
          </a:bodyPr>
          <a:lstStyle/>
          <a:p>
            <a:pPr algn="l">
              <a:defRPr sz="700" b="1">
                <a:solidFill>
                  <a:srgbClr val="A0E0D8"/>
                </a:solidFill>
                <a:latin typeface="Montserrat"/>
              </a:defRPr>
            </a:pPr>
            <a:r>
              <a:t>PROJET 1</a:t>
            </a:r>
          </a:p>
        </p:txBody>
      </p:sp>
      <p:sp>
        <p:nvSpPr>
          <p:cNvPr id="5" name="TextBox 4"/>
          <p:cNvSpPr txBox="1"/>
          <p:nvPr/>
        </p:nvSpPr>
        <p:spPr>
          <a:xfrm>
            <a:off x="1152000" y="432000"/>
            <a:ext cx="5760000" cy="900000"/>
          </a:xfrm>
          <a:prstGeom prst="rect">
            <a:avLst/>
          </a:prstGeom>
          <a:noFill/>
        </p:spPr>
        <p:txBody>
          <a:bodyPr wrap="square">
            <a:spAutoFit/>
          </a:bodyPr>
          <a:lstStyle/>
          <a:p>
            <a:pPr algn="l">
              <a:defRPr sz="1800" b="1">
                <a:solidFill>
                  <a:srgbClr val="FFFFFF"/>
                </a:solidFill>
                <a:latin typeface="Montserrat"/>
              </a:defRPr>
            </a:pPr>
            <a:r>
              <a:t>MISE A NIVEAU DES CENTRES DE 4 COMMUNES</a:t>
            </a:r>
          </a:p>
        </p:txBody>
      </p:sp>
      <p:sp>
        <p:nvSpPr>
          <p:cNvPr id="6" name="Rectangle 5"/>
          <p:cNvSpPr/>
          <p:nvPr/>
        </p:nvSpPr>
        <p:spPr>
          <a:xfrm>
            <a:off x="648000" y="2088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2232000"/>
            <a:ext cx="3600000" cy="720000"/>
          </a:xfrm>
          <a:prstGeom prst="rect">
            <a:avLst/>
          </a:prstGeom>
          <a:noFill/>
        </p:spPr>
        <p:txBody>
          <a:bodyPr wrap="square">
            <a:spAutoFit/>
          </a:bodyPr>
          <a:lstStyle/>
          <a:p>
            <a:pPr algn="just">
              <a:defRPr sz="900" b="0">
                <a:solidFill>
                  <a:srgbClr val="555555"/>
                </a:solidFill>
                <a:latin typeface="Inter"/>
              </a:defRPr>
            </a:pPr>
            <a:r>
              <a:t>Programme de mise a niveau des centres emergents de 4 communes de la province de Khenifra. 8 corps d'etat sur 4 sites.</a:t>
            </a:r>
          </a:p>
        </p:txBody>
      </p:sp>
      <p:sp>
        <p:nvSpPr>
          <p:cNvPr id="8" name="TextBox 7"/>
          <p:cNvSpPr txBox="1"/>
          <p:nvPr/>
        </p:nvSpPr>
        <p:spPr>
          <a:xfrm>
            <a:off x="792000" y="3060000"/>
            <a:ext cx="1260000" cy="288000"/>
          </a:xfrm>
          <a:prstGeom prst="rect">
            <a:avLst/>
          </a:prstGeom>
          <a:noFill/>
        </p:spPr>
        <p:txBody>
          <a:bodyPr wrap="square">
            <a:spAutoFit/>
          </a:bodyPr>
          <a:lstStyle/>
          <a:p>
            <a:pPr algn="l">
              <a:defRPr sz="800" b="1">
                <a:solidFill>
                  <a:srgbClr val="F39200"/>
                </a:solidFill>
                <a:latin typeface="Inter"/>
              </a:defRPr>
            </a:pPr>
            <a:r>
              <a:t>Marché</a:t>
            </a:r>
          </a:p>
        </p:txBody>
      </p:sp>
      <p:sp>
        <p:nvSpPr>
          <p:cNvPr id="9" name="TextBox 8"/>
          <p:cNvSpPr txBox="1"/>
          <p:nvPr/>
        </p:nvSpPr>
        <p:spPr>
          <a:xfrm>
            <a:off x="2160000" y="3060000"/>
            <a:ext cx="1620000" cy="288000"/>
          </a:xfrm>
          <a:prstGeom prst="rect">
            <a:avLst/>
          </a:prstGeom>
          <a:noFill/>
        </p:spPr>
        <p:txBody>
          <a:bodyPr wrap="square">
            <a:spAutoFit/>
          </a:bodyPr>
          <a:lstStyle/>
          <a:p>
            <a:pPr algn="l">
              <a:defRPr sz="800" b="0">
                <a:solidFill>
                  <a:srgbClr val="2D2D2D"/>
                </a:solidFill>
                <a:latin typeface="Inter"/>
              </a:defRPr>
            </a:pPr>
            <a:r>
              <a:t>n°38-RBK-2017 (Lot 4)</a:t>
            </a:r>
          </a:p>
        </p:txBody>
      </p:sp>
      <p:sp>
        <p:nvSpPr>
          <p:cNvPr id="10" name="Rectangle 9"/>
          <p:cNvSpPr/>
          <p:nvPr/>
        </p:nvSpPr>
        <p:spPr>
          <a:xfrm>
            <a:off x="792000" y="3384000"/>
            <a:ext cx="2880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000" y="3456000"/>
            <a:ext cx="1260000" cy="288000"/>
          </a:xfrm>
          <a:prstGeom prst="rect">
            <a:avLst/>
          </a:prstGeom>
          <a:noFill/>
        </p:spPr>
        <p:txBody>
          <a:bodyPr wrap="square">
            <a:spAutoFit/>
          </a:bodyPr>
          <a:lstStyle/>
          <a:p>
            <a:pPr algn="l">
              <a:defRPr sz="800" b="1">
                <a:solidFill>
                  <a:srgbClr val="F39200"/>
                </a:solidFill>
                <a:latin typeface="Inter"/>
              </a:defRPr>
            </a:pPr>
            <a:r>
              <a:t>Maître d'ouvrage</a:t>
            </a:r>
          </a:p>
        </p:txBody>
      </p:sp>
      <p:sp>
        <p:nvSpPr>
          <p:cNvPr id="12" name="TextBox 11"/>
          <p:cNvSpPr txBox="1"/>
          <p:nvPr/>
        </p:nvSpPr>
        <p:spPr>
          <a:xfrm>
            <a:off x="2160000" y="3456000"/>
            <a:ext cx="1620000" cy="288000"/>
          </a:xfrm>
          <a:prstGeom prst="rect">
            <a:avLst/>
          </a:prstGeom>
          <a:noFill/>
        </p:spPr>
        <p:txBody>
          <a:bodyPr wrap="square">
            <a:spAutoFit/>
          </a:bodyPr>
          <a:lstStyle/>
          <a:p>
            <a:pPr algn="l">
              <a:defRPr sz="800" b="0">
                <a:solidFill>
                  <a:srgbClr val="2D2D2D"/>
                </a:solidFill>
                <a:latin typeface="Inter"/>
              </a:defRPr>
            </a:pPr>
            <a:r>
              <a:t>Conseil Régional BMK</a:t>
            </a:r>
          </a:p>
        </p:txBody>
      </p:sp>
      <p:sp>
        <p:nvSpPr>
          <p:cNvPr id="13" name="Rectangle 12"/>
          <p:cNvSpPr/>
          <p:nvPr/>
        </p:nvSpPr>
        <p:spPr>
          <a:xfrm>
            <a:off x="792000" y="3780000"/>
            <a:ext cx="2880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2000" y="3852000"/>
            <a:ext cx="1260000" cy="288000"/>
          </a:xfrm>
          <a:prstGeom prst="rect">
            <a:avLst/>
          </a:prstGeom>
          <a:noFill/>
        </p:spPr>
        <p:txBody>
          <a:bodyPr wrap="square">
            <a:spAutoFit/>
          </a:bodyPr>
          <a:lstStyle/>
          <a:p>
            <a:pPr algn="l">
              <a:defRPr sz="800" b="1">
                <a:solidFill>
                  <a:srgbClr val="F39200"/>
                </a:solidFill>
                <a:latin typeface="Inter"/>
              </a:defRPr>
            </a:pPr>
            <a:r>
              <a:t>Localisation</a:t>
            </a:r>
          </a:p>
        </p:txBody>
      </p:sp>
      <p:sp>
        <p:nvSpPr>
          <p:cNvPr id="15" name="TextBox 14"/>
          <p:cNvSpPr txBox="1"/>
          <p:nvPr/>
        </p:nvSpPr>
        <p:spPr>
          <a:xfrm>
            <a:off x="2160000" y="3852000"/>
            <a:ext cx="1620000" cy="288000"/>
          </a:xfrm>
          <a:prstGeom prst="rect">
            <a:avLst/>
          </a:prstGeom>
          <a:noFill/>
        </p:spPr>
        <p:txBody>
          <a:bodyPr wrap="square">
            <a:spAutoFit/>
          </a:bodyPr>
          <a:lstStyle/>
          <a:p>
            <a:pPr algn="l">
              <a:defRPr sz="800" b="0">
                <a:solidFill>
                  <a:srgbClr val="2D2D2D"/>
                </a:solidFill>
                <a:latin typeface="Inter"/>
              </a:defRPr>
            </a:pPr>
            <a:r>
              <a:t>Province de Khénifra</a:t>
            </a:r>
          </a:p>
        </p:txBody>
      </p:sp>
      <p:sp>
        <p:nvSpPr>
          <p:cNvPr id="16" name="Rectangle 15"/>
          <p:cNvSpPr/>
          <p:nvPr/>
        </p:nvSpPr>
        <p:spPr>
          <a:xfrm>
            <a:off x="792000" y="4176000"/>
            <a:ext cx="2880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2000" y="4248000"/>
            <a:ext cx="1260000" cy="288000"/>
          </a:xfrm>
          <a:prstGeom prst="rect">
            <a:avLst/>
          </a:prstGeom>
          <a:noFill/>
        </p:spPr>
        <p:txBody>
          <a:bodyPr wrap="square">
            <a:spAutoFit/>
          </a:bodyPr>
          <a:lstStyle/>
          <a:p>
            <a:pPr algn="l">
              <a:defRPr sz="800" b="1">
                <a:solidFill>
                  <a:srgbClr val="F39200"/>
                </a:solidFill>
                <a:latin typeface="Inter"/>
              </a:defRPr>
            </a:pPr>
            <a:r>
              <a:t>4 communes</a:t>
            </a:r>
          </a:p>
        </p:txBody>
      </p:sp>
      <p:sp>
        <p:nvSpPr>
          <p:cNvPr id="18" name="TextBox 17"/>
          <p:cNvSpPr txBox="1"/>
          <p:nvPr/>
        </p:nvSpPr>
        <p:spPr>
          <a:xfrm>
            <a:off x="2160000" y="4248000"/>
            <a:ext cx="1620000" cy="288000"/>
          </a:xfrm>
          <a:prstGeom prst="rect">
            <a:avLst/>
          </a:prstGeom>
          <a:noFill/>
        </p:spPr>
        <p:txBody>
          <a:bodyPr wrap="square">
            <a:spAutoFit/>
          </a:bodyPr>
          <a:lstStyle/>
          <a:p>
            <a:pPr algn="l">
              <a:defRPr sz="800" b="0">
                <a:solidFill>
                  <a:srgbClr val="2D2D2D"/>
                </a:solidFill>
                <a:latin typeface="Inter"/>
              </a:defRPr>
            </a:pPr>
            <a:r>
              <a:t>El Hammam, Kerrouchen,, Ouaoumana, Sebt Ait Rahou</a:t>
            </a:r>
          </a:p>
        </p:txBody>
      </p:sp>
      <p:sp>
        <p:nvSpPr>
          <p:cNvPr id="19" name="Rectangle 18"/>
          <p:cNvSpPr/>
          <p:nvPr/>
        </p:nvSpPr>
        <p:spPr>
          <a:xfrm>
            <a:off x="792000" y="4572000"/>
            <a:ext cx="2880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2000" y="4644000"/>
            <a:ext cx="1260000" cy="288000"/>
          </a:xfrm>
          <a:prstGeom prst="rect">
            <a:avLst/>
          </a:prstGeom>
          <a:noFill/>
        </p:spPr>
        <p:txBody>
          <a:bodyPr wrap="square">
            <a:spAutoFit/>
          </a:bodyPr>
          <a:lstStyle/>
          <a:p>
            <a:pPr algn="l">
              <a:defRPr sz="800" b="1">
                <a:solidFill>
                  <a:srgbClr val="F39200"/>
                </a:solidFill>
                <a:latin typeface="Inter"/>
              </a:defRPr>
            </a:pPr>
            <a:r>
              <a:t>Nature</a:t>
            </a:r>
          </a:p>
        </p:txBody>
      </p:sp>
      <p:sp>
        <p:nvSpPr>
          <p:cNvPr id="21" name="TextBox 20"/>
          <p:cNvSpPr txBox="1"/>
          <p:nvPr/>
        </p:nvSpPr>
        <p:spPr>
          <a:xfrm>
            <a:off x="2160000" y="4644000"/>
            <a:ext cx="1620000" cy="288000"/>
          </a:xfrm>
          <a:prstGeom prst="rect">
            <a:avLst/>
          </a:prstGeom>
          <a:noFill/>
        </p:spPr>
        <p:txBody>
          <a:bodyPr wrap="square">
            <a:spAutoFit/>
          </a:bodyPr>
          <a:lstStyle/>
          <a:p>
            <a:pPr algn="l">
              <a:defRPr sz="800" b="0">
                <a:solidFill>
                  <a:srgbClr val="2D2D2D"/>
                </a:solidFill>
                <a:latin typeface="Inter"/>
              </a:defRPr>
            </a:pPr>
            <a:r>
              <a:t>Aménagement urbain - VRD</a:t>
            </a:r>
          </a:p>
        </p:txBody>
      </p:sp>
      <p:sp>
        <p:nvSpPr>
          <p:cNvPr id="22" name="Rectangle 21"/>
          <p:cNvSpPr/>
          <p:nvPr/>
        </p:nvSpPr>
        <p:spPr>
          <a:xfrm>
            <a:off x="792000" y="4968000"/>
            <a:ext cx="2880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2000" y="5040000"/>
            <a:ext cx="1260000" cy="288000"/>
          </a:xfrm>
          <a:prstGeom prst="rect">
            <a:avLst/>
          </a:prstGeom>
          <a:noFill/>
        </p:spPr>
        <p:txBody>
          <a:bodyPr wrap="square">
            <a:spAutoFit/>
          </a:bodyPr>
          <a:lstStyle/>
          <a:p>
            <a:pPr algn="l">
              <a:defRPr sz="800" b="1">
                <a:solidFill>
                  <a:srgbClr val="F39200"/>
                </a:solidFill>
                <a:latin typeface="Inter"/>
              </a:defRPr>
            </a:pPr>
            <a:r>
              <a:t>8 parties</a:t>
            </a:r>
          </a:p>
        </p:txBody>
      </p:sp>
      <p:sp>
        <p:nvSpPr>
          <p:cNvPr id="24" name="TextBox 23"/>
          <p:cNvSpPr txBox="1"/>
          <p:nvPr/>
        </p:nvSpPr>
        <p:spPr>
          <a:xfrm>
            <a:off x="2160000" y="5040000"/>
            <a:ext cx="1620000" cy="288000"/>
          </a:xfrm>
          <a:prstGeom prst="rect">
            <a:avLst/>
          </a:prstGeom>
          <a:noFill/>
        </p:spPr>
        <p:txBody>
          <a:bodyPr wrap="square">
            <a:spAutoFit/>
          </a:bodyPr>
          <a:lstStyle/>
          <a:p>
            <a:pPr algn="l">
              <a:defRPr sz="800" b="0">
                <a:solidFill>
                  <a:srgbClr val="2D2D2D"/>
                </a:solidFill>
                <a:latin typeface="Inter"/>
              </a:defRPr>
            </a:pPr>
            <a:r>
              <a:t>Assainissement, chaussée, trottoirs,, signalisation, éclairage, murs,, paysager, mobilier urbain</a:t>
            </a:r>
          </a:p>
        </p:txBody>
      </p:sp>
      <p:sp>
        <p:nvSpPr>
          <p:cNvPr id="25" name="Rectangle 24"/>
          <p:cNvSpPr/>
          <p:nvPr/>
        </p:nvSpPr>
        <p:spPr>
          <a:xfrm>
            <a:off x="792000" y="5364000"/>
            <a:ext cx="2880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20000" y="2340000"/>
            <a:ext cx="2520000" cy="1800000"/>
          </a:xfrm>
          <a:prstGeom prst="roundRect">
            <a:avLst>
              <a:gd name="adj" fmla="val 15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0000" y="2700000"/>
            <a:ext cx="2160000" cy="720000"/>
          </a:xfrm>
          <a:prstGeom prst="rect">
            <a:avLst/>
          </a:prstGeom>
          <a:noFill/>
        </p:spPr>
        <p:txBody>
          <a:bodyPr wrap="square">
            <a:spAutoFit/>
          </a:bodyPr>
          <a:lstStyle/>
          <a:p>
            <a:pPr algn="ctr">
              <a:defRPr sz="2800" b="1">
                <a:solidFill>
                  <a:srgbClr val="FFFFFF"/>
                </a:solidFill>
                <a:latin typeface="Montserrat"/>
              </a:defRPr>
            </a:pPr>
            <a:r>
              <a:t>53,5 M DH TTC</a:t>
            </a:r>
          </a:p>
        </p:txBody>
      </p:sp>
      <p:sp>
        <p:nvSpPr>
          <p:cNvPr id="28" name="TextBox 27"/>
          <p:cNvSpPr txBox="1"/>
          <p:nvPr/>
        </p:nvSpPr>
        <p:spPr>
          <a:xfrm>
            <a:off x="4500000" y="3600000"/>
            <a:ext cx="2160000" cy="360000"/>
          </a:xfrm>
          <a:prstGeom prst="rect">
            <a:avLst/>
          </a:prstGeom>
          <a:noFill/>
        </p:spPr>
        <p:txBody>
          <a:bodyPr wrap="square">
            <a:spAutoFit/>
          </a:bodyPr>
          <a:lstStyle/>
          <a:p>
            <a:pPr algn="ctr">
              <a:defRPr sz="800" b="0">
                <a:solidFill>
                  <a:srgbClr val="FFFFFF"/>
                </a:solidFill>
                <a:latin typeface="Inter"/>
              </a:defRPr>
            </a:pPr>
            <a:r>
              <a:t>soit 4,86 M€ | 44,6 M DH HT + TVA 20% | Lot unique | 4 communes</a:t>
            </a:r>
          </a:p>
        </p:txBody>
      </p:sp>
      <p:sp>
        <p:nvSpPr>
          <p:cNvPr id="29" name="Rounded Rectangle 28"/>
          <p:cNvSpPr/>
          <p:nvPr/>
        </p:nvSpPr>
        <p:spPr>
          <a:xfrm>
            <a:off x="4320000" y="4320000"/>
            <a:ext cx="2520000" cy="144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20000" y="4860000"/>
            <a:ext cx="2520000" cy="360000"/>
          </a:xfrm>
          <a:prstGeom prst="rect">
            <a:avLst/>
          </a:prstGeom>
          <a:noFill/>
        </p:spPr>
        <p:txBody>
          <a:bodyPr wrap="square">
            <a:spAutoFit/>
          </a:bodyPr>
          <a:lstStyle/>
          <a:p>
            <a:pPr algn="ctr">
              <a:defRPr sz="800" b="0">
                <a:solidFill>
                  <a:srgbClr val="888888"/>
                </a:solidFill>
                <a:latin typeface="Inter"/>
              </a:defRPr>
            </a:pPr>
            <a:r>
              <a:t>Photo chantier urbain</a:t>
            </a:r>
          </a:p>
        </p:txBody>
      </p:sp>
      <p:sp>
        <p:nvSpPr>
          <p:cNvPr id="31" name="Rounded Rectangle 30"/>
          <p:cNvSpPr/>
          <p:nvPr/>
        </p:nvSpPr>
        <p:spPr>
          <a:xfrm>
            <a:off x="7200000" y="5760000"/>
            <a:ext cx="360000" cy="1440000"/>
          </a:xfrm>
          <a:prstGeom prst="roundRect">
            <a:avLst>
              <a:gd name="adj" fmla="val 2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48000" y="6300000"/>
            <a:ext cx="6263999" cy="360000"/>
          </a:xfrm>
          <a:prstGeom prst="roundRect">
            <a:avLst>
              <a:gd name="adj" fmla="val 5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0000" y="6336000"/>
            <a:ext cx="5760000" cy="288000"/>
          </a:xfrm>
          <a:prstGeom prst="rect">
            <a:avLst/>
          </a:prstGeom>
          <a:noFill/>
        </p:spPr>
        <p:txBody>
          <a:bodyPr wrap="square">
            <a:spAutoFit/>
          </a:bodyPr>
          <a:lstStyle/>
          <a:p>
            <a:pPr algn="ctr">
              <a:defRPr sz="700" b="0">
                <a:solidFill>
                  <a:srgbClr val="888888"/>
                </a:solidFill>
                <a:latin typeface="Inter"/>
              </a:defRPr>
            </a:pPr>
            <a:r>
              <a:t>Pièces du marché : CPS + RC + BPDE + Plans | Appel d'offres ouvert</a:t>
            </a:r>
          </a:p>
        </p:txBody>
      </p:sp>
      <p:sp>
        <p:nvSpPr>
          <p:cNvPr id="34" name="TextBox 33"/>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260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0000" y="288000"/>
            <a:ext cx="432000" cy="432000"/>
          </a:xfrm>
          <a:prstGeom prst="ellipse">
            <a:avLst/>
          </a:prstGeom>
          <a:solidFill>
            <a:srgbClr val="E0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52000" y="251999"/>
            <a:ext cx="5760000" cy="720000"/>
          </a:xfrm>
          <a:prstGeom prst="rect">
            <a:avLst/>
          </a:prstGeom>
          <a:noFill/>
        </p:spPr>
        <p:txBody>
          <a:bodyPr wrap="square">
            <a:spAutoFit/>
          </a:bodyPr>
          <a:lstStyle/>
          <a:p>
            <a:pPr algn="l">
              <a:defRPr sz="1800" b="1">
                <a:solidFill>
                  <a:srgbClr val="FFFFFF"/>
                </a:solidFill>
                <a:latin typeface="Montserrat"/>
              </a:defRPr>
            </a:pPr>
            <a:r>
              <a:t>BUDGET ET 8 CORPS D'ETAT</a:t>
            </a:r>
          </a:p>
        </p:txBody>
      </p:sp>
      <p:sp>
        <p:nvSpPr>
          <p:cNvPr id="5" name="TextBox 4"/>
          <p:cNvSpPr txBox="1"/>
          <p:nvPr/>
        </p:nvSpPr>
        <p:spPr>
          <a:xfrm>
            <a:off x="648000" y="1620000"/>
            <a:ext cx="6263999" cy="180000"/>
          </a:xfrm>
          <a:prstGeom prst="rect">
            <a:avLst/>
          </a:prstGeom>
          <a:noFill/>
        </p:spPr>
        <p:txBody>
          <a:bodyPr wrap="square">
            <a:spAutoFit/>
          </a:bodyPr>
          <a:lstStyle/>
          <a:p>
            <a:pPr algn="ctr">
              <a:defRPr sz="700" b="1">
                <a:solidFill>
                  <a:srgbClr val="F39200"/>
                </a:solidFill>
                <a:latin typeface="Montserrat"/>
              </a:defRPr>
            </a:pPr>
            <a:r>
              <a:t>REPARTITION PAR COMMUNE</a:t>
            </a:r>
          </a:p>
        </p:txBody>
      </p:sp>
      <p:sp>
        <p:nvSpPr>
          <p:cNvPr id="6" name="TextBox 5"/>
          <p:cNvSpPr txBox="1"/>
          <p:nvPr/>
        </p:nvSpPr>
        <p:spPr>
          <a:xfrm>
            <a:off x="648000" y="2016000"/>
            <a:ext cx="1440000" cy="216000"/>
          </a:xfrm>
          <a:prstGeom prst="rect">
            <a:avLst/>
          </a:prstGeom>
          <a:noFill/>
        </p:spPr>
        <p:txBody>
          <a:bodyPr wrap="square">
            <a:spAutoFit/>
          </a:bodyPr>
          <a:lstStyle/>
          <a:p>
            <a:pPr algn="r">
              <a:defRPr sz="900" b="1">
                <a:solidFill>
                  <a:srgbClr val="1E3A5F"/>
                </a:solidFill>
                <a:latin typeface="Inter"/>
              </a:defRPr>
            </a:pPr>
            <a:r>
              <a:t>El Hammam</a:t>
            </a:r>
          </a:p>
        </p:txBody>
      </p:sp>
      <p:sp>
        <p:nvSpPr>
          <p:cNvPr id="7" name="Rounded Rectangle 6"/>
          <p:cNvSpPr/>
          <p:nvPr/>
        </p:nvSpPr>
        <p:spPr>
          <a:xfrm>
            <a:off x="2232000" y="2034000"/>
            <a:ext cx="2880000" cy="251999"/>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232000" y="2034000"/>
            <a:ext cx="1072800"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40000" y="2034000"/>
            <a:ext cx="720000" cy="251999"/>
          </a:xfrm>
          <a:prstGeom prst="rect">
            <a:avLst/>
          </a:prstGeom>
          <a:noFill/>
        </p:spPr>
        <p:txBody>
          <a:bodyPr wrap="square">
            <a:spAutoFit/>
          </a:bodyPr>
          <a:lstStyle/>
          <a:p>
            <a:pPr algn="l">
              <a:defRPr sz="700" b="1">
                <a:solidFill>
                  <a:srgbClr val="FFFFFF"/>
                </a:solidFill>
                <a:latin typeface="Montserrat"/>
              </a:defRPr>
            </a:pPr>
            <a:r>
              <a:t>15%</a:t>
            </a:r>
          </a:p>
        </p:txBody>
      </p:sp>
      <p:sp>
        <p:nvSpPr>
          <p:cNvPr id="10" name="TextBox 9"/>
          <p:cNvSpPr txBox="1"/>
          <p:nvPr/>
        </p:nvSpPr>
        <p:spPr>
          <a:xfrm>
            <a:off x="5220000" y="2016000"/>
            <a:ext cx="1800000" cy="251999"/>
          </a:xfrm>
          <a:prstGeom prst="rect">
            <a:avLst/>
          </a:prstGeom>
          <a:noFill/>
        </p:spPr>
        <p:txBody>
          <a:bodyPr wrap="square">
            <a:spAutoFit/>
          </a:bodyPr>
          <a:lstStyle/>
          <a:p>
            <a:pPr algn="l">
              <a:defRPr sz="800" b="0">
                <a:solidFill>
                  <a:srgbClr val="888888"/>
                </a:solidFill>
                <a:latin typeface="Inter"/>
              </a:defRPr>
            </a:pPr>
            <a:r>
              <a:t>6,6 M DH (14,9%)</a:t>
            </a:r>
          </a:p>
        </p:txBody>
      </p:sp>
      <p:sp>
        <p:nvSpPr>
          <p:cNvPr id="11" name="TextBox 10"/>
          <p:cNvSpPr txBox="1"/>
          <p:nvPr/>
        </p:nvSpPr>
        <p:spPr>
          <a:xfrm>
            <a:off x="648000" y="2664000"/>
            <a:ext cx="1440000" cy="216000"/>
          </a:xfrm>
          <a:prstGeom prst="rect">
            <a:avLst/>
          </a:prstGeom>
          <a:noFill/>
        </p:spPr>
        <p:txBody>
          <a:bodyPr wrap="square">
            <a:spAutoFit/>
          </a:bodyPr>
          <a:lstStyle/>
          <a:p>
            <a:pPr algn="r">
              <a:defRPr sz="900" b="1">
                <a:solidFill>
                  <a:srgbClr val="1E3A5F"/>
                </a:solidFill>
                <a:latin typeface="Inter"/>
              </a:defRPr>
            </a:pPr>
            <a:r>
              <a:t>Kerrouchen</a:t>
            </a:r>
          </a:p>
        </p:txBody>
      </p:sp>
      <p:sp>
        <p:nvSpPr>
          <p:cNvPr id="12" name="Rounded Rectangle 11"/>
          <p:cNvSpPr/>
          <p:nvPr/>
        </p:nvSpPr>
        <p:spPr>
          <a:xfrm>
            <a:off x="2232000" y="2682000"/>
            <a:ext cx="2880000" cy="251999"/>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232000" y="2682000"/>
            <a:ext cx="1188000" cy="251999"/>
          </a:xfrm>
          <a:prstGeom prst="roundRect">
            <a:avLst>
              <a:gd name="adj" fmla="val 50000"/>
            </a:avLst>
          </a:prstGeom>
          <a:solidFill>
            <a:srgbClr val="E0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40000" y="2682000"/>
            <a:ext cx="720000" cy="251999"/>
          </a:xfrm>
          <a:prstGeom prst="rect">
            <a:avLst/>
          </a:prstGeom>
          <a:noFill/>
        </p:spPr>
        <p:txBody>
          <a:bodyPr wrap="square">
            <a:spAutoFit/>
          </a:bodyPr>
          <a:lstStyle/>
          <a:p>
            <a:pPr algn="l">
              <a:defRPr sz="700" b="1">
                <a:solidFill>
                  <a:srgbClr val="FFFFFF"/>
                </a:solidFill>
                <a:latin typeface="Montserrat"/>
              </a:defRPr>
            </a:pPr>
            <a:r>
              <a:t>16%</a:t>
            </a:r>
          </a:p>
        </p:txBody>
      </p:sp>
      <p:sp>
        <p:nvSpPr>
          <p:cNvPr id="15" name="TextBox 14"/>
          <p:cNvSpPr txBox="1"/>
          <p:nvPr/>
        </p:nvSpPr>
        <p:spPr>
          <a:xfrm>
            <a:off x="5220000" y="2664000"/>
            <a:ext cx="1800000" cy="251999"/>
          </a:xfrm>
          <a:prstGeom prst="rect">
            <a:avLst/>
          </a:prstGeom>
          <a:noFill/>
        </p:spPr>
        <p:txBody>
          <a:bodyPr wrap="square">
            <a:spAutoFit/>
          </a:bodyPr>
          <a:lstStyle/>
          <a:p>
            <a:pPr algn="l">
              <a:defRPr sz="800" b="0">
                <a:solidFill>
                  <a:srgbClr val="888888"/>
                </a:solidFill>
                <a:latin typeface="Inter"/>
              </a:defRPr>
            </a:pPr>
            <a:r>
              <a:t>7,3 M DH (16,5%)</a:t>
            </a:r>
          </a:p>
        </p:txBody>
      </p:sp>
      <p:sp>
        <p:nvSpPr>
          <p:cNvPr id="16" name="TextBox 15"/>
          <p:cNvSpPr txBox="1"/>
          <p:nvPr/>
        </p:nvSpPr>
        <p:spPr>
          <a:xfrm>
            <a:off x="648000" y="3312000"/>
            <a:ext cx="1440000" cy="216000"/>
          </a:xfrm>
          <a:prstGeom prst="rect">
            <a:avLst/>
          </a:prstGeom>
          <a:noFill/>
        </p:spPr>
        <p:txBody>
          <a:bodyPr wrap="square">
            <a:spAutoFit/>
          </a:bodyPr>
          <a:lstStyle/>
          <a:p>
            <a:pPr algn="r">
              <a:defRPr sz="900" b="1">
                <a:solidFill>
                  <a:srgbClr val="1E3A5F"/>
                </a:solidFill>
                <a:latin typeface="Inter"/>
              </a:defRPr>
            </a:pPr>
            <a:r>
              <a:t>Ouaoumana</a:t>
            </a:r>
          </a:p>
        </p:txBody>
      </p:sp>
      <p:sp>
        <p:nvSpPr>
          <p:cNvPr id="17" name="Rounded Rectangle 16"/>
          <p:cNvSpPr/>
          <p:nvPr/>
        </p:nvSpPr>
        <p:spPr>
          <a:xfrm>
            <a:off x="2232000" y="3330000"/>
            <a:ext cx="2880000" cy="251999"/>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232000" y="3330000"/>
            <a:ext cx="2556000" cy="251999"/>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0000" y="3330000"/>
            <a:ext cx="720000" cy="251999"/>
          </a:xfrm>
          <a:prstGeom prst="rect">
            <a:avLst/>
          </a:prstGeom>
          <a:noFill/>
        </p:spPr>
        <p:txBody>
          <a:bodyPr wrap="square">
            <a:spAutoFit/>
          </a:bodyPr>
          <a:lstStyle/>
          <a:p>
            <a:pPr algn="l">
              <a:defRPr sz="700" b="1">
                <a:solidFill>
                  <a:srgbClr val="FFFFFF"/>
                </a:solidFill>
                <a:latin typeface="Montserrat"/>
              </a:defRPr>
            </a:pPr>
            <a:r>
              <a:t>36%</a:t>
            </a:r>
          </a:p>
        </p:txBody>
      </p:sp>
      <p:sp>
        <p:nvSpPr>
          <p:cNvPr id="20" name="TextBox 19"/>
          <p:cNvSpPr txBox="1"/>
          <p:nvPr/>
        </p:nvSpPr>
        <p:spPr>
          <a:xfrm>
            <a:off x="5220000" y="3312000"/>
            <a:ext cx="1800000" cy="251999"/>
          </a:xfrm>
          <a:prstGeom prst="rect">
            <a:avLst/>
          </a:prstGeom>
          <a:noFill/>
        </p:spPr>
        <p:txBody>
          <a:bodyPr wrap="square">
            <a:spAutoFit/>
          </a:bodyPr>
          <a:lstStyle/>
          <a:p>
            <a:pPr algn="l">
              <a:defRPr sz="800" b="0">
                <a:solidFill>
                  <a:srgbClr val="888888"/>
                </a:solidFill>
                <a:latin typeface="Inter"/>
              </a:defRPr>
            </a:pPr>
            <a:r>
              <a:t>15,8 M DH (35,5%)</a:t>
            </a:r>
          </a:p>
        </p:txBody>
      </p:sp>
      <p:sp>
        <p:nvSpPr>
          <p:cNvPr id="21" name="TextBox 20"/>
          <p:cNvSpPr txBox="1"/>
          <p:nvPr/>
        </p:nvSpPr>
        <p:spPr>
          <a:xfrm>
            <a:off x="648000" y="3960000"/>
            <a:ext cx="1440000" cy="216000"/>
          </a:xfrm>
          <a:prstGeom prst="rect">
            <a:avLst/>
          </a:prstGeom>
          <a:noFill/>
        </p:spPr>
        <p:txBody>
          <a:bodyPr wrap="square">
            <a:spAutoFit/>
          </a:bodyPr>
          <a:lstStyle/>
          <a:p>
            <a:pPr algn="r">
              <a:defRPr sz="900" b="1">
                <a:solidFill>
                  <a:srgbClr val="1E3A5F"/>
                </a:solidFill>
                <a:latin typeface="Inter"/>
              </a:defRPr>
            </a:pPr>
            <a:r>
              <a:t>Sebt Ait Rahou</a:t>
            </a:r>
          </a:p>
        </p:txBody>
      </p:sp>
      <p:sp>
        <p:nvSpPr>
          <p:cNvPr id="22" name="Rounded Rectangle 21"/>
          <p:cNvSpPr/>
          <p:nvPr/>
        </p:nvSpPr>
        <p:spPr>
          <a:xfrm>
            <a:off x="2232000" y="3978000"/>
            <a:ext cx="2880000" cy="251999"/>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232000" y="3978000"/>
            <a:ext cx="2390400" cy="251999"/>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40000" y="3978000"/>
            <a:ext cx="720000" cy="251999"/>
          </a:xfrm>
          <a:prstGeom prst="rect">
            <a:avLst/>
          </a:prstGeom>
          <a:noFill/>
        </p:spPr>
        <p:txBody>
          <a:bodyPr wrap="square">
            <a:spAutoFit/>
          </a:bodyPr>
          <a:lstStyle/>
          <a:p>
            <a:pPr algn="l">
              <a:defRPr sz="700" b="1">
                <a:solidFill>
                  <a:srgbClr val="FFFFFF"/>
                </a:solidFill>
                <a:latin typeface="Montserrat"/>
              </a:defRPr>
            </a:pPr>
            <a:r>
              <a:t>33%</a:t>
            </a:r>
          </a:p>
        </p:txBody>
      </p:sp>
      <p:sp>
        <p:nvSpPr>
          <p:cNvPr id="25" name="TextBox 24"/>
          <p:cNvSpPr txBox="1"/>
          <p:nvPr/>
        </p:nvSpPr>
        <p:spPr>
          <a:xfrm>
            <a:off x="5220000" y="3960000"/>
            <a:ext cx="1800000" cy="251999"/>
          </a:xfrm>
          <a:prstGeom prst="rect">
            <a:avLst/>
          </a:prstGeom>
          <a:noFill/>
        </p:spPr>
        <p:txBody>
          <a:bodyPr wrap="square">
            <a:spAutoFit/>
          </a:bodyPr>
          <a:lstStyle/>
          <a:p>
            <a:pPr algn="l">
              <a:defRPr sz="800" b="0">
                <a:solidFill>
                  <a:srgbClr val="888888"/>
                </a:solidFill>
                <a:latin typeface="Inter"/>
              </a:defRPr>
            </a:pPr>
            <a:r>
              <a:t>14,8 M DH (33,2%)</a:t>
            </a:r>
          </a:p>
        </p:txBody>
      </p:sp>
      <p:sp>
        <p:nvSpPr>
          <p:cNvPr id="26" name="Rounded Rectangle 25"/>
          <p:cNvSpPr/>
          <p:nvPr/>
        </p:nvSpPr>
        <p:spPr>
          <a:xfrm>
            <a:off x="648000" y="4680000"/>
            <a:ext cx="6263999" cy="360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000" y="4716000"/>
            <a:ext cx="5760000" cy="288000"/>
          </a:xfrm>
          <a:prstGeom prst="rect">
            <a:avLst/>
          </a:prstGeom>
          <a:noFill/>
        </p:spPr>
        <p:txBody>
          <a:bodyPr wrap="square">
            <a:spAutoFit/>
          </a:bodyPr>
          <a:lstStyle/>
          <a:p>
            <a:pPr algn="ctr">
              <a:defRPr sz="800" b="1">
                <a:solidFill>
                  <a:srgbClr val="FFFFFF"/>
                </a:solidFill>
                <a:latin typeface="Montserrat"/>
              </a:defRPr>
            </a:pPr>
            <a:r>
              <a:t>68% du budget sur 2 communes : Ouaoumana + Sebt Ait Rahou</a:t>
            </a:r>
          </a:p>
        </p:txBody>
      </p:sp>
      <p:sp>
        <p:nvSpPr>
          <p:cNvPr id="28" name="TextBox 27"/>
          <p:cNvSpPr txBox="1"/>
          <p:nvPr/>
        </p:nvSpPr>
        <p:spPr>
          <a:xfrm>
            <a:off x="648000" y="5220000"/>
            <a:ext cx="6263999" cy="216000"/>
          </a:xfrm>
          <a:prstGeom prst="rect">
            <a:avLst/>
          </a:prstGeom>
          <a:noFill/>
        </p:spPr>
        <p:txBody>
          <a:bodyPr wrap="square">
            <a:spAutoFit/>
          </a:bodyPr>
          <a:lstStyle/>
          <a:p>
            <a:pPr algn="ctr">
              <a:defRPr sz="900" b="1">
                <a:solidFill>
                  <a:srgbClr val="1E3A5F"/>
                </a:solidFill>
                <a:latin typeface="Montserrat"/>
              </a:defRPr>
            </a:pPr>
            <a:r>
              <a:t>8 CORPS D'ETAT DU MARCHE</a:t>
            </a:r>
          </a:p>
        </p:txBody>
      </p:sp>
      <p:sp>
        <p:nvSpPr>
          <p:cNvPr id="29" name="Rounded Rectangle 28"/>
          <p:cNvSpPr/>
          <p:nvPr/>
        </p:nvSpPr>
        <p:spPr>
          <a:xfrm>
            <a:off x="540000" y="5580000"/>
            <a:ext cx="756000" cy="1152000"/>
          </a:xfrm>
          <a:prstGeom prst="roundRect">
            <a:avLst>
              <a:gd name="adj" fmla="val 12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0000" y="5652000"/>
            <a:ext cx="756000" cy="216000"/>
          </a:xfrm>
          <a:prstGeom prst="rect">
            <a:avLst/>
          </a:prstGeom>
          <a:noFill/>
        </p:spPr>
        <p:txBody>
          <a:bodyPr wrap="square">
            <a:spAutoFit/>
          </a:bodyPr>
          <a:lstStyle/>
          <a:p>
            <a:pPr algn="ctr">
              <a:defRPr sz="1200" b="1">
                <a:solidFill>
                  <a:srgbClr val="FFFFFF"/>
                </a:solidFill>
                <a:latin typeface="Montserrat"/>
              </a:defRPr>
            </a:pPr>
            <a:r>
              <a:t>01</a:t>
            </a:r>
          </a:p>
        </p:txBody>
      </p:sp>
      <p:sp>
        <p:nvSpPr>
          <p:cNvPr id="31" name="TextBox 30"/>
          <p:cNvSpPr txBox="1"/>
          <p:nvPr/>
        </p:nvSpPr>
        <p:spPr>
          <a:xfrm>
            <a:off x="540000" y="5940000"/>
            <a:ext cx="756000" cy="216000"/>
          </a:xfrm>
          <a:prstGeom prst="rect">
            <a:avLst/>
          </a:prstGeom>
          <a:noFill/>
        </p:spPr>
        <p:txBody>
          <a:bodyPr wrap="square">
            <a:spAutoFit/>
          </a:bodyPr>
          <a:lstStyle/>
          <a:p>
            <a:pPr algn="ctr">
              <a:defRPr sz="600" b="1">
                <a:solidFill>
                  <a:srgbClr val="FFFFFF"/>
                </a:solidFill>
                <a:latin typeface="Montserrat"/>
              </a:defRPr>
            </a:pPr>
            <a:r>
              <a:t>Assainissement</a:t>
            </a:r>
          </a:p>
        </p:txBody>
      </p:sp>
      <p:sp>
        <p:nvSpPr>
          <p:cNvPr id="32" name="TextBox 31"/>
          <p:cNvSpPr txBox="1"/>
          <p:nvPr/>
        </p:nvSpPr>
        <p:spPr>
          <a:xfrm>
            <a:off x="540000" y="6228000"/>
            <a:ext cx="756000" cy="288000"/>
          </a:xfrm>
          <a:prstGeom prst="rect">
            <a:avLst/>
          </a:prstGeom>
          <a:noFill/>
        </p:spPr>
        <p:txBody>
          <a:bodyPr wrap="square">
            <a:spAutoFit/>
          </a:bodyPr>
          <a:lstStyle/>
          <a:p>
            <a:pPr algn="ctr">
              <a:defRPr sz="500" b="0">
                <a:solidFill>
                  <a:srgbClr val="FFFFFF"/>
                </a:solidFill>
                <a:latin typeface="Inter"/>
              </a:defRPr>
            </a:pPr>
            <a:r>
              <a:t>Tranchées, buses, regards</a:t>
            </a:r>
          </a:p>
        </p:txBody>
      </p:sp>
      <p:sp>
        <p:nvSpPr>
          <p:cNvPr id="33" name="Rounded Rectangle 32"/>
          <p:cNvSpPr/>
          <p:nvPr/>
        </p:nvSpPr>
        <p:spPr>
          <a:xfrm>
            <a:off x="1386000" y="5580000"/>
            <a:ext cx="756000" cy="1152000"/>
          </a:xfrm>
          <a:prstGeom prst="roundRect">
            <a:avLst>
              <a:gd name="adj" fmla="val 12000"/>
            </a:avLst>
          </a:prstGeom>
          <a:solidFill>
            <a:srgbClr val="E0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86000" y="5652000"/>
            <a:ext cx="756000" cy="216000"/>
          </a:xfrm>
          <a:prstGeom prst="rect">
            <a:avLst/>
          </a:prstGeom>
          <a:noFill/>
        </p:spPr>
        <p:txBody>
          <a:bodyPr wrap="square">
            <a:spAutoFit/>
          </a:bodyPr>
          <a:lstStyle/>
          <a:p>
            <a:pPr algn="ctr">
              <a:defRPr sz="1200" b="1">
                <a:solidFill>
                  <a:srgbClr val="FFFFFF"/>
                </a:solidFill>
                <a:latin typeface="Montserrat"/>
              </a:defRPr>
            </a:pPr>
            <a:r>
              <a:t>02</a:t>
            </a:r>
          </a:p>
        </p:txBody>
      </p:sp>
      <p:sp>
        <p:nvSpPr>
          <p:cNvPr id="35" name="TextBox 34"/>
          <p:cNvSpPr txBox="1"/>
          <p:nvPr/>
        </p:nvSpPr>
        <p:spPr>
          <a:xfrm>
            <a:off x="1386000" y="5940000"/>
            <a:ext cx="756000" cy="216000"/>
          </a:xfrm>
          <a:prstGeom prst="rect">
            <a:avLst/>
          </a:prstGeom>
          <a:noFill/>
        </p:spPr>
        <p:txBody>
          <a:bodyPr wrap="square">
            <a:spAutoFit/>
          </a:bodyPr>
          <a:lstStyle/>
          <a:p>
            <a:pPr algn="ctr">
              <a:defRPr sz="600" b="1">
                <a:solidFill>
                  <a:srgbClr val="FFFFFF"/>
                </a:solidFill>
                <a:latin typeface="Montserrat"/>
              </a:defRPr>
            </a:pPr>
            <a:r>
              <a:t>Chaussée</a:t>
            </a:r>
          </a:p>
        </p:txBody>
      </p:sp>
      <p:sp>
        <p:nvSpPr>
          <p:cNvPr id="36" name="TextBox 35"/>
          <p:cNvSpPr txBox="1"/>
          <p:nvPr/>
        </p:nvSpPr>
        <p:spPr>
          <a:xfrm>
            <a:off x="1386000" y="6228000"/>
            <a:ext cx="756000" cy="288000"/>
          </a:xfrm>
          <a:prstGeom prst="rect">
            <a:avLst/>
          </a:prstGeom>
          <a:noFill/>
        </p:spPr>
        <p:txBody>
          <a:bodyPr wrap="square">
            <a:spAutoFit/>
          </a:bodyPr>
          <a:lstStyle/>
          <a:p>
            <a:pPr algn="ctr">
              <a:defRPr sz="500" b="0">
                <a:solidFill>
                  <a:srgbClr val="FFFFFF"/>
                </a:solidFill>
                <a:latin typeface="Inter"/>
              </a:defRPr>
            </a:pPr>
            <a:r>
              <a:t>Terrassement, GNF, enrobés</a:t>
            </a:r>
          </a:p>
        </p:txBody>
      </p:sp>
      <p:sp>
        <p:nvSpPr>
          <p:cNvPr id="37" name="Rounded Rectangle 36"/>
          <p:cNvSpPr/>
          <p:nvPr/>
        </p:nvSpPr>
        <p:spPr>
          <a:xfrm>
            <a:off x="2232000" y="5580000"/>
            <a:ext cx="756000" cy="1152000"/>
          </a:xfrm>
          <a:prstGeom prst="roundRect">
            <a:avLst>
              <a:gd name="adj" fmla="val 12000"/>
            </a:avLst>
          </a:prstGeom>
          <a:solidFill>
            <a:srgbClr val="C0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232000" y="5652000"/>
            <a:ext cx="756000" cy="216000"/>
          </a:xfrm>
          <a:prstGeom prst="rect">
            <a:avLst/>
          </a:prstGeom>
          <a:noFill/>
        </p:spPr>
        <p:txBody>
          <a:bodyPr wrap="square">
            <a:spAutoFit/>
          </a:bodyPr>
          <a:lstStyle/>
          <a:p>
            <a:pPr algn="ctr">
              <a:defRPr sz="1200" b="1">
                <a:solidFill>
                  <a:srgbClr val="FFFFFF"/>
                </a:solidFill>
                <a:latin typeface="Montserrat"/>
              </a:defRPr>
            </a:pPr>
            <a:r>
              <a:t>03</a:t>
            </a:r>
          </a:p>
        </p:txBody>
      </p:sp>
      <p:sp>
        <p:nvSpPr>
          <p:cNvPr id="39" name="TextBox 38"/>
          <p:cNvSpPr txBox="1"/>
          <p:nvPr/>
        </p:nvSpPr>
        <p:spPr>
          <a:xfrm>
            <a:off x="2232000" y="5940000"/>
            <a:ext cx="756000" cy="216000"/>
          </a:xfrm>
          <a:prstGeom prst="rect">
            <a:avLst/>
          </a:prstGeom>
          <a:noFill/>
        </p:spPr>
        <p:txBody>
          <a:bodyPr wrap="square">
            <a:spAutoFit/>
          </a:bodyPr>
          <a:lstStyle/>
          <a:p>
            <a:pPr algn="ctr">
              <a:defRPr sz="600" b="1">
                <a:solidFill>
                  <a:srgbClr val="FFFFFF"/>
                </a:solidFill>
                <a:latin typeface="Montserrat"/>
              </a:defRPr>
            </a:pPr>
            <a:r>
              <a:t>Trottoirs</a:t>
            </a:r>
          </a:p>
        </p:txBody>
      </p:sp>
      <p:sp>
        <p:nvSpPr>
          <p:cNvPr id="40" name="TextBox 39"/>
          <p:cNvSpPr txBox="1"/>
          <p:nvPr/>
        </p:nvSpPr>
        <p:spPr>
          <a:xfrm>
            <a:off x="2232000" y="6228000"/>
            <a:ext cx="756000" cy="288000"/>
          </a:xfrm>
          <a:prstGeom prst="rect">
            <a:avLst/>
          </a:prstGeom>
          <a:noFill/>
        </p:spPr>
        <p:txBody>
          <a:bodyPr wrap="square">
            <a:spAutoFit/>
          </a:bodyPr>
          <a:lstStyle/>
          <a:p>
            <a:pPr algn="ctr">
              <a:defRPr sz="500" b="0">
                <a:solidFill>
                  <a:srgbClr val="FFFFFF"/>
                </a:solidFill>
                <a:latin typeface="Inter"/>
              </a:defRPr>
            </a:pPr>
            <a:r>
              <a:t>Bordures, carreaux, pavés</a:t>
            </a:r>
          </a:p>
        </p:txBody>
      </p:sp>
      <p:sp>
        <p:nvSpPr>
          <p:cNvPr id="41" name="Rounded Rectangle 40"/>
          <p:cNvSpPr/>
          <p:nvPr/>
        </p:nvSpPr>
        <p:spPr>
          <a:xfrm>
            <a:off x="3078000" y="5580000"/>
            <a:ext cx="756000" cy="1152000"/>
          </a:xfrm>
          <a:prstGeom prst="roundRect">
            <a:avLst>
              <a:gd name="adj" fmla="val 12000"/>
            </a:avLst>
          </a:prstGeom>
          <a:solidFill>
            <a:srgbClr val="A05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78000" y="5652000"/>
            <a:ext cx="756000" cy="216000"/>
          </a:xfrm>
          <a:prstGeom prst="rect">
            <a:avLst/>
          </a:prstGeom>
          <a:noFill/>
        </p:spPr>
        <p:txBody>
          <a:bodyPr wrap="square">
            <a:spAutoFit/>
          </a:bodyPr>
          <a:lstStyle/>
          <a:p>
            <a:pPr algn="ctr">
              <a:defRPr sz="1200" b="1">
                <a:solidFill>
                  <a:srgbClr val="FFFFFF"/>
                </a:solidFill>
                <a:latin typeface="Montserrat"/>
              </a:defRPr>
            </a:pPr>
            <a:r>
              <a:t>04</a:t>
            </a:r>
          </a:p>
        </p:txBody>
      </p:sp>
      <p:sp>
        <p:nvSpPr>
          <p:cNvPr id="43" name="TextBox 42"/>
          <p:cNvSpPr txBox="1"/>
          <p:nvPr/>
        </p:nvSpPr>
        <p:spPr>
          <a:xfrm>
            <a:off x="3078000" y="5940000"/>
            <a:ext cx="756000" cy="216000"/>
          </a:xfrm>
          <a:prstGeom prst="rect">
            <a:avLst/>
          </a:prstGeom>
          <a:noFill/>
        </p:spPr>
        <p:txBody>
          <a:bodyPr wrap="square">
            <a:spAutoFit/>
          </a:bodyPr>
          <a:lstStyle/>
          <a:p>
            <a:pPr algn="ctr">
              <a:defRPr sz="600" b="1">
                <a:solidFill>
                  <a:srgbClr val="FFFFFF"/>
                </a:solidFill>
                <a:latin typeface="Montserrat"/>
              </a:defRPr>
            </a:pPr>
            <a:r>
              <a:t>Signalisation</a:t>
            </a:r>
          </a:p>
        </p:txBody>
      </p:sp>
      <p:sp>
        <p:nvSpPr>
          <p:cNvPr id="44" name="TextBox 43"/>
          <p:cNvSpPr txBox="1"/>
          <p:nvPr/>
        </p:nvSpPr>
        <p:spPr>
          <a:xfrm>
            <a:off x="3078000" y="6228000"/>
            <a:ext cx="756000" cy="288000"/>
          </a:xfrm>
          <a:prstGeom prst="rect">
            <a:avLst/>
          </a:prstGeom>
          <a:noFill/>
        </p:spPr>
        <p:txBody>
          <a:bodyPr wrap="square">
            <a:spAutoFit/>
          </a:bodyPr>
          <a:lstStyle/>
          <a:p>
            <a:pPr algn="ctr">
              <a:defRPr sz="500" b="0">
                <a:solidFill>
                  <a:srgbClr val="FFFFFF"/>
                </a:solidFill>
                <a:latin typeface="Inter"/>
              </a:defRPr>
            </a:pPr>
            <a:r>
              <a:t>Marquage, panneaux</a:t>
            </a:r>
          </a:p>
        </p:txBody>
      </p:sp>
      <p:sp>
        <p:nvSpPr>
          <p:cNvPr id="45" name="Rounded Rectangle 44"/>
          <p:cNvSpPr/>
          <p:nvPr/>
        </p:nvSpPr>
        <p:spPr>
          <a:xfrm>
            <a:off x="3924000" y="5580000"/>
            <a:ext cx="756000" cy="1152000"/>
          </a:xfrm>
          <a:prstGeom prst="roundRect">
            <a:avLst>
              <a:gd name="adj" fmla="val 12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24000" y="5652000"/>
            <a:ext cx="756000" cy="216000"/>
          </a:xfrm>
          <a:prstGeom prst="rect">
            <a:avLst/>
          </a:prstGeom>
          <a:noFill/>
        </p:spPr>
        <p:txBody>
          <a:bodyPr wrap="square">
            <a:spAutoFit/>
          </a:bodyPr>
          <a:lstStyle/>
          <a:p>
            <a:pPr algn="ctr">
              <a:defRPr sz="1200" b="1">
                <a:solidFill>
                  <a:srgbClr val="FFFFFF"/>
                </a:solidFill>
                <a:latin typeface="Montserrat"/>
              </a:defRPr>
            </a:pPr>
            <a:r>
              <a:t>05</a:t>
            </a:r>
          </a:p>
        </p:txBody>
      </p:sp>
      <p:sp>
        <p:nvSpPr>
          <p:cNvPr id="47" name="TextBox 46"/>
          <p:cNvSpPr txBox="1"/>
          <p:nvPr/>
        </p:nvSpPr>
        <p:spPr>
          <a:xfrm>
            <a:off x="3924000" y="5940000"/>
            <a:ext cx="756000" cy="216000"/>
          </a:xfrm>
          <a:prstGeom prst="rect">
            <a:avLst/>
          </a:prstGeom>
          <a:noFill/>
        </p:spPr>
        <p:txBody>
          <a:bodyPr wrap="square">
            <a:spAutoFit/>
          </a:bodyPr>
          <a:lstStyle/>
          <a:p>
            <a:pPr algn="ctr">
              <a:defRPr sz="600" b="1">
                <a:solidFill>
                  <a:srgbClr val="FFFFFF"/>
                </a:solidFill>
                <a:latin typeface="Montserrat"/>
              </a:defRPr>
            </a:pPr>
            <a:r>
              <a:t>Éclairage</a:t>
            </a:r>
          </a:p>
        </p:txBody>
      </p:sp>
      <p:sp>
        <p:nvSpPr>
          <p:cNvPr id="48" name="TextBox 47"/>
          <p:cNvSpPr txBox="1"/>
          <p:nvPr/>
        </p:nvSpPr>
        <p:spPr>
          <a:xfrm>
            <a:off x="3924000" y="6228000"/>
            <a:ext cx="756000" cy="288000"/>
          </a:xfrm>
          <a:prstGeom prst="rect">
            <a:avLst/>
          </a:prstGeom>
          <a:noFill/>
        </p:spPr>
        <p:txBody>
          <a:bodyPr wrap="square">
            <a:spAutoFit/>
          </a:bodyPr>
          <a:lstStyle/>
          <a:p>
            <a:pPr algn="ctr">
              <a:defRPr sz="500" b="0">
                <a:solidFill>
                  <a:srgbClr val="FFFFFF"/>
                </a:solidFill>
                <a:latin typeface="Inter"/>
              </a:defRPr>
            </a:pPr>
            <a:r>
              <a:t>Tubes, massifs, câbles</a:t>
            </a:r>
          </a:p>
        </p:txBody>
      </p:sp>
      <p:sp>
        <p:nvSpPr>
          <p:cNvPr id="49" name="Rounded Rectangle 48"/>
          <p:cNvSpPr/>
          <p:nvPr/>
        </p:nvSpPr>
        <p:spPr>
          <a:xfrm>
            <a:off x="4770000" y="5580000"/>
            <a:ext cx="756000" cy="1152000"/>
          </a:xfrm>
          <a:prstGeom prst="roundRect">
            <a:avLst>
              <a:gd name="adj" fmla="val 12000"/>
            </a:avLst>
          </a:prstGeom>
          <a:solidFill>
            <a:srgbClr val="4AB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70000" y="5652000"/>
            <a:ext cx="756000" cy="216000"/>
          </a:xfrm>
          <a:prstGeom prst="rect">
            <a:avLst/>
          </a:prstGeom>
          <a:noFill/>
        </p:spPr>
        <p:txBody>
          <a:bodyPr wrap="square">
            <a:spAutoFit/>
          </a:bodyPr>
          <a:lstStyle/>
          <a:p>
            <a:pPr algn="ctr">
              <a:defRPr sz="1200" b="1">
                <a:solidFill>
                  <a:srgbClr val="FFFFFF"/>
                </a:solidFill>
                <a:latin typeface="Montserrat"/>
              </a:defRPr>
            </a:pPr>
            <a:r>
              <a:t>06</a:t>
            </a:r>
          </a:p>
        </p:txBody>
      </p:sp>
      <p:sp>
        <p:nvSpPr>
          <p:cNvPr id="51" name="TextBox 50"/>
          <p:cNvSpPr txBox="1"/>
          <p:nvPr/>
        </p:nvSpPr>
        <p:spPr>
          <a:xfrm>
            <a:off x="4770000" y="5940000"/>
            <a:ext cx="756000" cy="216000"/>
          </a:xfrm>
          <a:prstGeom prst="rect">
            <a:avLst/>
          </a:prstGeom>
          <a:noFill/>
        </p:spPr>
        <p:txBody>
          <a:bodyPr wrap="square">
            <a:spAutoFit/>
          </a:bodyPr>
          <a:lstStyle/>
          <a:p>
            <a:pPr algn="ctr">
              <a:defRPr sz="600" b="1">
                <a:solidFill>
                  <a:srgbClr val="FFFFFF"/>
                </a:solidFill>
                <a:latin typeface="Montserrat"/>
              </a:defRPr>
            </a:pPr>
            <a:r>
              <a:t>Murs</a:t>
            </a:r>
          </a:p>
        </p:txBody>
      </p:sp>
      <p:sp>
        <p:nvSpPr>
          <p:cNvPr id="52" name="TextBox 51"/>
          <p:cNvSpPr txBox="1"/>
          <p:nvPr/>
        </p:nvSpPr>
        <p:spPr>
          <a:xfrm>
            <a:off x="4770000" y="6228000"/>
            <a:ext cx="756000" cy="288000"/>
          </a:xfrm>
          <a:prstGeom prst="rect">
            <a:avLst/>
          </a:prstGeom>
          <a:noFill/>
        </p:spPr>
        <p:txBody>
          <a:bodyPr wrap="square">
            <a:spAutoFit/>
          </a:bodyPr>
          <a:lstStyle/>
          <a:p>
            <a:pPr algn="ctr">
              <a:defRPr sz="500" b="0">
                <a:solidFill>
                  <a:srgbClr val="FFFFFF"/>
                </a:solidFill>
                <a:latin typeface="Inter"/>
              </a:defRPr>
            </a:pPr>
            <a:r>
              <a:t>BA, maçonnerie, gabions</a:t>
            </a:r>
          </a:p>
        </p:txBody>
      </p:sp>
      <p:sp>
        <p:nvSpPr>
          <p:cNvPr id="53" name="Rounded Rectangle 52"/>
          <p:cNvSpPr/>
          <p:nvPr/>
        </p:nvSpPr>
        <p:spPr>
          <a:xfrm>
            <a:off x="5616000" y="5580000"/>
            <a:ext cx="756000" cy="1152000"/>
          </a:xfrm>
          <a:prstGeom prst="roundRect">
            <a:avLst>
              <a:gd name="adj" fmla="val 12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16000" y="5652000"/>
            <a:ext cx="756000" cy="216000"/>
          </a:xfrm>
          <a:prstGeom prst="rect">
            <a:avLst/>
          </a:prstGeom>
          <a:noFill/>
        </p:spPr>
        <p:txBody>
          <a:bodyPr wrap="square">
            <a:spAutoFit/>
          </a:bodyPr>
          <a:lstStyle/>
          <a:p>
            <a:pPr algn="ctr">
              <a:defRPr sz="1200" b="1">
                <a:solidFill>
                  <a:srgbClr val="FFFFFF"/>
                </a:solidFill>
                <a:latin typeface="Montserrat"/>
              </a:defRPr>
            </a:pPr>
            <a:r>
              <a:t>07</a:t>
            </a:r>
          </a:p>
        </p:txBody>
      </p:sp>
      <p:sp>
        <p:nvSpPr>
          <p:cNvPr id="55" name="TextBox 54"/>
          <p:cNvSpPr txBox="1"/>
          <p:nvPr/>
        </p:nvSpPr>
        <p:spPr>
          <a:xfrm>
            <a:off x="5616000" y="5940000"/>
            <a:ext cx="756000" cy="216000"/>
          </a:xfrm>
          <a:prstGeom prst="rect">
            <a:avLst/>
          </a:prstGeom>
          <a:noFill/>
        </p:spPr>
        <p:txBody>
          <a:bodyPr wrap="square">
            <a:spAutoFit/>
          </a:bodyPr>
          <a:lstStyle/>
          <a:p>
            <a:pPr algn="ctr">
              <a:defRPr sz="600" b="1">
                <a:solidFill>
                  <a:srgbClr val="FFFFFF"/>
                </a:solidFill>
                <a:latin typeface="Montserrat"/>
              </a:defRPr>
            </a:pPr>
            <a:r>
              <a:t>Paysager</a:t>
            </a:r>
          </a:p>
        </p:txBody>
      </p:sp>
      <p:sp>
        <p:nvSpPr>
          <p:cNvPr id="56" name="TextBox 55"/>
          <p:cNvSpPr txBox="1"/>
          <p:nvPr/>
        </p:nvSpPr>
        <p:spPr>
          <a:xfrm>
            <a:off x="5616000" y="6228000"/>
            <a:ext cx="756000" cy="288000"/>
          </a:xfrm>
          <a:prstGeom prst="rect">
            <a:avLst/>
          </a:prstGeom>
          <a:noFill/>
        </p:spPr>
        <p:txBody>
          <a:bodyPr wrap="square">
            <a:spAutoFit/>
          </a:bodyPr>
          <a:lstStyle/>
          <a:p>
            <a:pPr algn="ctr">
              <a:defRPr sz="500" b="0">
                <a:solidFill>
                  <a:srgbClr val="FFFFFF"/>
                </a:solidFill>
                <a:latin typeface="Inter"/>
              </a:defRPr>
            </a:pPr>
            <a:r>
              <a:t>Végétale, arrosage</a:t>
            </a:r>
          </a:p>
        </p:txBody>
      </p:sp>
      <p:sp>
        <p:nvSpPr>
          <p:cNvPr id="57" name="Rounded Rectangle 56"/>
          <p:cNvSpPr/>
          <p:nvPr/>
        </p:nvSpPr>
        <p:spPr>
          <a:xfrm>
            <a:off x="6462000" y="5580000"/>
            <a:ext cx="756000" cy="1152000"/>
          </a:xfrm>
          <a:prstGeom prst="roundRect">
            <a:avLst>
              <a:gd name="adj" fmla="val 12000"/>
            </a:avLst>
          </a:prstGeom>
          <a:solidFill>
            <a:srgbClr val="2D5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62000" y="5652000"/>
            <a:ext cx="756000" cy="216000"/>
          </a:xfrm>
          <a:prstGeom prst="rect">
            <a:avLst/>
          </a:prstGeom>
          <a:noFill/>
        </p:spPr>
        <p:txBody>
          <a:bodyPr wrap="square">
            <a:spAutoFit/>
          </a:bodyPr>
          <a:lstStyle/>
          <a:p>
            <a:pPr algn="ctr">
              <a:defRPr sz="1200" b="1">
                <a:solidFill>
                  <a:srgbClr val="FFFFFF"/>
                </a:solidFill>
                <a:latin typeface="Montserrat"/>
              </a:defRPr>
            </a:pPr>
            <a:r>
              <a:t>08</a:t>
            </a:r>
          </a:p>
        </p:txBody>
      </p:sp>
      <p:sp>
        <p:nvSpPr>
          <p:cNvPr id="59" name="TextBox 58"/>
          <p:cNvSpPr txBox="1"/>
          <p:nvPr/>
        </p:nvSpPr>
        <p:spPr>
          <a:xfrm>
            <a:off x="6462000" y="5940000"/>
            <a:ext cx="756000" cy="216000"/>
          </a:xfrm>
          <a:prstGeom prst="rect">
            <a:avLst/>
          </a:prstGeom>
          <a:noFill/>
        </p:spPr>
        <p:txBody>
          <a:bodyPr wrap="square">
            <a:spAutoFit/>
          </a:bodyPr>
          <a:lstStyle/>
          <a:p>
            <a:pPr algn="ctr">
              <a:defRPr sz="600" b="1">
                <a:solidFill>
                  <a:srgbClr val="FFFFFF"/>
                </a:solidFill>
                <a:latin typeface="Montserrat"/>
              </a:defRPr>
            </a:pPr>
            <a:r>
              <a:t>Mobilier</a:t>
            </a:r>
          </a:p>
        </p:txBody>
      </p:sp>
      <p:sp>
        <p:nvSpPr>
          <p:cNvPr id="60" name="TextBox 59"/>
          <p:cNvSpPr txBox="1"/>
          <p:nvPr/>
        </p:nvSpPr>
        <p:spPr>
          <a:xfrm>
            <a:off x="6462000" y="6228000"/>
            <a:ext cx="756000" cy="288000"/>
          </a:xfrm>
          <a:prstGeom prst="rect">
            <a:avLst/>
          </a:prstGeom>
          <a:noFill/>
        </p:spPr>
        <p:txBody>
          <a:bodyPr wrap="square">
            <a:spAutoFit/>
          </a:bodyPr>
          <a:lstStyle/>
          <a:p>
            <a:pPr algn="ctr">
              <a:defRPr sz="500" b="0">
                <a:solidFill>
                  <a:srgbClr val="FFFFFF"/>
                </a:solidFill>
                <a:latin typeface="Inter"/>
              </a:defRPr>
            </a:pPr>
            <a:r>
              <a:t>Corbeilles, bancs</a:t>
            </a:r>
          </a:p>
        </p:txBody>
      </p:sp>
      <p:sp>
        <p:nvSpPr>
          <p:cNvPr id="61" name="TextBox 60"/>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980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180000"/>
            <a:ext cx="720000" cy="1080000"/>
          </a:xfrm>
          <a:prstGeom prst="rect">
            <a:avLst/>
          </a:prstGeom>
          <a:noFill/>
        </p:spPr>
        <p:txBody>
          <a:bodyPr wrap="square">
            <a:spAutoFit/>
          </a:bodyPr>
          <a:lstStyle/>
          <a:p>
            <a:pPr algn="l">
              <a:defRPr sz="4800" b="1">
                <a:solidFill>
                  <a:srgbClr val="2A4A70"/>
                </a:solidFill>
                <a:latin typeface="Montserrat"/>
              </a:defRPr>
            </a:pPr>
            <a:r>
              <a:t>1</a:t>
            </a:r>
          </a:p>
        </p:txBody>
      </p:sp>
      <p:sp>
        <p:nvSpPr>
          <p:cNvPr id="4" name="TextBox 3"/>
          <p:cNvSpPr txBox="1"/>
          <p:nvPr/>
        </p:nvSpPr>
        <p:spPr>
          <a:xfrm>
            <a:off x="1260000" y="288000"/>
            <a:ext cx="3240000" cy="180000"/>
          </a:xfrm>
          <a:prstGeom prst="rect">
            <a:avLst/>
          </a:prstGeom>
          <a:noFill/>
        </p:spPr>
        <p:txBody>
          <a:bodyPr wrap="square">
            <a:spAutoFit/>
          </a:bodyPr>
          <a:lstStyle/>
          <a:p>
            <a:pPr algn="l">
              <a:defRPr sz="700" b="1">
                <a:solidFill>
                  <a:srgbClr val="5CC8C0"/>
                </a:solidFill>
                <a:latin typeface="Montserrat"/>
              </a:defRPr>
            </a:pPr>
            <a:r>
              <a:t>SITUATION 1</a:t>
            </a:r>
          </a:p>
        </p:txBody>
      </p:sp>
      <p:sp>
        <p:nvSpPr>
          <p:cNvPr id="5" name="TextBox 4"/>
          <p:cNvSpPr txBox="1"/>
          <p:nvPr/>
        </p:nvSpPr>
        <p:spPr>
          <a:xfrm>
            <a:off x="1260000" y="540000"/>
            <a:ext cx="3240000" cy="720000"/>
          </a:xfrm>
          <a:prstGeom prst="rect">
            <a:avLst/>
          </a:prstGeom>
          <a:noFill/>
        </p:spPr>
        <p:txBody>
          <a:bodyPr wrap="square">
            <a:spAutoFit/>
          </a:bodyPr>
          <a:lstStyle/>
          <a:p>
            <a:pPr algn="l">
              <a:defRPr sz="1600" b="1">
                <a:solidFill>
                  <a:srgbClr val="FFFFFF"/>
                </a:solidFill>
                <a:latin typeface="Montserrat"/>
              </a:defRPr>
            </a:pPr>
            <a:r>
              <a:t>Estimation de l'administration – Ouaoumana</a:t>
            </a:r>
          </a:p>
        </p:txBody>
      </p:sp>
      <p:sp>
        <p:nvSpPr>
          <p:cNvPr id="6" name="Rounded Rectangle 5"/>
          <p:cNvSpPr/>
          <p:nvPr/>
        </p:nvSpPr>
        <p:spPr>
          <a:xfrm>
            <a:off x="5040000" y="360000"/>
            <a:ext cx="1980000" cy="1080000"/>
          </a:xfrm>
          <a:prstGeom prst="roundRect">
            <a:avLst>
              <a:gd name="adj" fmla="val 12000"/>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0" y="540000"/>
            <a:ext cx="1980000" cy="432000"/>
          </a:xfrm>
          <a:prstGeom prst="rect">
            <a:avLst/>
          </a:prstGeom>
          <a:noFill/>
        </p:spPr>
        <p:txBody>
          <a:bodyPr wrap="square">
            <a:spAutoFit/>
          </a:bodyPr>
          <a:lstStyle/>
          <a:p>
            <a:pPr algn="ctr">
              <a:defRPr sz="1800" b="1">
                <a:solidFill>
                  <a:srgbClr val="F39200"/>
                </a:solidFill>
                <a:latin typeface="Montserrat"/>
              </a:defRPr>
            </a:pPr>
            <a:r>
              <a:t>15,8 M DH HT</a:t>
            </a:r>
          </a:p>
        </p:txBody>
      </p:sp>
      <p:sp>
        <p:nvSpPr>
          <p:cNvPr id="8" name="TextBox 7"/>
          <p:cNvSpPr txBox="1"/>
          <p:nvPr/>
        </p:nvSpPr>
        <p:spPr>
          <a:xfrm>
            <a:off x="5040000" y="1007999"/>
            <a:ext cx="1980000" cy="216000"/>
          </a:xfrm>
          <a:prstGeom prst="rect">
            <a:avLst/>
          </a:prstGeom>
          <a:noFill/>
        </p:spPr>
        <p:txBody>
          <a:bodyPr wrap="square">
            <a:spAutoFit/>
          </a:bodyPr>
          <a:lstStyle/>
          <a:p>
            <a:pPr algn="ctr">
              <a:defRPr sz="700" b="0">
                <a:solidFill>
                  <a:srgbClr val="AAAABB"/>
                </a:solidFill>
                <a:latin typeface="Inter"/>
              </a:defRPr>
            </a:pPr>
            <a:r>
              <a:t>Estimation finale</a:t>
            </a:r>
          </a:p>
        </p:txBody>
      </p:sp>
      <p:sp>
        <p:nvSpPr>
          <p:cNvPr id="9" name="Rounded Rectangle 8"/>
          <p:cNvSpPr/>
          <p:nvPr/>
        </p:nvSpPr>
        <p:spPr>
          <a:xfrm>
            <a:off x="648000" y="2340000"/>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8000" y="2340000"/>
            <a:ext cx="54000" cy="15120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00000" y="2484000"/>
            <a:ext cx="432000" cy="4320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000" y="2520000"/>
            <a:ext cx="432000" cy="360000"/>
          </a:xfrm>
          <a:prstGeom prst="rect">
            <a:avLst/>
          </a:prstGeom>
          <a:noFill/>
        </p:spPr>
        <p:txBody>
          <a:bodyPr wrap="square">
            <a:spAutoFit/>
          </a:bodyPr>
          <a:lstStyle/>
          <a:p>
            <a:pPr algn="ctr">
              <a:defRPr sz="1400" b="1">
                <a:solidFill>
                  <a:srgbClr val="FFFFFF"/>
                </a:solidFill>
                <a:latin typeface="Montserrat"/>
              </a:defRPr>
            </a:pPr>
            <a:r>
              <a:t>C</a:t>
            </a:r>
          </a:p>
        </p:txBody>
      </p:sp>
      <p:sp>
        <p:nvSpPr>
          <p:cNvPr id="13" name="TextBox 12"/>
          <p:cNvSpPr txBox="1"/>
          <p:nvPr/>
        </p:nvSpPr>
        <p:spPr>
          <a:xfrm>
            <a:off x="1512000" y="2484000"/>
            <a:ext cx="1800000" cy="180000"/>
          </a:xfrm>
          <a:prstGeom prst="rect">
            <a:avLst/>
          </a:prstGeom>
          <a:noFill/>
        </p:spPr>
        <p:txBody>
          <a:bodyPr wrap="square">
            <a:spAutoFit/>
          </a:bodyPr>
          <a:lstStyle/>
          <a:p>
            <a:pPr algn="l">
              <a:defRPr sz="800" b="1">
                <a:solidFill>
                  <a:srgbClr val="999999"/>
                </a:solidFill>
                <a:latin typeface="Montserrat"/>
              </a:defRPr>
            </a:pPr>
            <a:r>
              <a:t>CONTEXTE</a:t>
            </a:r>
          </a:p>
        </p:txBody>
      </p:sp>
      <p:sp>
        <p:nvSpPr>
          <p:cNvPr id="14" name="TextBox 13"/>
          <p:cNvSpPr txBox="1"/>
          <p:nvPr/>
        </p:nvSpPr>
        <p:spPr>
          <a:xfrm>
            <a:off x="1512000" y="2736000"/>
            <a:ext cx="5040000" cy="1007999"/>
          </a:xfrm>
          <a:prstGeom prst="rect">
            <a:avLst/>
          </a:prstGeom>
          <a:noFill/>
        </p:spPr>
        <p:txBody>
          <a:bodyPr wrap="square">
            <a:spAutoFit/>
          </a:bodyPr>
          <a:lstStyle/>
          <a:p>
            <a:pPr algn="just">
              <a:defRPr sz="900" b="0">
                <a:solidFill>
                  <a:srgbClr val="555555"/>
                </a:solidFill>
                <a:latin typeface="Inter"/>
              </a:defRPr>
            </a:pPr>
            <a:r>
              <a:t>J'ai été chargé de réaliser l'estimation confidentielle de l'administration pour Ouaoumana, la commune la plus importante du programme avec 35,5% du budget total. Cette estimation, imposée par le Décret n°2-12-349, devait rester strictement confidentielle avant l'ouverture de l'appel d'offres.</a:t>
            </a:r>
          </a:p>
        </p:txBody>
      </p:sp>
      <p:sp>
        <p:nvSpPr>
          <p:cNvPr id="15" name="Rounded Rectangle 14"/>
          <p:cNvSpPr/>
          <p:nvPr/>
        </p:nvSpPr>
        <p:spPr>
          <a:xfrm>
            <a:off x="648000" y="3995999"/>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8000" y="3995999"/>
            <a:ext cx="54000" cy="151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0000" y="4139999"/>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000" y="4175999"/>
            <a:ext cx="432000" cy="360000"/>
          </a:xfrm>
          <a:prstGeom prst="rect">
            <a:avLst/>
          </a:prstGeom>
          <a:noFill/>
        </p:spPr>
        <p:txBody>
          <a:bodyPr wrap="square">
            <a:spAutoFit/>
          </a:bodyPr>
          <a:lstStyle/>
          <a:p>
            <a:pPr algn="ctr">
              <a:defRPr sz="1400" b="1">
                <a:solidFill>
                  <a:srgbClr val="FFFFFF"/>
                </a:solidFill>
                <a:latin typeface="Montserrat"/>
              </a:defRPr>
            </a:pPr>
            <a:r>
              <a:t>P</a:t>
            </a:r>
          </a:p>
        </p:txBody>
      </p:sp>
      <p:sp>
        <p:nvSpPr>
          <p:cNvPr id="19" name="TextBox 18"/>
          <p:cNvSpPr txBox="1"/>
          <p:nvPr/>
        </p:nvSpPr>
        <p:spPr>
          <a:xfrm>
            <a:off x="1512000" y="4139999"/>
            <a:ext cx="1800000" cy="180000"/>
          </a:xfrm>
          <a:prstGeom prst="rect">
            <a:avLst/>
          </a:prstGeom>
          <a:noFill/>
        </p:spPr>
        <p:txBody>
          <a:bodyPr wrap="square">
            <a:spAutoFit/>
          </a:bodyPr>
          <a:lstStyle/>
          <a:p>
            <a:pPr algn="l">
              <a:defRPr sz="800" b="1">
                <a:solidFill>
                  <a:srgbClr val="F39200"/>
                </a:solidFill>
                <a:latin typeface="Montserrat"/>
              </a:defRPr>
            </a:pPr>
            <a:r>
              <a:t>PROBLEMATIQUE</a:t>
            </a:r>
          </a:p>
        </p:txBody>
      </p:sp>
      <p:sp>
        <p:nvSpPr>
          <p:cNvPr id="20" name="TextBox 19"/>
          <p:cNvSpPr txBox="1"/>
          <p:nvPr/>
        </p:nvSpPr>
        <p:spPr>
          <a:xfrm>
            <a:off x="1512000" y="4391999"/>
            <a:ext cx="5040000" cy="1007999"/>
          </a:xfrm>
          <a:prstGeom prst="rect">
            <a:avLst/>
          </a:prstGeom>
          <a:noFill/>
        </p:spPr>
        <p:txBody>
          <a:bodyPr wrap="square">
            <a:spAutoFit/>
          </a:bodyPr>
          <a:lstStyle/>
          <a:p>
            <a:pPr algn="just">
              <a:defRPr sz="900" b="0">
                <a:solidFill>
                  <a:srgbClr val="555555"/>
                </a:solidFill>
                <a:latin typeface="Inter"/>
              </a:defRPr>
            </a:pPr>
            <a:r>
              <a:t>Les plans d'assainissement du bureau d'études étaient incomplets et la mercuriale des prix datait de 2014, rendant les coûts des enrobés et du PEHD obsolètes. Je ne disposais que de 3 semaines pour produire un chiffrage fiable.</a:t>
            </a:r>
          </a:p>
        </p:txBody>
      </p:sp>
      <p:sp>
        <p:nvSpPr>
          <p:cNvPr id="21" name="Rounded Rectangle 20"/>
          <p:cNvSpPr/>
          <p:nvPr/>
        </p:nvSpPr>
        <p:spPr>
          <a:xfrm>
            <a:off x="648000" y="5651998"/>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8000" y="5651998"/>
            <a:ext cx="54000" cy="151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00000" y="5795998"/>
            <a:ext cx="432000" cy="432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000" y="5831998"/>
            <a:ext cx="432000" cy="360000"/>
          </a:xfrm>
          <a:prstGeom prst="rect">
            <a:avLst/>
          </a:prstGeom>
          <a:noFill/>
        </p:spPr>
        <p:txBody>
          <a:bodyPr wrap="square">
            <a:spAutoFit/>
          </a:bodyPr>
          <a:lstStyle/>
          <a:p>
            <a:pPr algn="ctr">
              <a:defRPr sz="1400" b="1">
                <a:solidFill>
                  <a:srgbClr val="FFFFFF"/>
                </a:solidFill>
                <a:latin typeface="Montserrat"/>
              </a:defRPr>
            </a:pPr>
            <a:r>
              <a:t>A</a:t>
            </a:r>
          </a:p>
        </p:txBody>
      </p:sp>
      <p:sp>
        <p:nvSpPr>
          <p:cNvPr id="25" name="TextBox 24"/>
          <p:cNvSpPr txBox="1"/>
          <p:nvPr/>
        </p:nvSpPr>
        <p:spPr>
          <a:xfrm>
            <a:off x="1512000" y="5795998"/>
            <a:ext cx="1800000" cy="180000"/>
          </a:xfrm>
          <a:prstGeom prst="rect">
            <a:avLst/>
          </a:prstGeom>
          <a:noFill/>
        </p:spPr>
        <p:txBody>
          <a:bodyPr wrap="square">
            <a:spAutoFit/>
          </a:bodyPr>
          <a:lstStyle/>
          <a:p>
            <a:pPr algn="l">
              <a:defRPr sz="800" b="1">
                <a:solidFill>
                  <a:srgbClr val="5CC8C0"/>
                </a:solidFill>
                <a:latin typeface="Montserrat"/>
              </a:defRPr>
            </a:pPr>
            <a:r>
              <a:t>ACTION</a:t>
            </a:r>
          </a:p>
        </p:txBody>
      </p:sp>
      <p:sp>
        <p:nvSpPr>
          <p:cNvPr id="26" name="TextBox 25"/>
          <p:cNvSpPr txBox="1"/>
          <p:nvPr/>
        </p:nvSpPr>
        <p:spPr>
          <a:xfrm>
            <a:off x="1512000" y="6047998"/>
            <a:ext cx="5040000" cy="1007999"/>
          </a:xfrm>
          <a:prstGeom prst="rect">
            <a:avLst/>
          </a:prstGeom>
          <a:noFill/>
        </p:spPr>
        <p:txBody>
          <a:bodyPr wrap="square">
            <a:spAutoFit/>
          </a:bodyPr>
          <a:lstStyle/>
          <a:p>
            <a:pPr algn="just">
              <a:defRPr sz="900" b="0">
                <a:solidFill>
                  <a:srgbClr val="555555"/>
                </a:solidFill>
                <a:latin typeface="Inter"/>
              </a:defRPr>
            </a:pPr>
            <a:r>
              <a:t>J'ai procédé en deux phases : d'abord le calcul sur plans AutoCAD — 112 lignes de prix, surfaces par décomposition géométrique, linéaires au curvimètre — puis 4 relevés sur site pour compléter les données manquantes. Pour actualiser les prix, j'ai croisé la mercuriale régionale 2017, 5 marchés similaires adjugés récemment et 8 devis de fournisseurs locaux.</a:t>
            </a:r>
          </a:p>
        </p:txBody>
      </p:sp>
      <p:sp>
        <p:nvSpPr>
          <p:cNvPr id="27" name="Rounded Rectangle 26"/>
          <p:cNvSpPr/>
          <p:nvPr/>
        </p:nvSpPr>
        <p:spPr>
          <a:xfrm>
            <a:off x="648000" y="7307997"/>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8000" y="7307997"/>
            <a:ext cx="54000" cy="1512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0000" y="7451997"/>
            <a:ext cx="432000" cy="432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000" y="7487997"/>
            <a:ext cx="432000" cy="360000"/>
          </a:xfrm>
          <a:prstGeom prst="rect">
            <a:avLst/>
          </a:prstGeom>
          <a:noFill/>
        </p:spPr>
        <p:txBody>
          <a:bodyPr wrap="square">
            <a:spAutoFit/>
          </a:bodyPr>
          <a:lstStyle/>
          <a:p>
            <a:pPr algn="ctr">
              <a:defRPr sz="1400" b="1">
                <a:solidFill>
                  <a:srgbClr val="FFFFFF"/>
                </a:solidFill>
                <a:latin typeface="Montserrat"/>
              </a:defRPr>
            </a:pPr>
            <a:r>
              <a:t>R</a:t>
            </a:r>
          </a:p>
        </p:txBody>
      </p:sp>
      <p:sp>
        <p:nvSpPr>
          <p:cNvPr id="31" name="TextBox 30"/>
          <p:cNvSpPr txBox="1"/>
          <p:nvPr/>
        </p:nvSpPr>
        <p:spPr>
          <a:xfrm>
            <a:off x="1512000" y="7451997"/>
            <a:ext cx="1800000" cy="180000"/>
          </a:xfrm>
          <a:prstGeom prst="rect">
            <a:avLst/>
          </a:prstGeom>
          <a:noFill/>
        </p:spPr>
        <p:txBody>
          <a:bodyPr wrap="square">
            <a:spAutoFit/>
          </a:bodyPr>
          <a:lstStyle/>
          <a:p>
            <a:pPr algn="l">
              <a:defRPr sz="800" b="1">
                <a:solidFill>
                  <a:srgbClr val="1E3A5F"/>
                </a:solidFill>
                <a:latin typeface="Montserrat"/>
              </a:defRPr>
            </a:pPr>
            <a:r>
              <a:t>RESULTAT</a:t>
            </a:r>
          </a:p>
        </p:txBody>
      </p:sp>
      <p:sp>
        <p:nvSpPr>
          <p:cNvPr id="32" name="TextBox 31"/>
          <p:cNvSpPr txBox="1"/>
          <p:nvPr/>
        </p:nvSpPr>
        <p:spPr>
          <a:xfrm>
            <a:off x="1512000" y="7703997"/>
            <a:ext cx="5040000" cy="1007999"/>
          </a:xfrm>
          <a:prstGeom prst="rect">
            <a:avLst/>
          </a:prstGeom>
          <a:noFill/>
        </p:spPr>
        <p:txBody>
          <a:bodyPr wrap="square">
            <a:spAutoFit/>
          </a:bodyPr>
          <a:lstStyle/>
          <a:p>
            <a:pPr algn="just">
              <a:defRPr sz="900" b="0">
                <a:solidFill>
                  <a:srgbClr val="555555"/>
                </a:solidFill>
                <a:latin typeface="Inter"/>
              </a:defRPr>
            </a:pPr>
            <a:r>
              <a:t>Mon estimation de 15,8 M DH HT a été validée en 3 semaines. L'écart avec l'offre retenue n'a été que de +3,2%, bien en dessous de la norme admise de 5 à 10%. J'ai réutilisé cette méthode pour les 3 autres communes, sans aucune contestation.</a:t>
            </a:r>
          </a:p>
        </p:txBody>
      </p:sp>
      <p:sp>
        <p:nvSpPr>
          <p:cNvPr id="33" name="Rectangle 32"/>
          <p:cNvSpPr/>
          <p:nvPr/>
        </p:nvSpPr>
        <p:spPr>
          <a:xfrm>
            <a:off x="0" y="9180000"/>
            <a:ext cx="7560000" cy="432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180000"/>
            <a:ext cx="7560000" cy="36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0000" y="9216000"/>
            <a:ext cx="6840000" cy="360000"/>
          </a:xfrm>
          <a:prstGeom prst="rect">
            <a:avLst/>
          </a:prstGeom>
          <a:noFill/>
        </p:spPr>
        <p:txBody>
          <a:bodyPr wrap="square">
            <a:spAutoFit/>
          </a:bodyPr>
          <a:lstStyle/>
          <a:p>
            <a:pPr algn="ctr">
              <a:defRPr sz="700" b="1">
                <a:solidFill>
                  <a:srgbClr val="1E3A5F"/>
                </a:solidFill>
                <a:latin typeface="Montserrat"/>
              </a:defRPr>
            </a:pPr>
            <a:r>
              <a:t>ESTIMER AVEC PRÉCISION POUR SÉCURISER L'APPEL D'OFFRES</a:t>
            </a:r>
          </a:p>
        </p:txBody>
      </p:sp>
      <p:sp>
        <p:nvSpPr>
          <p:cNvPr id="36" name="TextBox 35"/>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980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180000"/>
            <a:ext cx="720000" cy="1080000"/>
          </a:xfrm>
          <a:prstGeom prst="rect">
            <a:avLst/>
          </a:prstGeom>
          <a:noFill/>
        </p:spPr>
        <p:txBody>
          <a:bodyPr wrap="square">
            <a:spAutoFit/>
          </a:bodyPr>
          <a:lstStyle/>
          <a:p>
            <a:pPr algn="l">
              <a:defRPr sz="4800" b="1">
                <a:solidFill>
                  <a:srgbClr val="2A4A70"/>
                </a:solidFill>
                <a:latin typeface="Montserrat"/>
              </a:defRPr>
            </a:pPr>
            <a:r>
              <a:t>2</a:t>
            </a:r>
          </a:p>
        </p:txBody>
      </p:sp>
      <p:sp>
        <p:nvSpPr>
          <p:cNvPr id="4" name="TextBox 3"/>
          <p:cNvSpPr txBox="1"/>
          <p:nvPr/>
        </p:nvSpPr>
        <p:spPr>
          <a:xfrm>
            <a:off x="1260000" y="288000"/>
            <a:ext cx="3240000" cy="180000"/>
          </a:xfrm>
          <a:prstGeom prst="rect">
            <a:avLst/>
          </a:prstGeom>
          <a:noFill/>
        </p:spPr>
        <p:txBody>
          <a:bodyPr wrap="square">
            <a:spAutoFit/>
          </a:bodyPr>
          <a:lstStyle/>
          <a:p>
            <a:pPr algn="l">
              <a:defRPr sz="700" b="1">
                <a:solidFill>
                  <a:srgbClr val="5CC8C0"/>
                </a:solidFill>
                <a:latin typeface="Montserrat"/>
              </a:defRPr>
            </a:pPr>
            <a:r>
              <a:t>SITUATION 2</a:t>
            </a:r>
          </a:p>
        </p:txBody>
      </p:sp>
      <p:sp>
        <p:nvSpPr>
          <p:cNvPr id="5" name="TextBox 4"/>
          <p:cNvSpPr txBox="1"/>
          <p:nvPr/>
        </p:nvSpPr>
        <p:spPr>
          <a:xfrm>
            <a:off x="1260000" y="540000"/>
            <a:ext cx="3240000" cy="720000"/>
          </a:xfrm>
          <a:prstGeom prst="rect">
            <a:avLst/>
          </a:prstGeom>
          <a:noFill/>
        </p:spPr>
        <p:txBody>
          <a:bodyPr wrap="square">
            <a:spAutoFit/>
          </a:bodyPr>
          <a:lstStyle/>
          <a:p>
            <a:pPr algn="l">
              <a:defRPr sz="1600" b="1">
                <a:solidFill>
                  <a:srgbClr val="FFFFFF"/>
                </a:solidFill>
                <a:latin typeface="Montserrat"/>
              </a:defRPr>
            </a:pPr>
            <a:r>
              <a:t>Analyse des offres et CAO</a:t>
            </a:r>
          </a:p>
        </p:txBody>
      </p:sp>
      <p:sp>
        <p:nvSpPr>
          <p:cNvPr id="6" name="Rounded Rectangle 5"/>
          <p:cNvSpPr/>
          <p:nvPr/>
        </p:nvSpPr>
        <p:spPr>
          <a:xfrm>
            <a:off x="5040000" y="360000"/>
            <a:ext cx="1980000" cy="1080000"/>
          </a:xfrm>
          <a:prstGeom prst="roundRect">
            <a:avLst>
              <a:gd name="adj" fmla="val 12000"/>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0" y="540000"/>
            <a:ext cx="1980000" cy="432000"/>
          </a:xfrm>
          <a:prstGeom prst="rect">
            <a:avLst/>
          </a:prstGeom>
          <a:noFill/>
        </p:spPr>
        <p:txBody>
          <a:bodyPr wrap="square">
            <a:spAutoFit/>
          </a:bodyPr>
          <a:lstStyle/>
          <a:p>
            <a:pPr algn="ctr">
              <a:defRPr sz="1800" b="1">
                <a:solidFill>
                  <a:srgbClr val="F39200"/>
                </a:solidFill>
                <a:latin typeface="Montserrat"/>
              </a:defRPr>
            </a:pPr>
            <a:r>
              <a:t>94/100</a:t>
            </a:r>
          </a:p>
        </p:txBody>
      </p:sp>
      <p:sp>
        <p:nvSpPr>
          <p:cNvPr id="8" name="TextBox 7"/>
          <p:cNvSpPr txBox="1"/>
          <p:nvPr/>
        </p:nvSpPr>
        <p:spPr>
          <a:xfrm>
            <a:off x="5040000" y="1007999"/>
            <a:ext cx="1980000" cy="216000"/>
          </a:xfrm>
          <a:prstGeom prst="rect">
            <a:avLst/>
          </a:prstGeom>
          <a:noFill/>
        </p:spPr>
        <p:txBody>
          <a:bodyPr wrap="square">
            <a:spAutoFit/>
          </a:bodyPr>
          <a:lstStyle/>
          <a:p>
            <a:pPr algn="ctr">
              <a:defRPr sz="700" b="0">
                <a:solidFill>
                  <a:srgbClr val="AAAABB"/>
                </a:solidFill>
                <a:latin typeface="Inter"/>
              </a:defRPr>
            </a:pPr>
            <a:r>
              <a:t>Note Entreprise B retenue</a:t>
            </a:r>
          </a:p>
        </p:txBody>
      </p:sp>
      <p:sp>
        <p:nvSpPr>
          <p:cNvPr id="9" name="Rounded Rectangle 8"/>
          <p:cNvSpPr/>
          <p:nvPr/>
        </p:nvSpPr>
        <p:spPr>
          <a:xfrm>
            <a:off x="648000" y="2340000"/>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8000" y="2340000"/>
            <a:ext cx="54000" cy="15120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00000" y="2484000"/>
            <a:ext cx="432000" cy="4320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000" y="2520000"/>
            <a:ext cx="432000" cy="360000"/>
          </a:xfrm>
          <a:prstGeom prst="rect">
            <a:avLst/>
          </a:prstGeom>
          <a:noFill/>
        </p:spPr>
        <p:txBody>
          <a:bodyPr wrap="square">
            <a:spAutoFit/>
          </a:bodyPr>
          <a:lstStyle/>
          <a:p>
            <a:pPr algn="ctr">
              <a:defRPr sz="1400" b="1">
                <a:solidFill>
                  <a:srgbClr val="FFFFFF"/>
                </a:solidFill>
                <a:latin typeface="Montserrat"/>
              </a:defRPr>
            </a:pPr>
            <a:r>
              <a:t>C</a:t>
            </a:r>
          </a:p>
        </p:txBody>
      </p:sp>
      <p:sp>
        <p:nvSpPr>
          <p:cNvPr id="13" name="TextBox 12"/>
          <p:cNvSpPr txBox="1"/>
          <p:nvPr/>
        </p:nvSpPr>
        <p:spPr>
          <a:xfrm>
            <a:off x="1512000" y="2484000"/>
            <a:ext cx="1800000" cy="180000"/>
          </a:xfrm>
          <a:prstGeom prst="rect">
            <a:avLst/>
          </a:prstGeom>
          <a:noFill/>
        </p:spPr>
        <p:txBody>
          <a:bodyPr wrap="square">
            <a:spAutoFit/>
          </a:bodyPr>
          <a:lstStyle/>
          <a:p>
            <a:pPr algn="l">
              <a:defRPr sz="800" b="1">
                <a:solidFill>
                  <a:srgbClr val="999999"/>
                </a:solidFill>
                <a:latin typeface="Montserrat"/>
              </a:defRPr>
            </a:pPr>
            <a:r>
              <a:t>CONTEXTE</a:t>
            </a:r>
          </a:p>
        </p:txBody>
      </p:sp>
      <p:sp>
        <p:nvSpPr>
          <p:cNvPr id="14" name="TextBox 13"/>
          <p:cNvSpPr txBox="1"/>
          <p:nvPr/>
        </p:nvSpPr>
        <p:spPr>
          <a:xfrm>
            <a:off x="1512000" y="2736000"/>
            <a:ext cx="5040000" cy="1007999"/>
          </a:xfrm>
          <a:prstGeom prst="rect">
            <a:avLst/>
          </a:prstGeom>
          <a:noFill/>
        </p:spPr>
        <p:txBody>
          <a:bodyPr wrap="square">
            <a:spAutoFit/>
          </a:bodyPr>
          <a:lstStyle/>
          <a:p>
            <a:pPr algn="just">
              <a:defRPr sz="900" b="0">
                <a:solidFill>
                  <a:srgbClr val="555555"/>
                </a:solidFill>
                <a:latin typeface="Inter"/>
              </a:defRPr>
            </a:pPr>
            <a:r>
              <a:t>Suite à l'estimation, j'ai participé à l'analyse des offres en tant que membre technique de la Commission d'Appel d'Offres. Trois entreprises avaient répondu au marché n°38-RBK-2017, et la confidentialité des délibérations était impérative.</a:t>
            </a:r>
          </a:p>
        </p:txBody>
      </p:sp>
      <p:sp>
        <p:nvSpPr>
          <p:cNvPr id="15" name="Rounded Rectangle 14"/>
          <p:cNvSpPr/>
          <p:nvPr/>
        </p:nvSpPr>
        <p:spPr>
          <a:xfrm>
            <a:off x="648000" y="3995999"/>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8000" y="3995999"/>
            <a:ext cx="54000" cy="151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0000" y="4139999"/>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000" y="4175999"/>
            <a:ext cx="432000" cy="360000"/>
          </a:xfrm>
          <a:prstGeom prst="rect">
            <a:avLst/>
          </a:prstGeom>
          <a:noFill/>
        </p:spPr>
        <p:txBody>
          <a:bodyPr wrap="square">
            <a:spAutoFit/>
          </a:bodyPr>
          <a:lstStyle/>
          <a:p>
            <a:pPr algn="ctr">
              <a:defRPr sz="1400" b="1">
                <a:solidFill>
                  <a:srgbClr val="FFFFFF"/>
                </a:solidFill>
                <a:latin typeface="Montserrat"/>
              </a:defRPr>
            </a:pPr>
            <a:r>
              <a:t>P</a:t>
            </a:r>
          </a:p>
        </p:txBody>
      </p:sp>
      <p:sp>
        <p:nvSpPr>
          <p:cNvPr id="19" name="TextBox 18"/>
          <p:cNvSpPr txBox="1"/>
          <p:nvPr/>
        </p:nvSpPr>
        <p:spPr>
          <a:xfrm>
            <a:off x="1512000" y="4139999"/>
            <a:ext cx="1800000" cy="180000"/>
          </a:xfrm>
          <a:prstGeom prst="rect">
            <a:avLst/>
          </a:prstGeom>
          <a:noFill/>
        </p:spPr>
        <p:txBody>
          <a:bodyPr wrap="square">
            <a:spAutoFit/>
          </a:bodyPr>
          <a:lstStyle/>
          <a:p>
            <a:pPr algn="l">
              <a:defRPr sz="800" b="1">
                <a:solidFill>
                  <a:srgbClr val="F39200"/>
                </a:solidFill>
                <a:latin typeface="Montserrat"/>
              </a:defRPr>
            </a:pPr>
            <a:r>
              <a:t>PROBLEMATIQUE</a:t>
            </a:r>
          </a:p>
        </p:txBody>
      </p:sp>
      <p:sp>
        <p:nvSpPr>
          <p:cNvPr id="20" name="TextBox 19"/>
          <p:cNvSpPr txBox="1"/>
          <p:nvPr/>
        </p:nvSpPr>
        <p:spPr>
          <a:xfrm>
            <a:off x="1512000" y="4391999"/>
            <a:ext cx="5040000" cy="1007999"/>
          </a:xfrm>
          <a:prstGeom prst="rect">
            <a:avLst/>
          </a:prstGeom>
          <a:noFill/>
        </p:spPr>
        <p:txBody>
          <a:bodyPr wrap="square">
            <a:spAutoFit/>
          </a:bodyPr>
          <a:lstStyle/>
          <a:p>
            <a:pPr algn="just">
              <a:defRPr sz="900" b="0">
                <a:solidFill>
                  <a:srgbClr val="555555"/>
                </a:solidFill>
                <a:latin typeface="Inter"/>
              </a:defRPr>
            </a:pPr>
            <a:r>
              <a:t>J'ai détecté 7 erreurs arithmétiques dans le bordereau de l'Entreprise C. L'Entreprise A, quant à elle, affichait 3 prix unitaires anormalement bas sur des postes lourds comme les enrobés et le PEHD, laissant suspecter une sous-estimation volontaire.</a:t>
            </a:r>
          </a:p>
        </p:txBody>
      </p:sp>
      <p:sp>
        <p:nvSpPr>
          <p:cNvPr id="21" name="Rounded Rectangle 20"/>
          <p:cNvSpPr/>
          <p:nvPr/>
        </p:nvSpPr>
        <p:spPr>
          <a:xfrm>
            <a:off x="648000" y="5651998"/>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8000" y="5651998"/>
            <a:ext cx="54000" cy="151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00000" y="5795998"/>
            <a:ext cx="432000" cy="432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000" y="5831998"/>
            <a:ext cx="432000" cy="360000"/>
          </a:xfrm>
          <a:prstGeom prst="rect">
            <a:avLst/>
          </a:prstGeom>
          <a:noFill/>
        </p:spPr>
        <p:txBody>
          <a:bodyPr wrap="square">
            <a:spAutoFit/>
          </a:bodyPr>
          <a:lstStyle/>
          <a:p>
            <a:pPr algn="ctr">
              <a:defRPr sz="1400" b="1">
                <a:solidFill>
                  <a:srgbClr val="FFFFFF"/>
                </a:solidFill>
                <a:latin typeface="Montserrat"/>
              </a:defRPr>
            </a:pPr>
            <a:r>
              <a:t>A</a:t>
            </a:r>
          </a:p>
        </p:txBody>
      </p:sp>
      <p:sp>
        <p:nvSpPr>
          <p:cNvPr id="25" name="TextBox 24"/>
          <p:cNvSpPr txBox="1"/>
          <p:nvPr/>
        </p:nvSpPr>
        <p:spPr>
          <a:xfrm>
            <a:off x="1512000" y="5795998"/>
            <a:ext cx="1800000" cy="180000"/>
          </a:xfrm>
          <a:prstGeom prst="rect">
            <a:avLst/>
          </a:prstGeom>
          <a:noFill/>
        </p:spPr>
        <p:txBody>
          <a:bodyPr wrap="square">
            <a:spAutoFit/>
          </a:bodyPr>
          <a:lstStyle/>
          <a:p>
            <a:pPr algn="l">
              <a:defRPr sz="800" b="1">
                <a:solidFill>
                  <a:srgbClr val="5CC8C0"/>
                </a:solidFill>
                <a:latin typeface="Montserrat"/>
              </a:defRPr>
            </a:pPr>
            <a:r>
              <a:t>ACTION</a:t>
            </a:r>
          </a:p>
        </p:txBody>
      </p:sp>
      <p:sp>
        <p:nvSpPr>
          <p:cNvPr id="26" name="TextBox 25"/>
          <p:cNvSpPr txBox="1"/>
          <p:nvPr/>
        </p:nvSpPr>
        <p:spPr>
          <a:xfrm>
            <a:off x="1512000" y="6047998"/>
            <a:ext cx="5040000" cy="1007999"/>
          </a:xfrm>
          <a:prstGeom prst="rect">
            <a:avLst/>
          </a:prstGeom>
          <a:noFill/>
        </p:spPr>
        <p:txBody>
          <a:bodyPr wrap="square">
            <a:spAutoFit/>
          </a:bodyPr>
          <a:lstStyle/>
          <a:p>
            <a:pPr algn="just">
              <a:defRPr sz="900" b="0">
                <a:solidFill>
                  <a:srgbClr val="555555"/>
                </a:solidFill>
                <a:latin typeface="Inter"/>
              </a:defRPr>
            </a:pPr>
            <a:r>
              <a:t>J'ai d'abord corrigé les erreurs conformément à l'article 40 du Décret, puis adressé une demande de justification à l'Entreprise A pour ses prix anormalement bas. Sa réponse ayant été jugée insuffisante, j'ai élaboré un tableau comparatif des 10 prix les plus lourds, représentant 80% du montant, et une grille de notation sur 100 points.</a:t>
            </a:r>
          </a:p>
        </p:txBody>
      </p:sp>
      <p:sp>
        <p:nvSpPr>
          <p:cNvPr id="27" name="Rounded Rectangle 26"/>
          <p:cNvSpPr/>
          <p:nvPr/>
        </p:nvSpPr>
        <p:spPr>
          <a:xfrm>
            <a:off x="648000" y="7307997"/>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8000" y="7307997"/>
            <a:ext cx="54000" cy="1512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0000" y="7451997"/>
            <a:ext cx="432000" cy="432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000" y="7487997"/>
            <a:ext cx="432000" cy="360000"/>
          </a:xfrm>
          <a:prstGeom prst="rect">
            <a:avLst/>
          </a:prstGeom>
          <a:noFill/>
        </p:spPr>
        <p:txBody>
          <a:bodyPr wrap="square">
            <a:spAutoFit/>
          </a:bodyPr>
          <a:lstStyle/>
          <a:p>
            <a:pPr algn="ctr">
              <a:defRPr sz="1400" b="1">
                <a:solidFill>
                  <a:srgbClr val="FFFFFF"/>
                </a:solidFill>
                <a:latin typeface="Montserrat"/>
              </a:defRPr>
            </a:pPr>
            <a:r>
              <a:t>R</a:t>
            </a:r>
          </a:p>
        </p:txBody>
      </p:sp>
      <p:sp>
        <p:nvSpPr>
          <p:cNvPr id="31" name="TextBox 30"/>
          <p:cNvSpPr txBox="1"/>
          <p:nvPr/>
        </p:nvSpPr>
        <p:spPr>
          <a:xfrm>
            <a:off x="1512000" y="7451997"/>
            <a:ext cx="1800000" cy="180000"/>
          </a:xfrm>
          <a:prstGeom prst="rect">
            <a:avLst/>
          </a:prstGeom>
          <a:noFill/>
        </p:spPr>
        <p:txBody>
          <a:bodyPr wrap="square">
            <a:spAutoFit/>
          </a:bodyPr>
          <a:lstStyle/>
          <a:p>
            <a:pPr algn="l">
              <a:defRPr sz="800" b="1">
                <a:solidFill>
                  <a:srgbClr val="1E3A5F"/>
                </a:solidFill>
                <a:latin typeface="Montserrat"/>
              </a:defRPr>
            </a:pPr>
            <a:r>
              <a:t>RESULTAT</a:t>
            </a:r>
          </a:p>
        </p:txBody>
      </p:sp>
      <p:sp>
        <p:nvSpPr>
          <p:cNvPr id="32" name="TextBox 31"/>
          <p:cNvSpPr txBox="1"/>
          <p:nvPr/>
        </p:nvSpPr>
        <p:spPr>
          <a:xfrm>
            <a:off x="1512000" y="7703997"/>
            <a:ext cx="5040000" cy="1007999"/>
          </a:xfrm>
          <a:prstGeom prst="rect">
            <a:avLst/>
          </a:prstGeom>
          <a:noFill/>
        </p:spPr>
        <p:txBody>
          <a:bodyPr wrap="square">
            <a:spAutoFit/>
          </a:bodyPr>
          <a:lstStyle/>
          <a:p>
            <a:pPr algn="just">
              <a:defRPr sz="900" b="0">
                <a:solidFill>
                  <a:srgbClr val="555555"/>
                </a:solidFill>
                <a:latin typeface="Inter"/>
              </a:defRPr>
            </a:pPr>
            <a:r>
              <a:t>L'Entreprise B a été retenue avec 94/100. Le délai entre l'ouverture des plis et la notification n'a été que de 15 jours, sans aucun recours. Mon rapport d'analyse et le PV de la CAO ont été validés par le Directeur de l'Agence.</a:t>
            </a:r>
          </a:p>
        </p:txBody>
      </p:sp>
      <p:sp>
        <p:nvSpPr>
          <p:cNvPr id="33" name="Rectangle 32"/>
          <p:cNvSpPr/>
          <p:nvPr/>
        </p:nvSpPr>
        <p:spPr>
          <a:xfrm>
            <a:off x="0" y="9180000"/>
            <a:ext cx="7560000" cy="432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180000"/>
            <a:ext cx="7560000" cy="36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0000" y="9216000"/>
            <a:ext cx="6840000" cy="360000"/>
          </a:xfrm>
          <a:prstGeom prst="rect">
            <a:avLst/>
          </a:prstGeom>
          <a:noFill/>
        </p:spPr>
        <p:txBody>
          <a:bodyPr wrap="square">
            <a:spAutoFit/>
          </a:bodyPr>
          <a:lstStyle/>
          <a:p>
            <a:pPr algn="ctr">
              <a:defRPr sz="700" b="1">
                <a:solidFill>
                  <a:srgbClr val="1E3A5F"/>
                </a:solidFill>
                <a:latin typeface="Montserrat"/>
              </a:defRPr>
            </a:pPr>
            <a:r>
              <a:t>ANALYSER LES OFFRES EN TOUTE OBJECTIVITÉ</a:t>
            </a:r>
          </a:p>
        </p:txBody>
      </p:sp>
      <p:sp>
        <p:nvSpPr>
          <p:cNvPr id="36" name="TextBox 35"/>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980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180000"/>
            <a:ext cx="720000" cy="1080000"/>
          </a:xfrm>
          <a:prstGeom prst="rect">
            <a:avLst/>
          </a:prstGeom>
          <a:noFill/>
        </p:spPr>
        <p:txBody>
          <a:bodyPr wrap="square">
            <a:spAutoFit/>
          </a:bodyPr>
          <a:lstStyle/>
          <a:p>
            <a:pPr algn="l">
              <a:defRPr sz="4800" b="1">
                <a:solidFill>
                  <a:srgbClr val="2A4A70"/>
                </a:solidFill>
                <a:latin typeface="Montserrat"/>
              </a:defRPr>
            </a:pPr>
            <a:r>
              <a:t>3</a:t>
            </a:r>
          </a:p>
        </p:txBody>
      </p:sp>
      <p:sp>
        <p:nvSpPr>
          <p:cNvPr id="4" name="TextBox 3"/>
          <p:cNvSpPr txBox="1"/>
          <p:nvPr/>
        </p:nvSpPr>
        <p:spPr>
          <a:xfrm>
            <a:off x="1260000" y="288000"/>
            <a:ext cx="3240000" cy="180000"/>
          </a:xfrm>
          <a:prstGeom prst="rect">
            <a:avLst/>
          </a:prstGeom>
          <a:noFill/>
        </p:spPr>
        <p:txBody>
          <a:bodyPr wrap="square">
            <a:spAutoFit/>
          </a:bodyPr>
          <a:lstStyle/>
          <a:p>
            <a:pPr algn="l">
              <a:defRPr sz="700" b="1">
                <a:solidFill>
                  <a:srgbClr val="5CC8C0"/>
                </a:solidFill>
                <a:latin typeface="Montserrat"/>
              </a:defRPr>
            </a:pPr>
            <a:r>
              <a:t>SITUATION 3</a:t>
            </a:r>
          </a:p>
        </p:txBody>
      </p:sp>
      <p:sp>
        <p:nvSpPr>
          <p:cNvPr id="5" name="TextBox 4"/>
          <p:cNvSpPr txBox="1"/>
          <p:nvPr/>
        </p:nvSpPr>
        <p:spPr>
          <a:xfrm>
            <a:off x="1260000" y="540000"/>
            <a:ext cx="3240000" cy="720000"/>
          </a:xfrm>
          <a:prstGeom prst="rect">
            <a:avLst/>
          </a:prstGeom>
          <a:noFill/>
        </p:spPr>
        <p:txBody>
          <a:bodyPr wrap="square">
            <a:spAutoFit/>
          </a:bodyPr>
          <a:lstStyle/>
          <a:p>
            <a:pPr algn="l">
              <a:defRPr sz="1600" b="1">
                <a:solidFill>
                  <a:srgbClr val="FFFFFF"/>
                </a:solidFill>
                <a:latin typeface="Montserrat"/>
              </a:defRPr>
            </a:pPr>
            <a:r>
              <a:t>Suivi financier – Kerrouchen</a:t>
            </a:r>
          </a:p>
        </p:txBody>
      </p:sp>
      <p:sp>
        <p:nvSpPr>
          <p:cNvPr id="6" name="Rounded Rectangle 5"/>
          <p:cNvSpPr/>
          <p:nvPr/>
        </p:nvSpPr>
        <p:spPr>
          <a:xfrm>
            <a:off x="5040000" y="360000"/>
            <a:ext cx="1980000" cy="1080000"/>
          </a:xfrm>
          <a:prstGeom prst="roundRect">
            <a:avLst>
              <a:gd name="adj" fmla="val 12000"/>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0" y="540000"/>
            <a:ext cx="1980000" cy="432000"/>
          </a:xfrm>
          <a:prstGeom prst="rect">
            <a:avLst/>
          </a:prstGeom>
          <a:noFill/>
        </p:spPr>
        <p:txBody>
          <a:bodyPr wrap="square">
            <a:spAutoFit/>
          </a:bodyPr>
          <a:lstStyle/>
          <a:p>
            <a:pPr algn="ctr">
              <a:defRPr sz="1800" b="1">
                <a:solidFill>
                  <a:srgbClr val="F39200"/>
                </a:solidFill>
                <a:latin typeface="Montserrat"/>
              </a:defRPr>
            </a:pPr>
            <a:r>
              <a:t>+0,8%</a:t>
            </a:r>
          </a:p>
        </p:txBody>
      </p:sp>
      <p:sp>
        <p:nvSpPr>
          <p:cNvPr id="8" name="TextBox 7"/>
          <p:cNvSpPr txBox="1"/>
          <p:nvPr/>
        </p:nvSpPr>
        <p:spPr>
          <a:xfrm>
            <a:off x="5040000" y="1007999"/>
            <a:ext cx="1980000" cy="216000"/>
          </a:xfrm>
          <a:prstGeom prst="rect">
            <a:avLst/>
          </a:prstGeom>
          <a:noFill/>
        </p:spPr>
        <p:txBody>
          <a:bodyPr wrap="square">
            <a:spAutoFit/>
          </a:bodyPr>
          <a:lstStyle/>
          <a:p>
            <a:pPr algn="ctr">
              <a:defRPr sz="700" b="0">
                <a:solidFill>
                  <a:srgbClr val="AAAABB"/>
                </a:solidFill>
                <a:latin typeface="Inter"/>
              </a:defRPr>
            </a:pPr>
            <a:r>
              <a:t>Dépassement maîtrisé</a:t>
            </a:r>
          </a:p>
        </p:txBody>
      </p:sp>
      <p:sp>
        <p:nvSpPr>
          <p:cNvPr id="9" name="Rounded Rectangle 8"/>
          <p:cNvSpPr/>
          <p:nvPr/>
        </p:nvSpPr>
        <p:spPr>
          <a:xfrm>
            <a:off x="648000" y="2340000"/>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8000" y="2340000"/>
            <a:ext cx="54000" cy="15120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00000" y="2484000"/>
            <a:ext cx="432000" cy="4320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000" y="2520000"/>
            <a:ext cx="432000" cy="360000"/>
          </a:xfrm>
          <a:prstGeom prst="rect">
            <a:avLst/>
          </a:prstGeom>
          <a:noFill/>
        </p:spPr>
        <p:txBody>
          <a:bodyPr wrap="square">
            <a:spAutoFit/>
          </a:bodyPr>
          <a:lstStyle/>
          <a:p>
            <a:pPr algn="ctr">
              <a:defRPr sz="1400" b="1">
                <a:solidFill>
                  <a:srgbClr val="FFFFFF"/>
                </a:solidFill>
                <a:latin typeface="Montserrat"/>
              </a:defRPr>
            </a:pPr>
            <a:r>
              <a:t>C</a:t>
            </a:r>
          </a:p>
        </p:txBody>
      </p:sp>
      <p:sp>
        <p:nvSpPr>
          <p:cNvPr id="13" name="TextBox 12"/>
          <p:cNvSpPr txBox="1"/>
          <p:nvPr/>
        </p:nvSpPr>
        <p:spPr>
          <a:xfrm>
            <a:off x="1512000" y="2484000"/>
            <a:ext cx="1800000" cy="180000"/>
          </a:xfrm>
          <a:prstGeom prst="rect">
            <a:avLst/>
          </a:prstGeom>
          <a:noFill/>
        </p:spPr>
        <p:txBody>
          <a:bodyPr wrap="square">
            <a:spAutoFit/>
          </a:bodyPr>
          <a:lstStyle/>
          <a:p>
            <a:pPr algn="l">
              <a:defRPr sz="800" b="1">
                <a:solidFill>
                  <a:srgbClr val="999999"/>
                </a:solidFill>
                <a:latin typeface="Montserrat"/>
              </a:defRPr>
            </a:pPr>
            <a:r>
              <a:t>CONTEXTE</a:t>
            </a:r>
          </a:p>
        </p:txBody>
      </p:sp>
      <p:sp>
        <p:nvSpPr>
          <p:cNvPr id="14" name="TextBox 13"/>
          <p:cNvSpPr txBox="1"/>
          <p:nvPr/>
        </p:nvSpPr>
        <p:spPr>
          <a:xfrm>
            <a:off x="1512000" y="2736000"/>
            <a:ext cx="5040000" cy="1007999"/>
          </a:xfrm>
          <a:prstGeom prst="rect">
            <a:avLst/>
          </a:prstGeom>
          <a:noFill/>
        </p:spPr>
        <p:txBody>
          <a:bodyPr wrap="square">
            <a:spAutoFit/>
          </a:bodyPr>
          <a:lstStyle/>
          <a:p>
            <a:pPr algn="just">
              <a:defRPr sz="900" b="0">
                <a:solidFill>
                  <a:srgbClr val="555555"/>
                </a:solidFill>
                <a:latin typeface="Inter"/>
              </a:defRPr>
            </a:pPr>
            <a:r>
              <a:t>Sur le chantier de Kerrouchen, j'assurais le suivi mensuel d'un marché de 7,3 M DH HT sur 18 mois. Je vérifiais chaque mois les situations de travaux pour les 8 parties techniques, dans un contexte géologique particulièrement difficile.</a:t>
            </a:r>
          </a:p>
        </p:txBody>
      </p:sp>
      <p:sp>
        <p:nvSpPr>
          <p:cNvPr id="15" name="Rounded Rectangle 14"/>
          <p:cNvSpPr/>
          <p:nvPr/>
        </p:nvSpPr>
        <p:spPr>
          <a:xfrm>
            <a:off x="648000" y="3995999"/>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8000" y="3995999"/>
            <a:ext cx="54000" cy="151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0000" y="4139999"/>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000" y="4175999"/>
            <a:ext cx="432000" cy="360000"/>
          </a:xfrm>
          <a:prstGeom prst="rect">
            <a:avLst/>
          </a:prstGeom>
          <a:noFill/>
        </p:spPr>
        <p:txBody>
          <a:bodyPr wrap="square">
            <a:spAutoFit/>
          </a:bodyPr>
          <a:lstStyle/>
          <a:p>
            <a:pPr algn="ctr">
              <a:defRPr sz="1400" b="1">
                <a:solidFill>
                  <a:srgbClr val="FFFFFF"/>
                </a:solidFill>
                <a:latin typeface="Montserrat"/>
              </a:defRPr>
            </a:pPr>
            <a:r>
              <a:t>P</a:t>
            </a:r>
          </a:p>
        </p:txBody>
      </p:sp>
      <p:sp>
        <p:nvSpPr>
          <p:cNvPr id="19" name="TextBox 18"/>
          <p:cNvSpPr txBox="1"/>
          <p:nvPr/>
        </p:nvSpPr>
        <p:spPr>
          <a:xfrm>
            <a:off x="1512000" y="4139999"/>
            <a:ext cx="1800000" cy="180000"/>
          </a:xfrm>
          <a:prstGeom prst="rect">
            <a:avLst/>
          </a:prstGeom>
          <a:noFill/>
        </p:spPr>
        <p:txBody>
          <a:bodyPr wrap="square">
            <a:spAutoFit/>
          </a:bodyPr>
          <a:lstStyle/>
          <a:p>
            <a:pPr algn="l">
              <a:defRPr sz="800" b="1">
                <a:solidFill>
                  <a:srgbClr val="F39200"/>
                </a:solidFill>
                <a:latin typeface="Montserrat"/>
              </a:defRPr>
            </a:pPr>
            <a:r>
              <a:t>PROBLEMATIQUE</a:t>
            </a:r>
          </a:p>
        </p:txBody>
      </p:sp>
      <p:sp>
        <p:nvSpPr>
          <p:cNvPr id="20" name="TextBox 19"/>
          <p:cNvSpPr txBox="1"/>
          <p:nvPr/>
        </p:nvSpPr>
        <p:spPr>
          <a:xfrm>
            <a:off x="1512000" y="4391999"/>
            <a:ext cx="5040000" cy="1007999"/>
          </a:xfrm>
          <a:prstGeom prst="rect">
            <a:avLst/>
          </a:prstGeom>
          <a:noFill/>
        </p:spPr>
        <p:txBody>
          <a:bodyPr wrap="square">
            <a:spAutoFit/>
          </a:bodyPr>
          <a:lstStyle/>
          <a:p>
            <a:pPr algn="just">
              <a:defRPr sz="900" b="0">
                <a:solidFill>
                  <a:srgbClr val="555555"/>
                </a:solidFill>
                <a:latin typeface="Inter"/>
              </a:defRPr>
            </a:pPr>
            <a:r>
              <a:t>À la situation n°6, j'ai constaté que le poste Chaussée dépassait de +12% et le poste Murs de +15%, en raison d'un terrain rocheux imprévu. Le risque était un dépassement global de +5%, ce qui aurait imposé un avenant et 3 à 6 mois de procédure.</a:t>
            </a:r>
          </a:p>
        </p:txBody>
      </p:sp>
      <p:sp>
        <p:nvSpPr>
          <p:cNvPr id="21" name="Rounded Rectangle 20"/>
          <p:cNvSpPr/>
          <p:nvPr/>
        </p:nvSpPr>
        <p:spPr>
          <a:xfrm>
            <a:off x="648000" y="5651998"/>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8000" y="5651998"/>
            <a:ext cx="54000" cy="151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00000" y="5795998"/>
            <a:ext cx="432000" cy="432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000" y="5831998"/>
            <a:ext cx="432000" cy="360000"/>
          </a:xfrm>
          <a:prstGeom prst="rect">
            <a:avLst/>
          </a:prstGeom>
          <a:noFill/>
        </p:spPr>
        <p:txBody>
          <a:bodyPr wrap="square">
            <a:spAutoFit/>
          </a:bodyPr>
          <a:lstStyle/>
          <a:p>
            <a:pPr algn="ctr">
              <a:defRPr sz="1400" b="1">
                <a:solidFill>
                  <a:srgbClr val="FFFFFF"/>
                </a:solidFill>
                <a:latin typeface="Montserrat"/>
              </a:defRPr>
            </a:pPr>
            <a:r>
              <a:t>A</a:t>
            </a:r>
          </a:p>
        </p:txBody>
      </p:sp>
      <p:sp>
        <p:nvSpPr>
          <p:cNvPr id="25" name="TextBox 24"/>
          <p:cNvSpPr txBox="1"/>
          <p:nvPr/>
        </p:nvSpPr>
        <p:spPr>
          <a:xfrm>
            <a:off x="1512000" y="5795998"/>
            <a:ext cx="1800000" cy="180000"/>
          </a:xfrm>
          <a:prstGeom prst="rect">
            <a:avLst/>
          </a:prstGeom>
          <a:noFill/>
        </p:spPr>
        <p:txBody>
          <a:bodyPr wrap="square">
            <a:spAutoFit/>
          </a:bodyPr>
          <a:lstStyle/>
          <a:p>
            <a:pPr algn="l">
              <a:defRPr sz="800" b="1">
                <a:solidFill>
                  <a:srgbClr val="5CC8C0"/>
                </a:solidFill>
                <a:latin typeface="Montserrat"/>
              </a:defRPr>
            </a:pPr>
            <a:r>
              <a:t>ACTION</a:t>
            </a:r>
          </a:p>
        </p:txBody>
      </p:sp>
      <p:sp>
        <p:nvSpPr>
          <p:cNvPr id="26" name="TextBox 25"/>
          <p:cNvSpPr txBox="1"/>
          <p:nvPr/>
        </p:nvSpPr>
        <p:spPr>
          <a:xfrm>
            <a:off x="1512000" y="6047998"/>
            <a:ext cx="5040000" cy="1007999"/>
          </a:xfrm>
          <a:prstGeom prst="rect">
            <a:avLst/>
          </a:prstGeom>
          <a:noFill/>
        </p:spPr>
        <p:txBody>
          <a:bodyPr wrap="square">
            <a:spAutoFit/>
          </a:bodyPr>
          <a:lstStyle/>
          <a:p>
            <a:pPr algn="just">
              <a:defRPr sz="900" b="0">
                <a:solidFill>
                  <a:srgbClr val="555555"/>
                </a:solidFill>
                <a:latin typeface="Inter"/>
              </a:defRPr>
            </a:pPr>
            <a:r>
              <a:t>J'ai mis en place un tableau de bord hebdomadaire avec 3 indicateurs : avancement physique à 55%, consommation budgétaire à 62%, écart prévisionnel de +4,8%. Après une visite terrain, j'ai fait signer des attachements contradictoires sur place, puis proposé une compensation : réduire le poste Paysager de 44 000 DH pour absorber les plus-values.</a:t>
            </a:r>
          </a:p>
        </p:txBody>
      </p:sp>
      <p:sp>
        <p:nvSpPr>
          <p:cNvPr id="27" name="Rounded Rectangle 26"/>
          <p:cNvSpPr/>
          <p:nvPr/>
        </p:nvSpPr>
        <p:spPr>
          <a:xfrm>
            <a:off x="648000" y="7307997"/>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8000" y="7307997"/>
            <a:ext cx="54000" cy="1512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0000" y="7451997"/>
            <a:ext cx="432000" cy="432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000" y="7487997"/>
            <a:ext cx="432000" cy="360000"/>
          </a:xfrm>
          <a:prstGeom prst="rect">
            <a:avLst/>
          </a:prstGeom>
          <a:noFill/>
        </p:spPr>
        <p:txBody>
          <a:bodyPr wrap="square">
            <a:spAutoFit/>
          </a:bodyPr>
          <a:lstStyle/>
          <a:p>
            <a:pPr algn="ctr">
              <a:defRPr sz="1400" b="1">
                <a:solidFill>
                  <a:srgbClr val="FFFFFF"/>
                </a:solidFill>
                <a:latin typeface="Montserrat"/>
              </a:defRPr>
            </a:pPr>
            <a:r>
              <a:t>R</a:t>
            </a:r>
          </a:p>
        </p:txBody>
      </p:sp>
      <p:sp>
        <p:nvSpPr>
          <p:cNvPr id="31" name="TextBox 30"/>
          <p:cNvSpPr txBox="1"/>
          <p:nvPr/>
        </p:nvSpPr>
        <p:spPr>
          <a:xfrm>
            <a:off x="1512000" y="7451997"/>
            <a:ext cx="1800000" cy="180000"/>
          </a:xfrm>
          <a:prstGeom prst="rect">
            <a:avLst/>
          </a:prstGeom>
          <a:noFill/>
        </p:spPr>
        <p:txBody>
          <a:bodyPr wrap="square">
            <a:spAutoFit/>
          </a:bodyPr>
          <a:lstStyle/>
          <a:p>
            <a:pPr algn="l">
              <a:defRPr sz="800" b="1">
                <a:solidFill>
                  <a:srgbClr val="1E3A5F"/>
                </a:solidFill>
                <a:latin typeface="Montserrat"/>
              </a:defRPr>
            </a:pPr>
            <a:r>
              <a:t>RESULTAT</a:t>
            </a:r>
          </a:p>
        </p:txBody>
      </p:sp>
      <p:sp>
        <p:nvSpPr>
          <p:cNvPr id="32" name="TextBox 31"/>
          <p:cNvSpPr txBox="1"/>
          <p:nvPr/>
        </p:nvSpPr>
        <p:spPr>
          <a:xfrm>
            <a:off x="1512000" y="7703997"/>
            <a:ext cx="5040000" cy="1007999"/>
          </a:xfrm>
          <a:prstGeom prst="rect">
            <a:avLst/>
          </a:prstGeom>
          <a:noFill/>
        </p:spPr>
        <p:txBody>
          <a:bodyPr wrap="square">
            <a:spAutoFit/>
          </a:bodyPr>
          <a:lstStyle/>
          <a:p>
            <a:pPr algn="just">
              <a:defRPr sz="900" b="0">
                <a:solidFill>
                  <a:srgbClr val="555555"/>
                </a:solidFill>
                <a:latin typeface="Inter"/>
              </a:defRPr>
            </a:pPr>
            <a:r>
              <a:t>Le dépassement final a été contenu à +0,8%, soit 57 581 DH, sans aucun avenant. J'ai ensuite répliqué cette méthode sur les 3 autres communes, et le tableau de bord est devenu un outil de référence pour l'Agence.</a:t>
            </a:r>
          </a:p>
        </p:txBody>
      </p:sp>
      <p:sp>
        <p:nvSpPr>
          <p:cNvPr id="33" name="Rectangle 32"/>
          <p:cNvSpPr/>
          <p:nvPr/>
        </p:nvSpPr>
        <p:spPr>
          <a:xfrm>
            <a:off x="0" y="9180000"/>
            <a:ext cx="7560000" cy="432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180000"/>
            <a:ext cx="7560000" cy="36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0000" y="9216000"/>
            <a:ext cx="6840000" cy="360000"/>
          </a:xfrm>
          <a:prstGeom prst="rect">
            <a:avLst/>
          </a:prstGeom>
          <a:noFill/>
        </p:spPr>
        <p:txBody>
          <a:bodyPr wrap="square">
            <a:spAutoFit/>
          </a:bodyPr>
          <a:lstStyle/>
          <a:p>
            <a:pPr algn="ctr">
              <a:defRPr sz="700" b="1">
                <a:solidFill>
                  <a:srgbClr val="1E3A5F"/>
                </a:solidFill>
                <a:latin typeface="Montserrat"/>
              </a:defRPr>
            </a:pPr>
            <a:r>
              <a:t>ANTICIPER LES DÉRIVES POUR ÉVITER L'AVENANT</a:t>
            </a:r>
          </a:p>
        </p:txBody>
      </p:sp>
      <p:sp>
        <p:nvSpPr>
          <p:cNvPr id="36" name="TextBox 35"/>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980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180000"/>
            <a:ext cx="720000" cy="1080000"/>
          </a:xfrm>
          <a:prstGeom prst="rect">
            <a:avLst/>
          </a:prstGeom>
          <a:noFill/>
        </p:spPr>
        <p:txBody>
          <a:bodyPr wrap="square">
            <a:spAutoFit/>
          </a:bodyPr>
          <a:lstStyle/>
          <a:p>
            <a:pPr algn="l">
              <a:defRPr sz="4800" b="1">
                <a:solidFill>
                  <a:srgbClr val="2A4A70"/>
                </a:solidFill>
                <a:latin typeface="Montserrat"/>
              </a:defRPr>
            </a:pPr>
            <a:r>
              <a:t>4</a:t>
            </a:r>
          </a:p>
        </p:txBody>
      </p:sp>
      <p:sp>
        <p:nvSpPr>
          <p:cNvPr id="4" name="TextBox 3"/>
          <p:cNvSpPr txBox="1"/>
          <p:nvPr/>
        </p:nvSpPr>
        <p:spPr>
          <a:xfrm>
            <a:off x="1260000" y="288000"/>
            <a:ext cx="3240000" cy="180000"/>
          </a:xfrm>
          <a:prstGeom prst="rect">
            <a:avLst/>
          </a:prstGeom>
          <a:noFill/>
        </p:spPr>
        <p:txBody>
          <a:bodyPr wrap="square">
            <a:spAutoFit/>
          </a:bodyPr>
          <a:lstStyle/>
          <a:p>
            <a:pPr algn="l">
              <a:defRPr sz="700" b="1">
                <a:solidFill>
                  <a:srgbClr val="5CC8C0"/>
                </a:solidFill>
                <a:latin typeface="Montserrat"/>
              </a:defRPr>
            </a:pPr>
            <a:r>
              <a:t>SITUATION 4</a:t>
            </a:r>
          </a:p>
        </p:txBody>
      </p:sp>
      <p:sp>
        <p:nvSpPr>
          <p:cNvPr id="5" name="TextBox 4"/>
          <p:cNvSpPr txBox="1"/>
          <p:nvPr/>
        </p:nvSpPr>
        <p:spPr>
          <a:xfrm>
            <a:off x="1260000" y="540000"/>
            <a:ext cx="3240000" cy="720000"/>
          </a:xfrm>
          <a:prstGeom prst="rect">
            <a:avLst/>
          </a:prstGeom>
          <a:noFill/>
        </p:spPr>
        <p:txBody>
          <a:bodyPr wrap="square">
            <a:spAutoFit/>
          </a:bodyPr>
          <a:lstStyle/>
          <a:p>
            <a:pPr algn="l">
              <a:defRPr sz="1600" b="1">
                <a:solidFill>
                  <a:srgbClr val="FFFFFF"/>
                </a:solidFill>
                <a:latin typeface="Montserrat"/>
              </a:defRPr>
            </a:pPr>
            <a:r>
              <a:t>Communication et coordination multi-sites</a:t>
            </a:r>
          </a:p>
        </p:txBody>
      </p:sp>
      <p:sp>
        <p:nvSpPr>
          <p:cNvPr id="6" name="Rounded Rectangle 5"/>
          <p:cNvSpPr/>
          <p:nvPr/>
        </p:nvSpPr>
        <p:spPr>
          <a:xfrm>
            <a:off x="5040000" y="360000"/>
            <a:ext cx="1980000" cy="1080000"/>
          </a:xfrm>
          <a:prstGeom prst="roundRect">
            <a:avLst>
              <a:gd name="adj" fmla="val 12000"/>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0" y="540000"/>
            <a:ext cx="1980000" cy="432000"/>
          </a:xfrm>
          <a:prstGeom prst="rect">
            <a:avLst/>
          </a:prstGeom>
          <a:noFill/>
        </p:spPr>
        <p:txBody>
          <a:bodyPr wrap="square">
            <a:spAutoFit/>
          </a:bodyPr>
          <a:lstStyle/>
          <a:p>
            <a:pPr algn="ctr">
              <a:defRPr sz="1800" b="1">
                <a:solidFill>
                  <a:srgbClr val="F39200"/>
                </a:solidFill>
                <a:latin typeface="Montserrat"/>
              </a:defRPr>
            </a:pPr>
            <a:r>
              <a:t>4 sites</a:t>
            </a:r>
          </a:p>
        </p:txBody>
      </p:sp>
      <p:sp>
        <p:nvSpPr>
          <p:cNvPr id="8" name="TextBox 7"/>
          <p:cNvSpPr txBox="1"/>
          <p:nvPr/>
        </p:nvSpPr>
        <p:spPr>
          <a:xfrm>
            <a:off x="5040000" y="1007999"/>
            <a:ext cx="1980000" cy="216000"/>
          </a:xfrm>
          <a:prstGeom prst="rect">
            <a:avLst/>
          </a:prstGeom>
          <a:noFill/>
        </p:spPr>
        <p:txBody>
          <a:bodyPr wrap="square">
            <a:spAutoFit/>
          </a:bodyPr>
          <a:lstStyle/>
          <a:p>
            <a:pPr algn="ctr">
              <a:defRPr sz="700" b="0">
                <a:solidFill>
                  <a:srgbClr val="AAAABB"/>
                </a:solidFill>
                <a:latin typeface="Inter"/>
              </a:defRPr>
            </a:pPr>
            <a:r>
              <a:t>Chantiers simultanés</a:t>
            </a:r>
          </a:p>
        </p:txBody>
      </p:sp>
      <p:sp>
        <p:nvSpPr>
          <p:cNvPr id="9" name="Rounded Rectangle 8"/>
          <p:cNvSpPr/>
          <p:nvPr/>
        </p:nvSpPr>
        <p:spPr>
          <a:xfrm>
            <a:off x="648000" y="2340000"/>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8000" y="2340000"/>
            <a:ext cx="54000" cy="15120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00000" y="2484000"/>
            <a:ext cx="432000" cy="4320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000" y="2520000"/>
            <a:ext cx="432000" cy="360000"/>
          </a:xfrm>
          <a:prstGeom prst="rect">
            <a:avLst/>
          </a:prstGeom>
          <a:noFill/>
        </p:spPr>
        <p:txBody>
          <a:bodyPr wrap="square">
            <a:spAutoFit/>
          </a:bodyPr>
          <a:lstStyle/>
          <a:p>
            <a:pPr algn="ctr">
              <a:defRPr sz="1400" b="1">
                <a:solidFill>
                  <a:srgbClr val="FFFFFF"/>
                </a:solidFill>
                <a:latin typeface="Montserrat"/>
              </a:defRPr>
            </a:pPr>
            <a:r>
              <a:t>C</a:t>
            </a:r>
          </a:p>
        </p:txBody>
      </p:sp>
      <p:sp>
        <p:nvSpPr>
          <p:cNvPr id="13" name="TextBox 12"/>
          <p:cNvSpPr txBox="1"/>
          <p:nvPr/>
        </p:nvSpPr>
        <p:spPr>
          <a:xfrm>
            <a:off x="1512000" y="2484000"/>
            <a:ext cx="1800000" cy="180000"/>
          </a:xfrm>
          <a:prstGeom prst="rect">
            <a:avLst/>
          </a:prstGeom>
          <a:noFill/>
        </p:spPr>
        <p:txBody>
          <a:bodyPr wrap="square">
            <a:spAutoFit/>
          </a:bodyPr>
          <a:lstStyle/>
          <a:p>
            <a:pPr algn="l">
              <a:defRPr sz="800" b="1">
                <a:solidFill>
                  <a:srgbClr val="999999"/>
                </a:solidFill>
                <a:latin typeface="Montserrat"/>
              </a:defRPr>
            </a:pPr>
            <a:r>
              <a:t>CONTEXTE</a:t>
            </a:r>
          </a:p>
        </p:txBody>
      </p:sp>
      <p:sp>
        <p:nvSpPr>
          <p:cNvPr id="14" name="TextBox 13"/>
          <p:cNvSpPr txBox="1"/>
          <p:nvPr/>
        </p:nvSpPr>
        <p:spPr>
          <a:xfrm>
            <a:off x="1512000" y="2736000"/>
            <a:ext cx="5040000" cy="1007999"/>
          </a:xfrm>
          <a:prstGeom prst="rect">
            <a:avLst/>
          </a:prstGeom>
          <a:noFill/>
        </p:spPr>
        <p:txBody>
          <a:bodyPr wrap="square">
            <a:spAutoFit/>
          </a:bodyPr>
          <a:lstStyle/>
          <a:p>
            <a:pPr algn="just">
              <a:defRPr sz="900" b="0">
                <a:solidFill>
                  <a:srgbClr val="555555"/>
                </a:solidFill>
                <a:latin typeface="Inter"/>
              </a:defRPr>
            </a:pPr>
            <a:r>
              <a:t>Je gérais simultanément 4 chantiers sur la province de Khénifra, distants de 20 à 80 km. En tant que relais technique du Directeur de l'Agence, j'étais l'interlocuteur quotidien des entreprises, des bureaux d'études et de la hiérarchie.</a:t>
            </a:r>
          </a:p>
        </p:txBody>
      </p:sp>
      <p:sp>
        <p:nvSpPr>
          <p:cNvPr id="15" name="Rounded Rectangle 14"/>
          <p:cNvSpPr/>
          <p:nvPr/>
        </p:nvSpPr>
        <p:spPr>
          <a:xfrm>
            <a:off x="648000" y="3995999"/>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8000" y="3995999"/>
            <a:ext cx="54000" cy="151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0000" y="4139999"/>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000" y="4175999"/>
            <a:ext cx="432000" cy="360000"/>
          </a:xfrm>
          <a:prstGeom prst="rect">
            <a:avLst/>
          </a:prstGeom>
          <a:noFill/>
        </p:spPr>
        <p:txBody>
          <a:bodyPr wrap="square">
            <a:spAutoFit/>
          </a:bodyPr>
          <a:lstStyle/>
          <a:p>
            <a:pPr algn="ctr">
              <a:defRPr sz="1400" b="1">
                <a:solidFill>
                  <a:srgbClr val="FFFFFF"/>
                </a:solidFill>
                <a:latin typeface="Montserrat"/>
              </a:defRPr>
            </a:pPr>
            <a:r>
              <a:t>P</a:t>
            </a:r>
          </a:p>
        </p:txBody>
      </p:sp>
      <p:sp>
        <p:nvSpPr>
          <p:cNvPr id="19" name="TextBox 18"/>
          <p:cNvSpPr txBox="1"/>
          <p:nvPr/>
        </p:nvSpPr>
        <p:spPr>
          <a:xfrm>
            <a:off x="1512000" y="4139999"/>
            <a:ext cx="1800000" cy="180000"/>
          </a:xfrm>
          <a:prstGeom prst="rect">
            <a:avLst/>
          </a:prstGeom>
          <a:noFill/>
        </p:spPr>
        <p:txBody>
          <a:bodyPr wrap="square">
            <a:spAutoFit/>
          </a:bodyPr>
          <a:lstStyle/>
          <a:p>
            <a:pPr algn="l">
              <a:defRPr sz="800" b="1">
                <a:solidFill>
                  <a:srgbClr val="F39200"/>
                </a:solidFill>
                <a:latin typeface="Montserrat"/>
              </a:defRPr>
            </a:pPr>
            <a:r>
              <a:t>PROBLEMATIQUE</a:t>
            </a:r>
          </a:p>
        </p:txBody>
      </p:sp>
      <p:sp>
        <p:nvSpPr>
          <p:cNvPr id="20" name="TextBox 19"/>
          <p:cNvSpPr txBox="1"/>
          <p:nvPr/>
        </p:nvSpPr>
        <p:spPr>
          <a:xfrm>
            <a:off x="1512000" y="4391999"/>
            <a:ext cx="5040000" cy="1007999"/>
          </a:xfrm>
          <a:prstGeom prst="rect">
            <a:avLst/>
          </a:prstGeom>
          <a:noFill/>
        </p:spPr>
        <p:txBody>
          <a:bodyPr wrap="square">
            <a:spAutoFit/>
          </a:bodyPr>
          <a:lstStyle/>
          <a:p>
            <a:pPr algn="just">
              <a:defRPr sz="900" b="0">
                <a:solidFill>
                  <a:srgbClr val="555555"/>
                </a:solidFill>
                <a:latin typeface="Inter"/>
              </a:defRPr>
            </a:pPr>
            <a:r>
              <a:t>En semaine 23, trois crises ont éclaté simultanément : un retard de livraison des enrobés à Ouaoumana, la nécessité d'émettre un ordre de service d'arrêt à Kerrouchen suite à des intempéries, et un litige sur 1 200 ml de bordures à Sebt Ait Rahou où l'écart atteignait 15%.</a:t>
            </a:r>
          </a:p>
        </p:txBody>
      </p:sp>
      <p:sp>
        <p:nvSpPr>
          <p:cNvPr id="21" name="Rounded Rectangle 20"/>
          <p:cNvSpPr/>
          <p:nvPr/>
        </p:nvSpPr>
        <p:spPr>
          <a:xfrm>
            <a:off x="648000" y="5651998"/>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8000" y="5651998"/>
            <a:ext cx="54000" cy="151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00000" y="5795998"/>
            <a:ext cx="432000" cy="432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000" y="5831998"/>
            <a:ext cx="432000" cy="360000"/>
          </a:xfrm>
          <a:prstGeom prst="rect">
            <a:avLst/>
          </a:prstGeom>
          <a:noFill/>
        </p:spPr>
        <p:txBody>
          <a:bodyPr wrap="square">
            <a:spAutoFit/>
          </a:bodyPr>
          <a:lstStyle/>
          <a:p>
            <a:pPr algn="ctr">
              <a:defRPr sz="1400" b="1">
                <a:solidFill>
                  <a:srgbClr val="FFFFFF"/>
                </a:solidFill>
                <a:latin typeface="Montserrat"/>
              </a:defRPr>
            </a:pPr>
            <a:r>
              <a:t>A</a:t>
            </a:r>
          </a:p>
        </p:txBody>
      </p:sp>
      <p:sp>
        <p:nvSpPr>
          <p:cNvPr id="25" name="TextBox 24"/>
          <p:cNvSpPr txBox="1"/>
          <p:nvPr/>
        </p:nvSpPr>
        <p:spPr>
          <a:xfrm>
            <a:off x="1512000" y="5795998"/>
            <a:ext cx="1800000" cy="180000"/>
          </a:xfrm>
          <a:prstGeom prst="rect">
            <a:avLst/>
          </a:prstGeom>
          <a:noFill/>
        </p:spPr>
        <p:txBody>
          <a:bodyPr wrap="square">
            <a:spAutoFit/>
          </a:bodyPr>
          <a:lstStyle/>
          <a:p>
            <a:pPr algn="l">
              <a:defRPr sz="800" b="1">
                <a:solidFill>
                  <a:srgbClr val="5CC8C0"/>
                </a:solidFill>
                <a:latin typeface="Montserrat"/>
              </a:defRPr>
            </a:pPr>
            <a:r>
              <a:t>ACTION</a:t>
            </a:r>
          </a:p>
        </p:txBody>
      </p:sp>
      <p:sp>
        <p:nvSpPr>
          <p:cNvPr id="26" name="TextBox 25"/>
          <p:cNvSpPr txBox="1"/>
          <p:nvPr/>
        </p:nvSpPr>
        <p:spPr>
          <a:xfrm>
            <a:off x="1512000" y="6047998"/>
            <a:ext cx="5040000" cy="1007999"/>
          </a:xfrm>
          <a:prstGeom prst="rect">
            <a:avLst/>
          </a:prstGeom>
          <a:noFill/>
        </p:spPr>
        <p:txBody>
          <a:bodyPr wrap="square">
            <a:spAutoFit/>
          </a:bodyPr>
          <a:lstStyle/>
          <a:p>
            <a:pPr algn="just">
              <a:defRPr sz="900" b="0">
                <a:solidFill>
                  <a:srgbClr val="555555"/>
                </a:solidFill>
                <a:latin typeface="Inter"/>
              </a:defRPr>
            </a:pPr>
            <a:r>
              <a:t>J'ai organisé 3 interventions coordonnées. À Ouaoumana, j'ai rédigé une note factuelle au Directeur avec planning de rattrapage. À Kerrouchen, j'ai préparé l'ordre de service d'arrêt. À Sebt Ait Rahou, j'ai réalisé un attachement contradictoire sur place pour recaler les quantités. En parallèle, j'assurais un point téléphonique quotidien et j'ai transmis un compte rendu consolidé sous 24 heures.</a:t>
            </a:r>
          </a:p>
        </p:txBody>
      </p:sp>
      <p:sp>
        <p:nvSpPr>
          <p:cNvPr id="27" name="Rounded Rectangle 26"/>
          <p:cNvSpPr/>
          <p:nvPr/>
        </p:nvSpPr>
        <p:spPr>
          <a:xfrm>
            <a:off x="648000" y="7307997"/>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8000" y="7307997"/>
            <a:ext cx="54000" cy="1512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0000" y="7451997"/>
            <a:ext cx="432000" cy="432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000" y="7487997"/>
            <a:ext cx="432000" cy="360000"/>
          </a:xfrm>
          <a:prstGeom prst="rect">
            <a:avLst/>
          </a:prstGeom>
          <a:noFill/>
        </p:spPr>
        <p:txBody>
          <a:bodyPr wrap="square">
            <a:spAutoFit/>
          </a:bodyPr>
          <a:lstStyle/>
          <a:p>
            <a:pPr algn="ctr">
              <a:defRPr sz="1400" b="1">
                <a:solidFill>
                  <a:srgbClr val="FFFFFF"/>
                </a:solidFill>
                <a:latin typeface="Montserrat"/>
              </a:defRPr>
            </a:pPr>
            <a:r>
              <a:t>R</a:t>
            </a:r>
          </a:p>
        </p:txBody>
      </p:sp>
      <p:sp>
        <p:nvSpPr>
          <p:cNvPr id="31" name="TextBox 30"/>
          <p:cNvSpPr txBox="1"/>
          <p:nvPr/>
        </p:nvSpPr>
        <p:spPr>
          <a:xfrm>
            <a:off x="1512000" y="7451997"/>
            <a:ext cx="1800000" cy="180000"/>
          </a:xfrm>
          <a:prstGeom prst="rect">
            <a:avLst/>
          </a:prstGeom>
          <a:noFill/>
        </p:spPr>
        <p:txBody>
          <a:bodyPr wrap="square">
            <a:spAutoFit/>
          </a:bodyPr>
          <a:lstStyle/>
          <a:p>
            <a:pPr algn="l">
              <a:defRPr sz="800" b="1">
                <a:solidFill>
                  <a:srgbClr val="1E3A5F"/>
                </a:solidFill>
                <a:latin typeface="Montserrat"/>
              </a:defRPr>
            </a:pPr>
            <a:r>
              <a:t>RESULTAT</a:t>
            </a:r>
          </a:p>
        </p:txBody>
      </p:sp>
      <p:sp>
        <p:nvSpPr>
          <p:cNvPr id="32" name="TextBox 31"/>
          <p:cNvSpPr txBox="1"/>
          <p:nvPr/>
        </p:nvSpPr>
        <p:spPr>
          <a:xfrm>
            <a:off x="1512000" y="7703997"/>
            <a:ext cx="5040000" cy="1007999"/>
          </a:xfrm>
          <a:prstGeom prst="rect">
            <a:avLst/>
          </a:prstGeom>
          <a:noFill/>
        </p:spPr>
        <p:txBody>
          <a:bodyPr wrap="square">
            <a:spAutoFit/>
          </a:bodyPr>
          <a:lstStyle/>
          <a:p>
            <a:pPr algn="just">
              <a:defRPr sz="900" b="0">
                <a:solidFill>
                  <a:srgbClr val="555555"/>
                </a:solidFill>
                <a:latin typeface="Inter"/>
              </a:defRPr>
            </a:pPr>
            <a:r>
              <a:t>Le retard des enrobés a été rattrapé en 2 semaines. L'ordre de service d'arrêt a été émis dès le lendemain, permettant une reprise ordonnée après 10 jours. L'écart des bordures a été ramené à 2,3%, débloquant le paiement. Le Directeur m'a ensuite confié la rédaction systématique des OS et CR.</a:t>
            </a:r>
          </a:p>
        </p:txBody>
      </p:sp>
      <p:sp>
        <p:nvSpPr>
          <p:cNvPr id="33" name="Rectangle 32"/>
          <p:cNvSpPr/>
          <p:nvPr/>
        </p:nvSpPr>
        <p:spPr>
          <a:xfrm>
            <a:off x="0" y="9180000"/>
            <a:ext cx="7560000" cy="432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180000"/>
            <a:ext cx="7560000" cy="36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0000" y="9216000"/>
            <a:ext cx="6840000" cy="360000"/>
          </a:xfrm>
          <a:prstGeom prst="rect">
            <a:avLst/>
          </a:prstGeom>
          <a:noFill/>
        </p:spPr>
        <p:txBody>
          <a:bodyPr wrap="square">
            <a:spAutoFit/>
          </a:bodyPr>
          <a:lstStyle/>
          <a:p>
            <a:pPr algn="ctr">
              <a:defRPr sz="700" b="1">
                <a:solidFill>
                  <a:srgbClr val="1E3A5F"/>
                </a:solidFill>
                <a:latin typeface="Montserrat"/>
              </a:defRPr>
            </a:pPr>
            <a:r>
              <a:t>COORDONNER ET COMMUNIQUER SOUS PRESSION</a:t>
            </a:r>
          </a:p>
        </p:txBody>
      </p:sp>
      <p:sp>
        <p:nvSpPr>
          <p:cNvPr id="36" name="TextBox 35"/>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540000"/>
            <a:ext cx="6120000" cy="540000"/>
          </a:xfrm>
          <a:prstGeom prst="rect">
            <a:avLst/>
          </a:prstGeom>
          <a:noFill/>
        </p:spPr>
        <p:txBody>
          <a:bodyPr wrap="square">
            <a:spAutoFit/>
          </a:bodyPr>
          <a:lstStyle/>
          <a:p>
            <a:pPr algn="l">
              <a:defRPr sz="2000" b="1">
                <a:solidFill>
                  <a:srgbClr val="1E3A5F"/>
                </a:solidFill>
                <a:latin typeface="Montserrat"/>
              </a:defRPr>
            </a:pPr>
            <a:r>
              <a:t>DIFFICULTES ET</a:t>
            </a:r>
            <a:br/>
            <a:r>
              <a:t>SOLUTIONS - PROJET 1</a:t>
            </a:r>
          </a:p>
        </p:txBody>
      </p:sp>
      <p:sp>
        <p:nvSpPr>
          <p:cNvPr id="3" name="Rectangle 2"/>
          <p:cNvSpPr/>
          <p:nvPr/>
        </p:nvSpPr>
        <p:spPr>
          <a:xfrm>
            <a:off x="648000" y="1440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620000"/>
            <a:ext cx="6263999" cy="540000"/>
          </a:xfrm>
          <a:prstGeom prst="rect">
            <a:avLst/>
          </a:prstGeom>
          <a:noFill/>
        </p:spPr>
        <p:txBody>
          <a:bodyPr wrap="square">
            <a:spAutoFit/>
          </a:bodyPr>
          <a:lstStyle/>
          <a:p>
            <a:pPr algn="just">
              <a:defRPr sz="900" b="0">
                <a:solidFill>
                  <a:srgbClr val="555555"/>
                </a:solidFill>
                <a:latin typeface="Inter"/>
              </a:defRPr>
            </a:pPr>
            <a:r>
              <a:t>Les quatre chantiers simultanement menes ont genere des defis techniques, logistiques et financiers majeurs.</a:t>
            </a:r>
          </a:p>
        </p:txBody>
      </p:sp>
      <p:sp>
        <p:nvSpPr>
          <p:cNvPr id="5" name="Rounded Rectangle 4"/>
          <p:cNvSpPr/>
          <p:nvPr/>
        </p:nvSpPr>
        <p:spPr>
          <a:xfrm>
            <a:off x="432000" y="2340000"/>
            <a:ext cx="1584000" cy="504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2000" y="2340000"/>
            <a:ext cx="1584000" cy="54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0000" y="2520000"/>
            <a:ext cx="288000" cy="288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00000" y="2556000"/>
            <a:ext cx="1080000"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8 parties techniqu</a:t>
            </a:r>
          </a:p>
        </p:txBody>
      </p:sp>
      <p:sp>
        <p:nvSpPr>
          <p:cNvPr id="9" name="TextBox 8"/>
          <p:cNvSpPr txBox="1"/>
          <p:nvPr/>
        </p:nvSpPr>
        <p:spPr>
          <a:xfrm>
            <a:off x="540000" y="2951999"/>
            <a:ext cx="1368000" cy="216000"/>
          </a:xfrm>
          <a:prstGeom prst="rect">
            <a:avLst/>
          </a:prstGeom>
          <a:noFill/>
        </p:spPr>
        <p:txBody>
          <a:bodyPr wrap="square">
            <a:spAutoFit/>
          </a:bodyPr>
          <a:lstStyle/>
          <a:p>
            <a:pPr algn="l">
              <a:defRPr sz="900" b="1">
                <a:solidFill>
                  <a:srgbClr val="F39200"/>
                </a:solidFill>
                <a:latin typeface="Montserrat"/>
              </a:defRPr>
            </a:pPr>
            <a:r>
              <a:t>8 parties techniques</a:t>
            </a:r>
          </a:p>
        </p:txBody>
      </p:sp>
      <p:sp>
        <p:nvSpPr>
          <p:cNvPr id="10" name="TextBox 9"/>
          <p:cNvSpPr txBox="1"/>
          <p:nvPr/>
        </p:nvSpPr>
        <p:spPr>
          <a:xfrm>
            <a:off x="540000" y="3311999"/>
            <a:ext cx="1368000" cy="1800000"/>
          </a:xfrm>
          <a:prstGeom prst="rect">
            <a:avLst/>
          </a:prstGeom>
          <a:noFill/>
        </p:spPr>
        <p:txBody>
          <a:bodyPr wrap="square">
            <a:spAutoFit/>
          </a:bodyPr>
          <a:lstStyle/>
          <a:p>
            <a:pPr algn="just">
              <a:defRPr sz="700" b="0">
                <a:solidFill>
                  <a:srgbClr val="555555"/>
                </a:solidFill>
                <a:latin typeface="Inter"/>
              </a:defRPr>
            </a:pPr>
            <a:r>
              <a:t>Coordination complexe entre assainissement, chaussée, trottoirs, signalisation, éclairage, murs, paysager et mobilier urbain</a:t>
            </a:r>
          </a:p>
        </p:txBody>
      </p:sp>
      <p:sp>
        <p:nvSpPr>
          <p:cNvPr id="11" name="Rectangle 10"/>
          <p:cNvSpPr/>
          <p:nvPr/>
        </p:nvSpPr>
        <p:spPr>
          <a:xfrm>
            <a:off x="612000" y="5040000"/>
            <a:ext cx="1224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0000" y="5220000"/>
            <a:ext cx="1368000" cy="1440000"/>
          </a:xfrm>
          <a:prstGeom prst="rect">
            <a:avLst/>
          </a:prstGeom>
          <a:noFill/>
        </p:spPr>
        <p:txBody>
          <a:bodyPr wrap="square">
            <a:spAutoFit/>
          </a:bodyPr>
          <a:lstStyle/>
          <a:p>
            <a:pPr algn="just">
              <a:defRPr sz="700" b="0">
                <a:solidFill>
                  <a:srgbClr val="F39200"/>
                </a:solidFill>
                <a:latin typeface="Inter"/>
              </a:defRPr>
            </a:pPr>
            <a:r>
              <a:t>Tableau de bord Excel consolidé permettant le suivi en temps réel par commune et par partie</a:t>
            </a:r>
          </a:p>
        </p:txBody>
      </p:sp>
      <p:sp>
        <p:nvSpPr>
          <p:cNvPr id="13" name="Rounded Rectangle 12"/>
          <p:cNvSpPr/>
          <p:nvPr/>
        </p:nvSpPr>
        <p:spPr>
          <a:xfrm>
            <a:off x="2160000" y="2340000"/>
            <a:ext cx="1584000" cy="504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0000" y="2340000"/>
            <a:ext cx="1584000" cy="54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268000" y="2520000"/>
            <a:ext cx="288000" cy="288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628000" y="2556000"/>
            <a:ext cx="1080000" cy="251999"/>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Conditions géologi</a:t>
            </a:r>
          </a:p>
        </p:txBody>
      </p:sp>
      <p:sp>
        <p:nvSpPr>
          <p:cNvPr id="17" name="TextBox 16"/>
          <p:cNvSpPr txBox="1"/>
          <p:nvPr/>
        </p:nvSpPr>
        <p:spPr>
          <a:xfrm>
            <a:off x="2268000" y="2951999"/>
            <a:ext cx="1368000" cy="216000"/>
          </a:xfrm>
          <a:prstGeom prst="rect">
            <a:avLst/>
          </a:prstGeom>
          <a:noFill/>
        </p:spPr>
        <p:txBody>
          <a:bodyPr wrap="square">
            <a:spAutoFit/>
          </a:bodyPr>
          <a:lstStyle/>
          <a:p>
            <a:pPr algn="l">
              <a:defRPr sz="900" b="1">
                <a:solidFill>
                  <a:srgbClr val="5CC8C0"/>
                </a:solidFill>
                <a:latin typeface="Montserrat"/>
              </a:defRPr>
            </a:pPr>
            <a:r>
              <a:t>Conditions géologiques</a:t>
            </a:r>
          </a:p>
        </p:txBody>
      </p:sp>
      <p:sp>
        <p:nvSpPr>
          <p:cNvPr id="18" name="TextBox 17"/>
          <p:cNvSpPr txBox="1"/>
          <p:nvPr/>
        </p:nvSpPr>
        <p:spPr>
          <a:xfrm>
            <a:off x="2268000" y="3311999"/>
            <a:ext cx="1368000" cy="1800000"/>
          </a:xfrm>
          <a:prstGeom prst="rect">
            <a:avLst/>
          </a:prstGeom>
          <a:noFill/>
        </p:spPr>
        <p:txBody>
          <a:bodyPr wrap="square">
            <a:spAutoFit/>
          </a:bodyPr>
          <a:lstStyle/>
          <a:p>
            <a:pPr algn="just">
              <a:defRPr sz="700" b="0">
                <a:solidFill>
                  <a:srgbClr val="555555"/>
                </a:solidFill>
                <a:latin typeface="Inter"/>
              </a:defRPr>
            </a:pPr>
            <a:r>
              <a:t>Terrain rocheux imprévu nécessitant des plus-values de terrassement, nature du sol variable entre communes</a:t>
            </a:r>
          </a:p>
        </p:txBody>
      </p:sp>
      <p:sp>
        <p:nvSpPr>
          <p:cNvPr id="19" name="Rectangle 18"/>
          <p:cNvSpPr/>
          <p:nvPr/>
        </p:nvSpPr>
        <p:spPr>
          <a:xfrm>
            <a:off x="2340000" y="5040000"/>
            <a:ext cx="1224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68000" y="5220000"/>
            <a:ext cx="1368000" cy="1440000"/>
          </a:xfrm>
          <a:prstGeom prst="rect">
            <a:avLst/>
          </a:prstGeom>
          <a:noFill/>
        </p:spPr>
        <p:txBody>
          <a:bodyPr wrap="square">
            <a:spAutoFit/>
          </a:bodyPr>
          <a:lstStyle/>
          <a:p>
            <a:pPr algn="just">
              <a:defRPr sz="700" b="0">
                <a:solidFill>
                  <a:srgbClr val="5CC8C0"/>
                </a:solidFill>
                <a:latin typeface="Inter"/>
              </a:defRPr>
            </a:pPr>
            <a:r>
              <a:t>Visites de chantier régulières pour valider les quantités déclarées par l'entreprise</a:t>
            </a:r>
          </a:p>
        </p:txBody>
      </p:sp>
      <p:sp>
        <p:nvSpPr>
          <p:cNvPr id="21" name="Rounded Rectangle 20"/>
          <p:cNvSpPr/>
          <p:nvPr/>
        </p:nvSpPr>
        <p:spPr>
          <a:xfrm>
            <a:off x="3888000" y="2340000"/>
            <a:ext cx="1584000" cy="504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88000" y="2340000"/>
            <a:ext cx="1584000" cy="54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996000" y="2520000"/>
            <a:ext cx="288000" cy="2880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56000" y="2556000"/>
            <a:ext cx="1080000" cy="251999"/>
          </a:xfrm>
          <a:prstGeom prst="roundRect">
            <a:avLst>
              <a:gd name="adj" fmla="val 5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4 chantiers simult</a:t>
            </a:r>
          </a:p>
        </p:txBody>
      </p:sp>
      <p:sp>
        <p:nvSpPr>
          <p:cNvPr id="25" name="TextBox 24"/>
          <p:cNvSpPr txBox="1"/>
          <p:nvPr/>
        </p:nvSpPr>
        <p:spPr>
          <a:xfrm>
            <a:off x="3996000" y="2951999"/>
            <a:ext cx="1368000" cy="216000"/>
          </a:xfrm>
          <a:prstGeom prst="rect">
            <a:avLst/>
          </a:prstGeom>
          <a:noFill/>
        </p:spPr>
        <p:txBody>
          <a:bodyPr wrap="square">
            <a:spAutoFit/>
          </a:bodyPr>
          <a:lstStyle/>
          <a:p>
            <a:pPr algn="l">
              <a:defRPr sz="900" b="1">
                <a:solidFill>
                  <a:srgbClr val="8B5CF6"/>
                </a:solidFill>
                <a:latin typeface="Montserrat"/>
              </a:defRPr>
            </a:pPr>
            <a:r>
              <a:t>4 chantiers simultanés</a:t>
            </a:r>
          </a:p>
        </p:txBody>
      </p:sp>
      <p:sp>
        <p:nvSpPr>
          <p:cNvPr id="26" name="TextBox 25"/>
          <p:cNvSpPr txBox="1"/>
          <p:nvPr/>
        </p:nvSpPr>
        <p:spPr>
          <a:xfrm>
            <a:off x="3996000" y="3311999"/>
            <a:ext cx="1368000" cy="1800000"/>
          </a:xfrm>
          <a:prstGeom prst="rect">
            <a:avLst/>
          </a:prstGeom>
          <a:noFill/>
        </p:spPr>
        <p:txBody>
          <a:bodyPr wrap="square">
            <a:spAutoFit/>
          </a:bodyPr>
          <a:lstStyle/>
          <a:p>
            <a:pPr algn="just">
              <a:defRPr sz="700" b="0">
                <a:solidFill>
                  <a:srgbClr val="555555"/>
                </a:solidFill>
                <a:latin typeface="Inter"/>
              </a:defRPr>
            </a:pPr>
            <a:r>
              <a:t>Gestion de 4 sites répartis sur la province de Khénifra, suivi dispersé géographiquement</a:t>
            </a:r>
          </a:p>
        </p:txBody>
      </p:sp>
      <p:sp>
        <p:nvSpPr>
          <p:cNvPr id="27" name="Rectangle 26"/>
          <p:cNvSpPr/>
          <p:nvPr/>
        </p:nvSpPr>
        <p:spPr>
          <a:xfrm>
            <a:off x="4068000" y="5040000"/>
            <a:ext cx="1224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96000" y="5220000"/>
            <a:ext cx="1368000" cy="1440000"/>
          </a:xfrm>
          <a:prstGeom prst="rect">
            <a:avLst/>
          </a:prstGeom>
          <a:noFill/>
        </p:spPr>
        <p:txBody>
          <a:bodyPr wrap="square">
            <a:spAutoFit/>
          </a:bodyPr>
          <a:lstStyle/>
          <a:p>
            <a:pPr algn="just">
              <a:defRPr sz="700" b="0">
                <a:solidFill>
                  <a:srgbClr val="8B5CF6"/>
                </a:solidFill>
                <a:latin typeface="Inter"/>
              </a:defRPr>
            </a:pPr>
            <a:r>
              <a:t>Anticipation des avenants par veille continue sur les écarts de quantités</a:t>
            </a:r>
          </a:p>
        </p:txBody>
      </p:sp>
      <p:sp>
        <p:nvSpPr>
          <p:cNvPr id="29" name="Rounded Rectangle 28"/>
          <p:cNvSpPr/>
          <p:nvPr/>
        </p:nvSpPr>
        <p:spPr>
          <a:xfrm>
            <a:off x="5616000" y="2340000"/>
            <a:ext cx="1584000" cy="504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16000" y="2340000"/>
            <a:ext cx="1584000" cy="54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24000" y="2520000"/>
            <a:ext cx="288000" cy="288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084000" y="2556000"/>
            <a:ext cx="1080000" cy="251999"/>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Écarts quantités</a:t>
            </a:r>
          </a:p>
        </p:txBody>
      </p:sp>
      <p:sp>
        <p:nvSpPr>
          <p:cNvPr id="33" name="TextBox 32"/>
          <p:cNvSpPr txBox="1"/>
          <p:nvPr/>
        </p:nvSpPr>
        <p:spPr>
          <a:xfrm>
            <a:off x="5724000" y="2951999"/>
            <a:ext cx="1368000" cy="216000"/>
          </a:xfrm>
          <a:prstGeom prst="rect">
            <a:avLst/>
          </a:prstGeom>
          <a:noFill/>
        </p:spPr>
        <p:txBody>
          <a:bodyPr wrap="square">
            <a:spAutoFit/>
          </a:bodyPr>
          <a:lstStyle/>
          <a:p>
            <a:pPr algn="l">
              <a:defRPr sz="900" b="1">
                <a:solidFill>
                  <a:srgbClr val="1E3A5F"/>
                </a:solidFill>
                <a:latin typeface="Montserrat"/>
              </a:defRPr>
            </a:pPr>
            <a:r>
              <a:t>Écarts quantités</a:t>
            </a:r>
          </a:p>
        </p:txBody>
      </p:sp>
      <p:sp>
        <p:nvSpPr>
          <p:cNvPr id="34" name="TextBox 33"/>
          <p:cNvSpPr txBox="1"/>
          <p:nvPr/>
        </p:nvSpPr>
        <p:spPr>
          <a:xfrm>
            <a:off x="5724000" y="3311999"/>
            <a:ext cx="1368000" cy="1800000"/>
          </a:xfrm>
          <a:prstGeom prst="rect">
            <a:avLst/>
          </a:prstGeom>
          <a:noFill/>
        </p:spPr>
        <p:txBody>
          <a:bodyPr wrap="square">
            <a:spAutoFit/>
          </a:bodyPr>
          <a:lstStyle/>
          <a:p>
            <a:pPr algn="just">
              <a:defRPr sz="700" b="0">
                <a:solidFill>
                  <a:srgbClr val="555555"/>
                </a:solidFill>
                <a:latin typeface="Inter"/>
              </a:defRPr>
            </a:pPr>
            <a:r>
              <a:t>Différences entre les quantités estimées au BPDE et les quantités réellement exécutées sur chantier</a:t>
            </a:r>
          </a:p>
        </p:txBody>
      </p:sp>
      <p:sp>
        <p:nvSpPr>
          <p:cNvPr id="35" name="Rectangle 34"/>
          <p:cNvSpPr/>
          <p:nvPr/>
        </p:nvSpPr>
        <p:spPr>
          <a:xfrm>
            <a:off x="5796000" y="5040000"/>
            <a:ext cx="1224000" cy="108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24000" y="5220000"/>
            <a:ext cx="1368000" cy="1440000"/>
          </a:xfrm>
          <a:prstGeom prst="rect">
            <a:avLst/>
          </a:prstGeom>
          <a:noFill/>
        </p:spPr>
        <p:txBody>
          <a:bodyPr wrap="square">
            <a:spAutoFit/>
          </a:bodyPr>
          <a:lstStyle/>
          <a:p>
            <a:pPr algn="just">
              <a:defRPr sz="700" b="0">
                <a:solidFill>
                  <a:srgbClr val="1E3A5F"/>
                </a:solidFill>
                <a:latin typeface="Inter"/>
              </a:defRPr>
            </a:pPr>
            <a:r>
              <a:t>Communication régulière avec la hiérarchie sur l'état d'avancement financier</a:t>
            </a:r>
          </a:p>
        </p:txBody>
      </p:sp>
      <p:sp>
        <p:nvSpPr>
          <p:cNvPr id="37" name="Rounded Rectangle 36"/>
          <p:cNvSpPr/>
          <p:nvPr/>
        </p:nvSpPr>
        <p:spPr>
          <a:xfrm>
            <a:off x="648000" y="7560000"/>
            <a:ext cx="6263999" cy="432000"/>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0000" y="7596000"/>
            <a:ext cx="5760000" cy="360000"/>
          </a:xfrm>
          <a:prstGeom prst="rect">
            <a:avLst/>
          </a:prstGeom>
          <a:noFill/>
        </p:spPr>
        <p:txBody>
          <a:bodyPr wrap="square">
            <a:spAutoFit/>
          </a:bodyPr>
          <a:lstStyle/>
          <a:p>
            <a:pPr algn="ctr">
              <a:defRPr sz="800" b="0">
                <a:solidFill>
                  <a:srgbClr val="FFFFFF"/>
                </a:solidFill>
                <a:latin typeface="Inter"/>
              </a:defRPr>
            </a:pPr>
            <a:r>
              <a:t>Le suivi technique exige presence terrain, communication transparente et anticipation des risques.</a:t>
            </a:r>
          </a:p>
        </p:txBody>
      </p:sp>
      <p:sp>
        <p:nvSpPr>
          <p:cNvPr id="39" name="TextBox 38"/>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0000" y="1800000"/>
            <a:ext cx="3600000" cy="3600000"/>
          </a:xfrm>
          <a:prstGeom prst="ellipse">
            <a:avLst/>
          </a:prstGeom>
          <a:solidFill>
            <a:srgbClr val="48B4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760000" y="7200000"/>
            <a:ext cx="2880000" cy="2880000"/>
          </a:xfrm>
          <a:prstGeom prst="ellipse">
            <a:avLst/>
          </a:prstGeom>
          <a:solidFill>
            <a:srgbClr val="6BD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 y="3600000"/>
            <a:ext cx="6840000" cy="1080000"/>
          </a:xfrm>
          <a:prstGeom prst="rect">
            <a:avLst/>
          </a:prstGeom>
          <a:noFill/>
        </p:spPr>
        <p:txBody>
          <a:bodyPr wrap="square">
            <a:spAutoFit/>
          </a:bodyPr>
          <a:lstStyle/>
          <a:p>
            <a:pPr algn="ctr">
              <a:defRPr sz="7200" b="1">
                <a:solidFill>
                  <a:srgbClr val="7AE6DE"/>
                </a:solidFill>
                <a:latin typeface="Montserrat"/>
              </a:defRPr>
            </a:pPr>
            <a:r>
              <a:t>03</a:t>
            </a:r>
          </a:p>
        </p:txBody>
      </p:sp>
      <p:sp>
        <p:nvSpPr>
          <p:cNvPr id="6" name="TextBox 5"/>
          <p:cNvSpPr txBox="1"/>
          <p:nvPr/>
        </p:nvSpPr>
        <p:spPr>
          <a:xfrm>
            <a:off x="720000" y="5040000"/>
            <a:ext cx="6120000" cy="1080000"/>
          </a:xfrm>
          <a:prstGeom prst="rect">
            <a:avLst/>
          </a:prstGeom>
          <a:noFill/>
        </p:spPr>
        <p:txBody>
          <a:bodyPr wrap="square">
            <a:spAutoFit/>
          </a:bodyPr>
          <a:lstStyle/>
          <a:p>
            <a:pPr algn="ctr">
              <a:defRPr sz="2600" b="1">
                <a:solidFill>
                  <a:srgbClr val="FFFFFF"/>
                </a:solidFill>
                <a:latin typeface="Montserrat"/>
              </a:defRPr>
            </a:pPr>
            <a:r>
              <a:t>PROJET 2 : ROUTE LEHRI-KERROUCHEN</a:t>
            </a:r>
          </a:p>
        </p:txBody>
      </p:sp>
      <p:sp>
        <p:nvSpPr>
          <p:cNvPr id="7" name="Rectangle 6"/>
          <p:cNvSpPr/>
          <p:nvPr/>
        </p:nvSpPr>
        <p:spPr>
          <a:xfrm>
            <a:off x="3060000" y="6300000"/>
            <a:ext cx="144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6660000"/>
            <a:ext cx="6120000" cy="720000"/>
          </a:xfrm>
          <a:prstGeom prst="rect">
            <a:avLst/>
          </a:prstGeom>
          <a:noFill/>
        </p:spPr>
        <p:txBody>
          <a:bodyPr wrap="square">
            <a:spAutoFit/>
          </a:bodyPr>
          <a:lstStyle/>
          <a:p>
            <a:pPr algn="ctr">
              <a:defRPr sz="1000" b="0">
                <a:solidFill>
                  <a:srgbClr val="98FFFC"/>
                </a:solidFill>
                <a:latin typeface="Inter"/>
              </a:defRPr>
            </a:pPr>
            <a:r>
              <a:t>29 M DH TTC – 25 km en zone montagneuse Programme National des Routes Rurales (PRR3)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7560000" cy="1800000"/>
          </a:xfrm>
          <a:prstGeom prst="roundRect">
            <a:avLst>
              <a:gd name="adj" fmla="val 5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0000" y="432000"/>
            <a:ext cx="432000" cy="432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80000"/>
            <a:ext cx="1800000" cy="180000"/>
          </a:xfrm>
          <a:prstGeom prst="rect">
            <a:avLst/>
          </a:prstGeom>
          <a:noFill/>
        </p:spPr>
        <p:txBody>
          <a:bodyPr wrap="square">
            <a:spAutoFit/>
          </a:bodyPr>
          <a:lstStyle/>
          <a:p>
            <a:pPr algn="l">
              <a:defRPr sz="700" b="1">
                <a:solidFill>
                  <a:srgbClr val="A0E0D8"/>
                </a:solidFill>
                <a:latin typeface="Montserrat"/>
              </a:defRPr>
            </a:pPr>
            <a:r>
              <a:t>PROJET 2</a:t>
            </a:r>
          </a:p>
        </p:txBody>
      </p:sp>
      <p:sp>
        <p:nvSpPr>
          <p:cNvPr id="5" name="TextBox 4"/>
          <p:cNvSpPr txBox="1"/>
          <p:nvPr/>
        </p:nvSpPr>
        <p:spPr>
          <a:xfrm>
            <a:off x="1152000" y="432000"/>
            <a:ext cx="5760000" cy="900000"/>
          </a:xfrm>
          <a:prstGeom prst="rect">
            <a:avLst/>
          </a:prstGeom>
          <a:noFill/>
        </p:spPr>
        <p:txBody>
          <a:bodyPr wrap="square">
            <a:spAutoFit/>
          </a:bodyPr>
          <a:lstStyle/>
          <a:p>
            <a:pPr algn="l">
              <a:defRPr sz="1800" b="1">
                <a:solidFill>
                  <a:srgbClr val="FFFFFF"/>
                </a:solidFill>
                <a:latin typeface="Montserrat"/>
              </a:defRPr>
            </a:pPr>
            <a:r>
              <a:t>ROUTE LEHRI-KERROUCHEN - 25 KM</a:t>
            </a:r>
          </a:p>
        </p:txBody>
      </p:sp>
      <p:sp>
        <p:nvSpPr>
          <p:cNvPr id="6" name="Rectangle 5"/>
          <p:cNvSpPr/>
          <p:nvPr/>
        </p:nvSpPr>
        <p:spPr>
          <a:xfrm>
            <a:off x="648000" y="2088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2232000"/>
            <a:ext cx="3600000" cy="540000"/>
          </a:xfrm>
          <a:prstGeom prst="rect">
            <a:avLst/>
          </a:prstGeom>
          <a:noFill/>
        </p:spPr>
        <p:txBody>
          <a:bodyPr wrap="square">
            <a:spAutoFit/>
          </a:bodyPr>
          <a:lstStyle/>
          <a:p>
            <a:pPr algn="just">
              <a:defRPr sz="900" b="0">
                <a:solidFill>
                  <a:srgbClr val="555555"/>
                </a:solidFill>
                <a:latin typeface="Inter"/>
              </a:defRPr>
            </a:pPr>
            <a:r>
              <a:t>La route Lehri-Kerrouchen, longue de 25 km en zone montagneuse, s'inscrit dans le Programme PRR3. 3 sections et 53 prix au bordereau.</a:t>
            </a:r>
          </a:p>
        </p:txBody>
      </p:sp>
      <p:sp>
        <p:nvSpPr>
          <p:cNvPr id="8" name="TextBox 7"/>
          <p:cNvSpPr txBox="1"/>
          <p:nvPr/>
        </p:nvSpPr>
        <p:spPr>
          <a:xfrm>
            <a:off x="792000" y="2880000"/>
            <a:ext cx="1260000" cy="288000"/>
          </a:xfrm>
          <a:prstGeom prst="rect">
            <a:avLst/>
          </a:prstGeom>
          <a:noFill/>
        </p:spPr>
        <p:txBody>
          <a:bodyPr wrap="square">
            <a:spAutoFit/>
          </a:bodyPr>
          <a:lstStyle/>
          <a:p>
            <a:pPr algn="l">
              <a:defRPr sz="800" b="1">
                <a:solidFill>
                  <a:srgbClr val="F39200"/>
                </a:solidFill>
                <a:latin typeface="Inter"/>
              </a:defRPr>
            </a:pPr>
            <a:r>
              <a:t>Marché</a:t>
            </a:r>
          </a:p>
        </p:txBody>
      </p:sp>
      <p:sp>
        <p:nvSpPr>
          <p:cNvPr id="9" name="TextBox 8"/>
          <p:cNvSpPr txBox="1"/>
          <p:nvPr/>
        </p:nvSpPr>
        <p:spPr>
          <a:xfrm>
            <a:off x="2160000" y="2880000"/>
            <a:ext cx="1620000" cy="288000"/>
          </a:xfrm>
          <a:prstGeom prst="rect">
            <a:avLst/>
          </a:prstGeom>
          <a:noFill/>
        </p:spPr>
        <p:txBody>
          <a:bodyPr wrap="square">
            <a:spAutoFit/>
          </a:bodyPr>
          <a:lstStyle/>
          <a:p>
            <a:pPr algn="l">
              <a:defRPr sz="800" b="0">
                <a:solidFill>
                  <a:srgbClr val="2D2D2D"/>
                </a:solidFill>
                <a:latin typeface="Inter"/>
              </a:defRPr>
            </a:pPr>
            <a:r>
              <a:t>n°46-RBK-2017 – Programme PRR3</a:t>
            </a:r>
          </a:p>
        </p:txBody>
      </p:sp>
      <p:sp>
        <p:nvSpPr>
          <p:cNvPr id="10" name="TextBox 9"/>
          <p:cNvSpPr txBox="1"/>
          <p:nvPr/>
        </p:nvSpPr>
        <p:spPr>
          <a:xfrm>
            <a:off x="792000" y="3312000"/>
            <a:ext cx="1260000" cy="288000"/>
          </a:xfrm>
          <a:prstGeom prst="rect">
            <a:avLst/>
          </a:prstGeom>
          <a:noFill/>
        </p:spPr>
        <p:txBody>
          <a:bodyPr wrap="square">
            <a:spAutoFit/>
          </a:bodyPr>
          <a:lstStyle/>
          <a:p>
            <a:pPr algn="l">
              <a:defRPr sz="800" b="1">
                <a:solidFill>
                  <a:srgbClr val="F39200"/>
                </a:solidFill>
                <a:latin typeface="Inter"/>
              </a:defRPr>
            </a:pPr>
            <a:r>
              <a:t>Nature</a:t>
            </a:r>
          </a:p>
        </p:txBody>
      </p:sp>
      <p:sp>
        <p:nvSpPr>
          <p:cNvPr id="11" name="TextBox 10"/>
          <p:cNvSpPr txBox="1"/>
          <p:nvPr/>
        </p:nvSpPr>
        <p:spPr>
          <a:xfrm>
            <a:off x="2160000" y="3312000"/>
            <a:ext cx="1620000" cy="288000"/>
          </a:xfrm>
          <a:prstGeom prst="rect">
            <a:avLst/>
          </a:prstGeom>
          <a:noFill/>
        </p:spPr>
        <p:txBody>
          <a:bodyPr wrap="square">
            <a:spAutoFit/>
          </a:bodyPr>
          <a:lstStyle/>
          <a:p>
            <a:pPr algn="l">
              <a:defRPr sz="800" b="0">
                <a:solidFill>
                  <a:srgbClr val="2D2D2D"/>
                </a:solidFill>
                <a:latin typeface="Inter"/>
              </a:defRPr>
            </a:pPr>
            <a:r>
              <a:t>Route rurale en zone montagneuse</a:t>
            </a:r>
          </a:p>
        </p:txBody>
      </p:sp>
      <p:sp>
        <p:nvSpPr>
          <p:cNvPr id="12" name="TextBox 11"/>
          <p:cNvSpPr txBox="1"/>
          <p:nvPr/>
        </p:nvSpPr>
        <p:spPr>
          <a:xfrm>
            <a:off x="792000" y="3744000"/>
            <a:ext cx="1260000" cy="288000"/>
          </a:xfrm>
          <a:prstGeom prst="rect">
            <a:avLst/>
          </a:prstGeom>
          <a:noFill/>
        </p:spPr>
        <p:txBody>
          <a:bodyPr wrap="square">
            <a:spAutoFit/>
          </a:bodyPr>
          <a:lstStyle/>
          <a:p>
            <a:pPr algn="l">
              <a:defRPr sz="800" b="1">
                <a:solidFill>
                  <a:srgbClr val="F39200"/>
                </a:solidFill>
                <a:latin typeface="Inter"/>
              </a:defRPr>
            </a:pPr>
            <a:r>
              <a:t>3 sections</a:t>
            </a:r>
          </a:p>
        </p:txBody>
      </p:sp>
      <p:sp>
        <p:nvSpPr>
          <p:cNvPr id="13" name="TextBox 12"/>
          <p:cNvSpPr txBox="1"/>
          <p:nvPr/>
        </p:nvSpPr>
        <p:spPr>
          <a:xfrm>
            <a:off x="2160000" y="3744000"/>
            <a:ext cx="1620000" cy="288000"/>
          </a:xfrm>
          <a:prstGeom prst="rect">
            <a:avLst/>
          </a:prstGeom>
          <a:noFill/>
        </p:spPr>
        <p:txBody>
          <a:bodyPr wrap="square">
            <a:spAutoFit/>
          </a:bodyPr>
          <a:lstStyle/>
          <a:p>
            <a:pPr algn="l">
              <a:defRPr sz="800" b="0">
                <a:solidFill>
                  <a:srgbClr val="2D2D2D"/>
                </a:solidFill>
                <a:latin typeface="Inter"/>
              </a:defRPr>
            </a:pPr>
            <a:r>
              <a:t>Linéaire (23 prix) + Carrefour (11 prix) + Bretelles (19 prix)</a:t>
            </a:r>
          </a:p>
        </p:txBody>
      </p:sp>
      <p:sp>
        <p:nvSpPr>
          <p:cNvPr id="14" name="TextBox 13"/>
          <p:cNvSpPr txBox="1"/>
          <p:nvPr/>
        </p:nvSpPr>
        <p:spPr>
          <a:xfrm>
            <a:off x="792000" y="4176000"/>
            <a:ext cx="1260000" cy="288000"/>
          </a:xfrm>
          <a:prstGeom prst="rect">
            <a:avLst/>
          </a:prstGeom>
          <a:noFill/>
        </p:spPr>
        <p:txBody>
          <a:bodyPr wrap="square">
            <a:spAutoFit/>
          </a:bodyPr>
          <a:lstStyle/>
          <a:p>
            <a:pPr algn="l">
              <a:defRPr sz="800" b="1">
                <a:solidFill>
                  <a:srgbClr val="F39200"/>
                </a:solidFill>
                <a:latin typeface="Inter"/>
              </a:defRPr>
            </a:pPr>
            <a:r>
              <a:t>53 prix</a:t>
            </a:r>
          </a:p>
        </p:txBody>
      </p:sp>
      <p:sp>
        <p:nvSpPr>
          <p:cNvPr id="15" name="TextBox 14"/>
          <p:cNvSpPr txBox="1"/>
          <p:nvPr/>
        </p:nvSpPr>
        <p:spPr>
          <a:xfrm>
            <a:off x="2160000" y="4176000"/>
            <a:ext cx="1620000" cy="288000"/>
          </a:xfrm>
          <a:prstGeom prst="rect">
            <a:avLst/>
          </a:prstGeom>
          <a:noFill/>
        </p:spPr>
        <p:txBody>
          <a:bodyPr wrap="square">
            <a:spAutoFit/>
          </a:bodyPr>
          <a:lstStyle/>
          <a:p>
            <a:pPr algn="l">
              <a:defRPr sz="800" b="0">
                <a:solidFill>
                  <a:srgbClr val="2D2D2D"/>
                </a:solidFill>
                <a:latin typeface="Inter"/>
              </a:defRPr>
            </a:pPr>
            <a:r>
              <a:t>au bordereau des prix</a:t>
            </a:r>
          </a:p>
        </p:txBody>
      </p:sp>
      <p:sp>
        <p:nvSpPr>
          <p:cNvPr id="16" name="Rounded Rectangle 15"/>
          <p:cNvSpPr/>
          <p:nvPr/>
        </p:nvSpPr>
        <p:spPr>
          <a:xfrm>
            <a:off x="4320000" y="2340000"/>
            <a:ext cx="2520000" cy="1440000"/>
          </a:xfrm>
          <a:prstGeom prst="roundRect">
            <a:avLst>
              <a:gd name="adj" fmla="val 15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0000" y="2628000"/>
            <a:ext cx="2160000" cy="540000"/>
          </a:xfrm>
          <a:prstGeom prst="rect">
            <a:avLst/>
          </a:prstGeom>
          <a:noFill/>
        </p:spPr>
        <p:txBody>
          <a:bodyPr wrap="square">
            <a:spAutoFit/>
          </a:bodyPr>
          <a:lstStyle/>
          <a:p>
            <a:pPr algn="ctr">
              <a:defRPr sz="2800" b="1">
                <a:solidFill>
                  <a:srgbClr val="FFFFFF"/>
                </a:solidFill>
                <a:latin typeface="Montserrat"/>
              </a:defRPr>
            </a:pPr>
            <a:r>
              <a:t>29 M DH TTC</a:t>
            </a:r>
          </a:p>
        </p:txBody>
      </p:sp>
      <p:sp>
        <p:nvSpPr>
          <p:cNvPr id="18" name="TextBox 17"/>
          <p:cNvSpPr txBox="1"/>
          <p:nvPr/>
        </p:nvSpPr>
        <p:spPr>
          <a:xfrm>
            <a:off x="4500000" y="3311999"/>
            <a:ext cx="2160000" cy="251999"/>
          </a:xfrm>
          <a:prstGeom prst="rect">
            <a:avLst/>
          </a:prstGeom>
          <a:noFill/>
        </p:spPr>
        <p:txBody>
          <a:bodyPr wrap="square">
            <a:spAutoFit/>
          </a:bodyPr>
          <a:lstStyle/>
          <a:p>
            <a:pPr algn="ctr">
              <a:defRPr sz="900" b="0">
                <a:solidFill>
                  <a:srgbClr val="FFFFFF"/>
                </a:solidFill>
                <a:latin typeface="Inter"/>
              </a:defRPr>
            </a:pPr>
            <a:r>
              <a:t>Programme PRR3</a:t>
            </a:r>
          </a:p>
        </p:txBody>
      </p:sp>
      <p:sp>
        <p:nvSpPr>
          <p:cNvPr id="19" name="TextBox 18"/>
          <p:cNvSpPr txBox="1"/>
          <p:nvPr/>
        </p:nvSpPr>
        <p:spPr>
          <a:xfrm>
            <a:off x="648000" y="4860000"/>
            <a:ext cx="6263999" cy="180000"/>
          </a:xfrm>
          <a:prstGeom prst="rect">
            <a:avLst/>
          </a:prstGeom>
          <a:noFill/>
        </p:spPr>
        <p:txBody>
          <a:bodyPr wrap="square">
            <a:spAutoFit/>
          </a:bodyPr>
          <a:lstStyle/>
          <a:p>
            <a:pPr algn="l">
              <a:defRPr sz="900" b="1">
                <a:solidFill>
                  <a:srgbClr val="F39200"/>
                </a:solidFill>
                <a:latin typeface="Montserrat"/>
              </a:defRPr>
            </a:pPr>
            <a:r>
              <a:t>PRINCIPAUX METRES</a:t>
            </a:r>
          </a:p>
        </p:txBody>
      </p:sp>
      <p:sp>
        <p:nvSpPr>
          <p:cNvPr id="20" name="Rounded Rectangle 19"/>
          <p:cNvSpPr/>
          <p:nvPr/>
        </p:nvSpPr>
        <p:spPr>
          <a:xfrm>
            <a:off x="648000" y="5220000"/>
            <a:ext cx="1007999" cy="79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000" y="5292000"/>
            <a:ext cx="1007999" cy="288000"/>
          </a:xfrm>
          <a:prstGeom prst="rect">
            <a:avLst/>
          </a:prstGeom>
          <a:noFill/>
        </p:spPr>
        <p:txBody>
          <a:bodyPr wrap="square">
            <a:spAutoFit/>
          </a:bodyPr>
          <a:lstStyle/>
          <a:p>
            <a:pPr algn="ctr">
              <a:defRPr sz="1000" b="1">
                <a:solidFill>
                  <a:srgbClr val="1E3A5F"/>
                </a:solidFill>
                <a:latin typeface="Montserrat"/>
              </a:defRPr>
            </a:pPr>
            <a:r>
              <a:t>120 334 m³</a:t>
            </a:r>
          </a:p>
        </p:txBody>
      </p:sp>
      <p:sp>
        <p:nvSpPr>
          <p:cNvPr id="22" name="TextBox 21"/>
          <p:cNvSpPr txBox="1"/>
          <p:nvPr/>
        </p:nvSpPr>
        <p:spPr>
          <a:xfrm>
            <a:off x="648000" y="5652000"/>
            <a:ext cx="1007999" cy="216000"/>
          </a:xfrm>
          <a:prstGeom prst="rect">
            <a:avLst/>
          </a:prstGeom>
          <a:noFill/>
        </p:spPr>
        <p:txBody>
          <a:bodyPr wrap="square">
            <a:spAutoFit/>
          </a:bodyPr>
          <a:lstStyle/>
          <a:p>
            <a:pPr algn="ctr">
              <a:defRPr sz="700" b="0">
                <a:solidFill>
                  <a:srgbClr val="F39200"/>
                </a:solidFill>
                <a:latin typeface="Inter"/>
              </a:defRPr>
            </a:pPr>
            <a:r>
              <a:t>Déblais</a:t>
            </a:r>
          </a:p>
        </p:txBody>
      </p:sp>
      <p:sp>
        <p:nvSpPr>
          <p:cNvPr id="23" name="Rounded Rectangle 22"/>
          <p:cNvSpPr/>
          <p:nvPr/>
        </p:nvSpPr>
        <p:spPr>
          <a:xfrm>
            <a:off x="1764000" y="5220000"/>
            <a:ext cx="1007999" cy="79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64000" y="5292000"/>
            <a:ext cx="1007999" cy="288000"/>
          </a:xfrm>
          <a:prstGeom prst="rect">
            <a:avLst/>
          </a:prstGeom>
          <a:noFill/>
        </p:spPr>
        <p:txBody>
          <a:bodyPr wrap="square">
            <a:spAutoFit/>
          </a:bodyPr>
          <a:lstStyle/>
          <a:p>
            <a:pPr algn="ctr">
              <a:defRPr sz="1000" b="1">
                <a:solidFill>
                  <a:srgbClr val="1E3A5F"/>
                </a:solidFill>
                <a:latin typeface="Montserrat"/>
              </a:defRPr>
            </a:pPr>
            <a:r>
              <a:t>76 735 m³</a:t>
            </a:r>
          </a:p>
        </p:txBody>
      </p:sp>
      <p:sp>
        <p:nvSpPr>
          <p:cNvPr id="25" name="TextBox 24"/>
          <p:cNvSpPr txBox="1"/>
          <p:nvPr/>
        </p:nvSpPr>
        <p:spPr>
          <a:xfrm>
            <a:off x="1764000" y="5652000"/>
            <a:ext cx="1007999" cy="216000"/>
          </a:xfrm>
          <a:prstGeom prst="rect">
            <a:avLst/>
          </a:prstGeom>
          <a:noFill/>
        </p:spPr>
        <p:txBody>
          <a:bodyPr wrap="square">
            <a:spAutoFit/>
          </a:bodyPr>
          <a:lstStyle/>
          <a:p>
            <a:pPr algn="ctr">
              <a:defRPr sz="700" b="0">
                <a:solidFill>
                  <a:srgbClr val="F39200"/>
                </a:solidFill>
                <a:latin typeface="Inter"/>
              </a:defRPr>
            </a:pPr>
            <a:r>
              <a:t>Remblais</a:t>
            </a:r>
          </a:p>
        </p:txBody>
      </p:sp>
      <p:sp>
        <p:nvSpPr>
          <p:cNvPr id="26" name="Rounded Rectangle 25"/>
          <p:cNvSpPr/>
          <p:nvPr/>
        </p:nvSpPr>
        <p:spPr>
          <a:xfrm>
            <a:off x="2880000" y="5220000"/>
            <a:ext cx="1007999" cy="79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80000" y="5292000"/>
            <a:ext cx="1007999" cy="288000"/>
          </a:xfrm>
          <a:prstGeom prst="rect">
            <a:avLst/>
          </a:prstGeom>
          <a:noFill/>
        </p:spPr>
        <p:txBody>
          <a:bodyPr wrap="square">
            <a:spAutoFit/>
          </a:bodyPr>
          <a:lstStyle/>
          <a:p>
            <a:pPr algn="ctr">
              <a:defRPr sz="1000" b="1">
                <a:solidFill>
                  <a:srgbClr val="1E3A5F"/>
                </a:solidFill>
                <a:latin typeface="Montserrat"/>
              </a:defRPr>
            </a:pPr>
            <a:r>
              <a:t>19 989 m³</a:t>
            </a:r>
          </a:p>
        </p:txBody>
      </p:sp>
      <p:sp>
        <p:nvSpPr>
          <p:cNvPr id="28" name="TextBox 27"/>
          <p:cNvSpPr txBox="1"/>
          <p:nvPr/>
        </p:nvSpPr>
        <p:spPr>
          <a:xfrm>
            <a:off x="2880000" y="5652000"/>
            <a:ext cx="1007999" cy="216000"/>
          </a:xfrm>
          <a:prstGeom prst="rect">
            <a:avLst/>
          </a:prstGeom>
          <a:noFill/>
        </p:spPr>
        <p:txBody>
          <a:bodyPr wrap="square">
            <a:spAutoFit/>
          </a:bodyPr>
          <a:lstStyle/>
          <a:p>
            <a:pPr algn="ctr">
              <a:defRPr sz="700" b="0">
                <a:solidFill>
                  <a:srgbClr val="F39200"/>
                </a:solidFill>
                <a:latin typeface="Inter"/>
              </a:defRPr>
            </a:pPr>
            <a:r>
              <a:t>Couche base GNB</a:t>
            </a:r>
          </a:p>
        </p:txBody>
      </p:sp>
      <p:sp>
        <p:nvSpPr>
          <p:cNvPr id="29" name="Rounded Rectangle 28"/>
          <p:cNvSpPr/>
          <p:nvPr/>
        </p:nvSpPr>
        <p:spPr>
          <a:xfrm>
            <a:off x="3996000" y="5220000"/>
            <a:ext cx="1007999" cy="79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96000" y="5292000"/>
            <a:ext cx="1007999" cy="288000"/>
          </a:xfrm>
          <a:prstGeom prst="rect">
            <a:avLst/>
          </a:prstGeom>
          <a:noFill/>
        </p:spPr>
        <p:txBody>
          <a:bodyPr wrap="square">
            <a:spAutoFit/>
          </a:bodyPr>
          <a:lstStyle/>
          <a:p>
            <a:pPr algn="ctr">
              <a:defRPr sz="1000" b="1">
                <a:solidFill>
                  <a:srgbClr val="1E3A5F"/>
                </a:solidFill>
                <a:latin typeface="Montserrat"/>
              </a:defRPr>
            </a:pPr>
            <a:r>
              <a:t>34 481 m³</a:t>
            </a:r>
          </a:p>
        </p:txBody>
      </p:sp>
      <p:sp>
        <p:nvSpPr>
          <p:cNvPr id="31" name="TextBox 30"/>
          <p:cNvSpPr txBox="1"/>
          <p:nvPr/>
        </p:nvSpPr>
        <p:spPr>
          <a:xfrm>
            <a:off x="3996000" y="5652000"/>
            <a:ext cx="1007999" cy="216000"/>
          </a:xfrm>
          <a:prstGeom prst="rect">
            <a:avLst/>
          </a:prstGeom>
          <a:noFill/>
        </p:spPr>
        <p:txBody>
          <a:bodyPr wrap="square">
            <a:spAutoFit/>
          </a:bodyPr>
          <a:lstStyle/>
          <a:p>
            <a:pPr algn="ctr">
              <a:defRPr sz="700" b="0">
                <a:solidFill>
                  <a:srgbClr val="F39200"/>
                </a:solidFill>
                <a:latin typeface="Inter"/>
              </a:defRPr>
            </a:pPr>
            <a:r>
              <a:t>Fondation GNF2</a:t>
            </a:r>
          </a:p>
        </p:txBody>
      </p:sp>
      <p:sp>
        <p:nvSpPr>
          <p:cNvPr id="32" name="Rounded Rectangle 31"/>
          <p:cNvSpPr/>
          <p:nvPr/>
        </p:nvSpPr>
        <p:spPr>
          <a:xfrm>
            <a:off x="5112000" y="5220000"/>
            <a:ext cx="1007999" cy="79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12000" y="5292000"/>
            <a:ext cx="1007999" cy="288000"/>
          </a:xfrm>
          <a:prstGeom prst="rect">
            <a:avLst/>
          </a:prstGeom>
          <a:noFill/>
        </p:spPr>
        <p:txBody>
          <a:bodyPr wrap="square">
            <a:spAutoFit/>
          </a:bodyPr>
          <a:lstStyle/>
          <a:p>
            <a:pPr algn="ctr">
              <a:defRPr sz="1000" b="1">
                <a:solidFill>
                  <a:srgbClr val="1E3A5F"/>
                </a:solidFill>
                <a:latin typeface="Montserrat"/>
              </a:defRPr>
            </a:pPr>
            <a:r>
              <a:t>794 ml</a:t>
            </a:r>
          </a:p>
        </p:txBody>
      </p:sp>
      <p:sp>
        <p:nvSpPr>
          <p:cNvPr id="34" name="TextBox 33"/>
          <p:cNvSpPr txBox="1"/>
          <p:nvPr/>
        </p:nvSpPr>
        <p:spPr>
          <a:xfrm>
            <a:off x="5112000" y="5652000"/>
            <a:ext cx="1007999" cy="216000"/>
          </a:xfrm>
          <a:prstGeom prst="rect">
            <a:avLst/>
          </a:prstGeom>
          <a:noFill/>
        </p:spPr>
        <p:txBody>
          <a:bodyPr wrap="square">
            <a:spAutoFit/>
          </a:bodyPr>
          <a:lstStyle/>
          <a:p>
            <a:pPr algn="ctr">
              <a:defRPr sz="700" b="0">
                <a:solidFill>
                  <a:srgbClr val="F39200"/>
                </a:solidFill>
                <a:latin typeface="Inter"/>
              </a:defRPr>
            </a:pPr>
            <a:r>
              <a:t>Buses Ø1000</a:t>
            </a:r>
          </a:p>
        </p:txBody>
      </p:sp>
      <p:sp>
        <p:nvSpPr>
          <p:cNvPr id="35" name="Rounded Rectangle 34"/>
          <p:cNvSpPr/>
          <p:nvPr/>
        </p:nvSpPr>
        <p:spPr>
          <a:xfrm>
            <a:off x="6228000" y="5220000"/>
            <a:ext cx="1007999" cy="79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8000" y="5292000"/>
            <a:ext cx="1007999" cy="288000"/>
          </a:xfrm>
          <a:prstGeom prst="rect">
            <a:avLst/>
          </a:prstGeom>
          <a:noFill/>
        </p:spPr>
        <p:txBody>
          <a:bodyPr wrap="square">
            <a:spAutoFit/>
          </a:bodyPr>
          <a:lstStyle/>
          <a:p>
            <a:pPr algn="ctr">
              <a:defRPr sz="1000" b="1">
                <a:solidFill>
                  <a:srgbClr val="1E3A5F"/>
                </a:solidFill>
                <a:latin typeface="Montserrat"/>
              </a:defRPr>
            </a:pPr>
            <a:r>
              <a:t>789 m³</a:t>
            </a:r>
          </a:p>
        </p:txBody>
      </p:sp>
      <p:sp>
        <p:nvSpPr>
          <p:cNvPr id="37" name="TextBox 36"/>
          <p:cNvSpPr txBox="1"/>
          <p:nvPr/>
        </p:nvSpPr>
        <p:spPr>
          <a:xfrm>
            <a:off x="6228000" y="5652000"/>
            <a:ext cx="1007999" cy="216000"/>
          </a:xfrm>
          <a:prstGeom prst="rect">
            <a:avLst/>
          </a:prstGeom>
          <a:noFill/>
        </p:spPr>
        <p:txBody>
          <a:bodyPr wrap="square">
            <a:spAutoFit/>
          </a:bodyPr>
          <a:lstStyle/>
          <a:p>
            <a:pPr algn="ctr">
              <a:defRPr sz="700" b="0">
                <a:solidFill>
                  <a:srgbClr val="F39200"/>
                </a:solidFill>
                <a:latin typeface="Inter"/>
              </a:defRPr>
            </a:pPr>
            <a:r>
              <a:t>Gabions</a:t>
            </a:r>
          </a:p>
        </p:txBody>
      </p:sp>
      <p:sp>
        <p:nvSpPr>
          <p:cNvPr id="38" name="Rounded Rectangle 37"/>
          <p:cNvSpPr/>
          <p:nvPr/>
        </p:nvSpPr>
        <p:spPr>
          <a:xfrm>
            <a:off x="7200000" y="4680000"/>
            <a:ext cx="360000" cy="1440000"/>
          </a:xfrm>
          <a:prstGeom prst="roundRect">
            <a:avLst>
              <a:gd name="adj" fmla="val 2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260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0000" y="288000"/>
            <a:ext cx="432000" cy="432000"/>
          </a:xfrm>
          <a:prstGeom prst="ellipse">
            <a:avLst/>
          </a:prstGeom>
          <a:solidFill>
            <a:srgbClr val="E0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52000" y="251999"/>
            <a:ext cx="5760000" cy="720000"/>
          </a:xfrm>
          <a:prstGeom prst="rect">
            <a:avLst/>
          </a:prstGeom>
          <a:noFill/>
        </p:spPr>
        <p:txBody>
          <a:bodyPr wrap="square">
            <a:spAutoFit/>
          </a:bodyPr>
          <a:lstStyle/>
          <a:p>
            <a:pPr algn="l">
              <a:defRPr sz="1800" b="1">
                <a:solidFill>
                  <a:srgbClr val="FFFFFF"/>
                </a:solidFill>
                <a:latin typeface="Montserrat"/>
              </a:defRPr>
            </a:pPr>
            <a:r>
              <a:t>REPARTITION BUDGETAIRE</a:t>
            </a:r>
            <a:br/>
            <a:r>
              <a:t>PROJET 2</a:t>
            </a:r>
          </a:p>
        </p:txBody>
      </p:sp>
      <p:sp>
        <p:nvSpPr>
          <p:cNvPr id="5" name="TextBox 4"/>
          <p:cNvSpPr txBox="1"/>
          <p:nvPr/>
        </p:nvSpPr>
        <p:spPr>
          <a:xfrm>
            <a:off x="648000" y="1620000"/>
            <a:ext cx="6263999" cy="360000"/>
          </a:xfrm>
          <a:prstGeom prst="rect">
            <a:avLst/>
          </a:prstGeom>
          <a:noFill/>
        </p:spPr>
        <p:txBody>
          <a:bodyPr wrap="square">
            <a:spAutoFit/>
          </a:bodyPr>
          <a:lstStyle/>
          <a:p>
            <a:pPr algn="just">
              <a:defRPr sz="900" b="1">
                <a:solidFill>
                  <a:srgbClr val="555555"/>
                </a:solidFill>
                <a:latin typeface="Inter"/>
              </a:defRPr>
            </a:pPr>
            <a:r>
              <a:t>Le budget total du projet routier s'eleve a 24,2 M DH HT.</a:t>
            </a:r>
          </a:p>
        </p:txBody>
      </p:sp>
      <p:sp>
        <p:nvSpPr>
          <p:cNvPr id="6" name="TextBox 5"/>
          <p:cNvSpPr txBox="1"/>
          <p:nvPr/>
        </p:nvSpPr>
        <p:spPr>
          <a:xfrm>
            <a:off x="648000" y="2196000"/>
            <a:ext cx="1800000" cy="180000"/>
          </a:xfrm>
          <a:prstGeom prst="rect">
            <a:avLst/>
          </a:prstGeom>
          <a:noFill/>
        </p:spPr>
        <p:txBody>
          <a:bodyPr wrap="square">
            <a:spAutoFit/>
          </a:bodyPr>
          <a:lstStyle/>
          <a:p>
            <a:pPr algn="r">
              <a:defRPr sz="800" b="1">
                <a:solidFill>
                  <a:srgbClr val="1E3A5F"/>
                </a:solidFill>
                <a:latin typeface="Inter"/>
              </a:defRPr>
            </a:pPr>
            <a:r>
              <a:t>Terrassement</a:t>
            </a:r>
          </a:p>
        </p:txBody>
      </p:sp>
      <p:sp>
        <p:nvSpPr>
          <p:cNvPr id="7" name="Rounded Rectangle 6"/>
          <p:cNvSpPr/>
          <p:nvPr/>
        </p:nvSpPr>
        <p:spPr>
          <a:xfrm>
            <a:off x="2592000" y="2196000"/>
            <a:ext cx="2520000" cy="216000"/>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92000" y="2196000"/>
            <a:ext cx="1288799" cy="216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00000" y="2196000"/>
            <a:ext cx="720000" cy="216000"/>
          </a:xfrm>
          <a:prstGeom prst="rect">
            <a:avLst/>
          </a:prstGeom>
          <a:noFill/>
        </p:spPr>
        <p:txBody>
          <a:bodyPr wrap="square">
            <a:spAutoFit/>
          </a:bodyPr>
          <a:lstStyle/>
          <a:p>
            <a:pPr algn="l">
              <a:defRPr sz="700" b="1">
                <a:solidFill>
                  <a:srgbClr val="FFFFFF"/>
                </a:solidFill>
                <a:latin typeface="Montserrat"/>
              </a:defRPr>
            </a:pPr>
            <a:r>
              <a:t>18%</a:t>
            </a:r>
          </a:p>
        </p:txBody>
      </p:sp>
      <p:sp>
        <p:nvSpPr>
          <p:cNvPr id="10" name="TextBox 9"/>
          <p:cNvSpPr txBox="1"/>
          <p:nvPr/>
        </p:nvSpPr>
        <p:spPr>
          <a:xfrm>
            <a:off x="5220000" y="2196000"/>
            <a:ext cx="1800000" cy="216000"/>
          </a:xfrm>
          <a:prstGeom prst="rect">
            <a:avLst/>
          </a:prstGeom>
          <a:noFill/>
        </p:spPr>
        <p:txBody>
          <a:bodyPr wrap="square">
            <a:spAutoFit/>
          </a:bodyPr>
          <a:lstStyle/>
          <a:p>
            <a:pPr algn="l">
              <a:defRPr sz="700" b="0">
                <a:solidFill>
                  <a:srgbClr val="888888"/>
                </a:solidFill>
                <a:latin typeface="Inter"/>
              </a:defRPr>
            </a:pPr>
            <a:r>
              <a:t>4,3 M DH (17,9%)</a:t>
            </a:r>
          </a:p>
        </p:txBody>
      </p:sp>
      <p:sp>
        <p:nvSpPr>
          <p:cNvPr id="11" name="TextBox 10"/>
          <p:cNvSpPr txBox="1"/>
          <p:nvPr/>
        </p:nvSpPr>
        <p:spPr>
          <a:xfrm>
            <a:off x="648000" y="2736000"/>
            <a:ext cx="1800000" cy="180000"/>
          </a:xfrm>
          <a:prstGeom prst="rect">
            <a:avLst/>
          </a:prstGeom>
          <a:noFill/>
        </p:spPr>
        <p:txBody>
          <a:bodyPr wrap="square">
            <a:spAutoFit/>
          </a:bodyPr>
          <a:lstStyle/>
          <a:p>
            <a:pPr algn="r">
              <a:defRPr sz="800" b="1">
                <a:solidFill>
                  <a:srgbClr val="1E3A5F"/>
                </a:solidFill>
                <a:latin typeface="Inter"/>
              </a:defRPr>
            </a:pPr>
            <a:r>
              <a:t>Corps de chaussée</a:t>
            </a:r>
          </a:p>
        </p:txBody>
      </p:sp>
      <p:sp>
        <p:nvSpPr>
          <p:cNvPr id="12" name="Rounded Rectangle 11"/>
          <p:cNvSpPr/>
          <p:nvPr/>
        </p:nvSpPr>
        <p:spPr>
          <a:xfrm>
            <a:off x="2592000" y="2736000"/>
            <a:ext cx="2520000" cy="216000"/>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592000" y="2736000"/>
            <a:ext cx="2167200" cy="216000"/>
          </a:xfrm>
          <a:prstGeom prst="roundRect">
            <a:avLst>
              <a:gd name="adj" fmla="val 50000"/>
            </a:avLst>
          </a:prstGeom>
          <a:solidFill>
            <a:srgbClr val="E0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00000" y="2736000"/>
            <a:ext cx="720000" cy="216000"/>
          </a:xfrm>
          <a:prstGeom prst="rect">
            <a:avLst/>
          </a:prstGeom>
          <a:noFill/>
        </p:spPr>
        <p:txBody>
          <a:bodyPr wrap="square">
            <a:spAutoFit/>
          </a:bodyPr>
          <a:lstStyle/>
          <a:p>
            <a:pPr algn="l">
              <a:defRPr sz="700" b="1">
                <a:solidFill>
                  <a:srgbClr val="FFFFFF"/>
                </a:solidFill>
                <a:latin typeface="Montserrat"/>
              </a:defRPr>
            </a:pPr>
            <a:r>
              <a:t>30%</a:t>
            </a:r>
          </a:p>
        </p:txBody>
      </p:sp>
      <p:sp>
        <p:nvSpPr>
          <p:cNvPr id="15" name="TextBox 14"/>
          <p:cNvSpPr txBox="1"/>
          <p:nvPr/>
        </p:nvSpPr>
        <p:spPr>
          <a:xfrm>
            <a:off x="5220000" y="2736000"/>
            <a:ext cx="1800000" cy="216000"/>
          </a:xfrm>
          <a:prstGeom prst="rect">
            <a:avLst/>
          </a:prstGeom>
          <a:noFill/>
        </p:spPr>
        <p:txBody>
          <a:bodyPr wrap="square">
            <a:spAutoFit/>
          </a:bodyPr>
          <a:lstStyle/>
          <a:p>
            <a:pPr algn="l">
              <a:defRPr sz="700" b="0">
                <a:solidFill>
                  <a:srgbClr val="888888"/>
                </a:solidFill>
                <a:latin typeface="Inter"/>
              </a:defRPr>
            </a:pPr>
            <a:r>
              <a:t>7,3 M DH (30,1%)</a:t>
            </a:r>
          </a:p>
        </p:txBody>
      </p:sp>
      <p:sp>
        <p:nvSpPr>
          <p:cNvPr id="16" name="TextBox 15"/>
          <p:cNvSpPr txBox="1"/>
          <p:nvPr/>
        </p:nvSpPr>
        <p:spPr>
          <a:xfrm>
            <a:off x="648000" y="3276000"/>
            <a:ext cx="1800000" cy="180000"/>
          </a:xfrm>
          <a:prstGeom prst="rect">
            <a:avLst/>
          </a:prstGeom>
          <a:noFill/>
        </p:spPr>
        <p:txBody>
          <a:bodyPr wrap="square">
            <a:spAutoFit/>
          </a:bodyPr>
          <a:lstStyle/>
          <a:p>
            <a:pPr algn="r">
              <a:defRPr sz="800" b="1">
                <a:solidFill>
                  <a:srgbClr val="1E3A5F"/>
                </a:solidFill>
                <a:latin typeface="Inter"/>
              </a:defRPr>
            </a:pPr>
            <a:r>
              <a:t>Revêtement</a:t>
            </a:r>
          </a:p>
        </p:txBody>
      </p:sp>
      <p:sp>
        <p:nvSpPr>
          <p:cNvPr id="17" name="Rounded Rectangle 16"/>
          <p:cNvSpPr/>
          <p:nvPr/>
        </p:nvSpPr>
        <p:spPr>
          <a:xfrm>
            <a:off x="2592000" y="3276000"/>
            <a:ext cx="2520000" cy="216000"/>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592000" y="3276000"/>
            <a:ext cx="770399" cy="216000"/>
          </a:xfrm>
          <a:prstGeom prst="roundRect">
            <a:avLst>
              <a:gd name="adj" fmla="val 50000"/>
            </a:avLst>
          </a:prstGeom>
          <a:solidFill>
            <a:srgbClr val="C0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00000" y="3276000"/>
            <a:ext cx="720000" cy="216000"/>
          </a:xfrm>
          <a:prstGeom prst="rect">
            <a:avLst/>
          </a:prstGeom>
          <a:noFill/>
        </p:spPr>
        <p:txBody>
          <a:bodyPr wrap="square">
            <a:spAutoFit/>
          </a:bodyPr>
          <a:lstStyle/>
          <a:p>
            <a:pPr algn="l">
              <a:defRPr sz="700" b="1">
                <a:solidFill>
                  <a:srgbClr val="FFFFFF"/>
                </a:solidFill>
                <a:latin typeface="Montserrat"/>
              </a:defRPr>
            </a:pPr>
            <a:r>
              <a:t>11%</a:t>
            </a:r>
          </a:p>
        </p:txBody>
      </p:sp>
      <p:sp>
        <p:nvSpPr>
          <p:cNvPr id="20" name="TextBox 19"/>
          <p:cNvSpPr txBox="1"/>
          <p:nvPr/>
        </p:nvSpPr>
        <p:spPr>
          <a:xfrm>
            <a:off x="5220000" y="3276000"/>
            <a:ext cx="1800000" cy="216000"/>
          </a:xfrm>
          <a:prstGeom prst="rect">
            <a:avLst/>
          </a:prstGeom>
          <a:noFill/>
        </p:spPr>
        <p:txBody>
          <a:bodyPr wrap="square">
            <a:spAutoFit/>
          </a:bodyPr>
          <a:lstStyle/>
          <a:p>
            <a:pPr algn="l">
              <a:defRPr sz="700" b="0">
                <a:solidFill>
                  <a:srgbClr val="888888"/>
                </a:solidFill>
                <a:latin typeface="Inter"/>
              </a:defRPr>
            </a:pPr>
            <a:r>
              <a:t>2,6 M DH (10,7%)</a:t>
            </a:r>
          </a:p>
        </p:txBody>
      </p:sp>
      <p:sp>
        <p:nvSpPr>
          <p:cNvPr id="21" name="TextBox 20"/>
          <p:cNvSpPr txBox="1"/>
          <p:nvPr/>
        </p:nvSpPr>
        <p:spPr>
          <a:xfrm>
            <a:off x="648000" y="3816000"/>
            <a:ext cx="1800000" cy="180000"/>
          </a:xfrm>
          <a:prstGeom prst="rect">
            <a:avLst/>
          </a:prstGeom>
          <a:noFill/>
        </p:spPr>
        <p:txBody>
          <a:bodyPr wrap="square">
            <a:spAutoFit/>
          </a:bodyPr>
          <a:lstStyle/>
          <a:p>
            <a:pPr algn="r">
              <a:defRPr sz="800" b="1">
                <a:solidFill>
                  <a:srgbClr val="1E3A5F"/>
                </a:solidFill>
                <a:latin typeface="Inter"/>
              </a:defRPr>
            </a:pPr>
            <a:r>
              <a:t>Ouvrages hydrauliques</a:t>
            </a:r>
          </a:p>
        </p:txBody>
      </p:sp>
      <p:sp>
        <p:nvSpPr>
          <p:cNvPr id="22" name="Rounded Rectangle 21"/>
          <p:cNvSpPr/>
          <p:nvPr/>
        </p:nvSpPr>
        <p:spPr>
          <a:xfrm>
            <a:off x="2592000" y="3816000"/>
            <a:ext cx="2520000" cy="216000"/>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592000" y="3816000"/>
            <a:ext cx="2023200" cy="216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00000" y="3816000"/>
            <a:ext cx="720000" cy="216000"/>
          </a:xfrm>
          <a:prstGeom prst="rect">
            <a:avLst/>
          </a:prstGeom>
          <a:noFill/>
        </p:spPr>
        <p:txBody>
          <a:bodyPr wrap="square">
            <a:spAutoFit/>
          </a:bodyPr>
          <a:lstStyle/>
          <a:p>
            <a:pPr algn="l">
              <a:defRPr sz="700" b="1">
                <a:solidFill>
                  <a:srgbClr val="FFFFFF"/>
                </a:solidFill>
                <a:latin typeface="Montserrat"/>
              </a:defRPr>
            </a:pPr>
            <a:r>
              <a:t>28%</a:t>
            </a:r>
          </a:p>
        </p:txBody>
      </p:sp>
      <p:sp>
        <p:nvSpPr>
          <p:cNvPr id="25" name="TextBox 24"/>
          <p:cNvSpPr txBox="1"/>
          <p:nvPr/>
        </p:nvSpPr>
        <p:spPr>
          <a:xfrm>
            <a:off x="5220000" y="3816000"/>
            <a:ext cx="1800000" cy="216000"/>
          </a:xfrm>
          <a:prstGeom prst="rect">
            <a:avLst/>
          </a:prstGeom>
          <a:noFill/>
        </p:spPr>
        <p:txBody>
          <a:bodyPr wrap="square">
            <a:spAutoFit/>
          </a:bodyPr>
          <a:lstStyle/>
          <a:p>
            <a:pPr algn="l">
              <a:defRPr sz="700" b="0">
                <a:solidFill>
                  <a:srgbClr val="888888"/>
                </a:solidFill>
                <a:latin typeface="Inter"/>
              </a:defRPr>
            </a:pPr>
            <a:r>
              <a:t>6,8 M DH (28,1%)</a:t>
            </a:r>
          </a:p>
        </p:txBody>
      </p:sp>
      <p:sp>
        <p:nvSpPr>
          <p:cNvPr id="26" name="TextBox 25"/>
          <p:cNvSpPr txBox="1"/>
          <p:nvPr/>
        </p:nvSpPr>
        <p:spPr>
          <a:xfrm>
            <a:off x="648000" y="4356000"/>
            <a:ext cx="1800000" cy="180000"/>
          </a:xfrm>
          <a:prstGeom prst="rect">
            <a:avLst/>
          </a:prstGeom>
          <a:noFill/>
        </p:spPr>
        <p:txBody>
          <a:bodyPr wrap="square">
            <a:spAutoFit/>
          </a:bodyPr>
          <a:lstStyle/>
          <a:p>
            <a:pPr algn="r">
              <a:defRPr sz="800" b="1">
                <a:solidFill>
                  <a:srgbClr val="1E3A5F"/>
                </a:solidFill>
                <a:latin typeface="Inter"/>
              </a:defRPr>
            </a:pPr>
            <a:r>
              <a:t>Soutènement</a:t>
            </a:r>
          </a:p>
        </p:txBody>
      </p:sp>
      <p:sp>
        <p:nvSpPr>
          <p:cNvPr id="27" name="Rounded Rectangle 26"/>
          <p:cNvSpPr/>
          <p:nvPr/>
        </p:nvSpPr>
        <p:spPr>
          <a:xfrm>
            <a:off x="2592000" y="4356000"/>
            <a:ext cx="2520000" cy="216000"/>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592000" y="4356000"/>
            <a:ext cx="136799" cy="216000"/>
          </a:xfrm>
          <a:prstGeom prst="roundRect">
            <a:avLst>
              <a:gd name="adj" fmla="val 50000"/>
            </a:avLst>
          </a:prstGeom>
          <a:solidFill>
            <a:srgbClr val="4AB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00000" y="4356000"/>
            <a:ext cx="720000" cy="216000"/>
          </a:xfrm>
          <a:prstGeom prst="rect">
            <a:avLst/>
          </a:prstGeom>
          <a:noFill/>
        </p:spPr>
        <p:txBody>
          <a:bodyPr wrap="square">
            <a:spAutoFit/>
          </a:bodyPr>
          <a:lstStyle/>
          <a:p>
            <a:pPr algn="l">
              <a:defRPr sz="700" b="1">
                <a:solidFill>
                  <a:srgbClr val="FFFFFF"/>
                </a:solidFill>
                <a:latin typeface="Montserrat"/>
              </a:defRPr>
            </a:pPr>
            <a:r>
              <a:t>2%</a:t>
            </a:r>
          </a:p>
        </p:txBody>
      </p:sp>
      <p:sp>
        <p:nvSpPr>
          <p:cNvPr id="30" name="TextBox 29"/>
          <p:cNvSpPr txBox="1"/>
          <p:nvPr/>
        </p:nvSpPr>
        <p:spPr>
          <a:xfrm>
            <a:off x="5220000" y="4356000"/>
            <a:ext cx="1800000" cy="216000"/>
          </a:xfrm>
          <a:prstGeom prst="rect">
            <a:avLst/>
          </a:prstGeom>
          <a:noFill/>
        </p:spPr>
        <p:txBody>
          <a:bodyPr wrap="square">
            <a:spAutoFit/>
          </a:bodyPr>
          <a:lstStyle/>
          <a:p>
            <a:pPr algn="l">
              <a:defRPr sz="700" b="0">
                <a:solidFill>
                  <a:srgbClr val="888888"/>
                </a:solidFill>
                <a:latin typeface="Inter"/>
              </a:defRPr>
            </a:pPr>
            <a:r>
              <a:t>0,46 M DH (1,9%)</a:t>
            </a:r>
          </a:p>
        </p:txBody>
      </p:sp>
      <p:sp>
        <p:nvSpPr>
          <p:cNvPr id="31" name="TextBox 30"/>
          <p:cNvSpPr txBox="1"/>
          <p:nvPr/>
        </p:nvSpPr>
        <p:spPr>
          <a:xfrm>
            <a:off x="648000" y="4896000"/>
            <a:ext cx="1800000" cy="180000"/>
          </a:xfrm>
          <a:prstGeom prst="rect">
            <a:avLst/>
          </a:prstGeom>
          <a:noFill/>
        </p:spPr>
        <p:txBody>
          <a:bodyPr wrap="square">
            <a:spAutoFit/>
          </a:bodyPr>
          <a:lstStyle/>
          <a:p>
            <a:pPr algn="r">
              <a:defRPr sz="800" b="1">
                <a:solidFill>
                  <a:srgbClr val="1E3A5F"/>
                </a:solidFill>
                <a:latin typeface="Inter"/>
              </a:defRPr>
            </a:pPr>
            <a:r>
              <a:t>Bretelles + carrefour</a:t>
            </a:r>
          </a:p>
        </p:txBody>
      </p:sp>
      <p:sp>
        <p:nvSpPr>
          <p:cNvPr id="32" name="Rounded Rectangle 31"/>
          <p:cNvSpPr/>
          <p:nvPr/>
        </p:nvSpPr>
        <p:spPr>
          <a:xfrm>
            <a:off x="2592000" y="4896000"/>
            <a:ext cx="2520000" cy="216000"/>
          </a:xfrm>
          <a:prstGeom prst="roundRect">
            <a:avLst>
              <a:gd name="adj" fmla="val 50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592000" y="4896000"/>
            <a:ext cx="813600" cy="216000"/>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00000" y="4896000"/>
            <a:ext cx="720000" cy="216000"/>
          </a:xfrm>
          <a:prstGeom prst="rect">
            <a:avLst/>
          </a:prstGeom>
          <a:noFill/>
        </p:spPr>
        <p:txBody>
          <a:bodyPr wrap="square">
            <a:spAutoFit/>
          </a:bodyPr>
          <a:lstStyle/>
          <a:p>
            <a:pPr algn="l">
              <a:defRPr sz="700" b="1">
                <a:solidFill>
                  <a:srgbClr val="FFFFFF"/>
                </a:solidFill>
                <a:latin typeface="Montserrat"/>
              </a:defRPr>
            </a:pPr>
            <a:r>
              <a:t>11%</a:t>
            </a:r>
          </a:p>
        </p:txBody>
      </p:sp>
      <p:sp>
        <p:nvSpPr>
          <p:cNvPr id="35" name="TextBox 34"/>
          <p:cNvSpPr txBox="1"/>
          <p:nvPr/>
        </p:nvSpPr>
        <p:spPr>
          <a:xfrm>
            <a:off x="5220000" y="4896000"/>
            <a:ext cx="1800000" cy="216000"/>
          </a:xfrm>
          <a:prstGeom prst="rect">
            <a:avLst/>
          </a:prstGeom>
          <a:noFill/>
        </p:spPr>
        <p:txBody>
          <a:bodyPr wrap="square">
            <a:spAutoFit/>
          </a:bodyPr>
          <a:lstStyle/>
          <a:p>
            <a:pPr algn="l">
              <a:defRPr sz="700" b="0">
                <a:solidFill>
                  <a:srgbClr val="888888"/>
                </a:solidFill>
                <a:latin typeface="Inter"/>
              </a:defRPr>
            </a:pPr>
            <a:r>
              <a:t>2,7 M DH (11,3%)</a:t>
            </a:r>
          </a:p>
        </p:txBody>
      </p:sp>
      <p:sp>
        <p:nvSpPr>
          <p:cNvPr id="36" name="Rounded Rectangle 35"/>
          <p:cNvSpPr/>
          <p:nvPr/>
        </p:nvSpPr>
        <p:spPr>
          <a:xfrm>
            <a:off x="648000" y="5580000"/>
            <a:ext cx="6263999" cy="360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0000" y="5616000"/>
            <a:ext cx="5760000" cy="288000"/>
          </a:xfrm>
          <a:prstGeom prst="rect">
            <a:avLst/>
          </a:prstGeom>
          <a:noFill/>
        </p:spPr>
        <p:txBody>
          <a:bodyPr wrap="square">
            <a:spAutoFit/>
          </a:bodyPr>
          <a:lstStyle/>
          <a:p>
            <a:pPr algn="ctr">
              <a:defRPr sz="800" b="1">
                <a:solidFill>
                  <a:srgbClr val="FFFFFF"/>
                </a:solidFill>
                <a:latin typeface="Montserrat"/>
              </a:defRPr>
            </a:pPr>
            <a:r>
              <a:t>58% du budget sur 2 postes : | Corps de chaussée + Ouvrages hydrauliques</a:t>
            </a:r>
          </a:p>
        </p:txBody>
      </p:sp>
      <p:sp>
        <p:nvSpPr>
          <p:cNvPr id="38" name="TextBox 37"/>
          <p:cNvSpPr txBox="1"/>
          <p:nvPr/>
        </p:nvSpPr>
        <p:spPr>
          <a:xfrm>
            <a:off x="648000" y="6192000"/>
            <a:ext cx="6263999" cy="180000"/>
          </a:xfrm>
          <a:prstGeom prst="rect">
            <a:avLst/>
          </a:prstGeom>
          <a:noFill/>
        </p:spPr>
        <p:txBody>
          <a:bodyPr wrap="square">
            <a:spAutoFit/>
          </a:bodyPr>
          <a:lstStyle/>
          <a:p>
            <a:pPr algn="ctr">
              <a:defRPr sz="700" b="1">
                <a:solidFill>
                  <a:srgbClr val="F39200"/>
                </a:solidFill>
                <a:latin typeface="Montserrat"/>
              </a:defRPr>
            </a:pPr>
            <a:r>
              <a:t>ANALYSE</a:t>
            </a:r>
          </a:p>
        </p:txBody>
      </p:sp>
      <p:sp>
        <p:nvSpPr>
          <p:cNvPr id="39" name="Rounded Rectangle 38"/>
          <p:cNvSpPr/>
          <p:nvPr/>
        </p:nvSpPr>
        <p:spPr>
          <a:xfrm>
            <a:off x="648000" y="6480000"/>
            <a:ext cx="3060000" cy="648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8000" y="6480000"/>
            <a:ext cx="54000" cy="648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28000" y="6588000"/>
            <a:ext cx="324000" cy="32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96000" y="6552000"/>
            <a:ext cx="2160000" cy="180000"/>
          </a:xfrm>
          <a:prstGeom prst="rect">
            <a:avLst/>
          </a:prstGeom>
          <a:noFill/>
        </p:spPr>
        <p:txBody>
          <a:bodyPr wrap="square">
            <a:spAutoFit/>
          </a:bodyPr>
          <a:lstStyle/>
          <a:p>
            <a:pPr algn="l">
              <a:defRPr sz="900" b="1">
                <a:solidFill>
                  <a:srgbClr val="1E3A5F"/>
                </a:solidFill>
                <a:latin typeface="Montserrat"/>
              </a:defRPr>
            </a:pPr>
            <a:r>
              <a:t>Chaussee 30,1%</a:t>
            </a:r>
          </a:p>
        </p:txBody>
      </p:sp>
      <p:sp>
        <p:nvSpPr>
          <p:cNvPr id="43" name="TextBox 42"/>
          <p:cNvSpPr txBox="1"/>
          <p:nvPr/>
        </p:nvSpPr>
        <p:spPr>
          <a:xfrm>
            <a:off x="1296000" y="6768000"/>
            <a:ext cx="2160000" cy="180000"/>
          </a:xfrm>
          <a:prstGeom prst="rect">
            <a:avLst/>
          </a:prstGeom>
          <a:noFill/>
        </p:spPr>
        <p:txBody>
          <a:bodyPr wrap="square">
            <a:spAutoFit/>
          </a:bodyPr>
          <a:lstStyle/>
          <a:p>
            <a:pPr algn="l">
              <a:defRPr sz="700" b="0">
                <a:solidFill>
                  <a:srgbClr val="888888"/>
                </a:solidFill>
                <a:latin typeface="Inter"/>
              </a:defRPr>
            </a:pPr>
            <a:r>
              <a:t>GNB + GNF2 sur 25 km</a:t>
            </a:r>
          </a:p>
        </p:txBody>
      </p:sp>
      <p:sp>
        <p:nvSpPr>
          <p:cNvPr id="44" name="Rounded Rectangle 43"/>
          <p:cNvSpPr/>
          <p:nvPr/>
        </p:nvSpPr>
        <p:spPr>
          <a:xfrm>
            <a:off x="3888000" y="6480000"/>
            <a:ext cx="3060000" cy="648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888000" y="6480000"/>
            <a:ext cx="54000" cy="648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068000" y="6588000"/>
            <a:ext cx="324000" cy="324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36000" y="6552000"/>
            <a:ext cx="2160000" cy="180000"/>
          </a:xfrm>
          <a:prstGeom prst="rect">
            <a:avLst/>
          </a:prstGeom>
          <a:noFill/>
        </p:spPr>
        <p:txBody>
          <a:bodyPr wrap="square">
            <a:spAutoFit/>
          </a:bodyPr>
          <a:lstStyle/>
          <a:p>
            <a:pPr algn="l">
              <a:defRPr sz="900" b="1">
                <a:solidFill>
                  <a:srgbClr val="1E3A5F"/>
                </a:solidFill>
                <a:latin typeface="Montserrat"/>
              </a:defRPr>
            </a:pPr>
            <a:r>
              <a:t>Hydraulique 28,1%</a:t>
            </a:r>
          </a:p>
        </p:txBody>
      </p:sp>
      <p:sp>
        <p:nvSpPr>
          <p:cNvPr id="48" name="TextBox 47"/>
          <p:cNvSpPr txBox="1"/>
          <p:nvPr/>
        </p:nvSpPr>
        <p:spPr>
          <a:xfrm>
            <a:off x="4536000" y="6768000"/>
            <a:ext cx="2160000" cy="180000"/>
          </a:xfrm>
          <a:prstGeom prst="rect">
            <a:avLst/>
          </a:prstGeom>
          <a:noFill/>
        </p:spPr>
        <p:txBody>
          <a:bodyPr wrap="square">
            <a:spAutoFit/>
          </a:bodyPr>
          <a:lstStyle/>
          <a:p>
            <a:pPr algn="l">
              <a:defRPr sz="700" b="0">
                <a:solidFill>
                  <a:srgbClr val="888888"/>
                </a:solidFill>
                <a:latin typeface="Inter"/>
              </a:defRPr>
            </a:pPr>
            <a:r>
              <a:t>Buses + dalots + gabions</a:t>
            </a:r>
          </a:p>
        </p:txBody>
      </p:sp>
      <p:sp>
        <p:nvSpPr>
          <p:cNvPr id="49" name="TextBox 48"/>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980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180000"/>
            <a:ext cx="720000" cy="1080000"/>
          </a:xfrm>
          <a:prstGeom prst="rect">
            <a:avLst/>
          </a:prstGeom>
          <a:noFill/>
        </p:spPr>
        <p:txBody>
          <a:bodyPr wrap="square">
            <a:spAutoFit/>
          </a:bodyPr>
          <a:lstStyle/>
          <a:p>
            <a:pPr algn="l">
              <a:defRPr sz="4800" b="1">
                <a:solidFill>
                  <a:srgbClr val="2A4A70"/>
                </a:solidFill>
                <a:latin typeface="Montserrat"/>
              </a:defRPr>
            </a:pPr>
            <a:r>
              <a:t>5</a:t>
            </a:r>
          </a:p>
        </p:txBody>
      </p:sp>
      <p:sp>
        <p:nvSpPr>
          <p:cNvPr id="4" name="TextBox 3"/>
          <p:cNvSpPr txBox="1"/>
          <p:nvPr/>
        </p:nvSpPr>
        <p:spPr>
          <a:xfrm>
            <a:off x="1260000" y="288000"/>
            <a:ext cx="3240000" cy="180000"/>
          </a:xfrm>
          <a:prstGeom prst="rect">
            <a:avLst/>
          </a:prstGeom>
          <a:noFill/>
        </p:spPr>
        <p:txBody>
          <a:bodyPr wrap="square">
            <a:spAutoFit/>
          </a:bodyPr>
          <a:lstStyle/>
          <a:p>
            <a:pPr algn="l">
              <a:defRPr sz="700" b="1">
                <a:solidFill>
                  <a:srgbClr val="5CC8C0"/>
                </a:solidFill>
                <a:latin typeface="Montserrat"/>
              </a:defRPr>
            </a:pPr>
            <a:r>
              <a:t>SITUATION 5</a:t>
            </a:r>
          </a:p>
        </p:txBody>
      </p:sp>
      <p:sp>
        <p:nvSpPr>
          <p:cNvPr id="5" name="TextBox 4"/>
          <p:cNvSpPr txBox="1"/>
          <p:nvPr/>
        </p:nvSpPr>
        <p:spPr>
          <a:xfrm>
            <a:off x="1260000" y="540000"/>
            <a:ext cx="3240000" cy="720000"/>
          </a:xfrm>
          <a:prstGeom prst="rect">
            <a:avLst/>
          </a:prstGeom>
          <a:noFill/>
        </p:spPr>
        <p:txBody>
          <a:bodyPr wrap="square">
            <a:spAutoFit/>
          </a:bodyPr>
          <a:lstStyle/>
          <a:p>
            <a:pPr algn="l">
              <a:defRPr sz="1600" b="1">
                <a:solidFill>
                  <a:srgbClr val="FFFFFF"/>
                </a:solidFill>
                <a:latin typeface="Montserrat"/>
              </a:defRPr>
            </a:pPr>
            <a:r>
              <a:t>Cubatures de terrassement en montagne</a:t>
            </a:r>
          </a:p>
        </p:txBody>
      </p:sp>
      <p:sp>
        <p:nvSpPr>
          <p:cNvPr id="6" name="Rounded Rectangle 5"/>
          <p:cNvSpPr/>
          <p:nvPr/>
        </p:nvSpPr>
        <p:spPr>
          <a:xfrm>
            <a:off x="5040000" y="360000"/>
            <a:ext cx="1980000" cy="1080000"/>
          </a:xfrm>
          <a:prstGeom prst="roundRect">
            <a:avLst>
              <a:gd name="adj" fmla="val 12000"/>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0" y="540000"/>
            <a:ext cx="1980000" cy="432000"/>
          </a:xfrm>
          <a:prstGeom prst="rect">
            <a:avLst/>
          </a:prstGeom>
          <a:noFill/>
        </p:spPr>
        <p:txBody>
          <a:bodyPr wrap="square">
            <a:spAutoFit/>
          </a:bodyPr>
          <a:lstStyle/>
          <a:p>
            <a:pPr algn="ctr">
              <a:defRPr sz="1800" b="1">
                <a:solidFill>
                  <a:srgbClr val="F39200"/>
                </a:solidFill>
                <a:latin typeface="Montserrat"/>
              </a:defRPr>
            </a:pPr>
            <a:r>
              <a:t>120 334 m³</a:t>
            </a:r>
          </a:p>
        </p:txBody>
      </p:sp>
      <p:sp>
        <p:nvSpPr>
          <p:cNvPr id="8" name="TextBox 7"/>
          <p:cNvSpPr txBox="1"/>
          <p:nvPr/>
        </p:nvSpPr>
        <p:spPr>
          <a:xfrm>
            <a:off x="5040000" y="1007999"/>
            <a:ext cx="1980000" cy="216000"/>
          </a:xfrm>
          <a:prstGeom prst="rect">
            <a:avLst/>
          </a:prstGeom>
          <a:noFill/>
        </p:spPr>
        <p:txBody>
          <a:bodyPr wrap="square">
            <a:spAutoFit/>
          </a:bodyPr>
          <a:lstStyle/>
          <a:p>
            <a:pPr algn="ctr">
              <a:defRPr sz="700" b="0">
                <a:solidFill>
                  <a:srgbClr val="AAAABB"/>
                </a:solidFill>
                <a:latin typeface="Inter"/>
              </a:defRPr>
            </a:pPr>
            <a:r>
              <a:t>Déblais calculés</a:t>
            </a:r>
          </a:p>
        </p:txBody>
      </p:sp>
      <p:sp>
        <p:nvSpPr>
          <p:cNvPr id="9" name="Rounded Rectangle 8"/>
          <p:cNvSpPr/>
          <p:nvPr/>
        </p:nvSpPr>
        <p:spPr>
          <a:xfrm>
            <a:off x="648000" y="2340000"/>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8000" y="2340000"/>
            <a:ext cx="54000" cy="15120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00000" y="2484000"/>
            <a:ext cx="432000" cy="4320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000" y="2520000"/>
            <a:ext cx="432000" cy="360000"/>
          </a:xfrm>
          <a:prstGeom prst="rect">
            <a:avLst/>
          </a:prstGeom>
          <a:noFill/>
        </p:spPr>
        <p:txBody>
          <a:bodyPr wrap="square">
            <a:spAutoFit/>
          </a:bodyPr>
          <a:lstStyle/>
          <a:p>
            <a:pPr algn="ctr">
              <a:defRPr sz="1400" b="1">
                <a:solidFill>
                  <a:srgbClr val="FFFFFF"/>
                </a:solidFill>
                <a:latin typeface="Montserrat"/>
              </a:defRPr>
            </a:pPr>
            <a:r>
              <a:t>C</a:t>
            </a:r>
          </a:p>
        </p:txBody>
      </p:sp>
      <p:sp>
        <p:nvSpPr>
          <p:cNvPr id="13" name="TextBox 12"/>
          <p:cNvSpPr txBox="1"/>
          <p:nvPr/>
        </p:nvSpPr>
        <p:spPr>
          <a:xfrm>
            <a:off x="1512000" y="2484000"/>
            <a:ext cx="1800000" cy="180000"/>
          </a:xfrm>
          <a:prstGeom prst="rect">
            <a:avLst/>
          </a:prstGeom>
          <a:noFill/>
        </p:spPr>
        <p:txBody>
          <a:bodyPr wrap="square">
            <a:spAutoFit/>
          </a:bodyPr>
          <a:lstStyle/>
          <a:p>
            <a:pPr algn="l">
              <a:defRPr sz="800" b="1">
                <a:solidFill>
                  <a:srgbClr val="999999"/>
                </a:solidFill>
                <a:latin typeface="Montserrat"/>
              </a:defRPr>
            </a:pPr>
            <a:r>
              <a:t>CONTEXTE</a:t>
            </a:r>
          </a:p>
        </p:txBody>
      </p:sp>
      <p:sp>
        <p:nvSpPr>
          <p:cNvPr id="14" name="TextBox 13"/>
          <p:cNvSpPr txBox="1"/>
          <p:nvPr/>
        </p:nvSpPr>
        <p:spPr>
          <a:xfrm>
            <a:off x="1512000" y="2736000"/>
            <a:ext cx="5040000" cy="1007999"/>
          </a:xfrm>
          <a:prstGeom prst="rect">
            <a:avLst/>
          </a:prstGeom>
          <a:noFill/>
        </p:spPr>
        <p:txBody>
          <a:bodyPr wrap="square">
            <a:spAutoFit/>
          </a:bodyPr>
          <a:lstStyle/>
          <a:p>
            <a:pPr algn="just">
              <a:defRPr sz="900" b="0">
                <a:solidFill>
                  <a:srgbClr val="555555"/>
                </a:solidFill>
                <a:latin typeface="Inter"/>
              </a:defRPr>
            </a:pPr>
            <a:r>
              <a:t>Sur la route Lehri-Kerrouchen, 25 km en zone montagneuse, je devais vérifier les cubatures calculées par le bureau d'études : 120 334 m³ de déblais et 76 735 m³ de remblais, estimés par profils en travers tous les 25 mètres.</a:t>
            </a:r>
          </a:p>
        </p:txBody>
      </p:sp>
      <p:sp>
        <p:nvSpPr>
          <p:cNvPr id="15" name="Rounded Rectangle 14"/>
          <p:cNvSpPr/>
          <p:nvPr/>
        </p:nvSpPr>
        <p:spPr>
          <a:xfrm>
            <a:off x="648000" y="3995999"/>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8000" y="3995999"/>
            <a:ext cx="54000" cy="151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0000" y="4139999"/>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000" y="4175999"/>
            <a:ext cx="432000" cy="360000"/>
          </a:xfrm>
          <a:prstGeom prst="rect">
            <a:avLst/>
          </a:prstGeom>
          <a:noFill/>
        </p:spPr>
        <p:txBody>
          <a:bodyPr wrap="square">
            <a:spAutoFit/>
          </a:bodyPr>
          <a:lstStyle/>
          <a:p>
            <a:pPr algn="ctr">
              <a:defRPr sz="1400" b="1">
                <a:solidFill>
                  <a:srgbClr val="FFFFFF"/>
                </a:solidFill>
                <a:latin typeface="Montserrat"/>
              </a:defRPr>
            </a:pPr>
            <a:r>
              <a:t>P</a:t>
            </a:r>
          </a:p>
        </p:txBody>
      </p:sp>
      <p:sp>
        <p:nvSpPr>
          <p:cNvPr id="19" name="TextBox 18"/>
          <p:cNvSpPr txBox="1"/>
          <p:nvPr/>
        </p:nvSpPr>
        <p:spPr>
          <a:xfrm>
            <a:off x="1512000" y="4139999"/>
            <a:ext cx="1800000" cy="180000"/>
          </a:xfrm>
          <a:prstGeom prst="rect">
            <a:avLst/>
          </a:prstGeom>
          <a:noFill/>
        </p:spPr>
        <p:txBody>
          <a:bodyPr wrap="square">
            <a:spAutoFit/>
          </a:bodyPr>
          <a:lstStyle/>
          <a:p>
            <a:pPr algn="l">
              <a:defRPr sz="800" b="1">
                <a:solidFill>
                  <a:srgbClr val="F39200"/>
                </a:solidFill>
                <a:latin typeface="Montserrat"/>
              </a:defRPr>
            </a:pPr>
            <a:r>
              <a:t>PROBLEMATIQUE</a:t>
            </a:r>
          </a:p>
        </p:txBody>
      </p:sp>
      <p:sp>
        <p:nvSpPr>
          <p:cNvPr id="20" name="TextBox 19"/>
          <p:cNvSpPr txBox="1"/>
          <p:nvPr/>
        </p:nvSpPr>
        <p:spPr>
          <a:xfrm>
            <a:off x="1512000" y="4391999"/>
            <a:ext cx="5040000" cy="1007999"/>
          </a:xfrm>
          <a:prstGeom prst="rect">
            <a:avLst/>
          </a:prstGeom>
          <a:noFill/>
        </p:spPr>
        <p:txBody>
          <a:bodyPr wrap="square">
            <a:spAutoFit/>
          </a:bodyPr>
          <a:lstStyle/>
          <a:p>
            <a:pPr algn="just">
              <a:defRPr sz="900" b="0">
                <a:solidFill>
                  <a:srgbClr val="555555"/>
                </a:solidFill>
                <a:latin typeface="Inter"/>
              </a:defRPr>
            </a:pPr>
            <a:r>
              <a:t>À partir du PK 12+000, le terrain s'est révélé rocheux, ce qui n'avait pas été prévu. Il a fallu reclasser 5 000 m³ en déblais rocheux, à 85 DH/m³ contre 28 DH/m³ en terrain meuble, soit un surcoût de 285 000 DH. L'écart global atteignait +8%, et 3 talwegs nécessitaient des dalots supplémentaires.</a:t>
            </a:r>
          </a:p>
        </p:txBody>
      </p:sp>
      <p:sp>
        <p:nvSpPr>
          <p:cNvPr id="21" name="Rounded Rectangle 20"/>
          <p:cNvSpPr/>
          <p:nvPr/>
        </p:nvSpPr>
        <p:spPr>
          <a:xfrm>
            <a:off x="648000" y="5651998"/>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8000" y="5651998"/>
            <a:ext cx="54000" cy="151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00000" y="5795998"/>
            <a:ext cx="432000" cy="432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000" y="5831998"/>
            <a:ext cx="432000" cy="360000"/>
          </a:xfrm>
          <a:prstGeom prst="rect">
            <a:avLst/>
          </a:prstGeom>
          <a:noFill/>
        </p:spPr>
        <p:txBody>
          <a:bodyPr wrap="square">
            <a:spAutoFit/>
          </a:bodyPr>
          <a:lstStyle/>
          <a:p>
            <a:pPr algn="ctr">
              <a:defRPr sz="1400" b="1">
                <a:solidFill>
                  <a:srgbClr val="FFFFFF"/>
                </a:solidFill>
                <a:latin typeface="Montserrat"/>
              </a:defRPr>
            </a:pPr>
            <a:r>
              <a:t>A</a:t>
            </a:r>
          </a:p>
        </p:txBody>
      </p:sp>
      <p:sp>
        <p:nvSpPr>
          <p:cNvPr id="25" name="TextBox 24"/>
          <p:cNvSpPr txBox="1"/>
          <p:nvPr/>
        </p:nvSpPr>
        <p:spPr>
          <a:xfrm>
            <a:off x="1512000" y="5795998"/>
            <a:ext cx="1800000" cy="180000"/>
          </a:xfrm>
          <a:prstGeom prst="rect">
            <a:avLst/>
          </a:prstGeom>
          <a:noFill/>
        </p:spPr>
        <p:txBody>
          <a:bodyPr wrap="square">
            <a:spAutoFit/>
          </a:bodyPr>
          <a:lstStyle/>
          <a:p>
            <a:pPr algn="l">
              <a:defRPr sz="800" b="1">
                <a:solidFill>
                  <a:srgbClr val="5CC8C0"/>
                </a:solidFill>
                <a:latin typeface="Montserrat"/>
              </a:defRPr>
            </a:pPr>
            <a:r>
              <a:t>ACTION</a:t>
            </a:r>
          </a:p>
        </p:txBody>
      </p:sp>
      <p:sp>
        <p:nvSpPr>
          <p:cNvPr id="26" name="TextBox 25"/>
          <p:cNvSpPr txBox="1"/>
          <p:nvPr/>
        </p:nvSpPr>
        <p:spPr>
          <a:xfrm>
            <a:off x="1512000" y="6047998"/>
            <a:ext cx="5040000" cy="1007999"/>
          </a:xfrm>
          <a:prstGeom prst="rect">
            <a:avLst/>
          </a:prstGeom>
          <a:noFill/>
        </p:spPr>
        <p:txBody>
          <a:bodyPr wrap="square">
            <a:spAutoFit/>
          </a:bodyPr>
          <a:lstStyle/>
          <a:p>
            <a:pPr algn="just">
              <a:defRPr sz="900" b="0">
                <a:solidFill>
                  <a:srgbClr val="555555"/>
                </a:solidFill>
                <a:latin typeface="Inter"/>
              </a:defRPr>
            </a:pPr>
            <a:r>
              <a:t>J'ai mis en place des attachements contradictoires tous les 500 ml avec le conducteur de travaux, en comparant les profils réels aux profils théoriques par la méthode des sections moyennes. J'ai collaboré avec le bureau d'études pour dimensionner 3 dalots supplémentaires. La reclassification des 5 000 m³ a été formalisée par un attachement signé des deux parties.</a:t>
            </a:r>
          </a:p>
        </p:txBody>
      </p:sp>
      <p:sp>
        <p:nvSpPr>
          <p:cNvPr id="27" name="Rounded Rectangle 26"/>
          <p:cNvSpPr/>
          <p:nvPr/>
        </p:nvSpPr>
        <p:spPr>
          <a:xfrm>
            <a:off x="648000" y="7307997"/>
            <a:ext cx="6263999" cy="1512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8000" y="7307997"/>
            <a:ext cx="54000" cy="1512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0000" y="7451997"/>
            <a:ext cx="432000" cy="432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000" y="7487997"/>
            <a:ext cx="432000" cy="360000"/>
          </a:xfrm>
          <a:prstGeom prst="rect">
            <a:avLst/>
          </a:prstGeom>
          <a:noFill/>
        </p:spPr>
        <p:txBody>
          <a:bodyPr wrap="square">
            <a:spAutoFit/>
          </a:bodyPr>
          <a:lstStyle/>
          <a:p>
            <a:pPr algn="ctr">
              <a:defRPr sz="1400" b="1">
                <a:solidFill>
                  <a:srgbClr val="FFFFFF"/>
                </a:solidFill>
                <a:latin typeface="Montserrat"/>
              </a:defRPr>
            </a:pPr>
            <a:r>
              <a:t>R</a:t>
            </a:r>
          </a:p>
        </p:txBody>
      </p:sp>
      <p:sp>
        <p:nvSpPr>
          <p:cNvPr id="31" name="TextBox 30"/>
          <p:cNvSpPr txBox="1"/>
          <p:nvPr/>
        </p:nvSpPr>
        <p:spPr>
          <a:xfrm>
            <a:off x="1512000" y="7451997"/>
            <a:ext cx="1800000" cy="180000"/>
          </a:xfrm>
          <a:prstGeom prst="rect">
            <a:avLst/>
          </a:prstGeom>
          <a:noFill/>
        </p:spPr>
        <p:txBody>
          <a:bodyPr wrap="square">
            <a:spAutoFit/>
          </a:bodyPr>
          <a:lstStyle/>
          <a:p>
            <a:pPr algn="l">
              <a:defRPr sz="800" b="1">
                <a:solidFill>
                  <a:srgbClr val="1E3A5F"/>
                </a:solidFill>
                <a:latin typeface="Montserrat"/>
              </a:defRPr>
            </a:pPr>
            <a:r>
              <a:t>RESULTAT</a:t>
            </a:r>
          </a:p>
        </p:txBody>
      </p:sp>
      <p:sp>
        <p:nvSpPr>
          <p:cNvPr id="32" name="TextBox 31"/>
          <p:cNvSpPr txBox="1"/>
          <p:nvPr/>
        </p:nvSpPr>
        <p:spPr>
          <a:xfrm>
            <a:off x="1512000" y="7703997"/>
            <a:ext cx="5040000" cy="1007999"/>
          </a:xfrm>
          <a:prstGeom prst="rect">
            <a:avLst/>
          </a:prstGeom>
          <a:noFill/>
        </p:spPr>
        <p:txBody>
          <a:bodyPr wrap="square">
            <a:spAutoFit/>
          </a:bodyPr>
          <a:lstStyle/>
          <a:p>
            <a:pPr algn="just">
              <a:defRPr sz="900" b="0">
                <a:solidFill>
                  <a:srgbClr val="555555"/>
                </a:solidFill>
                <a:latin typeface="Inter"/>
              </a:defRPr>
            </a:pPr>
            <a:r>
              <a:t>Le surcoût de 285 000 DH a été absorbé par compensation sur les postes remblais et revêtement, dont les quantités réelles étaient inférieures aux prévisions. Les 3 dalots ont été ajoutés sans dépassement de l'enveloppe globale, et la réception provisoire a été prononcée dans les délais.</a:t>
            </a:r>
          </a:p>
        </p:txBody>
      </p:sp>
      <p:sp>
        <p:nvSpPr>
          <p:cNvPr id="33" name="Rectangle 32"/>
          <p:cNvSpPr/>
          <p:nvPr/>
        </p:nvSpPr>
        <p:spPr>
          <a:xfrm>
            <a:off x="0" y="9180000"/>
            <a:ext cx="7560000" cy="432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180000"/>
            <a:ext cx="7560000" cy="36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0000" y="9216000"/>
            <a:ext cx="6840000" cy="360000"/>
          </a:xfrm>
          <a:prstGeom prst="rect">
            <a:avLst/>
          </a:prstGeom>
          <a:noFill/>
        </p:spPr>
        <p:txBody>
          <a:bodyPr wrap="square">
            <a:spAutoFit/>
          </a:bodyPr>
          <a:lstStyle/>
          <a:p>
            <a:pPr algn="ctr">
              <a:defRPr sz="700" b="1">
                <a:solidFill>
                  <a:srgbClr val="1E3A5F"/>
                </a:solidFill>
                <a:latin typeface="Montserrat"/>
              </a:defRPr>
            </a:pPr>
            <a:r>
              <a:t>CONTRÔLER LES QUANTITÉS FACE À L'IMPRÉVU GÉOLOGIQUE</a:t>
            </a:r>
          </a:p>
        </p:txBody>
      </p:sp>
      <p:sp>
        <p:nvSpPr>
          <p:cNvPr id="36" name="TextBox 35"/>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540000"/>
            <a:ext cx="6120000" cy="540000"/>
          </a:xfrm>
          <a:prstGeom prst="rect">
            <a:avLst/>
          </a:prstGeom>
          <a:noFill/>
        </p:spPr>
        <p:txBody>
          <a:bodyPr wrap="square">
            <a:spAutoFit/>
          </a:bodyPr>
          <a:lstStyle/>
          <a:p>
            <a:pPr algn="l">
              <a:defRPr sz="1800" b="1">
                <a:solidFill>
                  <a:srgbClr val="1E3A5F"/>
                </a:solidFill>
                <a:latin typeface="Montserrat"/>
              </a:defRPr>
            </a:pPr>
            <a:r>
              <a:t>DEFIS D'UN CHANTIER ROUTIER</a:t>
            </a:r>
            <a:br/>
            <a:r>
              <a:t>EN ZONE MONTAGNEUSE</a:t>
            </a:r>
          </a:p>
        </p:txBody>
      </p:sp>
      <p:sp>
        <p:nvSpPr>
          <p:cNvPr id="3" name="Rectangle 2"/>
          <p:cNvSpPr/>
          <p:nvPr/>
        </p:nvSpPr>
        <p:spPr>
          <a:xfrm>
            <a:off x="648000" y="1440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2000" y="1980000"/>
            <a:ext cx="1584000" cy="288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32000" y="1980000"/>
            <a:ext cx="1584000" cy="54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0000" y="2160000"/>
            <a:ext cx="288000" cy="288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2520000"/>
            <a:ext cx="1368000" cy="216000"/>
          </a:xfrm>
          <a:prstGeom prst="rect">
            <a:avLst/>
          </a:prstGeom>
          <a:noFill/>
        </p:spPr>
        <p:txBody>
          <a:bodyPr wrap="square">
            <a:spAutoFit/>
          </a:bodyPr>
          <a:lstStyle/>
          <a:p>
            <a:pPr algn="l">
              <a:defRPr sz="900" b="1">
                <a:solidFill>
                  <a:srgbClr val="5CC8C0"/>
                </a:solidFill>
                <a:latin typeface="Montserrat"/>
              </a:defRPr>
            </a:pPr>
            <a:r>
              <a:t>Relief montagneux</a:t>
            </a:r>
          </a:p>
        </p:txBody>
      </p:sp>
      <p:sp>
        <p:nvSpPr>
          <p:cNvPr id="8" name="TextBox 7"/>
          <p:cNvSpPr txBox="1"/>
          <p:nvPr/>
        </p:nvSpPr>
        <p:spPr>
          <a:xfrm>
            <a:off x="540000" y="2808000"/>
            <a:ext cx="1368000" cy="1800000"/>
          </a:xfrm>
          <a:prstGeom prst="rect">
            <a:avLst/>
          </a:prstGeom>
          <a:noFill/>
        </p:spPr>
        <p:txBody>
          <a:bodyPr wrap="square">
            <a:spAutoFit/>
          </a:bodyPr>
          <a:lstStyle/>
          <a:p>
            <a:pPr algn="just">
              <a:defRPr sz="700" b="0">
                <a:solidFill>
                  <a:srgbClr val="555555"/>
                </a:solidFill>
                <a:latin typeface="Inter"/>
              </a:defRPr>
            </a:pPr>
            <a:r>
              <a:t>Terrain très accidenté, 120 334 m³ de déblais, gabions (789 m³)</a:t>
            </a:r>
          </a:p>
        </p:txBody>
      </p:sp>
      <p:sp>
        <p:nvSpPr>
          <p:cNvPr id="9" name="Rounded Rectangle 8"/>
          <p:cNvSpPr/>
          <p:nvPr/>
        </p:nvSpPr>
        <p:spPr>
          <a:xfrm>
            <a:off x="2160000" y="1980000"/>
            <a:ext cx="1584000" cy="288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60000" y="1980000"/>
            <a:ext cx="1584000" cy="54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268000" y="2160000"/>
            <a:ext cx="288000" cy="288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68000" y="2520000"/>
            <a:ext cx="1368000" cy="216000"/>
          </a:xfrm>
          <a:prstGeom prst="rect">
            <a:avLst/>
          </a:prstGeom>
          <a:noFill/>
        </p:spPr>
        <p:txBody>
          <a:bodyPr wrap="square">
            <a:spAutoFit/>
          </a:bodyPr>
          <a:lstStyle/>
          <a:p>
            <a:pPr algn="l">
              <a:defRPr sz="900" b="1">
                <a:solidFill>
                  <a:srgbClr val="F39200"/>
                </a:solidFill>
                <a:latin typeface="Montserrat"/>
              </a:defRPr>
            </a:pPr>
            <a:r>
              <a:t>Conditions climatiques</a:t>
            </a:r>
          </a:p>
        </p:txBody>
      </p:sp>
      <p:sp>
        <p:nvSpPr>
          <p:cNvPr id="13" name="TextBox 12"/>
          <p:cNvSpPr txBox="1"/>
          <p:nvPr/>
        </p:nvSpPr>
        <p:spPr>
          <a:xfrm>
            <a:off x="2268000" y="2808000"/>
            <a:ext cx="1368000" cy="1800000"/>
          </a:xfrm>
          <a:prstGeom prst="rect">
            <a:avLst/>
          </a:prstGeom>
          <a:noFill/>
        </p:spPr>
        <p:txBody>
          <a:bodyPr wrap="square">
            <a:spAutoFit/>
          </a:bodyPr>
          <a:lstStyle/>
          <a:p>
            <a:pPr algn="just">
              <a:defRPr sz="700" b="0">
                <a:solidFill>
                  <a:srgbClr val="555555"/>
                </a:solidFill>
                <a:latin typeface="Inter"/>
              </a:defRPr>
            </a:pPr>
            <a:r>
              <a:t>Arrêts hivernaux, OS d'arrêt et de reprise, gel, précipitations</a:t>
            </a:r>
          </a:p>
        </p:txBody>
      </p:sp>
      <p:sp>
        <p:nvSpPr>
          <p:cNvPr id="14" name="Rounded Rectangle 13"/>
          <p:cNvSpPr/>
          <p:nvPr/>
        </p:nvSpPr>
        <p:spPr>
          <a:xfrm>
            <a:off x="3888000" y="1980000"/>
            <a:ext cx="1584000" cy="288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88000" y="1980000"/>
            <a:ext cx="1584000" cy="54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996000" y="2160000"/>
            <a:ext cx="288000" cy="2880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96000" y="2520000"/>
            <a:ext cx="1368000" cy="216000"/>
          </a:xfrm>
          <a:prstGeom prst="rect">
            <a:avLst/>
          </a:prstGeom>
          <a:noFill/>
        </p:spPr>
        <p:txBody>
          <a:bodyPr wrap="square">
            <a:spAutoFit/>
          </a:bodyPr>
          <a:lstStyle/>
          <a:p>
            <a:pPr algn="l">
              <a:defRPr sz="900" b="1">
                <a:solidFill>
                  <a:srgbClr val="8B5CF6"/>
                </a:solidFill>
                <a:latin typeface="Montserrat"/>
              </a:defRPr>
            </a:pPr>
            <a:r>
              <a:t>Écarts de cubatures</a:t>
            </a:r>
          </a:p>
        </p:txBody>
      </p:sp>
      <p:sp>
        <p:nvSpPr>
          <p:cNvPr id="18" name="TextBox 17"/>
          <p:cNvSpPr txBox="1"/>
          <p:nvPr/>
        </p:nvSpPr>
        <p:spPr>
          <a:xfrm>
            <a:off x="3996000" y="2808000"/>
            <a:ext cx="1368000" cy="1800000"/>
          </a:xfrm>
          <a:prstGeom prst="rect">
            <a:avLst/>
          </a:prstGeom>
          <a:noFill/>
        </p:spPr>
        <p:txBody>
          <a:bodyPr wrap="square">
            <a:spAutoFit/>
          </a:bodyPr>
          <a:lstStyle/>
          <a:p>
            <a:pPr algn="just">
              <a:defRPr sz="700" b="0">
                <a:solidFill>
                  <a:srgbClr val="555555"/>
                </a:solidFill>
                <a:latin typeface="Inter"/>
              </a:defRPr>
            </a:pPr>
            <a:r>
              <a:t>Géologie rencontrée différente des prévisions, terrain rocheux</a:t>
            </a:r>
          </a:p>
        </p:txBody>
      </p:sp>
      <p:sp>
        <p:nvSpPr>
          <p:cNvPr id="19" name="Rounded Rectangle 18"/>
          <p:cNvSpPr/>
          <p:nvPr/>
        </p:nvSpPr>
        <p:spPr>
          <a:xfrm>
            <a:off x="5616000" y="1980000"/>
            <a:ext cx="1584000" cy="288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16000" y="1980000"/>
            <a:ext cx="1584000" cy="54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4000" y="2160000"/>
            <a:ext cx="288000" cy="288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4000" y="2520000"/>
            <a:ext cx="1368000" cy="216000"/>
          </a:xfrm>
          <a:prstGeom prst="rect">
            <a:avLst/>
          </a:prstGeom>
          <a:noFill/>
        </p:spPr>
        <p:txBody>
          <a:bodyPr wrap="square">
            <a:spAutoFit/>
          </a:bodyPr>
          <a:lstStyle/>
          <a:p>
            <a:pPr algn="l">
              <a:defRPr sz="900" b="1">
                <a:solidFill>
                  <a:srgbClr val="1E3A5F"/>
                </a:solidFill>
                <a:latin typeface="Montserrat"/>
              </a:defRPr>
            </a:pPr>
            <a:r>
              <a:t>Ouvrages hydrauliques</a:t>
            </a:r>
          </a:p>
        </p:txBody>
      </p:sp>
      <p:sp>
        <p:nvSpPr>
          <p:cNvPr id="23" name="TextBox 22"/>
          <p:cNvSpPr txBox="1"/>
          <p:nvPr/>
        </p:nvSpPr>
        <p:spPr>
          <a:xfrm>
            <a:off x="5724000" y="2808000"/>
            <a:ext cx="1368000" cy="1800000"/>
          </a:xfrm>
          <a:prstGeom prst="rect">
            <a:avLst/>
          </a:prstGeom>
          <a:noFill/>
        </p:spPr>
        <p:txBody>
          <a:bodyPr wrap="square">
            <a:spAutoFit/>
          </a:bodyPr>
          <a:lstStyle/>
          <a:p>
            <a:pPr algn="just">
              <a:defRPr sz="700" b="0">
                <a:solidFill>
                  <a:srgbClr val="555555"/>
                </a:solidFill>
                <a:latin typeface="Inter"/>
              </a:defRPr>
            </a:pPr>
            <a:r>
              <a:t>Ajustement après observation des crues (buses, dalots, béton)</a:t>
            </a:r>
          </a:p>
        </p:txBody>
      </p:sp>
      <p:sp>
        <p:nvSpPr>
          <p:cNvPr id="24" name="Rounded Rectangle 23"/>
          <p:cNvSpPr/>
          <p:nvPr/>
        </p:nvSpPr>
        <p:spPr>
          <a:xfrm>
            <a:off x="648000" y="5220000"/>
            <a:ext cx="6263999" cy="540000"/>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000" y="5292000"/>
            <a:ext cx="5760000" cy="360000"/>
          </a:xfrm>
          <a:prstGeom prst="rect">
            <a:avLst/>
          </a:prstGeom>
          <a:noFill/>
        </p:spPr>
        <p:txBody>
          <a:bodyPr wrap="square">
            <a:spAutoFit/>
          </a:bodyPr>
          <a:lstStyle/>
          <a:p>
            <a:pPr algn="ctr">
              <a:defRPr sz="800" b="0">
                <a:solidFill>
                  <a:srgbClr val="FFFFFF"/>
                </a:solidFill>
                <a:latin typeface="Inter"/>
              </a:defRPr>
            </a:pPr>
            <a:r>
              <a:t>Ces defis ont forge ma capacite a adapter les methodes de suivi aux aleas du terrain.</a:t>
            </a:r>
          </a:p>
        </p:txBody>
      </p:sp>
      <p:sp>
        <p:nvSpPr>
          <p:cNvPr id="26" name="TextBox 25"/>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44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32000" y="288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7999" y="288000"/>
            <a:ext cx="5760000" cy="540000"/>
          </a:xfrm>
          <a:prstGeom prst="rect">
            <a:avLst/>
          </a:prstGeom>
          <a:noFill/>
        </p:spPr>
        <p:txBody>
          <a:bodyPr wrap="square">
            <a:spAutoFit/>
          </a:bodyPr>
          <a:lstStyle/>
          <a:p>
            <a:pPr algn="l">
              <a:defRPr sz="1800" b="1">
                <a:solidFill>
                  <a:srgbClr val="1E3A5F"/>
                </a:solidFill>
                <a:latin typeface="Montserrat"/>
              </a:defRPr>
            </a:pPr>
            <a:r>
              <a:t>ACTIVITES</a:t>
            </a:r>
            <a:br/>
            <a:r>
              <a:t>COMPLEMENTAIRES</a:t>
            </a:r>
          </a:p>
        </p:txBody>
      </p:sp>
      <p:sp>
        <p:nvSpPr>
          <p:cNvPr id="5" name="Rectangle 4"/>
          <p:cNvSpPr/>
          <p:nvPr/>
        </p:nvSpPr>
        <p:spPr>
          <a:xfrm>
            <a:off x="648000" y="1152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8000" y="1440000"/>
            <a:ext cx="288000" cy="288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000" y="1368000"/>
            <a:ext cx="2520000" cy="360000"/>
          </a:xfrm>
          <a:prstGeom prst="rect">
            <a:avLst/>
          </a:prstGeom>
          <a:noFill/>
        </p:spPr>
        <p:txBody>
          <a:bodyPr wrap="square">
            <a:spAutoFit/>
          </a:bodyPr>
          <a:lstStyle/>
          <a:p>
            <a:pPr algn="l">
              <a:defRPr sz="900" b="1">
                <a:solidFill>
                  <a:srgbClr val="F39200"/>
                </a:solidFill>
                <a:latin typeface="Montserrat"/>
              </a:defRPr>
            </a:pPr>
            <a:r>
              <a:t>5 AUTRES MARCHES AU</a:t>
            </a:r>
            <a:br/>
            <a:r>
              <a:t>CONSEIL REGIONAL</a:t>
            </a:r>
          </a:p>
        </p:txBody>
      </p:sp>
      <p:sp>
        <p:nvSpPr>
          <p:cNvPr id="8" name="TextBox 7"/>
          <p:cNvSpPr txBox="1"/>
          <p:nvPr/>
        </p:nvSpPr>
        <p:spPr>
          <a:xfrm>
            <a:off x="648000" y="1980000"/>
            <a:ext cx="3240000" cy="360000"/>
          </a:xfrm>
          <a:prstGeom prst="rect">
            <a:avLst/>
          </a:prstGeom>
          <a:noFill/>
        </p:spPr>
        <p:txBody>
          <a:bodyPr wrap="square">
            <a:spAutoFit/>
          </a:bodyPr>
          <a:lstStyle/>
          <a:p>
            <a:pPr algn="just">
              <a:defRPr sz="800" b="0">
                <a:solidFill>
                  <a:srgbClr val="555555"/>
                </a:solidFill>
                <a:latin typeface="Inter"/>
              </a:defRPr>
            </a:pPr>
            <a:r>
              <a:t>Outre les deux projets principaux, j'ai participe au suivi de 5 autres marches publics.</a:t>
            </a:r>
          </a:p>
        </p:txBody>
      </p:sp>
      <p:sp>
        <p:nvSpPr>
          <p:cNvPr id="9" name="Oval 8"/>
          <p:cNvSpPr/>
          <p:nvPr/>
        </p:nvSpPr>
        <p:spPr>
          <a:xfrm>
            <a:off x="720000" y="2556000"/>
            <a:ext cx="144000" cy="144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7999" y="2520000"/>
            <a:ext cx="2700000" cy="288000"/>
          </a:xfrm>
          <a:prstGeom prst="rect">
            <a:avLst/>
          </a:prstGeom>
          <a:noFill/>
        </p:spPr>
        <p:txBody>
          <a:bodyPr wrap="square">
            <a:spAutoFit/>
          </a:bodyPr>
          <a:lstStyle/>
          <a:p>
            <a:pPr algn="l">
              <a:defRPr sz="700" b="0">
                <a:solidFill>
                  <a:srgbClr val="555555"/>
                </a:solidFill>
                <a:latin typeface="Inter"/>
              </a:defRPr>
            </a:pPr>
            <a:r>
              <a:t>Marche 27-RBK-2017 : Construction route Sidi Bouabbad à Oued Grou (Route/Piste)</a:t>
            </a:r>
          </a:p>
        </p:txBody>
      </p:sp>
      <p:sp>
        <p:nvSpPr>
          <p:cNvPr id="11" name="Oval 10"/>
          <p:cNvSpPr/>
          <p:nvPr/>
        </p:nvSpPr>
        <p:spPr>
          <a:xfrm>
            <a:off x="720000" y="2988000"/>
            <a:ext cx="144000" cy="144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7999" y="2952000"/>
            <a:ext cx="2700000" cy="288000"/>
          </a:xfrm>
          <a:prstGeom prst="rect">
            <a:avLst/>
          </a:prstGeom>
          <a:noFill/>
        </p:spPr>
        <p:txBody>
          <a:bodyPr wrap="square">
            <a:spAutoFit/>
          </a:bodyPr>
          <a:lstStyle/>
          <a:p>
            <a:pPr algn="l">
              <a:defRPr sz="700" b="0">
                <a:solidFill>
                  <a:srgbClr val="555555"/>
                </a:solidFill>
                <a:latin typeface="Inter"/>
              </a:defRPr>
            </a:pPr>
            <a:r>
              <a:t>Marche 28-RBK-2017 : Route Ajdir-Ayoun + Piste Lijon Kichchon (Route+Piste)</a:t>
            </a:r>
          </a:p>
        </p:txBody>
      </p:sp>
      <p:sp>
        <p:nvSpPr>
          <p:cNvPr id="13" name="Oval 12"/>
          <p:cNvSpPr/>
          <p:nvPr/>
        </p:nvSpPr>
        <p:spPr>
          <a:xfrm>
            <a:off x="720000" y="3420000"/>
            <a:ext cx="144000" cy="144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7999" y="3384000"/>
            <a:ext cx="2700000" cy="288000"/>
          </a:xfrm>
          <a:prstGeom prst="rect">
            <a:avLst/>
          </a:prstGeom>
          <a:noFill/>
        </p:spPr>
        <p:txBody>
          <a:bodyPr wrap="square">
            <a:spAutoFit/>
          </a:bodyPr>
          <a:lstStyle/>
          <a:p>
            <a:pPr algn="l">
              <a:defRPr sz="700" b="0">
                <a:solidFill>
                  <a:srgbClr val="555555"/>
                </a:solidFill>
                <a:latin typeface="Inter"/>
              </a:defRPr>
            </a:pPr>
            <a:r>
              <a:t>Marche 30-RBK-2017 : Adduction Eau Potable El Borj – El Hamam (AEP)</a:t>
            </a:r>
          </a:p>
        </p:txBody>
      </p:sp>
      <p:sp>
        <p:nvSpPr>
          <p:cNvPr id="15" name="Oval 14"/>
          <p:cNvSpPr/>
          <p:nvPr/>
        </p:nvSpPr>
        <p:spPr>
          <a:xfrm>
            <a:off x="720000" y="3852000"/>
            <a:ext cx="144000" cy="144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7999" y="3816000"/>
            <a:ext cx="2700000" cy="288000"/>
          </a:xfrm>
          <a:prstGeom prst="rect">
            <a:avLst/>
          </a:prstGeom>
          <a:noFill/>
        </p:spPr>
        <p:txBody>
          <a:bodyPr wrap="square">
            <a:spAutoFit/>
          </a:bodyPr>
          <a:lstStyle/>
          <a:p>
            <a:pPr algn="l">
              <a:defRPr sz="700" b="0">
                <a:solidFill>
                  <a:srgbClr val="555555"/>
                </a:solidFill>
                <a:latin typeface="Inter"/>
              </a:defRPr>
            </a:pPr>
            <a:r>
              <a:t>Marche 39-RBK-2017 : Pistes Hartaf – Sebt Ait Rahou (Pistes rurales)</a:t>
            </a:r>
          </a:p>
        </p:txBody>
      </p:sp>
      <p:sp>
        <p:nvSpPr>
          <p:cNvPr id="17" name="Oval 16"/>
          <p:cNvSpPr/>
          <p:nvPr/>
        </p:nvSpPr>
        <p:spPr>
          <a:xfrm>
            <a:off x="720000" y="4284000"/>
            <a:ext cx="144000" cy="144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7999" y="4248000"/>
            <a:ext cx="2700000" cy="288000"/>
          </a:xfrm>
          <a:prstGeom prst="rect">
            <a:avLst/>
          </a:prstGeom>
          <a:noFill/>
        </p:spPr>
        <p:txBody>
          <a:bodyPr wrap="square">
            <a:spAutoFit/>
          </a:bodyPr>
          <a:lstStyle/>
          <a:p>
            <a:pPr algn="l">
              <a:defRPr sz="700" b="0">
                <a:solidFill>
                  <a:srgbClr val="555555"/>
                </a:solidFill>
                <a:latin typeface="Inter"/>
              </a:defRPr>
            </a:pPr>
            <a:r>
              <a:t>Marche 49-RBK-2016 : Aménagement voie Amghass – Bouchbel (Voirie)</a:t>
            </a:r>
          </a:p>
        </p:txBody>
      </p:sp>
      <p:sp>
        <p:nvSpPr>
          <p:cNvPr id="19" name="Oval 18"/>
          <p:cNvSpPr/>
          <p:nvPr/>
        </p:nvSpPr>
        <p:spPr>
          <a:xfrm>
            <a:off x="4140000" y="1440000"/>
            <a:ext cx="288000" cy="288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1368000"/>
            <a:ext cx="2520000" cy="360000"/>
          </a:xfrm>
          <a:prstGeom prst="rect">
            <a:avLst/>
          </a:prstGeom>
          <a:noFill/>
        </p:spPr>
        <p:txBody>
          <a:bodyPr wrap="square">
            <a:spAutoFit/>
          </a:bodyPr>
          <a:lstStyle/>
          <a:p>
            <a:pPr algn="l">
              <a:defRPr sz="900" b="1">
                <a:solidFill>
                  <a:srgbClr val="5CC8C0"/>
                </a:solidFill>
                <a:latin typeface="Montserrat"/>
              </a:defRPr>
            </a:pPr>
            <a:r>
              <a:t>EXPERIENCE TERRAIN</a:t>
            </a:r>
            <a:br/>
            <a:r>
              <a:t>EN FRANCE</a:t>
            </a:r>
          </a:p>
        </p:txBody>
      </p:sp>
      <p:sp>
        <p:nvSpPr>
          <p:cNvPr id="21" name="TextBox 20"/>
          <p:cNvSpPr txBox="1"/>
          <p:nvPr/>
        </p:nvSpPr>
        <p:spPr>
          <a:xfrm>
            <a:off x="4140000" y="1980000"/>
            <a:ext cx="2880000" cy="360000"/>
          </a:xfrm>
          <a:prstGeom prst="rect">
            <a:avLst/>
          </a:prstGeom>
          <a:noFill/>
        </p:spPr>
        <p:txBody>
          <a:bodyPr wrap="square">
            <a:spAutoFit/>
          </a:bodyPr>
          <a:lstStyle/>
          <a:p>
            <a:pPr algn="just">
              <a:defRPr sz="800" b="0">
                <a:solidFill>
                  <a:srgbClr val="555555"/>
                </a:solidFill>
                <a:latin typeface="Inter"/>
              </a:defRPr>
            </a:pPr>
            <a:r>
              <a:t>Mon experience en France m'a permis de decouvrir le gros oeuvre cote execution.</a:t>
            </a:r>
          </a:p>
        </p:txBody>
      </p:sp>
      <p:sp>
        <p:nvSpPr>
          <p:cNvPr id="22" name="Oval 21"/>
          <p:cNvSpPr/>
          <p:nvPr/>
        </p:nvSpPr>
        <p:spPr>
          <a:xfrm>
            <a:off x="4248000" y="2556000"/>
            <a:ext cx="144000" cy="14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36000" y="2520000"/>
            <a:ext cx="2520000" cy="432000"/>
          </a:xfrm>
          <a:prstGeom prst="rect">
            <a:avLst/>
          </a:prstGeom>
          <a:noFill/>
        </p:spPr>
        <p:txBody>
          <a:bodyPr wrap="square">
            <a:spAutoFit/>
          </a:bodyPr>
          <a:lstStyle/>
          <a:p>
            <a:pPr algn="l">
              <a:defRPr sz="700" b="0">
                <a:solidFill>
                  <a:srgbClr val="555555"/>
                </a:solidFill>
                <a:latin typeface="Inter"/>
              </a:defRPr>
            </a:pPr>
            <a:r>
              <a:t>2022-2023 - Chef d'équipe GO – Ergalis, Feurs (42) : Coffrage, ferraillage, bétonnage, suivi des cycles</a:t>
            </a:r>
          </a:p>
        </p:txBody>
      </p:sp>
      <p:sp>
        <p:nvSpPr>
          <p:cNvPr id="24" name="Oval 23"/>
          <p:cNvSpPr/>
          <p:nvPr/>
        </p:nvSpPr>
        <p:spPr>
          <a:xfrm>
            <a:off x="4248000" y="3096000"/>
            <a:ext cx="144000" cy="14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36000" y="3060000"/>
            <a:ext cx="2520000" cy="432000"/>
          </a:xfrm>
          <a:prstGeom prst="rect">
            <a:avLst/>
          </a:prstGeom>
          <a:noFill/>
        </p:spPr>
        <p:txBody>
          <a:bodyPr wrap="square">
            <a:spAutoFit/>
          </a:bodyPr>
          <a:lstStyle/>
          <a:p>
            <a:pPr algn="l">
              <a:defRPr sz="700" b="0">
                <a:solidFill>
                  <a:srgbClr val="555555"/>
                </a:solidFill>
                <a:latin typeface="Inter"/>
              </a:defRPr>
            </a:pPr>
            <a:r>
              <a:t>2024 - Chef de chantier – Minssieux et Fils, Mornant (69) : Encadrement d'équipe, suivi avancement, contrôle qualité</a:t>
            </a:r>
          </a:p>
        </p:txBody>
      </p:sp>
      <p:sp>
        <p:nvSpPr>
          <p:cNvPr id="26" name="Rounded Rectangle 25"/>
          <p:cNvSpPr/>
          <p:nvPr/>
        </p:nvSpPr>
        <p:spPr>
          <a:xfrm>
            <a:off x="648000" y="5040000"/>
            <a:ext cx="6263999" cy="360000"/>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000" y="5076000"/>
            <a:ext cx="5760000" cy="288000"/>
          </a:xfrm>
          <a:prstGeom prst="rect">
            <a:avLst/>
          </a:prstGeom>
          <a:noFill/>
        </p:spPr>
        <p:txBody>
          <a:bodyPr wrap="square">
            <a:spAutoFit/>
          </a:bodyPr>
          <a:lstStyle/>
          <a:p>
            <a:pPr algn="ctr">
              <a:defRPr sz="800" b="1">
                <a:solidFill>
                  <a:srgbClr val="FFFFFF"/>
                </a:solidFill>
                <a:latin typeface="Montserrat"/>
              </a:defRPr>
            </a:pPr>
            <a:r>
              <a:t>7 marches publics suivis au total - plus de 100 M DH d'investissements</a:t>
            </a:r>
          </a:p>
        </p:txBody>
      </p:sp>
      <p:sp>
        <p:nvSpPr>
          <p:cNvPr id="28" name="TextBox 27"/>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0000" y="1800000"/>
            <a:ext cx="3600000" cy="3600000"/>
          </a:xfrm>
          <a:prstGeom prst="ellipse">
            <a:avLst/>
          </a:prstGeom>
          <a:solidFill>
            <a:srgbClr val="0A2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760000" y="7200000"/>
            <a:ext cx="2880000" cy="2880000"/>
          </a:xfrm>
          <a:prstGeom prst="ellipse">
            <a:avLst/>
          </a:prstGeom>
          <a:solidFill>
            <a:srgbClr val="2D4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0000" y="3600000"/>
            <a:ext cx="6840000" cy="1080000"/>
          </a:xfrm>
          <a:prstGeom prst="rect">
            <a:avLst/>
          </a:prstGeom>
          <a:noFill/>
        </p:spPr>
        <p:txBody>
          <a:bodyPr wrap="square">
            <a:spAutoFit/>
          </a:bodyPr>
          <a:lstStyle/>
          <a:p>
            <a:pPr algn="ctr">
              <a:defRPr sz="7200" b="1">
                <a:solidFill>
                  <a:srgbClr val="3C587D"/>
                </a:solidFill>
                <a:latin typeface="Montserrat"/>
              </a:defRPr>
            </a:pPr>
            <a:r>
              <a:t>04</a:t>
            </a:r>
          </a:p>
        </p:txBody>
      </p:sp>
      <p:sp>
        <p:nvSpPr>
          <p:cNvPr id="6" name="TextBox 5"/>
          <p:cNvSpPr txBox="1"/>
          <p:nvPr/>
        </p:nvSpPr>
        <p:spPr>
          <a:xfrm>
            <a:off x="720000" y="5040000"/>
            <a:ext cx="6120000" cy="1080000"/>
          </a:xfrm>
          <a:prstGeom prst="rect">
            <a:avLst/>
          </a:prstGeom>
          <a:noFill/>
        </p:spPr>
        <p:txBody>
          <a:bodyPr wrap="square">
            <a:spAutoFit/>
          </a:bodyPr>
          <a:lstStyle/>
          <a:p>
            <a:pPr algn="ctr">
              <a:defRPr sz="2600" b="1">
                <a:solidFill>
                  <a:srgbClr val="FFFFFF"/>
                </a:solidFill>
                <a:latin typeface="Montserrat"/>
              </a:defRPr>
            </a:pPr>
            <a:r>
              <a:t>BILAN ET ANALYSE</a:t>
            </a:r>
          </a:p>
        </p:txBody>
      </p:sp>
      <p:sp>
        <p:nvSpPr>
          <p:cNvPr id="7" name="Rectangle 6"/>
          <p:cNvSpPr/>
          <p:nvPr/>
        </p:nvSpPr>
        <p:spPr>
          <a:xfrm>
            <a:off x="3060000" y="6300000"/>
            <a:ext cx="144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6660000"/>
            <a:ext cx="6120000" cy="720000"/>
          </a:xfrm>
          <a:prstGeom prst="rect">
            <a:avLst/>
          </a:prstGeom>
          <a:noFill/>
        </p:spPr>
        <p:txBody>
          <a:bodyPr wrap="square">
            <a:spAutoFit/>
          </a:bodyPr>
          <a:lstStyle/>
          <a:p>
            <a:pPr algn="ctr">
              <a:defRPr sz="1000" b="0">
                <a:solidFill>
                  <a:srgbClr val="5A769B"/>
                </a:solidFill>
                <a:latin typeface="Inter"/>
              </a:defRPr>
            </a:pPr>
            <a:r>
              <a:t>Synthèse des acquis professionnels | Comparaison Maroc/France Bilan réflexif | Protocole BIM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32000" y="288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7999" y="288000"/>
            <a:ext cx="5760000" cy="540000"/>
          </a:xfrm>
          <a:prstGeom prst="rect">
            <a:avLst/>
          </a:prstGeom>
          <a:noFill/>
        </p:spPr>
        <p:txBody>
          <a:bodyPr wrap="square">
            <a:spAutoFit/>
          </a:bodyPr>
          <a:lstStyle/>
          <a:p>
            <a:pPr algn="l">
              <a:defRPr sz="1800" b="1">
                <a:solidFill>
                  <a:srgbClr val="1E3A5F"/>
                </a:solidFill>
                <a:latin typeface="Montserrat"/>
              </a:defRPr>
            </a:pPr>
            <a:r>
              <a:t>SYNTHESE DES ACTIVITES</a:t>
            </a:r>
            <a:br/>
            <a:r>
              <a:t>PROFESSIONNELLES</a:t>
            </a:r>
          </a:p>
        </p:txBody>
      </p:sp>
      <p:sp>
        <p:nvSpPr>
          <p:cNvPr id="4" name="Rectangle 3"/>
          <p:cNvSpPr/>
          <p:nvPr/>
        </p:nvSpPr>
        <p:spPr>
          <a:xfrm>
            <a:off x="648000" y="1152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8000" y="1620000"/>
            <a:ext cx="6263999" cy="3600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655999"/>
            <a:ext cx="1980000" cy="288000"/>
          </a:xfrm>
          <a:prstGeom prst="rect">
            <a:avLst/>
          </a:prstGeom>
          <a:noFill/>
        </p:spPr>
        <p:txBody>
          <a:bodyPr wrap="square">
            <a:spAutoFit/>
          </a:bodyPr>
          <a:lstStyle/>
          <a:p>
            <a:pPr algn="ctr">
              <a:defRPr sz="600" b="1">
                <a:solidFill>
                  <a:srgbClr val="FFFFFF"/>
                </a:solidFill>
                <a:latin typeface="Montserrat"/>
              </a:defRPr>
            </a:pPr>
            <a:r>
              <a:t>ACTIVITE REALISEE</a:t>
            </a:r>
          </a:p>
        </p:txBody>
      </p:sp>
      <p:sp>
        <p:nvSpPr>
          <p:cNvPr id="7" name="TextBox 6"/>
          <p:cNvSpPr txBox="1"/>
          <p:nvPr/>
        </p:nvSpPr>
        <p:spPr>
          <a:xfrm>
            <a:off x="2808000" y="1655999"/>
            <a:ext cx="1260000" cy="288000"/>
          </a:xfrm>
          <a:prstGeom prst="rect">
            <a:avLst/>
          </a:prstGeom>
          <a:noFill/>
        </p:spPr>
        <p:txBody>
          <a:bodyPr wrap="square">
            <a:spAutoFit/>
          </a:bodyPr>
          <a:lstStyle/>
          <a:p>
            <a:pPr algn="ctr">
              <a:defRPr sz="600" b="1">
                <a:solidFill>
                  <a:srgbClr val="FFFFFF"/>
                </a:solidFill>
                <a:latin typeface="Montserrat"/>
              </a:defRPr>
            </a:pPr>
            <a:r>
              <a:t>SOUS-COMPETENCE</a:t>
            </a:r>
          </a:p>
        </p:txBody>
      </p:sp>
      <p:sp>
        <p:nvSpPr>
          <p:cNvPr id="8" name="TextBox 7"/>
          <p:cNvSpPr txBox="1"/>
          <p:nvPr/>
        </p:nvSpPr>
        <p:spPr>
          <a:xfrm>
            <a:off x="4176000" y="1655999"/>
            <a:ext cx="1080000" cy="288000"/>
          </a:xfrm>
          <a:prstGeom prst="rect">
            <a:avLst/>
          </a:prstGeom>
          <a:noFill/>
        </p:spPr>
        <p:txBody>
          <a:bodyPr wrap="square">
            <a:spAutoFit/>
          </a:bodyPr>
          <a:lstStyle/>
          <a:p>
            <a:pPr algn="ctr">
              <a:defRPr sz="600" b="1">
                <a:solidFill>
                  <a:srgbClr val="FFFFFF"/>
                </a:solidFill>
                <a:latin typeface="Montserrat"/>
              </a:defRPr>
            </a:pPr>
            <a:r>
              <a:t>SITUATION</a:t>
            </a:r>
          </a:p>
        </p:txBody>
      </p:sp>
      <p:sp>
        <p:nvSpPr>
          <p:cNvPr id="9" name="TextBox 8"/>
          <p:cNvSpPr txBox="1"/>
          <p:nvPr/>
        </p:nvSpPr>
        <p:spPr>
          <a:xfrm>
            <a:off x="5364000" y="1655999"/>
            <a:ext cx="1440000" cy="288000"/>
          </a:xfrm>
          <a:prstGeom prst="rect">
            <a:avLst/>
          </a:prstGeom>
          <a:noFill/>
        </p:spPr>
        <p:txBody>
          <a:bodyPr wrap="square">
            <a:spAutoFit/>
          </a:bodyPr>
          <a:lstStyle/>
          <a:p>
            <a:pPr algn="ctr">
              <a:defRPr sz="600" b="1">
                <a:solidFill>
                  <a:srgbClr val="FFFFFF"/>
                </a:solidFill>
                <a:latin typeface="Montserrat"/>
              </a:defRPr>
            </a:pPr>
            <a:r>
              <a:t>NIVEAU</a:t>
            </a:r>
          </a:p>
        </p:txBody>
      </p:sp>
      <p:sp>
        <p:nvSpPr>
          <p:cNvPr id="10" name="Rounded Rectangle 9"/>
          <p:cNvSpPr/>
          <p:nvPr/>
        </p:nvSpPr>
        <p:spPr>
          <a:xfrm>
            <a:off x="648000" y="2052000"/>
            <a:ext cx="6263999" cy="540000"/>
          </a:xfrm>
          <a:prstGeom prst="roundRect">
            <a:avLst>
              <a:gd name="adj" fmla="val 2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124000"/>
            <a:ext cx="1980000" cy="396000"/>
          </a:xfrm>
          <a:prstGeom prst="rect">
            <a:avLst/>
          </a:prstGeom>
          <a:noFill/>
        </p:spPr>
        <p:txBody>
          <a:bodyPr wrap="square">
            <a:spAutoFit/>
          </a:bodyPr>
          <a:lstStyle/>
          <a:p>
            <a:pPr algn="l">
              <a:defRPr sz="700" b="0">
                <a:solidFill>
                  <a:srgbClr val="2D2D2D"/>
                </a:solidFill>
                <a:latin typeface="Inter"/>
              </a:defRPr>
            </a:pPr>
            <a:r>
              <a:t>Métrés détaillés 8 parties × 4 communes</a:t>
            </a:r>
          </a:p>
        </p:txBody>
      </p:sp>
      <p:sp>
        <p:nvSpPr>
          <p:cNvPr id="12" name="TextBox 11"/>
          <p:cNvSpPr txBox="1"/>
          <p:nvPr/>
        </p:nvSpPr>
        <p:spPr>
          <a:xfrm>
            <a:off x="2808000" y="2124000"/>
            <a:ext cx="1260000" cy="396000"/>
          </a:xfrm>
          <a:prstGeom prst="rect">
            <a:avLst/>
          </a:prstGeom>
          <a:noFill/>
        </p:spPr>
        <p:txBody>
          <a:bodyPr wrap="square">
            <a:spAutoFit/>
          </a:bodyPr>
          <a:lstStyle/>
          <a:p>
            <a:pPr algn="ctr">
              <a:defRPr sz="700" b="0">
                <a:solidFill>
                  <a:srgbClr val="2D2D2D"/>
                </a:solidFill>
                <a:latin typeface="Inter"/>
              </a:defRPr>
            </a:pPr>
            <a:r>
              <a:t>Réaliser des métrés</a:t>
            </a:r>
          </a:p>
        </p:txBody>
      </p:sp>
      <p:sp>
        <p:nvSpPr>
          <p:cNvPr id="13" name="Rounded Rectangle 12"/>
          <p:cNvSpPr/>
          <p:nvPr/>
        </p:nvSpPr>
        <p:spPr>
          <a:xfrm>
            <a:off x="4176000" y="2196000"/>
            <a:ext cx="1007999"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Situation 1</a:t>
            </a:r>
          </a:p>
        </p:txBody>
      </p:sp>
      <p:sp>
        <p:nvSpPr>
          <p:cNvPr id="14" name="Rounded Rectangle 13"/>
          <p:cNvSpPr/>
          <p:nvPr/>
        </p:nvSpPr>
        <p:spPr>
          <a:xfrm>
            <a:off x="5364000" y="2196000"/>
            <a:ext cx="792000" cy="180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364000" y="2196000"/>
            <a:ext cx="594000" cy="180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4000" y="2160000"/>
            <a:ext cx="540000" cy="216000"/>
          </a:xfrm>
          <a:prstGeom prst="rect">
            <a:avLst/>
          </a:prstGeom>
          <a:noFill/>
        </p:spPr>
        <p:txBody>
          <a:bodyPr wrap="square">
            <a:spAutoFit/>
          </a:bodyPr>
          <a:lstStyle/>
          <a:p>
            <a:pPr algn="l">
              <a:defRPr sz="700" b="1">
                <a:solidFill>
                  <a:srgbClr val="5CC8C0"/>
                </a:solidFill>
                <a:latin typeface="Inter"/>
              </a:defRPr>
            </a:pPr>
            <a:r>
              <a:t>Maîtrise</a:t>
            </a:r>
          </a:p>
        </p:txBody>
      </p:sp>
      <p:sp>
        <p:nvSpPr>
          <p:cNvPr id="17" name="Rounded Rectangle 16"/>
          <p:cNvSpPr/>
          <p:nvPr/>
        </p:nvSpPr>
        <p:spPr>
          <a:xfrm>
            <a:off x="648000" y="2628000"/>
            <a:ext cx="6263999" cy="5400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000" y="2700000"/>
            <a:ext cx="1980000" cy="396000"/>
          </a:xfrm>
          <a:prstGeom prst="rect">
            <a:avLst/>
          </a:prstGeom>
          <a:noFill/>
        </p:spPr>
        <p:txBody>
          <a:bodyPr wrap="square">
            <a:spAutoFit/>
          </a:bodyPr>
          <a:lstStyle/>
          <a:p>
            <a:pPr algn="l">
              <a:defRPr sz="700" b="0">
                <a:solidFill>
                  <a:srgbClr val="2D2D2D"/>
                </a:solidFill>
                <a:latin typeface="Inter"/>
              </a:defRPr>
            </a:pPr>
            <a:r>
              <a:t>Estimation confidentielle de l'administration</a:t>
            </a:r>
          </a:p>
        </p:txBody>
      </p:sp>
      <p:sp>
        <p:nvSpPr>
          <p:cNvPr id="19" name="TextBox 18"/>
          <p:cNvSpPr txBox="1"/>
          <p:nvPr/>
        </p:nvSpPr>
        <p:spPr>
          <a:xfrm>
            <a:off x="2808000" y="2700000"/>
            <a:ext cx="1260000" cy="396000"/>
          </a:xfrm>
          <a:prstGeom prst="rect">
            <a:avLst/>
          </a:prstGeom>
          <a:noFill/>
        </p:spPr>
        <p:txBody>
          <a:bodyPr wrap="square">
            <a:spAutoFit/>
          </a:bodyPr>
          <a:lstStyle/>
          <a:p>
            <a:pPr algn="ctr">
              <a:defRPr sz="700" b="0">
                <a:solidFill>
                  <a:srgbClr val="2D2D2D"/>
                </a:solidFill>
                <a:latin typeface="Inter"/>
              </a:defRPr>
            </a:pPr>
            <a:r>
              <a:t>Estimer un ouvrage</a:t>
            </a:r>
          </a:p>
        </p:txBody>
      </p:sp>
      <p:sp>
        <p:nvSpPr>
          <p:cNvPr id="20" name="Rounded Rectangle 19"/>
          <p:cNvSpPr/>
          <p:nvPr/>
        </p:nvSpPr>
        <p:spPr>
          <a:xfrm>
            <a:off x="4176000" y="2772000"/>
            <a:ext cx="1007999"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Situation 1</a:t>
            </a:r>
          </a:p>
        </p:txBody>
      </p:sp>
      <p:sp>
        <p:nvSpPr>
          <p:cNvPr id="21" name="Rounded Rectangle 20"/>
          <p:cNvSpPr/>
          <p:nvPr/>
        </p:nvSpPr>
        <p:spPr>
          <a:xfrm>
            <a:off x="5364000" y="2772000"/>
            <a:ext cx="792000" cy="180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364000" y="2772000"/>
            <a:ext cx="594000" cy="180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4000" y="2736000"/>
            <a:ext cx="540000" cy="216000"/>
          </a:xfrm>
          <a:prstGeom prst="rect">
            <a:avLst/>
          </a:prstGeom>
          <a:noFill/>
        </p:spPr>
        <p:txBody>
          <a:bodyPr wrap="square">
            <a:spAutoFit/>
          </a:bodyPr>
          <a:lstStyle/>
          <a:p>
            <a:pPr algn="l">
              <a:defRPr sz="700" b="1">
                <a:solidFill>
                  <a:srgbClr val="5CC8C0"/>
                </a:solidFill>
                <a:latin typeface="Inter"/>
              </a:defRPr>
            </a:pPr>
            <a:r>
              <a:t>Maîtrise</a:t>
            </a:r>
          </a:p>
        </p:txBody>
      </p:sp>
      <p:sp>
        <p:nvSpPr>
          <p:cNvPr id="24" name="Rounded Rectangle 23"/>
          <p:cNvSpPr/>
          <p:nvPr/>
        </p:nvSpPr>
        <p:spPr>
          <a:xfrm>
            <a:off x="648000" y="3204000"/>
            <a:ext cx="6263999" cy="540000"/>
          </a:xfrm>
          <a:prstGeom prst="roundRect">
            <a:avLst>
              <a:gd name="adj" fmla="val 2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0000" y="3276000"/>
            <a:ext cx="1980000" cy="396000"/>
          </a:xfrm>
          <a:prstGeom prst="rect">
            <a:avLst/>
          </a:prstGeom>
          <a:noFill/>
        </p:spPr>
        <p:txBody>
          <a:bodyPr wrap="square">
            <a:spAutoFit/>
          </a:bodyPr>
          <a:lstStyle/>
          <a:p>
            <a:pPr algn="l">
              <a:defRPr sz="700" b="0">
                <a:solidFill>
                  <a:srgbClr val="2D2D2D"/>
                </a:solidFill>
                <a:latin typeface="Inter"/>
              </a:defRPr>
            </a:pPr>
            <a:r>
              <a:t>Analyse des offres, grille /100, PV CAO</a:t>
            </a:r>
          </a:p>
        </p:txBody>
      </p:sp>
      <p:sp>
        <p:nvSpPr>
          <p:cNvPr id="26" name="TextBox 25"/>
          <p:cNvSpPr txBox="1"/>
          <p:nvPr/>
        </p:nvSpPr>
        <p:spPr>
          <a:xfrm>
            <a:off x="2808000" y="3276000"/>
            <a:ext cx="1260000" cy="396000"/>
          </a:xfrm>
          <a:prstGeom prst="rect">
            <a:avLst/>
          </a:prstGeom>
          <a:noFill/>
        </p:spPr>
        <p:txBody>
          <a:bodyPr wrap="square">
            <a:spAutoFit/>
          </a:bodyPr>
          <a:lstStyle/>
          <a:p>
            <a:pPr algn="ctr">
              <a:defRPr sz="700" b="0">
                <a:solidFill>
                  <a:srgbClr val="2D2D2D"/>
                </a:solidFill>
                <a:latin typeface="Inter"/>
              </a:defRPr>
            </a:pPr>
            <a:r>
              <a:t>Analyser les offres</a:t>
            </a:r>
          </a:p>
        </p:txBody>
      </p:sp>
      <p:sp>
        <p:nvSpPr>
          <p:cNvPr id="27" name="Rounded Rectangle 26"/>
          <p:cNvSpPr/>
          <p:nvPr/>
        </p:nvSpPr>
        <p:spPr>
          <a:xfrm>
            <a:off x="4176000" y="3348000"/>
            <a:ext cx="1007999"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Situation 2</a:t>
            </a:r>
          </a:p>
        </p:txBody>
      </p:sp>
      <p:sp>
        <p:nvSpPr>
          <p:cNvPr id="28" name="Rounded Rectangle 27"/>
          <p:cNvSpPr/>
          <p:nvPr/>
        </p:nvSpPr>
        <p:spPr>
          <a:xfrm>
            <a:off x="5364000" y="3348000"/>
            <a:ext cx="792000" cy="180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364000" y="3348000"/>
            <a:ext cx="594000" cy="180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4000" y="3312000"/>
            <a:ext cx="540000" cy="216000"/>
          </a:xfrm>
          <a:prstGeom prst="rect">
            <a:avLst/>
          </a:prstGeom>
          <a:noFill/>
        </p:spPr>
        <p:txBody>
          <a:bodyPr wrap="square">
            <a:spAutoFit/>
          </a:bodyPr>
          <a:lstStyle/>
          <a:p>
            <a:pPr algn="l">
              <a:defRPr sz="700" b="1">
                <a:solidFill>
                  <a:srgbClr val="5CC8C0"/>
                </a:solidFill>
                <a:latin typeface="Inter"/>
              </a:defRPr>
            </a:pPr>
            <a:r>
              <a:t>Maîtrise</a:t>
            </a:r>
          </a:p>
        </p:txBody>
      </p:sp>
      <p:sp>
        <p:nvSpPr>
          <p:cNvPr id="31" name="Rounded Rectangle 30"/>
          <p:cNvSpPr/>
          <p:nvPr/>
        </p:nvSpPr>
        <p:spPr>
          <a:xfrm>
            <a:off x="648000" y="3780000"/>
            <a:ext cx="6263999" cy="5400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0000" y="3852000"/>
            <a:ext cx="1980000" cy="396000"/>
          </a:xfrm>
          <a:prstGeom prst="rect">
            <a:avLst/>
          </a:prstGeom>
          <a:noFill/>
        </p:spPr>
        <p:txBody>
          <a:bodyPr wrap="square">
            <a:spAutoFit/>
          </a:bodyPr>
          <a:lstStyle/>
          <a:p>
            <a:pPr algn="l">
              <a:defRPr sz="700" b="0">
                <a:solidFill>
                  <a:srgbClr val="2D2D2D"/>
                </a:solidFill>
                <a:latin typeface="Inter"/>
              </a:defRPr>
            </a:pPr>
            <a:r>
              <a:t>Suivi financier mensuel, tableau de bord</a:t>
            </a:r>
          </a:p>
        </p:txBody>
      </p:sp>
      <p:sp>
        <p:nvSpPr>
          <p:cNvPr id="33" name="TextBox 32"/>
          <p:cNvSpPr txBox="1"/>
          <p:nvPr/>
        </p:nvSpPr>
        <p:spPr>
          <a:xfrm>
            <a:off x="2808000" y="3852000"/>
            <a:ext cx="1260000" cy="396000"/>
          </a:xfrm>
          <a:prstGeom prst="rect">
            <a:avLst/>
          </a:prstGeom>
          <a:noFill/>
        </p:spPr>
        <p:txBody>
          <a:bodyPr wrap="square">
            <a:spAutoFit/>
          </a:bodyPr>
          <a:lstStyle/>
          <a:p>
            <a:pPr algn="ctr">
              <a:defRPr sz="700" b="0">
                <a:solidFill>
                  <a:srgbClr val="2D2D2D"/>
                </a:solidFill>
                <a:latin typeface="Inter"/>
              </a:defRPr>
            </a:pPr>
            <a:r>
              <a:t>Suivre un budget</a:t>
            </a:r>
          </a:p>
        </p:txBody>
      </p:sp>
      <p:sp>
        <p:nvSpPr>
          <p:cNvPr id="34" name="Rounded Rectangle 33"/>
          <p:cNvSpPr/>
          <p:nvPr/>
        </p:nvSpPr>
        <p:spPr>
          <a:xfrm>
            <a:off x="4176000" y="3924000"/>
            <a:ext cx="1007999"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Situation 3</a:t>
            </a:r>
          </a:p>
        </p:txBody>
      </p:sp>
      <p:sp>
        <p:nvSpPr>
          <p:cNvPr id="35" name="Rounded Rectangle 34"/>
          <p:cNvSpPr/>
          <p:nvPr/>
        </p:nvSpPr>
        <p:spPr>
          <a:xfrm>
            <a:off x="5364000" y="3924000"/>
            <a:ext cx="792000" cy="180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364000" y="3924000"/>
            <a:ext cx="792000" cy="180000"/>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4000" y="3888000"/>
            <a:ext cx="540000" cy="216000"/>
          </a:xfrm>
          <a:prstGeom prst="rect">
            <a:avLst/>
          </a:prstGeom>
          <a:noFill/>
        </p:spPr>
        <p:txBody>
          <a:bodyPr wrap="square">
            <a:spAutoFit/>
          </a:bodyPr>
          <a:lstStyle/>
          <a:p>
            <a:pPr algn="l">
              <a:defRPr sz="700" b="1">
                <a:solidFill>
                  <a:srgbClr val="1E3A5F"/>
                </a:solidFill>
                <a:latin typeface="Inter"/>
              </a:defRPr>
            </a:pPr>
            <a:r>
              <a:t>Expert</a:t>
            </a:r>
          </a:p>
        </p:txBody>
      </p:sp>
      <p:sp>
        <p:nvSpPr>
          <p:cNvPr id="38" name="Rounded Rectangle 37"/>
          <p:cNvSpPr/>
          <p:nvPr/>
        </p:nvSpPr>
        <p:spPr>
          <a:xfrm>
            <a:off x="648000" y="4356000"/>
            <a:ext cx="6263999" cy="540000"/>
          </a:xfrm>
          <a:prstGeom prst="roundRect">
            <a:avLst>
              <a:gd name="adj" fmla="val 2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0000" y="4428000"/>
            <a:ext cx="1980000" cy="396000"/>
          </a:xfrm>
          <a:prstGeom prst="rect">
            <a:avLst/>
          </a:prstGeom>
          <a:noFill/>
        </p:spPr>
        <p:txBody>
          <a:bodyPr wrap="square">
            <a:spAutoFit/>
          </a:bodyPr>
          <a:lstStyle/>
          <a:p>
            <a:pPr algn="l">
              <a:defRPr sz="700" b="0">
                <a:solidFill>
                  <a:srgbClr val="2D2D2D"/>
                </a:solidFill>
                <a:latin typeface="Inter"/>
              </a:defRPr>
            </a:pPr>
            <a:r>
              <a:t>Attachements contradictoires, cubatures</a:t>
            </a:r>
          </a:p>
        </p:txBody>
      </p:sp>
      <p:sp>
        <p:nvSpPr>
          <p:cNvPr id="40" name="TextBox 39"/>
          <p:cNvSpPr txBox="1"/>
          <p:nvPr/>
        </p:nvSpPr>
        <p:spPr>
          <a:xfrm>
            <a:off x="2808000" y="4428000"/>
            <a:ext cx="1260000" cy="396000"/>
          </a:xfrm>
          <a:prstGeom prst="rect">
            <a:avLst/>
          </a:prstGeom>
          <a:noFill/>
        </p:spPr>
        <p:txBody>
          <a:bodyPr wrap="square">
            <a:spAutoFit/>
          </a:bodyPr>
          <a:lstStyle/>
          <a:p>
            <a:pPr algn="ctr">
              <a:defRPr sz="700" b="0">
                <a:solidFill>
                  <a:srgbClr val="2D2D2D"/>
                </a:solidFill>
                <a:latin typeface="Inter"/>
              </a:defRPr>
            </a:pPr>
            <a:r>
              <a:t>Vérifier les quantités</a:t>
            </a:r>
          </a:p>
        </p:txBody>
      </p:sp>
      <p:sp>
        <p:nvSpPr>
          <p:cNvPr id="41" name="Rounded Rectangle 40"/>
          <p:cNvSpPr/>
          <p:nvPr/>
        </p:nvSpPr>
        <p:spPr>
          <a:xfrm>
            <a:off x="4176000" y="4500000"/>
            <a:ext cx="1007999"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Situation 5</a:t>
            </a:r>
          </a:p>
        </p:txBody>
      </p:sp>
      <p:sp>
        <p:nvSpPr>
          <p:cNvPr id="42" name="Rounded Rectangle 41"/>
          <p:cNvSpPr/>
          <p:nvPr/>
        </p:nvSpPr>
        <p:spPr>
          <a:xfrm>
            <a:off x="5364000" y="4500000"/>
            <a:ext cx="792000" cy="180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364000" y="4500000"/>
            <a:ext cx="792000" cy="180000"/>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4000" y="4464000"/>
            <a:ext cx="540000" cy="216000"/>
          </a:xfrm>
          <a:prstGeom prst="rect">
            <a:avLst/>
          </a:prstGeom>
          <a:noFill/>
        </p:spPr>
        <p:txBody>
          <a:bodyPr wrap="square">
            <a:spAutoFit/>
          </a:bodyPr>
          <a:lstStyle/>
          <a:p>
            <a:pPr algn="l">
              <a:defRPr sz="700" b="1">
                <a:solidFill>
                  <a:srgbClr val="1E3A5F"/>
                </a:solidFill>
                <a:latin typeface="Inter"/>
              </a:defRPr>
            </a:pPr>
            <a:r>
              <a:t>Expert</a:t>
            </a:r>
          </a:p>
        </p:txBody>
      </p:sp>
      <p:sp>
        <p:nvSpPr>
          <p:cNvPr id="45" name="Rounded Rectangle 44"/>
          <p:cNvSpPr/>
          <p:nvPr/>
        </p:nvSpPr>
        <p:spPr>
          <a:xfrm>
            <a:off x="648000" y="4932000"/>
            <a:ext cx="6263999" cy="5400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0000" y="5004000"/>
            <a:ext cx="1980000" cy="396000"/>
          </a:xfrm>
          <a:prstGeom prst="rect">
            <a:avLst/>
          </a:prstGeom>
          <a:noFill/>
        </p:spPr>
        <p:txBody>
          <a:bodyPr wrap="square">
            <a:spAutoFit/>
          </a:bodyPr>
          <a:lstStyle/>
          <a:p>
            <a:pPr algn="l">
              <a:defRPr sz="700" b="0">
                <a:solidFill>
                  <a:srgbClr val="2D2D2D"/>
                </a:solidFill>
                <a:latin typeface="Inter"/>
              </a:defRPr>
            </a:pPr>
            <a:r>
              <a:t>CR 24h, OS, notes factuelles, courriers</a:t>
            </a:r>
          </a:p>
        </p:txBody>
      </p:sp>
      <p:sp>
        <p:nvSpPr>
          <p:cNvPr id="47" name="TextBox 46"/>
          <p:cNvSpPr txBox="1"/>
          <p:nvPr/>
        </p:nvSpPr>
        <p:spPr>
          <a:xfrm>
            <a:off x="2808000" y="5004000"/>
            <a:ext cx="1260000" cy="396000"/>
          </a:xfrm>
          <a:prstGeom prst="rect">
            <a:avLst/>
          </a:prstGeom>
          <a:noFill/>
        </p:spPr>
        <p:txBody>
          <a:bodyPr wrap="square">
            <a:spAutoFit/>
          </a:bodyPr>
          <a:lstStyle/>
          <a:p>
            <a:pPr algn="ctr">
              <a:defRPr sz="700" b="0">
                <a:solidFill>
                  <a:srgbClr val="2D2D2D"/>
                </a:solidFill>
                <a:latin typeface="Inter"/>
              </a:defRPr>
            </a:pPr>
            <a:r>
              <a:t>Communiquer par écrit</a:t>
            </a:r>
          </a:p>
        </p:txBody>
      </p:sp>
      <p:sp>
        <p:nvSpPr>
          <p:cNvPr id="48" name="Rounded Rectangle 47"/>
          <p:cNvSpPr/>
          <p:nvPr/>
        </p:nvSpPr>
        <p:spPr>
          <a:xfrm>
            <a:off x="4176000" y="5076000"/>
            <a:ext cx="1007999"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Situation 4</a:t>
            </a:r>
          </a:p>
        </p:txBody>
      </p:sp>
      <p:sp>
        <p:nvSpPr>
          <p:cNvPr id="49" name="Rounded Rectangle 48"/>
          <p:cNvSpPr/>
          <p:nvPr/>
        </p:nvSpPr>
        <p:spPr>
          <a:xfrm>
            <a:off x="5364000" y="5076000"/>
            <a:ext cx="792000" cy="180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5364000" y="5076000"/>
            <a:ext cx="594000" cy="180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4000" y="5040000"/>
            <a:ext cx="540000" cy="216000"/>
          </a:xfrm>
          <a:prstGeom prst="rect">
            <a:avLst/>
          </a:prstGeom>
          <a:noFill/>
        </p:spPr>
        <p:txBody>
          <a:bodyPr wrap="square">
            <a:spAutoFit/>
          </a:bodyPr>
          <a:lstStyle/>
          <a:p>
            <a:pPr algn="l">
              <a:defRPr sz="700" b="1">
                <a:solidFill>
                  <a:srgbClr val="5CC8C0"/>
                </a:solidFill>
                <a:latin typeface="Inter"/>
              </a:defRPr>
            </a:pPr>
            <a:r>
              <a:t>Maîtrise</a:t>
            </a:r>
          </a:p>
        </p:txBody>
      </p:sp>
      <p:sp>
        <p:nvSpPr>
          <p:cNvPr id="52" name="Rounded Rectangle 51"/>
          <p:cNvSpPr/>
          <p:nvPr/>
        </p:nvSpPr>
        <p:spPr>
          <a:xfrm>
            <a:off x="648000" y="5508000"/>
            <a:ext cx="6263999" cy="540000"/>
          </a:xfrm>
          <a:prstGeom prst="roundRect">
            <a:avLst>
              <a:gd name="adj" fmla="val 2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0000" y="5580000"/>
            <a:ext cx="1980000" cy="396000"/>
          </a:xfrm>
          <a:prstGeom prst="rect">
            <a:avLst/>
          </a:prstGeom>
          <a:noFill/>
        </p:spPr>
        <p:txBody>
          <a:bodyPr wrap="square">
            <a:spAutoFit/>
          </a:bodyPr>
          <a:lstStyle/>
          <a:p>
            <a:pPr algn="l">
              <a:defRPr sz="700" b="0">
                <a:solidFill>
                  <a:srgbClr val="2D2D2D"/>
                </a:solidFill>
                <a:latin typeface="Inter"/>
              </a:defRPr>
            </a:pPr>
            <a:r>
              <a:t>Réunions chantier, point téléphonique, CAO</a:t>
            </a:r>
          </a:p>
        </p:txBody>
      </p:sp>
      <p:sp>
        <p:nvSpPr>
          <p:cNvPr id="54" name="TextBox 53"/>
          <p:cNvSpPr txBox="1"/>
          <p:nvPr/>
        </p:nvSpPr>
        <p:spPr>
          <a:xfrm>
            <a:off x="2808000" y="5580000"/>
            <a:ext cx="1260000" cy="396000"/>
          </a:xfrm>
          <a:prstGeom prst="rect">
            <a:avLst/>
          </a:prstGeom>
          <a:noFill/>
        </p:spPr>
        <p:txBody>
          <a:bodyPr wrap="square">
            <a:spAutoFit/>
          </a:bodyPr>
          <a:lstStyle/>
          <a:p>
            <a:pPr algn="ctr">
              <a:defRPr sz="700" b="0">
                <a:solidFill>
                  <a:srgbClr val="2D2D2D"/>
                </a:solidFill>
                <a:latin typeface="Inter"/>
              </a:defRPr>
            </a:pPr>
            <a:r>
              <a:t>Communiquer oralement</a:t>
            </a:r>
          </a:p>
        </p:txBody>
      </p:sp>
      <p:sp>
        <p:nvSpPr>
          <p:cNvPr id="55" name="Rounded Rectangle 54"/>
          <p:cNvSpPr/>
          <p:nvPr/>
        </p:nvSpPr>
        <p:spPr>
          <a:xfrm>
            <a:off x="4176000" y="5652000"/>
            <a:ext cx="1007999"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Situations 2, 4</a:t>
            </a:r>
          </a:p>
        </p:txBody>
      </p:sp>
      <p:sp>
        <p:nvSpPr>
          <p:cNvPr id="56" name="Rounded Rectangle 55"/>
          <p:cNvSpPr/>
          <p:nvPr/>
        </p:nvSpPr>
        <p:spPr>
          <a:xfrm>
            <a:off x="5364000" y="5652000"/>
            <a:ext cx="792000" cy="180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364000" y="5652000"/>
            <a:ext cx="594000" cy="180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64000" y="5616000"/>
            <a:ext cx="540000" cy="216000"/>
          </a:xfrm>
          <a:prstGeom prst="rect">
            <a:avLst/>
          </a:prstGeom>
          <a:noFill/>
        </p:spPr>
        <p:txBody>
          <a:bodyPr wrap="square">
            <a:spAutoFit/>
          </a:bodyPr>
          <a:lstStyle/>
          <a:p>
            <a:pPr algn="l">
              <a:defRPr sz="700" b="1">
                <a:solidFill>
                  <a:srgbClr val="5CC8C0"/>
                </a:solidFill>
                <a:latin typeface="Inter"/>
              </a:defRPr>
            </a:pPr>
            <a:r>
              <a:t>Maîtrise</a:t>
            </a:r>
          </a:p>
        </p:txBody>
      </p:sp>
      <p:sp>
        <p:nvSpPr>
          <p:cNvPr id="59" name="Rounded Rectangle 58"/>
          <p:cNvSpPr/>
          <p:nvPr/>
        </p:nvSpPr>
        <p:spPr>
          <a:xfrm>
            <a:off x="648000" y="6084000"/>
            <a:ext cx="6263999" cy="540000"/>
          </a:xfrm>
          <a:prstGeom prst="roundRect">
            <a:avLst>
              <a:gd name="adj" fmla="val 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0000" y="6156000"/>
            <a:ext cx="1980000" cy="396000"/>
          </a:xfrm>
          <a:prstGeom prst="rect">
            <a:avLst/>
          </a:prstGeom>
          <a:noFill/>
        </p:spPr>
        <p:txBody>
          <a:bodyPr wrap="square">
            <a:spAutoFit/>
          </a:bodyPr>
          <a:lstStyle/>
          <a:p>
            <a:pPr algn="l">
              <a:defRPr sz="700" b="0">
                <a:solidFill>
                  <a:srgbClr val="2D2D2D"/>
                </a:solidFill>
                <a:latin typeface="Inter"/>
              </a:defRPr>
            </a:pPr>
            <a:r>
              <a:t>Rédaction CPS, RC, BPDE, OS, PV</a:t>
            </a:r>
          </a:p>
        </p:txBody>
      </p:sp>
      <p:sp>
        <p:nvSpPr>
          <p:cNvPr id="61" name="TextBox 60"/>
          <p:cNvSpPr txBox="1"/>
          <p:nvPr/>
        </p:nvSpPr>
        <p:spPr>
          <a:xfrm>
            <a:off x="2808000" y="6156000"/>
            <a:ext cx="1260000" cy="396000"/>
          </a:xfrm>
          <a:prstGeom prst="rect">
            <a:avLst/>
          </a:prstGeom>
          <a:noFill/>
        </p:spPr>
        <p:txBody>
          <a:bodyPr wrap="square">
            <a:spAutoFit/>
          </a:bodyPr>
          <a:lstStyle/>
          <a:p>
            <a:pPr algn="ctr">
              <a:defRPr sz="700" b="0">
                <a:solidFill>
                  <a:srgbClr val="2D2D2D"/>
                </a:solidFill>
                <a:latin typeface="Inter"/>
              </a:defRPr>
            </a:pPr>
            <a:r>
              <a:t>Rédiger pièces marchés</a:t>
            </a:r>
          </a:p>
        </p:txBody>
      </p:sp>
      <p:sp>
        <p:nvSpPr>
          <p:cNvPr id="62" name="Rounded Rectangle 61"/>
          <p:cNvSpPr/>
          <p:nvPr/>
        </p:nvSpPr>
        <p:spPr>
          <a:xfrm>
            <a:off x="4176000" y="6228000"/>
            <a:ext cx="1007999"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Situations 1-4</a:t>
            </a:r>
          </a:p>
        </p:txBody>
      </p:sp>
      <p:sp>
        <p:nvSpPr>
          <p:cNvPr id="63" name="Rounded Rectangle 62"/>
          <p:cNvSpPr/>
          <p:nvPr/>
        </p:nvSpPr>
        <p:spPr>
          <a:xfrm>
            <a:off x="5364000" y="6228000"/>
            <a:ext cx="792000" cy="180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5364000" y="6228000"/>
            <a:ext cx="594000" cy="180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64000" y="6192000"/>
            <a:ext cx="540000" cy="216000"/>
          </a:xfrm>
          <a:prstGeom prst="rect">
            <a:avLst/>
          </a:prstGeom>
          <a:noFill/>
        </p:spPr>
        <p:txBody>
          <a:bodyPr wrap="square">
            <a:spAutoFit/>
          </a:bodyPr>
          <a:lstStyle/>
          <a:p>
            <a:pPr algn="l">
              <a:defRPr sz="700" b="1">
                <a:solidFill>
                  <a:srgbClr val="5CC8C0"/>
                </a:solidFill>
                <a:latin typeface="Inter"/>
              </a:defRPr>
            </a:pPr>
            <a:r>
              <a:t>Maîtrise</a:t>
            </a:r>
          </a:p>
        </p:txBody>
      </p:sp>
      <p:sp>
        <p:nvSpPr>
          <p:cNvPr id="66" name="Rounded Rectangle 65"/>
          <p:cNvSpPr/>
          <p:nvPr/>
        </p:nvSpPr>
        <p:spPr>
          <a:xfrm>
            <a:off x="648000" y="6660000"/>
            <a:ext cx="6263999" cy="540000"/>
          </a:xfrm>
          <a:prstGeom prst="roundRect">
            <a:avLst>
              <a:gd name="adj" fmla="val 2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0000" y="6732000"/>
            <a:ext cx="1980000" cy="396000"/>
          </a:xfrm>
          <a:prstGeom prst="rect">
            <a:avLst/>
          </a:prstGeom>
          <a:noFill/>
        </p:spPr>
        <p:txBody>
          <a:bodyPr wrap="square">
            <a:spAutoFit/>
          </a:bodyPr>
          <a:lstStyle/>
          <a:p>
            <a:pPr algn="l">
              <a:defRPr sz="700" b="0">
                <a:solidFill>
                  <a:srgbClr val="2D2D2D"/>
                </a:solidFill>
                <a:latin typeface="Inter"/>
              </a:defRPr>
            </a:pPr>
            <a:r>
              <a:t>Convention BIM, IFC, extraction quantités</a:t>
            </a:r>
          </a:p>
        </p:txBody>
      </p:sp>
      <p:sp>
        <p:nvSpPr>
          <p:cNvPr id="68" name="TextBox 67"/>
          <p:cNvSpPr txBox="1"/>
          <p:nvPr/>
        </p:nvSpPr>
        <p:spPr>
          <a:xfrm>
            <a:off x="2808000" y="6732000"/>
            <a:ext cx="1260000" cy="396000"/>
          </a:xfrm>
          <a:prstGeom prst="rect">
            <a:avLst/>
          </a:prstGeom>
          <a:noFill/>
        </p:spPr>
        <p:txBody>
          <a:bodyPr wrap="square">
            <a:spAutoFit/>
          </a:bodyPr>
          <a:lstStyle/>
          <a:p>
            <a:pPr algn="ctr">
              <a:defRPr sz="700" b="0">
                <a:solidFill>
                  <a:srgbClr val="2D2D2D"/>
                </a:solidFill>
                <a:latin typeface="Inter"/>
              </a:defRPr>
            </a:pPr>
            <a:r>
              <a:t>Collaborer en BIM</a:t>
            </a:r>
          </a:p>
        </p:txBody>
      </p:sp>
      <p:sp>
        <p:nvSpPr>
          <p:cNvPr id="69" name="Rounded Rectangle 68"/>
          <p:cNvSpPr/>
          <p:nvPr/>
        </p:nvSpPr>
        <p:spPr>
          <a:xfrm>
            <a:off x="4176000" y="6804000"/>
            <a:ext cx="1007999" cy="251999"/>
          </a:xfrm>
          <a:prstGeom prst="roundRect">
            <a:avLst>
              <a:gd name="adj" fmla="val 50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650" b="1">
                <a:solidFill>
                  <a:srgbClr val="FFFFFF"/>
                </a:solidFill>
                <a:latin typeface="Montserrat"/>
              </a:defRPr>
            </a:pPr>
            <a:r>
              <a:t>Protocole BIM p.26</a:t>
            </a:r>
          </a:p>
        </p:txBody>
      </p:sp>
      <p:sp>
        <p:nvSpPr>
          <p:cNvPr id="70" name="Rounded Rectangle 69"/>
          <p:cNvSpPr/>
          <p:nvPr/>
        </p:nvSpPr>
        <p:spPr>
          <a:xfrm>
            <a:off x="5364000" y="6804000"/>
            <a:ext cx="792000" cy="180000"/>
          </a:xfrm>
          <a:prstGeom prst="roundRect">
            <a:avLst>
              <a:gd name="adj" fmla="val 5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5364000" y="6804000"/>
            <a:ext cx="594000" cy="180000"/>
          </a:xfrm>
          <a:prstGeom prst="roundRect">
            <a:avLst>
              <a:gd name="adj" fmla="val 50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64000" y="6768000"/>
            <a:ext cx="540000" cy="216000"/>
          </a:xfrm>
          <a:prstGeom prst="rect">
            <a:avLst/>
          </a:prstGeom>
          <a:noFill/>
        </p:spPr>
        <p:txBody>
          <a:bodyPr wrap="square">
            <a:spAutoFit/>
          </a:bodyPr>
          <a:lstStyle/>
          <a:p>
            <a:pPr algn="l">
              <a:defRPr sz="700" b="1">
                <a:solidFill>
                  <a:srgbClr val="5CC8C0"/>
                </a:solidFill>
                <a:latin typeface="Inter"/>
              </a:defRPr>
            </a:pPr>
            <a:r>
              <a:t>Maîtrise</a:t>
            </a:r>
          </a:p>
        </p:txBody>
      </p:sp>
      <p:sp>
        <p:nvSpPr>
          <p:cNvPr id="73" name="TextBox 72"/>
          <p:cNvSpPr txBox="1"/>
          <p:nvPr/>
        </p:nvSpPr>
        <p:spPr>
          <a:xfrm>
            <a:off x="648000" y="7344000"/>
            <a:ext cx="6263999" cy="216000"/>
          </a:xfrm>
          <a:prstGeom prst="rect">
            <a:avLst/>
          </a:prstGeom>
          <a:noFill/>
        </p:spPr>
        <p:txBody>
          <a:bodyPr wrap="square">
            <a:spAutoFit/>
          </a:bodyPr>
          <a:lstStyle/>
          <a:p>
            <a:pPr algn="l">
              <a:defRPr sz="700" b="0">
                <a:solidFill>
                  <a:srgbClr val="888888"/>
                </a:solidFill>
                <a:latin typeface="Inter"/>
              </a:defRPr>
            </a:pPr>
            <a:r>
              <a:t>Niveau : Maîtrise = pratique régulière et autonome | Expert = transmission aux collaborateurs</a:t>
            </a:r>
          </a:p>
        </p:txBody>
      </p:sp>
      <p:sp>
        <p:nvSpPr>
          <p:cNvPr id="74" name="TextBox 73"/>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32000" y="288000"/>
            <a:ext cx="360000" cy="360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8000" y="180000"/>
            <a:ext cx="3600000" cy="180000"/>
          </a:xfrm>
          <a:prstGeom prst="rect">
            <a:avLst/>
          </a:prstGeom>
          <a:noFill/>
        </p:spPr>
        <p:txBody>
          <a:bodyPr wrap="square">
            <a:spAutoFit/>
          </a:bodyPr>
          <a:lstStyle/>
          <a:p>
            <a:pPr algn="l">
              <a:defRPr sz="700" b="1">
                <a:solidFill>
                  <a:srgbClr val="F39200"/>
                </a:solidFill>
                <a:latin typeface="Montserrat"/>
              </a:defRPr>
            </a:pPr>
            <a:r>
              <a:t>ANALYSE COMPARATIVE</a:t>
            </a:r>
          </a:p>
        </p:txBody>
      </p:sp>
      <p:sp>
        <p:nvSpPr>
          <p:cNvPr id="4" name="TextBox 3"/>
          <p:cNvSpPr txBox="1"/>
          <p:nvPr/>
        </p:nvSpPr>
        <p:spPr>
          <a:xfrm>
            <a:off x="648000" y="432000"/>
            <a:ext cx="3600000" cy="540000"/>
          </a:xfrm>
          <a:prstGeom prst="rect">
            <a:avLst/>
          </a:prstGeom>
          <a:noFill/>
        </p:spPr>
        <p:txBody>
          <a:bodyPr wrap="square">
            <a:spAutoFit/>
          </a:bodyPr>
          <a:lstStyle/>
          <a:p>
            <a:pPr algn="l">
              <a:defRPr sz="2200" b="1">
                <a:solidFill>
                  <a:srgbClr val="1E3A5F"/>
                </a:solidFill>
                <a:latin typeface="Montserrat"/>
              </a:defRPr>
            </a:pPr>
            <a:r>
              <a:t>MAROC vs FRANCE</a:t>
            </a:r>
          </a:p>
        </p:txBody>
      </p:sp>
      <p:sp>
        <p:nvSpPr>
          <p:cNvPr id="5" name="Rectangle 4"/>
          <p:cNvSpPr/>
          <p:nvPr/>
        </p:nvSpPr>
        <p:spPr>
          <a:xfrm>
            <a:off x="648000" y="1152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8000" y="1368000"/>
            <a:ext cx="6263999" cy="360000"/>
          </a:xfrm>
          <a:prstGeom prst="rect">
            <a:avLst/>
          </a:prstGeom>
          <a:noFill/>
        </p:spPr>
        <p:txBody>
          <a:bodyPr wrap="square">
            <a:spAutoFit/>
          </a:bodyPr>
          <a:lstStyle/>
          <a:p>
            <a:pPr algn="just">
              <a:defRPr sz="900" b="0">
                <a:solidFill>
                  <a:srgbClr val="555555"/>
                </a:solidFill>
                <a:latin typeface="Inter"/>
              </a:defRPr>
            </a:pPr>
            <a:r>
              <a:t>Cette analyse comparative met en evidence les similitudes et differences entre les systemes de marches publics marocain et francais.</a:t>
            </a:r>
          </a:p>
        </p:txBody>
      </p:sp>
      <p:sp>
        <p:nvSpPr>
          <p:cNvPr id="7" name="Oval 6"/>
          <p:cNvSpPr/>
          <p:nvPr/>
        </p:nvSpPr>
        <p:spPr>
          <a:xfrm>
            <a:off x="648000" y="1980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000" y="2052000"/>
            <a:ext cx="432000" cy="251999"/>
          </a:xfrm>
          <a:prstGeom prst="rect">
            <a:avLst/>
          </a:prstGeom>
          <a:noFill/>
        </p:spPr>
        <p:txBody>
          <a:bodyPr wrap="square">
            <a:spAutoFit/>
          </a:bodyPr>
          <a:lstStyle/>
          <a:p>
            <a:pPr algn="ctr">
              <a:defRPr sz="1200" b="1">
                <a:solidFill>
                  <a:srgbClr val="FFFFFF"/>
                </a:solidFill>
                <a:latin typeface="Montserrat"/>
              </a:defRPr>
            </a:pPr>
            <a:r>
              <a:t>R</a:t>
            </a:r>
          </a:p>
        </p:txBody>
      </p:sp>
      <p:sp>
        <p:nvSpPr>
          <p:cNvPr id="9" name="TextBox 8"/>
          <p:cNvSpPr txBox="1"/>
          <p:nvPr/>
        </p:nvSpPr>
        <p:spPr>
          <a:xfrm>
            <a:off x="648000" y="2448000"/>
            <a:ext cx="503999" cy="180000"/>
          </a:xfrm>
          <a:prstGeom prst="rect">
            <a:avLst/>
          </a:prstGeom>
          <a:noFill/>
        </p:spPr>
        <p:txBody>
          <a:bodyPr wrap="square">
            <a:spAutoFit/>
          </a:bodyPr>
          <a:lstStyle/>
          <a:p>
            <a:pPr algn="ctr">
              <a:defRPr sz="600" b="1">
                <a:solidFill>
                  <a:srgbClr val="F39200"/>
                </a:solidFill>
                <a:latin typeface="Montserrat"/>
              </a:defRPr>
            </a:pPr>
            <a:r>
              <a:t>Réglementation</a:t>
            </a:r>
          </a:p>
        </p:txBody>
      </p:sp>
      <p:sp>
        <p:nvSpPr>
          <p:cNvPr id="10" name="Rounded Rectangle 9"/>
          <p:cNvSpPr/>
          <p:nvPr/>
        </p:nvSpPr>
        <p:spPr>
          <a:xfrm>
            <a:off x="1260000" y="1872000"/>
            <a:ext cx="2520000" cy="216000"/>
          </a:xfrm>
          <a:prstGeom prst="roundRect">
            <a:avLst>
              <a:gd name="adj" fmla="val 8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60000" y="1872000"/>
            <a:ext cx="2520000" cy="216000"/>
          </a:xfrm>
          <a:prstGeom prst="rect">
            <a:avLst/>
          </a:prstGeom>
          <a:noFill/>
        </p:spPr>
        <p:txBody>
          <a:bodyPr wrap="square">
            <a:spAutoFit/>
          </a:bodyPr>
          <a:lstStyle/>
          <a:p>
            <a:pPr algn="ctr">
              <a:defRPr sz="700" b="1">
                <a:solidFill>
                  <a:srgbClr val="FFFFFF"/>
                </a:solidFill>
                <a:latin typeface="Montserrat"/>
              </a:defRPr>
            </a:pPr>
            <a:r>
              <a:t>MAROC</a:t>
            </a:r>
          </a:p>
        </p:txBody>
      </p:sp>
      <p:sp>
        <p:nvSpPr>
          <p:cNvPr id="12" name="Rounded Rectangle 11"/>
          <p:cNvSpPr/>
          <p:nvPr/>
        </p:nvSpPr>
        <p:spPr>
          <a:xfrm>
            <a:off x="1260000" y="2088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8000" y="2160000"/>
            <a:ext cx="2340000" cy="540000"/>
          </a:xfrm>
          <a:prstGeom prst="rect">
            <a:avLst/>
          </a:prstGeom>
          <a:noFill/>
        </p:spPr>
        <p:txBody>
          <a:bodyPr wrap="square">
            <a:spAutoFit/>
          </a:bodyPr>
          <a:lstStyle/>
          <a:p>
            <a:pPr algn="ctr">
              <a:defRPr sz="800" b="0">
                <a:solidFill>
                  <a:srgbClr val="2D2D2D"/>
                </a:solidFill>
                <a:latin typeface="Inter"/>
              </a:defRPr>
            </a:pPr>
            <a:r>
              <a:t>Décret n°2-12-349 du 20/03/2013</a:t>
            </a:r>
          </a:p>
        </p:txBody>
      </p:sp>
      <p:sp>
        <p:nvSpPr>
          <p:cNvPr id="14" name="Rounded Rectangle 13"/>
          <p:cNvSpPr/>
          <p:nvPr/>
        </p:nvSpPr>
        <p:spPr>
          <a:xfrm>
            <a:off x="3960000" y="1872000"/>
            <a:ext cx="2520000" cy="2160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60000" y="1872000"/>
            <a:ext cx="2520000" cy="216000"/>
          </a:xfrm>
          <a:prstGeom prst="rect">
            <a:avLst/>
          </a:prstGeom>
          <a:noFill/>
        </p:spPr>
        <p:txBody>
          <a:bodyPr wrap="square">
            <a:spAutoFit/>
          </a:bodyPr>
          <a:lstStyle/>
          <a:p>
            <a:pPr algn="ctr">
              <a:defRPr sz="700" b="1">
                <a:solidFill>
                  <a:srgbClr val="FFFFFF"/>
                </a:solidFill>
                <a:latin typeface="Montserrat"/>
              </a:defRPr>
            </a:pPr>
            <a:r>
              <a:t>FRANCE</a:t>
            </a:r>
          </a:p>
        </p:txBody>
      </p:sp>
      <p:sp>
        <p:nvSpPr>
          <p:cNvPr id="16" name="Rounded Rectangle 15"/>
          <p:cNvSpPr/>
          <p:nvPr/>
        </p:nvSpPr>
        <p:spPr>
          <a:xfrm>
            <a:off x="3960000" y="2088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68000" y="2160000"/>
            <a:ext cx="2340000" cy="540000"/>
          </a:xfrm>
          <a:prstGeom prst="rect">
            <a:avLst/>
          </a:prstGeom>
          <a:noFill/>
        </p:spPr>
        <p:txBody>
          <a:bodyPr wrap="square">
            <a:spAutoFit/>
          </a:bodyPr>
          <a:lstStyle/>
          <a:p>
            <a:pPr algn="ctr">
              <a:defRPr sz="800" b="0">
                <a:solidFill>
                  <a:srgbClr val="2D2D2D"/>
                </a:solidFill>
                <a:latin typeface="Inter"/>
              </a:defRPr>
            </a:pPr>
            <a:r>
              <a:t>Code de la commande publique</a:t>
            </a:r>
          </a:p>
        </p:txBody>
      </p:sp>
      <p:sp>
        <p:nvSpPr>
          <p:cNvPr id="18" name="Oval 17"/>
          <p:cNvSpPr/>
          <p:nvPr/>
        </p:nvSpPr>
        <p:spPr>
          <a:xfrm>
            <a:off x="648000" y="3132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000" y="3204000"/>
            <a:ext cx="432000" cy="251999"/>
          </a:xfrm>
          <a:prstGeom prst="rect">
            <a:avLst/>
          </a:prstGeom>
          <a:noFill/>
        </p:spPr>
        <p:txBody>
          <a:bodyPr wrap="square">
            <a:spAutoFit/>
          </a:bodyPr>
          <a:lstStyle/>
          <a:p>
            <a:pPr algn="ctr">
              <a:defRPr sz="1200" b="1">
                <a:solidFill>
                  <a:srgbClr val="FFFFFF"/>
                </a:solidFill>
                <a:latin typeface="Montserrat"/>
              </a:defRPr>
            </a:pPr>
            <a:r>
              <a:t>P</a:t>
            </a:r>
          </a:p>
        </p:txBody>
      </p:sp>
      <p:sp>
        <p:nvSpPr>
          <p:cNvPr id="20" name="TextBox 19"/>
          <p:cNvSpPr txBox="1"/>
          <p:nvPr/>
        </p:nvSpPr>
        <p:spPr>
          <a:xfrm>
            <a:off x="648000" y="3600000"/>
            <a:ext cx="503999" cy="180000"/>
          </a:xfrm>
          <a:prstGeom prst="rect">
            <a:avLst/>
          </a:prstGeom>
          <a:noFill/>
        </p:spPr>
        <p:txBody>
          <a:bodyPr wrap="square">
            <a:spAutoFit/>
          </a:bodyPr>
          <a:lstStyle/>
          <a:p>
            <a:pPr algn="ctr">
              <a:defRPr sz="600" b="1">
                <a:solidFill>
                  <a:srgbClr val="F39200"/>
                </a:solidFill>
                <a:latin typeface="Montserrat"/>
              </a:defRPr>
            </a:pPr>
            <a:r>
              <a:t>Pièces du marché</a:t>
            </a:r>
          </a:p>
        </p:txBody>
      </p:sp>
      <p:sp>
        <p:nvSpPr>
          <p:cNvPr id="21" name="Rounded Rectangle 20"/>
          <p:cNvSpPr/>
          <p:nvPr/>
        </p:nvSpPr>
        <p:spPr>
          <a:xfrm>
            <a:off x="1260000" y="3024000"/>
            <a:ext cx="2520000" cy="216000"/>
          </a:xfrm>
          <a:prstGeom prst="roundRect">
            <a:avLst>
              <a:gd name="adj" fmla="val 8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60000" y="3024000"/>
            <a:ext cx="2520000" cy="216000"/>
          </a:xfrm>
          <a:prstGeom prst="rect">
            <a:avLst/>
          </a:prstGeom>
          <a:noFill/>
        </p:spPr>
        <p:txBody>
          <a:bodyPr wrap="square">
            <a:spAutoFit/>
          </a:bodyPr>
          <a:lstStyle/>
          <a:p>
            <a:pPr algn="ctr">
              <a:defRPr sz="700" b="1">
                <a:solidFill>
                  <a:srgbClr val="FFFFFF"/>
                </a:solidFill>
                <a:latin typeface="Montserrat"/>
              </a:defRPr>
            </a:pPr>
            <a:r>
              <a:t>MAROC</a:t>
            </a:r>
          </a:p>
        </p:txBody>
      </p:sp>
      <p:sp>
        <p:nvSpPr>
          <p:cNvPr id="23" name="Rounded Rectangle 22"/>
          <p:cNvSpPr/>
          <p:nvPr/>
        </p:nvSpPr>
        <p:spPr>
          <a:xfrm>
            <a:off x="1260000" y="3240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68000" y="3312000"/>
            <a:ext cx="2340000" cy="540000"/>
          </a:xfrm>
          <a:prstGeom prst="rect">
            <a:avLst/>
          </a:prstGeom>
          <a:noFill/>
        </p:spPr>
        <p:txBody>
          <a:bodyPr wrap="square">
            <a:spAutoFit/>
          </a:bodyPr>
          <a:lstStyle/>
          <a:p>
            <a:pPr algn="ctr">
              <a:defRPr sz="800" b="0">
                <a:solidFill>
                  <a:srgbClr val="2D2D2D"/>
                </a:solidFill>
                <a:latin typeface="Inter"/>
              </a:defRPr>
            </a:pPr>
            <a:r>
              <a:t>CPS + RC + BPDE + Plans</a:t>
            </a:r>
          </a:p>
        </p:txBody>
      </p:sp>
      <p:sp>
        <p:nvSpPr>
          <p:cNvPr id="25" name="Rounded Rectangle 24"/>
          <p:cNvSpPr/>
          <p:nvPr/>
        </p:nvSpPr>
        <p:spPr>
          <a:xfrm>
            <a:off x="3960000" y="3024000"/>
            <a:ext cx="2520000" cy="2160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60000" y="3024000"/>
            <a:ext cx="2520000" cy="216000"/>
          </a:xfrm>
          <a:prstGeom prst="rect">
            <a:avLst/>
          </a:prstGeom>
          <a:noFill/>
        </p:spPr>
        <p:txBody>
          <a:bodyPr wrap="square">
            <a:spAutoFit/>
          </a:bodyPr>
          <a:lstStyle/>
          <a:p>
            <a:pPr algn="ctr">
              <a:defRPr sz="700" b="1">
                <a:solidFill>
                  <a:srgbClr val="FFFFFF"/>
                </a:solidFill>
                <a:latin typeface="Montserrat"/>
              </a:defRPr>
            </a:pPr>
            <a:r>
              <a:t>FRANCE</a:t>
            </a:r>
          </a:p>
        </p:txBody>
      </p:sp>
      <p:sp>
        <p:nvSpPr>
          <p:cNvPr id="27" name="Rounded Rectangle 26"/>
          <p:cNvSpPr/>
          <p:nvPr/>
        </p:nvSpPr>
        <p:spPr>
          <a:xfrm>
            <a:off x="3960000" y="3240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68000" y="3312000"/>
            <a:ext cx="2340000" cy="540000"/>
          </a:xfrm>
          <a:prstGeom prst="rect">
            <a:avLst/>
          </a:prstGeom>
          <a:noFill/>
        </p:spPr>
        <p:txBody>
          <a:bodyPr wrap="square">
            <a:spAutoFit/>
          </a:bodyPr>
          <a:lstStyle/>
          <a:p>
            <a:pPr algn="ctr">
              <a:defRPr sz="800" b="0">
                <a:solidFill>
                  <a:srgbClr val="2D2D2D"/>
                </a:solidFill>
                <a:latin typeface="Inter"/>
              </a:defRPr>
            </a:pPr>
            <a:r>
              <a:t>CCAP + CCTP + BPU/DQE ou DPGF</a:t>
            </a:r>
          </a:p>
        </p:txBody>
      </p:sp>
      <p:sp>
        <p:nvSpPr>
          <p:cNvPr id="29" name="Oval 28"/>
          <p:cNvSpPr/>
          <p:nvPr/>
        </p:nvSpPr>
        <p:spPr>
          <a:xfrm>
            <a:off x="648000" y="4284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8000" y="4356000"/>
            <a:ext cx="432000" cy="251999"/>
          </a:xfrm>
          <a:prstGeom prst="rect">
            <a:avLst/>
          </a:prstGeom>
          <a:noFill/>
        </p:spPr>
        <p:txBody>
          <a:bodyPr wrap="square">
            <a:spAutoFit/>
          </a:bodyPr>
          <a:lstStyle/>
          <a:p>
            <a:pPr algn="ctr">
              <a:defRPr sz="1200" b="1">
                <a:solidFill>
                  <a:srgbClr val="FFFFFF"/>
                </a:solidFill>
                <a:latin typeface="Montserrat"/>
              </a:defRPr>
            </a:pPr>
            <a:r>
              <a:t>N</a:t>
            </a:r>
          </a:p>
        </p:txBody>
      </p:sp>
      <p:sp>
        <p:nvSpPr>
          <p:cNvPr id="31" name="TextBox 30"/>
          <p:cNvSpPr txBox="1"/>
          <p:nvPr/>
        </p:nvSpPr>
        <p:spPr>
          <a:xfrm>
            <a:off x="648000" y="4752000"/>
            <a:ext cx="503999" cy="180000"/>
          </a:xfrm>
          <a:prstGeom prst="rect">
            <a:avLst/>
          </a:prstGeom>
          <a:noFill/>
        </p:spPr>
        <p:txBody>
          <a:bodyPr wrap="square">
            <a:spAutoFit/>
          </a:bodyPr>
          <a:lstStyle/>
          <a:p>
            <a:pPr algn="ctr">
              <a:defRPr sz="600" b="1">
                <a:solidFill>
                  <a:srgbClr val="F39200"/>
                </a:solidFill>
                <a:latin typeface="Montserrat"/>
              </a:defRPr>
            </a:pPr>
            <a:r>
              <a:t>Normes</a:t>
            </a:r>
          </a:p>
        </p:txBody>
      </p:sp>
      <p:sp>
        <p:nvSpPr>
          <p:cNvPr id="32" name="Rounded Rectangle 31"/>
          <p:cNvSpPr/>
          <p:nvPr/>
        </p:nvSpPr>
        <p:spPr>
          <a:xfrm>
            <a:off x="1260000" y="4176000"/>
            <a:ext cx="2520000" cy="216000"/>
          </a:xfrm>
          <a:prstGeom prst="roundRect">
            <a:avLst>
              <a:gd name="adj" fmla="val 8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60000" y="4176000"/>
            <a:ext cx="2520000" cy="216000"/>
          </a:xfrm>
          <a:prstGeom prst="rect">
            <a:avLst/>
          </a:prstGeom>
          <a:noFill/>
        </p:spPr>
        <p:txBody>
          <a:bodyPr wrap="square">
            <a:spAutoFit/>
          </a:bodyPr>
          <a:lstStyle/>
          <a:p>
            <a:pPr algn="ctr">
              <a:defRPr sz="700" b="1">
                <a:solidFill>
                  <a:srgbClr val="FFFFFF"/>
                </a:solidFill>
                <a:latin typeface="Montserrat"/>
              </a:defRPr>
            </a:pPr>
            <a:r>
              <a:t>MAROC</a:t>
            </a:r>
          </a:p>
        </p:txBody>
      </p:sp>
      <p:sp>
        <p:nvSpPr>
          <p:cNvPr id="34" name="Rounded Rectangle 33"/>
          <p:cNvSpPr/>
          <p:nvPr/>
        </p:nvSpPr>
        <p:spPr>
          <a:xfrm>
            <a:off x="1260000" y="4392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68000" y="4464000"/>
            <a:ext cx="2340000" cy="540000"/>
          </a:xfrm>
          <a:prstGeom prst="rect">
            <a:avLst/>
          </a:prstGeom>
          <a:noFill/>
        </p:spPr>
        <p:txBody>
          <a:bodyPr wrap="square">
            <a:spAutoFit/>
          </a:bodyPr>
          <a:lstStyle/>
          <a:p>
            <a:pPr algn="ctr">
              <a:defRPr sz="800" b="0">
                <a:solidFill>
                  <a:srgbClr val="2D2D2D"/>
                </a:solidFill>
                <a:latin typeface="Inter"/>
              </a:defRPr>
            </a:pPr>
            <a:r>
              <a:t>Normes marocaines RPS 2000 (sismique)</a:t>
            </a:r>
          </a:p>
        </p:txBody>
      </p:sp>
      <p:sp>
        <p:nvSpPr>
          <p:cNvPr id="36" name="Rounded Rectangle 35"/>
          <p:cNvSpPr/>
          <p:nvPr/>
        </p:nvSpPr>
        <p:spPr>
          <a:xfrm>
            <a:off x="3960000" y="4176000"/>
            <a:ext cx="2520000" cy="2160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60000" y="4176000"/>
            <a:ext cx="2520000" cy="216000"/>
          </a:xfrm>
          <a:prstGeom prst="rect">
            <a:avLst/>
          </a:prstGeom>
          <a:noFill/>
        </p:spPr>
        <p:txBody>
          <a:bodyPr wrap="square">
            <a:spAutoFit/>
          </a:bodyPr>
          <a:lstStyle/>
          <a:p>
            <a:pPr algn="ctr">
              <a:defRPr sz="700" b="1">
                <a:solidFill>
                  <a:srgbClr val="FFFFFF"/>
                </a:solidFill>
                <a:latin typeface="Montserrat"/>
              </a:defRPr>
            </a:pPr>
            <a:r>
              <a:t>FRANCE</a:t>
            </a:r>
          </a:p>
        </p:txBody>
      </p:sp>
      <p:sp>
        <p:nvSpPr>
          <p:cNvPr id="38" name="Rounded Rectangle 37"/>
          <p:cNvSpPr/>
          <p:nvPr/>
        </p:nvSpPr>
        <p:spPr>
          <a:xfrm>
            <a:off x="3960000" y="4392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68000" y="4464000"/>
            <a:ext cx="2340000" cy="540000"/>
          </a:xfrm>
          <a:prstGeom prst="rect">
            <a:avLst/>
          </a:prstGeom>
          <a:noFill/>
        </p:spPr>
        <p:txBody>
          <a:bodyPr wrap="square">
            <a:spAutoFit/>
          </a:bodyPr>
          <a:lstStyle/>
          <a:p>
            <a:pPr algn="ctr">
              <a:defRPr sz="800" b="0">
                <a:solidFill>
                  <a:srgbClr val="2D2D2D"/>
                </a:solidFill>
                <a:latin typeface="Inter"/>
              </a:defRPr>
            </a:pPr>
            <a:r>
              <a:t>Eurocodes, DTU RE2020 (environnement)</a:t>
            </a:r>
          </a:p>
        </p:txBody>
      </p:sp>
      <p:sp>
        <p:nvSpPr>
          <p:cNvPr id="40" name="Oval 39"/>
          <p:cNvSpPr/>
          <p:nvPr/>
        </p:nvSpPr>
        <p:spPr>
          <a:xfrm>
            <a:off x="648000" y="5436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8000" y="5508000"/>
            <a:ext cx="432000" cy="251999"/>
          </a:xfrm>
          <a:prstGeom prst="rect">
            <a:avLst/>
          </a:prstGeom>
          <a:noFill/>
        </p:spPr>
        <p:txBody>
          <a:bodyPr wrap="square">
            <a:spAutoFit/>
          </a:bodyPr>
          <a:lstStyle/>
          <a:p>
            <a:pPr algn="ctr">
              <a:defRPr sz="1200" b="1">
                <a:solidFill>
                  <a:srgbClr val="FFFFFF"/>
                </a:solidFill>
                <a:latin typeface="Montserrat"/>
              </a:defRPr>
            </a:pPr>
            <a:r>
              <a:t>S</a:t>
            </a:r>
          </a:p>
        </p:txBody>
      </p:sp>
      <p:sp>
        <p:nvSpPr>
          <p:cNvPr id="42" name="TextBox 41"/>
          <p:cNvSpPr txBox="1"/>
          <p:nvPr/>
        </p:nvSpPr>
        <p:spPr>
          <a:xfrm>
            <a:off x="648000" y="5904000"/>
            <a:ext cx="503999" cy="180000"/>
          </a:xfrm>
          <a:prstGeom prst="rect">
            <a:avLst/>
          </a:prstGeom>
          <a:noFill/>
        </p:spPr>
        <p:txBody>
          <a:bodyPr wrap="square">
            <a:spAutoFit/>
          </a:bodyPr>
          <a:lstStyle/>
          <a:p>
            <a:pPr algn="ctr">
              <a:defRPr sz="600" b="1">
                <a:solidFill>
                  <a:srgbClr val="F39200"/>
                </a:solidFill>
                <a:latin typeface="Montserrat"/>
              </a:defRPr>
            </a:pPr>
            <a:r>
              <a:t>Suivi financier</a:t>
            </a:r>
          </a:p>
        </p:txBody>
      </p:sp>
      <p:sp>
        <p:nvSpPr>
          <p:cNvPr id="43" name="Rounded Rectangle 42"/>
          <p:cNvSpPr/>
          <p:nvPr/>
        </p:nvSpPr>
        <p:spPr>
          <a:xfrm>
            <a:off x="1260000" y="5328000"/>
            <a:ext cx="2520000" cy="216000"/>
          </a:xfrm>
          <a:prstGeom prst="roundRect">
            <a:avLst>
              <a:gd name="adj" fmla="val 8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60000" y="5328000"/>
            <a:ext cx="2520000" cy="216000"/>
          </a:xfrm>
          <a:prstGeom prst="rect">
            <a:avLst/>
          </a:prstGeom>
          <a:noFill/>
        </p:spPr>
        <p:txBody>
          <a:bodyPr wrap="square">
            <a:spAutoFit/>
          </a:bodyPr>
          <a:lstStyle/>
          <a:p>
            <a:pPr algn="ctr">
              <a:defRPr sz="700" b="1">
                <a:solidFill>
                  <a:srgbClr val="FFFFFF"/>
                </a:solidFill>
                <a:latin typeface="Montserrat"/>
              </a:defRPr>
            </a:pPr>
            <a:r>
              <a:t>MAROC</a:t>
            </a:r>
          </a:p>
        </p:txBody>
      </p:sp>
      <p:sp>
        <p:nvSpPr>
          <p:cNvPr id="45" name="Rounded Rectangle 44"/>
          <p:cNvSpPr/>
          <p:nvPr/>
        </p:nvSpPr>
        <p:spPr>
          <a:xfrm>
            <a:off x="1260000" y="5544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68000" y="5616000"/>
            <a:ext cx="2340000" cy="540000"/>
          </a:xfrm>
          <a:prstGeom prst="rect">
            <a:avLst/>
          </a:prstGeom>
          <a:noFill/>
        </p:spPr>
        <p:txBody>
          <a:bodyPr wrap="square">
            <a:spAutoFit/>
          </a:bodyPr>
          <a:lstStyle/>
          <a:p>
            <a:pPr algn="ctr">
              <a:defRPr sz="800" b="0">
                <a:solidFill>
                  <a:srgbClr val="2D2D2D"/>
                </a:solidFill>
                <a:latin typeface="Inter"/>
              </a:defRPr>
            </a:pPr>
            <a:r>
              <a:t>Attachements contradictoires, décomptes</a:t>
            </a:r>
          </a:p>
        </p:txBody>
      </p:sp>
      <p:sp>
        <p:nvSpPr>
          <p:cNvPr id="47" name="Rounded Rectangle 46"/>
          <p:cNvSpPr/>
          <p:nvPr/>
        </p:nvSpPr>
        <p:spPr>
          <a:xfrm>
            <a:off x="3960000" y="5328000"/>
            <a:ext cx="2520000" cy="2160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960000" y="5328000"/>
            <a:ext cx="2520000" cy="216000"/>
          </a:xfrm>
          <a:prstGeom prst="rect">
            <a:avLst/>
          </a:prstGeom>
          <a:noFill/>
        </p:spPr>
        <p:txBody>
          <a:bodyPr wrap="square">
            <a:spAutoFit/>
          </a:bodyPr>
          <a:lstStyle/>
          <a:p>
            <a:pPr algn="ctr">
              <a:defRPr sz="700" b="1">
                <a:solidFill>
                  <a:srgbClr val="FFFFFF"/>
                </a:solidFill>
                <a:latin typeface="Montserrat"/>
              </a:defRPr>
            </a:pPr>
            <a:r>
              <a:t>FRANCE</a:t>
            </a:r>
          </a:p>
        </p:txBody>
      </p:sp>
      <p:sp>
        <p:nvSpPr>
          <p:cNvPr id="49" name="Rounded Rectangle 48"/>
          <p:cNvSpPr/>
          <p:nvPr/>
        </p:nvSpPr>
        <p:spPr>
          <a:xfrm>
            <a:off x="3960000" y="5544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68000" y="5616000"/>
            <a:ext cx="2340000" cy="540000"/>
          </a:xfrm>
          <a:prstGeom prst="rect">
            <a:avLst/>
          </a:prstGeom>
          <a:noFill/>
        </p:spPr>
        <p:txBody>
          <a:bodyPr wrap="square">
            <a:spAutoFit/>
          </a:bodyPr>
          <a:lstStyle/>
          <a:p>
            <a:pPr algn="ctr">
              <a:defRPr sz="800" b="0">
                <a:solidFill>
                  <a:srgbClr val="2D2D2D"/>
                </a:solidFill>
                <a:latin typeface="Inter"/>
              </a:defRPr>
            </a:pPr>
            <a:r>
              <a:t>Situations de travaux mensuelles, révision prix CCAP</a:t>
            </a:r>
          </a:p>
        </p:txBody>
      </p:sp>
      <p:sp>
        <p:nvSpPr>
          <p:cNvPr id="51" name="Oval 50"/>
          <p:cNvSpPr/>
          <p:nvPr/>
        </p:nvSpPr>
        <p:spPr>
          <a:xfrm>
            <a:off x="648000" y="6588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8000" y="6660000"/>
            <a:ext cx="432000" cy="251999"/>
          </a:xfrm>
          <a:prstGeom prst="rect">
            <a:avLst/>
          </a:prstGeom>
          <a:noFill/>
        </p:spPr>
        <p:txBody>
          <a:bodyPr wrap="square">
            <a:spAutoFit/>
          </a:bodyPr>
          <a:lstStyle/>
          <a:p>
            <a:pPr algn="ctr">
              <a:defRPr sz="1200" b="1">
                <a:solidFill>
                  <a:srgbClr val="FFFFFF"/>
                </a:solidFill>
                <a:latin typeface="Montserrat"/>
              </a:defRPr>
            </a:pPr>
            <a:r>
              <a:t>P</a:t>
            </a:r>
          </a:p>
        </p:txBody>
      </p:sp>
      <p:sp>
        <p:nvSpPr>
          <p:cNvPr id="53" name="TextBox 52"/>
          <p:cNvSpPr txBox="1"/>
          <p:nvPr/>
        </p:nvSpPr>
        <p:spPr>
          <a:xfrm>
            <a:off x="648000" y="7056000"/>
            <a:ext cx="503999" cy="180000"/>
          </a:xfrm>
          <a:prstGeom prst="rect">
            <a:avLst/>
          </a:prstGeom>
          <a:noFill/>
        </p:spPr>
        <p:txBody>
          <a:bodyPr wrap="square">
            <a:spAutoFit/>
          </a:bodyPr>
          <a:lstStyle/>
          <a:p>
            <a:pPr algn="ctr">
              <a:defRPr sz="600" b="1">
                <a:solidFill>
                  <a:srgbClr val="F39200"/>
                </a:solidFill>
                <a:latin typeface="Montserrat"/>
              </a:defRPr>
            </a:pPr>
            <a:r>
              <a:t>Passation</a:t>
            </a:r>
          </a:p>
        </p:txBody>
      </p:sp>
      <p:sp>
        <p:nvSpPr>
          <p:cNvPr id="54" name="Rounded Rectangle 53"/>
          <p:cNvSpPr/>
          <p:nvPr/>
        </p:nvSpPr>
        <p:spPr>
          <a:xfrm>
            <a:off x="1260000" y="6480000"/>
            <a:ext cx="2520000" cy="216000"/>
          </a:xfrm>
          <a:prstGeom prst="roundRect">
            <a:avLst>
              <a:gd name="adj" fmla="val 8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60000" y="6480000"/>
            <a:ext cx="2520000" cy="216000"/>
          </a:xfrm>
          <a:prstGeom prst="rect">
            <a:avLst/>
          </a:prstGeom>
          <a:noFill/>
        </p:spPr>
        <p:txBody>
          <a:bodyPr wrap="square">
            <a:spAutoFit/>
          </a:bodyPr>
          <a:lstStyle/>
          <a:p>
            <a:pPr algn="ctr">
              <a:defRPr sz="700" b="1">
                <a:solidFill>
                  <a:srgbClr val="FFFFFF"/>
                </a:solidFill>
                <a:latin typeface="Montserrat"/>
              </a:defRPr>
            </a:pPr>
            <a:r>
              <a:t>MAROC</a:t>
            </a:r>
          </a:p>
        </p:txBody>
      </p:sp>
      <p:sp>
        <p:nvSpPr>
          <p:cNvPr id="56" name="Rounded Rectangle 55"/>
          <p:cNvSpPr/>
          <p:nvPr/>
        </p:nvSpPr>
        <p:spPr>
          <a:xfrm>
            <a:off x="1260000" y="6696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68000" y="6768000"/>
            <a:ext cx="2340000" cy="540000"/>
          </a:xfrm>
          <a:prstGeom prst="rect">
            <a:avLst/>
          </a:prstGeom>
          <a:noFill/>
        </p:spPr>
        <p:txBody>
          <a:bodyPr wrap="square">
            <a:spAutoFit/>
          </a:bodyPr>
          <a:lstStyle/>
          <a:p>
            <a:pPr algn="ctr">
              <a:defRPr sz="800" b="0">
                <a:solidFill>
                  <a:srgbClr val="2D2D2D"/>
                </a:solidFill>
                <a:latin typeface="Inter"/>
              </a:defRPr>
            </a:pPr>
            <a:r>
              <a:t>Appel d'offres ouvert ou restreint, marché négocié</a:t>
            </a:r>
          </a:p>
        </p:txBody>
      </p:sp>
      <p:sp>
        <p:nvSpPr>
          <p:cNvPr id="58" name="Rounded Rectangle 57"/>
          <p:cNvSpPr/>
          <p:nvPr/>
        </p:nvSpPr>
        <p:spPr>
          <a:xfrm>
            <a:off x="3960000" y="6480000"/>
            <a:ext cx="2520000" cy="2160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960000" y="6480000"/>
            <a:ext cx="2520000" cy="216000"/>
          </a:xfrm>
          <a:prstGeom prst="rect">
            <a:avLst/>
          </a:prstGeom>
          <a:noFill/>
        </p:spPr>
        <p:txBody>
          <a:bodyPr wrap="square">
            <a:spAutoFit/>
          </a:bodyPr>
          <a:lstStyle/>
          <a:p>
            <a:pPr algn="ctr">
              <a:defRPr sz="700" b="1">
                <a:solidFill>
                  <a:srgbClr val="FFFFFF"/>
                </a:solidFill>
                <a:latin typeface="Montserrat"/>
              </a:defRPr>
            </a:pPr>
            <a:r>
              <a:t>FRANCE</a:t>
            </a:r>
          </a:p>
        </p:txBody>
      </p:sp>
      <p:sp>
        <p:nvSpPr>
          <p:cNvPr id="60" name="Rounded Rectangle 59"/>
          <p:cNvSpPr/>
          <p:nvPr/>
        </p:nvSpPr>
        <p:spPr>
          <a:xfrm>
            <a:off x="3960000" y="6696000"/>
            <a:ext cx="2520000" cy="720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068000" y="6768000"/>
            <a:ext cx="2340000" cy="540000"/>
          </a:xfrm>
          <a:prstGeom prst="rect">
            <a:avLst/>
          </a:prstGeom>
          <a:noFill/>
        </p:spPr>
        <p:txBody>
          <a:bodyPr wrap="square">
            <a:spAutoFit/>
          </a:bodyPr>
          <a:lstStyle/>
          <a:p>
            <a:pPr algn="ctr">
              <a:defRPr sz="800" b="0">
                <a:solidFill>
                  <a:srgbClr val="2D2D2D"/>
                </a:solidFill>
                <a:latin typeface="Inter"/>
              </a:defRPr>
            </a:pPr>
            <a:r>
              <a:t>Procédure formalisée ou adaptée selon seuils européens</a:t>
            </a:r>
          </a:p>
        </p:txBody>
      </p:sp>
      <p:sp>
        <p:nvSpPr>
          <p:cNvPr id="62" name="Rounded Rectangle 61"/>
          <p:cNvSpPr/>
          <p:nvPr/>
        </p:nvSpPr>
        <p:spPr>
          <a:xfrm>
            <a:off x="648000" y="7812000"/>
            <a:ext cx="6263999" cy="720000"/>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0000" y="7920000"/>
            <a:ext cx="5760000" cy="540000"/>
          </a:xfrm>
          <a:prstGeom prst="rect">
            <a:avLst/>
          </a:prstGeom>
          <a:noFill/>
        </p:spPr>
        <p:txBody>
          <a:bodyPr wrap="square">
            <a:spAutoFit/>
          </a:bodyPr>
          <a:lstStyle/>
          <a:p>
            <a:pPr algn="ctr">
              <a:defRPr sz="800" b="0">
                <a:solidFill>
                  <a:srgbClr val="FFFFFF"/>
                </a:solidFill>
                <a:latin typeface="Inter"/>
              </a:defRPr>
            </a:pPr>
            <a:r>
              <a:t>Point commun : mêmes principes fondamentaux de la commande publique | Transparence | Égalité de traitement | Mise en concurrence</a:t>
            </a:r>
          </a:p>
        </p:txBody>
      </p:sp>
      <p:sp>
        <p:nvSpPr>
          <p:cNvPr id="64" name="TextBox 63"/>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44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32000" y="288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7999" y="360000"/>
            <a:ext cx="5760000" cy="360000"/>
          </a:xfrm>
          <a:prstGeom prst="rect">
            <a:avLst/>
          </a:prstGeom>
          <a:noFill/>
        </p:spPr>
        <p:txBody>
          <a:bodyPr wrap="square">
            <a:spAutoFit/>
          </a:bodyPr>
          <a:lstStyle/>
          <a:p>
            <a:pPr algn="l">
              <a:defRPr sz="2200" b="1">
                <a:solidFill>
                  <a:srgbClr val="1E3A5F"/>
                </a:solidFill>
                <a:latin typeface="Montserrat"/>
              </a:defRPr>
            </a:pPr>
            <a:r>
              <a:t>BILAN REFLEXIF</a:t>
            </a:r>
          </a:p>
        </p:txBody>
      </p:sp>
      <p:sp>
        <p:nvSpPr>
          <p:cNvPr id="5" name="Rectangle 4"/>
          <p:cNvSpPr/>
          <p:nvPr/>
        </p:nvSpPr>
        <p:spPr>
          <a:xfrm>
            <a:off x="648000" y="1007999"/>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8000" y="1440000"/>
            <a:ext cx="6263999" cy="1980000"/>
          </a:xfrm>
          <a:prstGeom prst="roundRect">
            <a:avLst>
              <a:gd name="adj" fmla="val 10000"/>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8000" y="1440000"/>
            <a:ext cx="54000" cy="1980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7999" y="1584000"/>
            <a:ext cx="360000" cy="360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68000" y="1548000"/>
            <a:ext cx="5040000" cy="251999"/>
          </a:xfrm>
          <a:prstGeom prst="rect">
            <a:avLst/>
          </a:prstGeom>
          <a:noFill/>
        </p:spPr>
        <p:txBody>
          <a:bodyPr wrap="square">
            <a:spAutoFit/>
          </a:bodyPr>
          <a:lstStyle/>
          <a:p>
            <a:pPr algn="l">
              <a:defRPr sz="1100" b="1">
                <a:solidFill>
                  <a:srgbClr val="F39200"/>
                </a:solidFill>
                <a:latin typeface="Montserrat"/>
              </a:defRPr>
            </a:pPr>
            <a:r>
              <a:t>Ce que j'ai appris</a:t>
            </a:r>
          </a:p>
        </p:txBody>
      </p:sp>
      <p:sp>
        <p:nvSpPr>
          <p:cNvPr id="10" name="TextBox 9"/>
          <p:cNvSpPr txBox="1"/>
          <p:nvPr/>
        </p:nvSpPr>
        <p:spPr>
          <a:xfrm>
            <a:off x="900000" y="1908000"/>
            <a:ext cx="5760000" cy="1440000"/>
          </a:xfrm>
          <a:prstGeom prst="rect">
            <a:avLst/>
          </a:prstGeom>
          <a:noFill/>
        </p:spPr>
        <p:txBody>
          <a:bodyPr wrap="square">
            <a:spAutoFit/>
          </a:bodyPr>
          <a:lstStyle/>
          <a:p>
            <a:pPr algn="just">
              <a:defRPr sz="800" b="0">
                <a:solidFill>
                  <a:srgbClr val="555555"/>
                </a:solidFill>
                <a:latin typeface="Inter"/>
              </a:defRPr>
            </a:pPr>
            <a:r>
              <a:t>La semaine 23 (Situation 4), j'ai dû arbitrer 3 crises en 48h sur 4 chantiers distants de 80 km. J'ai compris que l'écrit systématique (OS, attachements, CR) est le seul rempart contre les litiges : sans l'attachement contradictoire signé à Kerrouchen (Situation 3), l'écart de +0,8% aurait pu être contesté. Le suivi technique exige autant de rigueur rédactionnelle que de présence terrain.</a:t>
            </a:r>
          </a:p>
        </p:txBody>
      </p:sp>
      <p:sp>
        <p:nvSpPr>
          <p:cNvPr id="11" name="Rounded Rectangle 10"/>
          <p:cNvSpPr/>
          <p:nvPr/>
        </p:nvSpPr>
        <p:spPr>
          <a:xfrm>
            <a:off x="648000" y="3600000"/>
            <a:ext cx="6263999" cy="1980000"/>
          </a:xfrm>
          <a:prstGeom prst="roundRect">
            <a:avLst>
              <a:gd name="adj" fmla="val 10000"/>
            </a:avLst>
          </a:prstGeom>
          <a:solidFill>
            <a:srgbClr val="E8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8000" y="3600000"/>
            <a:ext cx="54000" cy="1980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7999" y="3744000"/>
            <a:ext cx="360000" cy="360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68000" y="3708000"/>
            <a:ext cx="5040000" cy="251999"/>
          </a:xfrm>
          <a:prstGeom prst="rect">
            <a:avLst/>
          </a:prstGeom>
          <a:noFill/>
        </p:spPr>
        <p:txBody>
          <a:bodyPr wrap="square">
            <a:spAutoFit/>
          </a:bodyPr>
          <a:lstStyle/>
          <a:p>
            <a:pPr algn="l">
              <a:defRPr sz="1100" b="1">
                <a:solidFill>
                  <a:srgbClr val="5CC8C0"/>
                </a:solidFill>
                <a:latin typeface="Montserrat"/>
              </a:defRPr>
            </a:pPr>
            <a:r>
              <a:t>Ce que je ferais différemment</a:t>
            </a:r>
          </a:p>
        </p:txBody>
      </p:sp>
      <p:sp>
        <p:nvSpPr>
          <p:cNvPr id="15" name="TextBox 14"/>
          <p:cNvSpPr txBox="1"/>
          <p:nvPr/>
        </p:nvSpPr>
        <p:spPr>
          <a:xfrm>
            <a:off x="900000" y="4068000"/>
            <a:ext cx="5760000" cy="1440000"/>
          </a:xfrm>
          <a:prstGeom prst="rect">
            <a:avLst/>
          </a:prstGeom>
          <a:noFill/>
        </p:spPr>
        <p:txBody>
          <a:bodyPr wrap="square">
            <a:spAutoFit/>
          </a:bodyPr>
          <a:lstStyle/>
          <a:p>
            <a:pPr algn="just">
              <a:defRPr sz="800" b="0">
                <a:solidFill>
                  <a:srgbClr val="555555"/>
                </a:solidFill>
                <a:latin typeface="Inter"/>
              </a:defRPr>
            </a:pPr>
            <a:r>
              <a:t>J'aurais mis en place le tableau de bord financier dès la situation n°1 (et non à la n°3, quand l'alerte +4,8% était déjà là). J'aurais systématisé les photos datées de chaque visite comme preuves d'avancement. J'aurais aussi proposé un modèle de CR standardisé dès le démarrage pour gagner en efficacité : celui que j'ai créé à la semaine 23 a ensuite été utilisé sur tous les chantiers.</a:t>
            </a:r>
          </a:p>
        </p:txBody>
      </p:sp>
      <p:sp>
        <p:nvSpPr>
          <p:cNvPr id="16" name="Rounded Rectangle 15"/>
          <p:cNvSpPr/>
          <p:nvPr/>
        </p:nvSpPr>
        <p:spPr>
          <a:xfrm>
            <a:off x="648000" y="5760000"/>
            <a:ext cx="6263999" cy="1980000"/>
          </a:xfrm>
          <a:prstGeom prst="roundRect">
            <a:avLst>
              <a:gd name="adj" fmla="val 10000"/>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8000" y="5760000"/>
            <a:ext cx="54000" cy="1980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7999" y="5904000"/>
            <a:ext cx="360000" cy="360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8000" y="5868000"/>
            <a:ext cx="5040000" cy="251999"/>
          </a:xfrm>
          <a:prstGeom prst="rect">
            <a:avLst/>
          </a:prstGeom>
          <a:noFill/>
        </p:spPr>
        <p:txBody>
          <a:bodyPr wrap="square">
            <a:spAutoFit/>
          </a:bodyPr>
          <a:lstStyle/>
          <a:p>
            <a:pPr algn="l">
              <a:defRPr sz="1100" b="1">
                <a:solidFill>
                  <a:srgbClr val="1E3A5F"/>
                </a:solidFill>
                <a:latin typeface="Montserrat"/>
              </a:defRPr>
            </a:pPr>
            <a:r>
              <a:t>Ce que j'apporte au BTS MEC</a:t>
            </a:r>
          </a:p>
        </p:txBody>
      </p:sp>
      <p:sp>
        <p:nvSpPr>
          <p:cNvPr id="20" name="TextBox 19"/>
          <p:cNvSpPr txBox="1"/>
          <p:nvPr/>
        </p:nvSpPr>
        <p:spPr>
          <a:xfrm>
            <a:off x="900000" y="6228000"/>
            <a:ext cx="5760000" cy="1440000"/>
          </a:xfrm>
          <a:prstGeom prst="rect">
            <a:avLst/>
          </a:prstGeom>
          <a:noFill/>
        </p:spPr>
        <p:txBody>
          <a:bodyPr wrap="square">
            <a:spAutoFit/>
          </a:bodyPr>
          <a:lstStyle/>
          <a:p>
            <a:pPr algn="just">
              <a:defRPr sz="800" b="0">
                <a:solidFill>
                  <a:srgbClr val="555555"/>
                </a:solidFill>
                <a:latin typeface="Inter"/>
              </a:defRPr>
            </a:pPr>
            <a:r>
              <a:t>Mon expérience MOA marocaine m'a appris que l'estimation est l'acte fondateur d'un marché public – c'est elle qui détermine la viabilité financière du projet. En France, j'ai retrouvé le même principe avec le DQE/DPGF, mais avec des normes différentes (Eurocodes vs RPS 2000). Le BTS MEC formalise ce que j'ai appris empiriquement : comment passer du métré au décompte en maîtrisant chaque étape. Le BIM permet d'automatiser cette chaîne.</a:t>
            </a:r>
          </a:p>
        </p:txBody>
      </p:sp>
      <p:sp>
        <p:nvSpPr>
          <p:cNvPr id="21" name="TextBox 20"/>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44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32000" y="288000"/>
            <a:ext cx="432000" cy="432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7999" y="288000"/>
            <a:ext cx="5760000" cy="540000"/>
          </a:xfrm>
          <a:prstGeom prst="rect">
            <a:avLst/>
          </a:prstGeom>
          <a:noFill/>
        </p:spPr>
        <p:txBody>
          <a:bodyPr wrap="square">
            <a:spAutoFit/>
          </a:bodyPr>
          <a:lstStyle/>
          <a:p>
            <a:pPr algn="l">
              <a:defRPr sz="1800" b="1">
                <a:solidFill>
                  <a:srgbClr val="1E3A5F"/>
                </a:solidFill>
                <a:latin typeface="Montserrat"/>
              </a:defRPr>
            </a:pPr>
            <a:r>
              <a:t>PROTOCOLE DE</a:t>
            </a:r>
            <a:br/>
            <a:r>
              <a:t>COLLABORATION BIM</a:t>
            </a:r>
          </a:p>
        </p:txBody>
      </p:sp>
      <p:sp>
        <p:nvSpPr>
          <p:cNvPr id="5" name="Rectangle 4"/>
          <p:cNvSpPr/>
          <p:nvPr/>
        </p:nvSpPr>
        <p:spPr>
          <a:xfrm>
            <a:off x="648000" y="1152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8000" y="1332000"/>
            <a:ext cx="6263999" cy="360000"/>
          </a:xfrm>
          <a:prstGeom prst="rect">
            <a:avLst/>
          </a:prstGeom>
          <a:noFill/>
        </p:spPr>
        <p:txBody>
          <a:bodyPr wrap="square">
            <a:spAutoFit/>
          </a:bodyPr>
          <a:lstStyle/>
          <a:p>
            <a:pPr algn="just">
              <a:defRPr sz="900" b="0">
                <a:solidFill>
                  <a:srgbClr val="555555"/>
                </a:solidFill>
                <a:latin typeface="Inter"/>
              </a:defRPr>
            </a:pPr>
            <a:r>
              <a:t>Le BIM permet d'extraire automatiquement les quantites depuis la maquette numerique.</a:t>
            </a:r>
          </a:p>
        </p:txBody>
      </p:sp>
      <p:sp>
        <p:nvSpPr>
          <p:cNvPr id="7" name="TextBox 6"/>
          <p:cNvSpPr txBox="1"/>
          <p:nvPr/>
        </p:nvSpPr>
        <p:spPr>
          <a:xfrm>
            <a:off x="648000" y="1872000"/>
            <a:ext cx="2880000" cy="180000"/>
          </a:xfrm>
          <a:prstGeom prst="rect">
            <a:avLst/>
          </a:prstGeom>
          <a:noFill/>
        </p:spPr>
        <p:txBody>
          <a:bodyPr wrap="square">
            <a:spAutoFit/>
          </a:bodyPr>
          <a:lstStyle/>
          <a:p>
            <a:pPr algn="l">
              <a:defRPr sz="1000" b="1">
                <a:solidFill>
                  <a:srgbClr val="F39200"/>
                </a:solidFill>
                <a:latin typeface="Montserrat"/>
              </a:defRPr>
            </a:pPr>
            <a:r>
              <a:t>Convention BIM appliquee</a:t>
            </a:r>
          </a:p>
        </p:txBody>
      </p:sp>
      <p:sp>
        <p:nvSpPr>
          <p:cNvPr id="8" name="TextBox 7"/>
          <p:cNvSpPr txBox="1"/>
          <p:nvPr/>
        </p:nvSpPr>
        <p:spPr>
          <a:xfrm>
            <a:off x="720000" y="2160000"/>
            <a:ext cx="1080000" cy="216000"/>
          </a:xfrm>
          <a:prstGeom prst="rect">
            <a:avLst/>
          </a:prstGeom>
          <a:noFill/>
        </p:spPr>
        <p:txBody>
          <a:bodyPr wrap="square">
            <a:spAutoFit/>
          </a:bodyPr>
          <a:lstStyle/>
          <a:p>
            <a:pPr algn="l">
              <a:defRPr sz="700" b="1">
                <a:solidFill>
                  <a:srgbClr val="5CC8C0"/>
                </a:solidFill>
                <a:latin typeface="Inter"/>
              </a:defRPr>
            </a:pPr>
            <a:r>
              <a:t>Niveaux de détail</a:t>
            </a:r>
          </a:p>
        </p:txBody>
      </p:sp>
      <p:sp>
        <p:nvSpPr>
          <p:cNvPr id="9" name="TextBox 8"/>
          <p:cNvSpPr txBox="1"/>
          <p:nvPr/>
        </p:nvSpPr>
        <p:spPr>
          <a:xfrm>
            <a:off x="1872000" y="2160000"/>
            <a:ext cx="1800000" cy="288000"/>
          </a:xfrm>
          <a:prstGeom prst="rect">
            <a:avLst/>
          </a:prstGeom>
          <a:noFill/>
        </p:spPr>
        <p:txBody>
          <a:bodyPr wrap="square">
            <a:spAutoFit/>
          </a:bodyPr>
          <a:lstStyle/>
          <a:p>
            <a:pPr algn="l">
              <a:defRPr sz="700" b="0">
                <a:solidFill>
                  <a:srgbClr val="2D2D2D"/>
                </a:solidFill>
                <a:latin typeface="Inter"/>
              </a:defRPr>
            </a:pPr>
            <a:r>
              <a:t>LOD 300 (géométrie détaillée) / LOI 3 (données techniques)</a:t>
            </a:r>
          </a:p>
        </p:txBody>
      </p:sp>
      <p:sp>
        <p:nvSpPr>
          <p:cNvPr id="10" name="TextBox 9"/>
          <p:cNvSpPr txBox="1"/>
          <p:nvPr/>
        </p:nvSpPr>
        <p:spPr>
          <a:xfrm>
            <a:off x="720000" y="2556000"/>
            <a:ext cx="1080000" cy="216000"/>
          </a:xfrm>
          <a:prstGeom prst="rect">
            <a:avLst/>
          </a:prstGeom>
          <a:noFill/>
        </p:spPr>
        <p:txBody>
          <a:bodyPr wrap="square">
            <a:spAutoFit/>
          </a:bodyPr>
          <a:lstStyle/>
          <a:p>
            <a:pPr algn="l">
              <a:defRPr sz="700" b="1">
                <a:solidFill>
                  <a:srgbClr val="5CC8C0"/>
                </a:solidFill>
                <a:latin typeface="Inter"/>
              </a:defRPr>
            </a:pPr>
            <a:r>
              <a:t>Format d'échange</a:t>
            </a:r>
          </a:p>
        </p:txBody>
      </p:sp>
      <p:sp>
        <p:nvSpPr>
          <p:cNvPr id="11" name="TextBox 10"/>
          <p:cNvSpPr txBox="1"/>
          <p:nvPr/>
        </p:nvSpPr>
        <p:spPr>
          <a:xfrm>
            <a:off x="1872000" y="2556000"/>
            <a:ext cx="1800000" cy="288000"/>
          </a:xfrm>
          <a:prstGeom prst="rect">
            <a:avLst/>
          </a:prstGeom>
          <a:noFill/>
        </p:spPr>
        <p:txBody>
          <a:bodyPr wrap="square">
            <a:spAutoFit/>
          </a:bodyPr>
          <a:lstStyle/>
          <a:p>
            <a:pPr algn="l">
              <a:defRPr sz="700" b="0">
                <a:solidFill>
                  <a:srgbClr val="2D2D2D"/>
                </a:solidFill>
                <a:latin typeface="Inter"/>
              </a:defRPr>
            </a:pPr>
            <a:r>
              <a:t>IFC 2x3 – Interopérabilité Open BIM</a:t>
            </a:r>
          </a:p>
        </p:txBody>
      </p:sp>
      <p:sp>
        <p:nvSpPr>
          <p:cNvPr id="12" name="TextBox 11"/>
          <p:cNvSpPr txBox="1"/>
          <p:nvPr/>
        </p:nvSpPr>
        <p:spPr>
          <a:xfrm>
            <a:off x="720000" y="2952000"/>
            <a:ext cx="1080000" cy="216000"/>
          </a:xfrm>
          <a:prstGeom prst="rect">
            <a:avLst/>
          </a:prstGeom>
          <a:noFill/>
        </p:spPr>
        <p:txBody>
          <a:bodyPr wrap="square">
            <a:spAutoFit/>
          </a:bodyPr>
          <a:lstStyle/>
          <a:p>
            <a:pPr algn="l">
              <a:defRPr sz="700" b="1">
                <a:solidFill>
                  <a:srgbClr val="5CC8C0"/>
                </a:solidFill>
                <a:latin typeface="Inter"/>
              </a:defRPr>
            </a:pPr>
            <a:r>
              <a:t>Plateforme</a:t>
            </a:r>
          </a:p>
        </p:txBody>
      </p:sp>
      <p:sp>
        <p:nvSpPr>
          <p:cNvPr id="13" name="TextBox 12"/>
          <p:cNvSpPr txBox="1"/>
          <p:nvPr/>
        </p:nvSpPr>
        <p:spPr>
          <a:xfrm>
            <a:off x="1872000" y="2952000"/>
            <a:ext cx="1800000" cy="288000"/>
          </a:xfrm>
          <a:prstGeom prst="rect">
            <a:avLst/>
          </a:prstGeom>
          <a:noFill/>
        </p:spPr>
        <p:txBody>
          <a:bodyPr wrap="square">
            <a:spAutoFit/>
          </a:bodyPr>
          <a:lstStyle/>
          <a:p>
            <a:pPr algn="l">
              <a:defRPr sz="700" b="0">
                <a:solidFill>
                  <a:srgbClr val="2D2D2D"/>
                </a:solidFill>
                <a:latin typeface="Inter"/>
              </a:defRPr>
            </a:pPr>
            <a:r>
              <a:t>Serveur collaboratif avec gestion des droits d'accès</a:t>
            </a:r>
          </a:p>
        </p:txBody>
      </p:sp>
      <p:sp>
        <p:nvSpPr>
          <p:cNvPr id="14" name="TextBox 13"/>
          <p:cNvSpPr txBox="1"/>
          <p:nvPr/>
        </p:nvSpPr>
        <p:spPr>
          <a:xfrm>
            <a:off x="720000" y="3348000"/>
            <a:ext cx="1080000" cy="216000"/>
          </a:xfrm>
          <a:prstGeom prst="rect">
            <a:avLst/>
          </a:prstGeom>
          <a:noFill/>
        </p:spPr>
        <p:txBody>
          <a:bodyPr wrap="square">
            <a:spAutoFit/>
          </a:bodyPr>
          <a:lstStyle/>
          <a:p>
            <a:pPr algn="l">
              <a:defRPr sz="700" b="1">
                <a:solidFill>
                  <a:srgbClr val="5CC8C0"/>
                </a:solidFill>
                <a:latin typeface="Inter"/>
              </a:defRPr>
            </a:pPr>
            <a:r>
              <a:t>Nomenclature</a:t>
            </a:r>
          </a:p>
        </p:txBody>
      </p:sp>
      <p:sp>
        <p:nvSpPr>
          <p:cNvPr id="15" name="TextBox 14"/>
          <p:cNvSpPr txBox="1"/>
          <p:nvPr/>
        </p:nvSpPr>
        <p:spPr>
          <a:xfrm>
            <a:off x="1872000" y="3348000"/>
            <a:ext cx="1800000" cy="288000"/>
          </a:xfrm>
          <a:prstGeom prst="rect">
            <a:avLst/>
          </a:prstGeom>
          <a:noFill/>
        </p:spPr>
        <p:txBody>
          <a:bodyPr wrap="square">
            <a:spAutoFit/>
          </a:bodyPr>
          <a:lstStyle/>
          <a:p>
            <a:pPr algn="l">
              <a:defRPr sz="700" b="0">
                <a:solidFill>
                  <a:srgbClr val="2D2D2D"/>
                </a:solidFill>
                <a:latin typeface="Inter"/>
              </a:defRPr>
            </a:pPr>
            <a:r>
              <a:t>Codification par lot, niveau et discipline</a:t>
            </a:r>
          </a:p>
        </p:txBody>
      </p:sp>
      <p:sp>
        <p:nvSpPr>
          <p:cNvPr id="16" name="TextBox 15"/>
          <p:cNvSpPr txBox="1"/>
          <p:nvPr/>
        </p:nvSpPr>
        <p:spPr>
          <a:xfrm>
            <a:off x="648000" y="3780000"/>
            <a:ext cx="2880000" cy="180000"/>
          </a:xfrm>
          <a:prstGeom prst="rect">
            <a:avLst/>
          </a:prstGeom>
          <a:noFill/>
        </p:spPr>
        <p:txBody>
          <a:bodyPr wrap="square">
            <a:spAutoFit/>
          </a:bodyPr>
          <a:lstStyle/>
          <a:p>
            <a:pPr algn="l">
              <a:defRPr sz="1000" b="1">
                <a:solidFill>
                  <a:srgbClr val="F39200"/>
                </a:solidFill>
                <a:latin typeface="Montserrat"/>
              </a:defRPr>
            </a:pPr>
            <a:r>
              <a:t>Workflow BIM</a:t>
            </a:r>
          </a:p>
        </p:txBody>
      </p:sp>
      <p:sp>
        <p:nvSpPr>
          <p:cNvPr id="17" name="Oval 16"/>
          <p:cNvSpPr/>
          <p:nvPr/>
        </p:nvSpPr>
        <p:spPr>
          <a:xfrm>
            <a:off x="720000" y="4104000"/>
            <a:ext cx="144000" cy="14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7999" y="4068000"/>
            <a:ext cx="2520000" cy="180000"/>
          </a:xfrm>
          <a:prstGeom prst="rect">
            <a:avLst/>
          </a:prstGeom>
          <a:noFill/>
        </p:spPr>
        <p:txBody>
          <a:bodyPr wrap="square">
            <a:spAutoFit/>
          </a:bodyPr>
          <a:lstStyle/>
          <a:p>
            <a:pPr algn="l">
              <a:defRPr sz="800" b="0">
                <a:solidFill>
                  <a:srgbClr val="555555"/>
                </a:solidFill>
                <a:latin typeface="Inter"/>
              </a:defRPr>
            </a:pPr>
            <a:r>
              <a:t>1. Modélisation Revit (Architecture + Structure)</a:t>
            </a:r>
          </a:p>
        </p:txBody>
      </p:sp>
      <p:sp>
        <p:nvSpPr>
          <p:cNvPr id="19" name="Oval 18"/>
          <p:cNvSpPr/>
          <p:nvPr/>
        </p:nvSpPr>
        <p:spPr>
          <a:xfrm>
            <a:off x="720000" y="4428000"/>
            <a:ext cx="144000" cy="14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7999" y="4392000"/>
            <a:ext cx="2520000" cy="180000"/>
          </a:xfrm>
          <a:prstGeom prst="rect">
            <a:avLst/>
          </a:prstGeom>
          <a:noFill/>
        </p:spPr>
        <p:txBody>
          <a:bodyPr wrap="square">
            <a:spAutoFit/>
          </a:bodyPr>
          <a:lstStyle/>
          <a:p>
            <a:pPr algn="l">
              <a:defRPr sz="800" b="0">
                <a:solidFill>
                  <a:srgbClr val="555555"/>
                </a:solidFill>
                <a:latin typeface="Inter"/>
              </a:defRPr>
            </a:pPr>
            <a:r>
              <a:t>2. Export IFC → Coordination Navisworks</a:t>
            </a:r>
          </a:p>
        </p:txBody>
      </p:sp>
      <p:sp>
        <p:nvSpPr>
          <p:cNvPr id="21" name="Oval 20"/>
          <p:cNvSpPr/>
          <p:nvPr/>
        </p:nvSpPr>
        <p:spPr>
          <a:xfrm>
            <a:off x="720000" y="4752000"/>
            <a:ext cx="144000" cy="14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7999" y="4716000"/>
            <a:ext cx="2520000" cy="180000"/>
          </a:xfrm>
          <a:prstGeom prst="rect">
            <a:avLst/>
          </a:prstGeom>
          <a:noFill/>
        </p:spPr>
        <p:txBody>
          <a:bodyPr wrap="square">
            <a:spAutoFit/>
          </a:bodyPr>
          <a:lstStyle/>
          <a:p>
            <a:pPr algn="l">
              <a:defRPr sz="800" b="0">
                <a:solidFill>
                  <a:srgbClr val="555555"/>
                </a:solidFill>
                <a:latin typeface="Inter"/>
              </a:defRPr>
            </a:pPr>
            <a:r>
              <a:t>3. Détection de clashs → Résolution</a:t>
            </a:r>
          </a:p>
        </p:txBody>
      </p:sp>
      <p:sp>
        <p:nvSpPr>
          <p:cNvPr id="23" name="Oval 22"/>
          <p:cNvSpPr/>
          <p:nvPr/>
        </p:nvSpPr>
        <p:spPr>
          <a:xfrm>
            <a:off x="720000" y="5076000"/>
            <a:ext cx="144000" cy="14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7999" y="5040000"/>
            <a:ext cx="2520000" cy="180000"/>
          </a:xfrm>
          <a:prstGeom prst="rect">
            <a:avLst/>
          </a:prstGeom>
          <a:noFill/>
        </p:spPr>
        <p:txBody>
          <a:bodyPr wrap="square">
            <a:spAutoFit/>
          </a:bodyPr>
          <a:lstStyle/>
          <a:p>
            <a:pPr algn="l">
              <a:defRPr sz="800" b="0">
                <a:solidFill>
                  <a:srgbClr val="555555"/>
                </a:solidFill>
                <a:latin typeface="Inter"/>
              </a:defRPr>
            </a:pPr>
            <a:r>
              <a:t>4. Extraction automatique des quantités</a:t>
            </a:r>
          </a:p>
        </p:txBody>
      </p:sp>
      <p:sp>
        <p:nvSpPr>
          <p:cNvPr id="25" name="Oval 24"/>
          <p:cNvSpPr/>
          <p:nvPr/>
        </p:nvSpPr>
        <p:spPr>
          <a:xfrm>
            <a:off x="720000" y="5400000"/>
            <a:ext cx="144000" cy="144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7999" y="5364000"/>
            <a:ext cx="2520000" cy="180000"/>
          </a:xfrm>
          <a:prstGeom prst="rect">
            <a:avLst/>
          </a:prstGeom>
          <a:noFill/>
        </p:spPr>
        <p:txBody>
          <a:bodyPr wrap="square">
            <a:spAutoFit/>
          </a:bodyPr>
          <a:lstStyle/>
          <a:p>
            <a:pPr algn="l">
              <a:defRPr sz="800" b="0">
                <a:solidFill>
                  <a:srgbClr val="555555"/>
                </a:solidFill>
                <a:latin typeface="Inter"/>
              </a:defRPr>
            </a:pPr>
            <a:r>
              <a:t>5. Chiffrage DPGF → Reporting client</a:t>
            </a:r>
          </a:p>
        </p:txBody>
      </p:sp>
      <p:sp>
        <p:nvSpPr>
          <p:cNvPr id="27" name="Rounded Rectangle 26"/>
          <p:cNvSpPr/>
          <p:nvPr/>
        </p:nvSpPr>
        <p:spPr>
          <a:xfrm>
            <a:off x="3960000" y="1872000"/>
            <a:ext cx="2880000" cy="216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0000" y="1872000"/>
            <a:ext cx="54000" cy="2160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40000" y="1980000"/>
            <a:ext cx="2520000" cy="251999"/>
          </a:xfrm>
          <a:prstGeom prst="rect">
            <a:avLst/>
          </a:prstGeom>
          <a:noFill/>
        </p:spPr>
        <p:txBody>
          <a:bodyPr wrap="square">
            <a:spAutoFit/>
          </a:bodyPr>
          <a:lstStyle/>
          <a:p>
            <a:pPr algn="l">
              <a:defRPr sz="900" b="1">
                <a:solidFill>
                  <a:srgbClr val="F39200"/>
                </a:solidFill>
                <a:latin typeface="Montserrat"/>
              </a:defRPr>
            </a:pPr>
            <a:r>
              <a:t>CAS APPLIQUÉ : Bâtiment R+2 (Formation AFPA Colmar)</a:t>
            </a:r>
          </a:p>
        </p:txBody>
      </p:sp>
      <p:sp>
        <p:nvSpPr>
          <p:cNvPr id="30" name="TextBox 29"/>
          <p:cNvSpPr txBox="1"/>
          <p:nvPr/>
        </p:nvSpPr>
        <p:spPr>
          <a:xfrm>
            <a:off x="4140000" y="2340000"/>
            <a:ext cx="2520000" cy="1620000"/>
          </a:xfrm>
          <a:prstGeom prst="rect">
            <a:avLst/>
          </a:prstGeom>
          <a:noFill/>
        </p:spPr>
        <p:txBody>
          <a:bodyPr wrap="square">
            <a:spAutoFit/>
          </a:bodyPr>
          <a:lstStyle/>
          <a:p>
            <a:pPr algn="just">
              <a:defRPr sz="700" b="0">
                <a:solidFill>
                  <a:srgbClr val="555555"/>
                </a:solidFill>
                <a:latin typeface="Inter"/>
              </a:defRPr>
            </a:pPr>
            <a:r>
              <a:t>Maquette Revit LOD 300 d'un bâtiment R+2 (logements collectifs). Extraction automatique de 78 postes de métrés depuis la maquette : surfaces de planchers, volumes de béton, linéaires de murs, quantités d'acier HA. Écart de 1,8% avec le métré manuel réalisé en parallèle. Export IFC vérifié dans Navisworks : 12 clashs détectés entre structure et réseaux, tous résolus.</a:t>
            </a:r>
          </a:p>
        </p:txBody>
      </p:sp>
      <p:sp>
        <p:nvSpPr>
          <p:cNvPr id="31" name="Rounded Rectangle 30"/>
          <p:cNvSpPr/>
          <p:nvPr/>
        </p:nvSpPr>
        <p:spPr>
          <a:xfrm>
            <a:off x="3960000" y="4248000"/>
            <a:ext cx="2880000" cy="162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0000" y="4248000"/>
            <a:ext cx="54000" cy="1620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40000" y="4320000"/>
            <a:ext cx="2520000" cy="216000"/>
          </a:xfrm>
          <a:prstGeom prst="rect">
            <a:avLst/>
          </a:prstGeom>
          <a:noFill/>
        </p:spPr>
        <p:txBody>
          <a:bodyPr wrap="square">
            <a:spAutoFit/>
          </a:bodyPr>
          <a:lstStyle/>
          <a:p>
            <a:pPr algn="l">
              <a:defRPr sz="900" b="1">
                <a:solidFill>
                  <a:srgbClr val="5CC8C0"/>
                </a:solidFill>
                <a:latin typeface="Montserrat"/>
              </a:defRPr>
            </a:pPr>
            <a:r>
              <a:t>Apport du BIM pour le MEC</a:t>
            </a:r>
          </a:p>
        </p:txBody>
      </p:sp>
      <p:sp>
        <p:nvSpPr>
          <p:cNvPr id="34" name="TextBox 33"/>
          <p:cNvSpPr txBox="1"/>
          <p:nvPr/>
        </p:nvSpPr>
        <p:spPr>
          <a:xfrm>
            <a:off x="4140000" y="4608000"/>
            <a:ext cx="2520000" cy="1152000"/>
          </a:xfrm>
          <a:prstGeom prst="rect">
            <a:avLst/>
          </a:prstGeom>
          <a:noFill/>
        </p:spPr>
        <p:txBody>
          <a:bodyPr wrap="square">
            <a:spAutoFit/>
          </a:bodyPr>
          <a:lstStyle/>
          <a:p>
            <a:pPr algn="just">
              <a:defRPr sz="700" b="0">
                <a:solidFill>
                  <a:srgbClr val="555555"/>
                </a:solidFill>
                <a:latin typeface="Inter"/>
              </a:defRPr>
            </a:pPr>
            <a:r>
              <a:t>Le BIM permet d'extraire automatiquement les quantités depuis la maquette, réduisant les erreurs de métrés manuels. Sur le cas AFPA, l'extraction automatique a pris 2h vs 2 jours en métré traditionnel avec un écart de seulement 1,8%. Pour l'économiste MEC : estimations plus fiables, traçabilité totale, mise à jour instantanée.</a:t>
            </a:r>
          </a:p>
        </p:txBody>
      </p:sp>
      <p:sp>
        <p:nvSpPr>
          <p:cNvPr id="35" name="TextBox 34"/>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44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32000" y="288000"/>
            <a:ext cx="432000" cy="432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7999" y="288000"/>
            <a:ext cx="5760000" cy="360000"/>
          </a:xfrm>
          <a:prstGeom prst="rect">
            <a:avLst/>
          </a:prstGeom>
          <a:noFill/>
        </p:spPr>
        <p:txBody>
          <a:bodyPr wrap="square">
            <a:spAutoFit/>
          </a:bodyPr>
          <a:lstStyle/>
          <a:p>
            <a:pPr algn="l">
              <a:defRPr sz="1800" b="1">
                <a:solidFill>
                  <a:srgbClr val="1E3A5F"/>
                </a:solidFill>
                <a:latin typeface="Montserrat"/>
              </a:defRPr>
            </a:pPr>
            <a:r>
              <a:t>MON PROJET PROFESSIONNEL</a:t>
            </a:r>
          </a:p>
        </p:txBody>
      </p:sp>
      <p:sp>
        <p:nvSpPr>
          <p:cNvPr id="5" name="Rectangle 4"/>
          <p:cNvSpPr/>
          <p:nvPr/>
        </p:nvSpPr>
        <p:spPr>
          <a:xfrm>
            <a:off x="648000" y="900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8000" y="1080000"/>
            <a:ext cx="6263999" cy="540000"/>
          </a:xfrm>
          <a:prstGeom prst="rect">
            <a:avLst/>
          </a:prstGeom>
          <a:noFill/>
        </p:spPr>
        <p:txBody>
          <a:bodyPr wrap="square">
            <a:spAutoFit/>
          </a:bodyPr>
          <a:lstStyle/>
          <a:p>
            <a:pPr algn="just">
              <a:defRPr sz="900" b="0">
                <a:solidFill>
                  <a:srgbClr val="555555"/>
                </a:solidFill>
                <a:latin typeface="Inter"/>
              </a:defRPr>
            </a:pPr>
            <a:r>
              <a:t>Mon projet professionnel s'articule autour de trois horizons temporels, tous axes sur la convergence entre l'economie de la construction et les outils numeriques BIM.</a:t>
            </a:r>
          </a:p>
        </p:txBody>
      </p:sp>
      <p:sp>
        <p:nvSpPr>
          <p:cNvPr id="7" name="Rounded Rectangle 6"/>
          <p:cNvSpPr/>
          <p:nvPr/>
        </p:nvSpPr>
        <p:spPr>
          <a:xfrm>
            <a:off x="540000" y="1800000"/>
            <a:ext cx="2088000" cy="360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0000" y="1800000"/>
            <a:ext cx="2088000" cy="7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8000" y="1980000"/>
            <a:ext cx="360000" cy="360000"/>
          </a:xfrm>
          <a:prstGeom prst="ellipse">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80000" y="1980000"/>
            <a:ext cx="1440000" cy="251999"/>
          </a:xfrm>
          <a:prstGeom prst="rect">
            <a:avLst/>
          </a:prstGeom>
          <a:noFill/>
        </p:spPr>
        <p:txBody>
          <a:bodyPr wrap="square">
            <a:spAutoFit/>
          </a:bodyPr>
          <a:lstStyle/>
          <a:p>
            <a:pPr algn="l">
              <a:defRPr sz="1000" b="1">
                <a:solidFill>
                  <a:srgbClr val="F39200"/>
                </a:solidFill>
                <a:latin typeface="Montserrat"/>
              </a:defRPr>
            </a:pPr>
            <a:r>
              <a:t>COURT TERME</a:t>
            </a:r>
          </a:p>
        </p:txBody>
      </p:sp>
      <p:sp>
        <p:nvSpPr>
          <p:cNvPr id="11" name="TextBox 10"/>
          <p:cNvSpPr txBox="1"/>
          <p:nvPr/>
        </p:nvSpPr>
        <p:spPr>
          <a:xfrm>
            <a:off x="720000" y="2340000"/>
            <a:ext cx="1800000" cy="180000"/>
          </a:xfrm>
          <a:prstGeom prst="rect">
            <a:avLst/>
          </a:prstGeom>
          <a:noFill/>
        </p:spPr>
        <p:txBody>
          <a:bodyPr wrap="square">
            <a:spAutoFit/>
          </a:bodyPr>
          <a:lstStyle/>
          <a:p>
            <a:pPr algn="l">
              <a:defRPr sz="900" b="1">
                <a:solidFill>
                  <a:srgbClr val="F39200"/>
                </a:solidFill>
                <a:latin typeface="Montserrat"/>
              </a:defRPr>
            </a:pPr>
            <a:r>
              <a:t>2026</a:t>
            </a:r>
          </a:p>
        </p:txBody>
      </p:sp>
      <p:sp>
        <p:nvSpPr>
          <p:cNvPr id="12" name="TextBox 11"/>
          <p:cNvSpPr txBox="1"/>
          <p:nvPr/>
        </p:nvSpPr>
        <p:spPr>
          <a:xfrm>
            <a:off x="720000" y="2592000"/>
            <a:ext cx="1800000" cy="2160000"/>
          </a:xfrm>
          <a:prstGeom prst="rect">
            <a:avLst/>
          </a:prstGeom>
          <a:noFill/>
        </p:spPr>
        <p:txBody>
          <a:bodyPr wrap="square">
            <a:spAutoFit/>
          </a:bodyPr>
          <a:lstStyle/>
          <a:p>
            <a:pPr algn="l">
              <a:defRPr sz="700" b="0">
                <a:solidFill>
                  <a:srgbClr val="555555"/>
                </a:solidFill>
                <a:latin typeface="Inter"/>
              </a:defRPr>
            </a:pPr>
            <a:r>
              <a:t>Obtenir le BTS MEC</a:t>
            </a:r>
            <a:br/>
            <a:r>
              <a:t>Lancer BIMCO (métrés, études</a:t>
            </a:r>
            <a:br/>
            <a:r>
              <a:t>de prix, suivi financier)</a:t>
            </a:r>
            <a:br/>
            <a:r>
              <a:t>Développer scripts et plugins</a:t>
            </a:r>
            <a:br/>
            <a:r>
              <a:t>Revit pour l'extraction</a:t>
            </a:r>
            <a:br/>
            <a:r>
              <a:t>automatique de quantités</a:t>
            </a:r>
          </a:p>
        </p:txBody>
      </p:sp>
      <p:sp>
        <p:nvSpPr>
          <p:cNvPr id="13" name="Rounded Rectangle 12"/>
          <p:cNvSpPr/>
          <p:nvPr/>
        </p:nvSpPr>
        <p:spPr>
          <a:xfrm>
            <a:off x="2772000" y="1800000"/>
            <a:ext cx="2088000" cy="360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72000" y="1800000"/>
            <a:ext cx="2088000" cy="72000"/>
          </a:xfrm>
          <a:prstGeom prst="rect">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880000" y="1980000"/>
            <a:ext cx="360000" cy="360000"/>
          </a:xfrm>
          <a:prstGeom prst="ellipse">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2000" y="1980000"/>
            <a:ext cx="1440000" cy="251999"/>
          </a:xfrm>
          <a:prstGeom prst="rect">
            <a:avLst/>
          </a:prstGeom>
          <a:noFill/>
        </p:spPr>
        <p:txBody>
          <a:bodyPr wrap="square">
            <a:spAutoFit/>
          </a:bodyPr>
          <a:lstStyle/>
          <a:p>
            <a:pPr algn="l">
              <a:defRPr sz="1000" b="1">
                <a:solidFill>
                  <a:srgbClr val="5CC8C0"/>
                </a:solidFill>
                <a:latin typeface="Montserrat"/>
              </a:defRPr>
            </a:pPr>
            <a:r>
              <a:t>MOYEN TERME</a:t>
            </a:r>
          </a:p>
        </p:txBody>
      </p:sp>
      <p:sp>
        <p:nvSpPr>
          <p:cNvPr id="17" name="TextBox 16"/>
          <p:cNvSpPr txBox="1"/>
          <p:nvPr/>
        </p:nvSpPr>
        <p:spPr>
          <a:xfrm>
            <a:off x="2952000" y="2340000"/>
            <a:ext cx="1800000" cy="180000"/>
          </a:xfrm>
          <a:prstGeom prst="rect">
            <a:avLst/>
          </a:prstGeom>
          <a:noFill/>
        </p:spPr>
        <p:txBody>
          <a:bodyPr wrap="square">
            <a:spAutoFit/>
          </a:bodyPr>
          <a:lstStyle/>
          <a:p>
            <a:pPr algn="l">
              <a:defRPr sz="900" b="1">
                <a:solidFill>
                  <a:srgbClr val="F39200"/>
                </a:solidFill>
                <a:latin typeface="Montserrat"/>
              </a:defRPr>
            </a:pPr>
            <a:r>
              <a:t>2027-28</a:t>
            </a:r>
          </a:p>
        </p:txBody>
      </p:sp>
      <p:sp>
        <p:nvSpPr>
          <p:cNvPr id="18" name="TextBox 17"/>
          <p:cNvSpPr txBox="1"/>
          <p:nvPr/>
        </p:nvSpPr>
        <p:spPr>
          <a:xfrm>
            <a:off x="2952000" y="2592000"/>
            <a:ext cx="1800000" cy="2160000"/>
          </a:xfrm>
          <a:prstGeom prst="rect">
            <a:avLst/>
          </a:prstGeom>
          <a:noFill/>
        </p:spPr>
        <p:txBody>
          <a:bodyPr wrap="square">
            <a:spAutoFit/>
          </a:bodyPr>
          <a:lstStyle/>
          <a:p>
            <a:pPr algn="l">
              <a:defRPr sz="700" b="0">
                <a:solidFill>
                  <a:srgbClr val="555555"/>
                </a:solidFill>
                <a:latin typeface="Inter"/>
              </a:defRPr>
            </a:pPr>
            <a:r>
              <a:t>Créer une gamme d'outils BIM</a:t>
            </a:r>
            <a:br/>
            <a:r>
              <a:t>dédiés au MEC :</a:t>
            </a:r>
            <a:br/>
            <a:r>
              <a:t>- Plugins extraction quantités</a:t>
            </a:r>
            <a:br/>
            <a:r>
              <a:t>- Chiffrage assisté maquette</a:t>
            </a:r>
            <a:br/>
            <a:r>
              <a:t>- Bases de prix connectées</a:t>
            </a:r>
            <a:br/>
            <a:r>
              <a:t>- Apps web suivi économique</a:t>
            </a:r>
          </a:p>
        </p:txBody>
      </p:sp>
      <p:sp>
        <p:nvSpPr>
          <p:cNvPr id="19" name="Rounded Rectangle 18"/>
          <p:cNvSpPr/>
          <p:nvPr/>
        </p:nvSpPr>
        <p:spPr>
          <a:xfrm>
            <a:off x="5004000" y="1800000"/>
            <a:ext cx="2088000" cy="3600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04000" y="1800000"/>
            <a:ext cx="2088000" cy="72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112000" y="1980000"/>
            <a:ext cx="360000" cy="360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44000" y="1980000"/>
            <a:ext cx="1440000" cy="251999"/>
          </a:xfrm>
          <a:prstGeom prst="rect">
            <a:avLst/>
          </a:prstGeom>
          <a:noFill/>
        </p:spPr>
        <p:txBody>
          <a:bodyPr wrap="square">
            <a:spAutoFit/>
          </a:bodyPr>
          <a:lstStyle/>
          <a:p>
            <a:pPr algn="l">
              <a:defRPr sz="1000" b="1">
                <a:solidFill>
                  <a:srgbClr val="1E3A5F"/>
                </a:solidFill>
                <a:latin typeface="Montserrat"/>
              </a:defRPr>
            </a:pPr>
            <a:r>
              <a:t>LONG TERME</a:t>
            </a:r>
          </a:p>
        </p:txBody>
      </p:sp>
      <p:sp>
        <p:nvSpPr>
          <p:cNvPr id="23" name="TextBox 22"/>
          <p:cNvSpPr txBox="1"/>
          <p:nvPr/>
        </p:nvSpPr>
        <p:spPr>
          <a:xfrm>
            <a:off x="5184000" y="2340000"/>
            <a:ext cx="1800000" cy="180000"/>
          </a:xfrm>
          <a:prstGeom prst="rect">
            <a:avLst/>
          </a:prstGeom>
          <a:noFill/>
        </p:spPr>
        <p:txBody>
          <a:bodyPr wrap="square">
            <a:spAutoFit/>
          </a:bodyPr>
          <a:lstStyle/>
          <a:p>
            <a:pPr algn="l">
              <a:defRPr sz="900" b="1">
                <a:solidFill>
                  <a:srgbClr val="F39200"/>
                </a:solidFill>
                <a:latin typeface="Montserrat"/>
              </a:defRPr>
            </a:pPr>
            <a:r>
              <a:t>2029+</a:t>
            </a:r>
          </a:p>
        </p:txBody>
      </p:sp>
      <p:sp>
        <p:nvSpPr>
          <p:cNvPr id="24" name="TextBox 23"/>
          <p:cNvSpPr txBox="1"/>
          <p:nvPr/>
        </p:nvSpPr>
        <p:spPr>
          <a:xfrm>
            <a:off x="5184000" y="2592000"/>
            <a:ext cx="1800000" cy="2160000"/>
          </a:xfrm>
          <a:prstGeom prst="rect">
            <a:avLst/>
          </a:prstGeom>
          <a:noFill/>
        </p:spPr>
        <p:txBody>
          <a:bodyPr wrap="square">
            <a:spAutoFit/>
          </a:bodyPr>
          <a:lstStyle/>
          <a:p>
            <a:pPr algn="l">
              <a:defRPr sz="700" b="0">
                <a:solidFill>
                  <a:srgbClr val="555555"/>
                </a:solidFill>
                <a:latin typeface="Inter"/>
              </a:defRPr>
            </a:pPr>
            <a:r>
              <a:t>BIMCO = cabinet d'ingénierie</a:t>
            </a:r>
            <a:br/>
            <a:r>
              <a:t>spécialisé BIM + Économie :</a:t>
            </a:r>
            <a:br/>
            <a:r>
              <a:t>- Prestations d'ingénierie</a:t>
            </a:r>
            <a:br/>
            <a:r>
              <a:t>  (métrés BIM, AMO, études)</a:t>
            </a:r>
            <a:br/>
            <a:r>
              <a:t>- Édition d'outils numériques</a:t>
            </a:r>
            <a:br/>
            <a:r>
              <a:t>  pour économistes</a:t>
            </a:r>
          </a:p>
        </p:txBody>
      </p:sp>
      <p:sp>
        <p:nvSpPr>
          <p:cNvPr id="25" name="Rounded Rectangle 24"/>
          <p:cNvSpPr/>
          <p:nvPr/>
        </p:nvSpPr>
        <p:spPr>
          <a:xfrm>
            <a:off x="648000" y="5760000"/>
            <a:ext cx="6263999" cy="720000"/>
          </a:xfrm>
          <a:prstGeom prst="roundRect">
            <a:avLst>
              <a:gd name="adj" fmla="val 10000"/>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8000" y="5760000"/>
            <a:ext cx="54000" cy="720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000" y="5868000"/>
            <a:ext cx="5760000" cy="540000"/>
          </a:xfrm>
          <a:prstGeom prst="rect">
            <a:avLst/>
          </a:prstGeom>
          <a:noFill/>
        </p:spPr>
        <p:txBody>
          <a:bodyPr wrap="square">
            <a:spAutoFit/>
          </a:bodyPr>
          <a:lstStyle/>
          <a:p>
            <a:pPr algn="ctr">
              <a:defRPr sz="900" b="1">
                <a:solidFill>
                  <a:srgbClr val="1E3A5F"/>
                </a:solidFill>
                <a:latin typeface="Inter"/>
              </a:defRPr>
            </a:pPr>
            <a:r>
              <a:t>« Les outils numériques doivent être au service de l'économiste de la construction, et non l'inverse. »</a:t>
            </a:r>
          </a:p>
        </p:txBody>
      </p:sp>
      <p:sp>
        <p:nvSpPr>
          <p:cNvPr id="28" name="Rounded Rectangle 27"/>
          <p:cNvSpPr/>
          <p:nvPr/>
        </p:nvSpPr>
        <p:spPr>
          <a:xfrm>
            <a:off x="648000" y="6660000"/>
            <a:ext cx="6263999" cy="792000"/>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000" y="6732000"/>
            <a:ext cx="5760000" cy="180000"/>
          </a:xfrm>
          <a:prstGeom prst="rect">
            <a:avLst/>
          </a:prstGeom>
          <a:noFill/>
        </p:spPr>
        <p:txBody>
          <a:bodyPr wrap="square">
            <a:spAutoFit/>
          </a:bodyPr>
          <a:lstStyle/>
          <a:p>
            <a:pPr algn="ctr">
              <a:defRPr sz="700" b="1">
                <a:solidFill>
                  <a:srgbClr val="AAAABB"/>
                </a:solidFill>
                <a:latin typeface="Montserrat"/>
              </a:defRPr>
            </a:pPr>
            <a:r>
              <a:t>MA DOUBLE COMPETENCE</a:t>
            </a:r>
          </a:p>
        </p:txBody>
      </p:sp>
      <p:sp>
        <p:nvSpPr>
          <p:cNvPr id="30" name="TextBox 29"/>
          <p:cNvSpPr txBox="1"/>
          <p:nvPr/>
        </p:nvSpPr>
        <p:spPr>
          <a:xfrm>
            <a:off x="900000" y="6983999"/>
            <a:ext cx="5760000" cy="251999"/>
          </a:xfrm>
          <a:prstGeom prst="rect">
            <a:avLst/>
          </a:prstGeom>
          <a:noFill/>
        </p:spPr>
        <p:txBody>
          <a:bodyPr wrap="square">
            <a:spAutoFit/>
          </a:bodyPr>
          <a:lstStyle/>
          <a:p>
            <a:pPr algn="ctr">
              <a:defRPr sz="1200" b="1">
                <a:solidFill>
                  <a:srgbClr val="FFFFFF"/>
                </a:solidFill>
                <a:latin typeface="Montserrat"/>
              </a:defRPr>
            </a:pPr>
            <a:r>
              <a:t>Economiste terrain + Developpeur BIM</a:t>
            </a:r>
          </a:p>
        </p:txBody>
      </p:sp>
      <p:sp>
        <p:nvSpPr>
          <p:cNvPr id="31" name="TextBox 30"/>
          <p:cNvSpPr txBox="1"/>
          <p:nvPr/>
        </p:nvSpPr>
        <p:spPr>
          <a:xfrm>
            <a:off x="900000" y="7272000"/>
            <a:ext cx="5760000" cy="144000"/>
          </a:xfrm>
          <a:prstGeom prst="rect">
            <a:avLst/>
          </a:prstGeom>
          <a:noFill/>
        </p:spPr>
        <p:txBody>
          <a:bodyPr wrap="square">
            <a:spAutoFit/>
          </a:bodyPr>
          <a:lstStyle/>
          <a:p>
            <a:pPr algn="ctr">
              <a:defRPr sz="800" b="0">
                <a:solidFill>
                  <a:srgbClr val="AAAABB"/>
                </a:solidFill>
                <a:latin typeface="Inter"/>
              </a:defRPr>
            </a:pPr>
            <a:r>
              <a:t>Un avantage differenciant rare sur le marche de l'ingenierie</a:t>
            </a:r>
          </a:p>
        </p:txBody>
      </p:sp>
      <p:sp>
        <p:nvSpPr>
          <p:cNvPr id="32" name="Rounded Rectangle 31"/>
          <p:cNvSpPr/>
          <p:nvPr/>
        </p:nvSpPr>
        <p:spPr>
          <a:xfrm>
            <a:off x="6480000" y="7920000"/>
            <a:ext cx="1080000" cy="900000"/>
          </a:xfrm>
          <a:prstGeom prst="roundRect">
            <a:avLst>
              <a:gd name="adj" fmla="val 15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80000" y="8820000"/>
            <a:ext cx="720000" cy="540000"/>
          </a:xfrm>
          <a:prstGeom prst="roundRect">
            <a:avLst>
              <a:gd name="adj" fmla="val 1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440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0000" y="288000"/>
            <a:ext cx="432000" cy="432000"/>
          </a:xfrm>
          <a:prstGeom prst="ellipse">
            <a:avLst/>
          </a:prstGeom>
          <a:solidFill>
            <a:srgbClr val="2A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52000" y="288000"/>
            <a:ext cx="5760000" cy="540000"/>
          </a:xfrm>
          <a:prstGeom prst="rect">
            <a:avLst/>
          </a:prstGeom>
          <a:noFill/>
        </p:spPr>
        <p:txBody>
          <a:bodyPr wrap="square">
            <a:spAutoFit/>
          </a:bodyPr>
          <a:lstStyle/>
          <a:p>
            <a:pPr algn="l">
              <a:defRPr sz="2200" b="1">
                <a:solidFill>
                  <a:srgbClr val="FFFFFF"/>
                </a:solidFill>
                <a:latin typeface="Montserrat"/>
              </a:defRPr>
            </a:pPr>
            <a:r>
              <a:t>CONCLUSION</a:t>
            </a:r>
          </a:p>
        </p:txBody>
      </p:sp>
      <p:sp>
        <p:nvSpPr>
          <p:cNvPr id="5" name="Rectangle 4"/>
          <p:cNvSpPr/>
          <p:nvPr/>
        </p:nvSpPr>
        <p:spPr>
          <a:xfrm>
            <a:off x="648000" y="1152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8000" y="1800000"/>
            <a:ext cx="6263999" cy="540000"/>
          </a:xfrm>
          <a:prstGeom prst="rect">
            <a:avLst/>
          </a:prstGeom>
          <a:noFill/>
        </p:spPr>
        <p:txBody>
          <a:bodyPr wrap="square">
            <a:spAutoFit/>
          </a:bodyPr>
          <a:lstStyle/>
          <a:p>
            <a:pPr algn="just">
              <a:defRPr sz="900" b="0">
                <a:solidFill>
                  <a:srgbClr val="555555"/>
                </a:solidFill>
                <a:latin typeface="Inter"/>
              </a:defRPr>
            </a:pPr>
            <a:r>
              <a:t>Ce rapport presente 5 situations professionnelles issues de 2 projets majeurs totalisant 82,5 M DH d'investissements.</a:t>
            </a:r>
          </a:p>
        </p:txBody>
      </p:sp>
      <p:sp>
        <p:nvSpPr>
          <p:cNvPr id="7" name="Rectangle 6"/>
          <p:cNvSpPr/>
          <p:nvPr/>
        </p:nvSpPr>
        <p:spPr>
          <a:xfrm>
            <a:off x="648000" y="2520000"/>
            <a:ext cx="54000" cy="79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0000" y="2520000"/>
            <a:ext cx="5760000" cy="251999"/>
          </a:xfrm>
          <a:prstGeom prst="rect">
            <a:avLst/>
          </a:prstGeom>
          <a:noFill/>
        </p:spPr>
        <p:txBody>
          <a:bodyPr wrap="square">
            <a:spAutoFit/>
          </a:bodyPr>
          <a:lstStyle/>
          <a:p>
            <a:pPr algn="l">
              <a:defRPr sz="1000" b="1">
                <a:solidFill>
                  <a:srgbClr val="1E3A5F"/>
                </a:solidFill>
                <a:latin typeface="Montserrat"/>
              </a:defRPr>
            </a:pPr>
            <a:r>
              <a:t>5 situations professionnelles analysées</a:t>
            </a:r>
          </a:p>
        </p:txBody>
      </p:sp>
      <p:sp>
        <p:nvSpPr>
          <p:cNvPr id="9" name="TextBox 8"/>
          <p:cNvSpPr txBox="1"/>
          <p:nvPr/>
        </p:nvSpPr>
        <p:spPr>
          <a:xfrm>
            <a:off x="900000" y="2808000"/>
            <a:ext cx="5760000" cy="360000"/>
          </a:xfrm>
          <a:prstGeom prst="rect">
            <a:avLst/>
          </a:prstGeom>
          <a:noFill/>
        </p:spPr>
        <p:txBody>
          <a:bodyPr wrap="square">
            <a:spAutoFit/>
          </a:bodyPr>
          <a:lstStyle/>
          <a:p>
            <a:pPr algn="l">
              <a:defRPr sz="800" b="0">
                <a:solidFill>
                  <a:srgbClr val="555555"/>
                </a:solidFill>
                <a:latin typeface="Inter"/>
              </a:defRPr>
            </a:pPr>
            <a:r>
              <a:t>Estimation, analyse d'offres, suivi financier, communication, cubatures</a:t>
            </a:r>
          </a:p>
        </p:txBody>
      </p:sp>
      <p:sp>
        <p:nvSpPr>
          <p:cNvPr id="10" name="Rectangle 9"/>
          <p:cNvSpPr/>
          <p:nvPr/>
        </p:nvSpPr>
        <p:spPr>
          <a:xfrm>
            <a:off x="648000" y="3527999"/>
            <a:ext cx="54000" cy="79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0000" y="3527999"/>
            <a:ext cx="5760000" cy="251999"/>
          </a:xfrm>
          <a:prstGeom prst="rect">
            <a:avLst/>
          </a:prstGeom>
          <a:noFill/>
        </p:spPr>
        <p:txBody>
          <a:bodyPr wrap="square">
            <a:spAutoFit/>
          </a:bodyPr>
          <a:lstStyle/>
          <a:p>
            <a:pPr algn="l">
              <a:defRPr sz="1000" b="1">
                <a:solidFill>
                  <a:srgbClr val="1E3A5F"/>
                </a:solidFill>
                <a:latin typeface="Montserrat"/>
              </a:defRPr>
            </a:pPr>
            <a:r>
              <a:t>Suivi technique et communication démontrés</a:t>
            </a:r>
          </a:p>
        </p:txBody>
      </p:sp>
      <p:sp>
        <p:nvSpPr>
          <p:cNvPr id="12" name="TextBox 11"/>
          <p:cNvSpPr txBox="1"/>
          <p:nvPr/>
        </p:nvSpPr>
        <p:spPr>
          <a:xfrm>
            <a:off x="900000" y="3815999"/>
            <a:ext cx="5760000" cy="360000"/>
          </a:xfrm>
          <a:prstGeom prst="rect">
            <a:avLst/>
          </a:prstGeom>
          <a:noFill/>
        </p:spPr>
        <p:txBody>
          <a:bodyPr wrap="square">
            <a:spAutoFit/>
          </a:bodyPr>
          <a:lstStyle/>
          <a:p>
            <a:pPr algn="l">
              <a:defRPr sz="800" b="0">
                <a:solidFill>
                  <a:srgbClr val="555555"/>
                </a:solidFill>
                <a:latin typeface="Inter"/>
              </a:defRPr>
            </a:pPr>
            <a:r>
              <a:t>Gestion d'opérations + coordination écrite et orale</a:t>
            </a:r>
          </a:p>
        </p:txBody>
      </p:sp>
      <p:sp>
        <p:nvSpPr>
          <p:cNvPr id="13" name="Rectangle 12"/>
          <p:cNvSpPr/>
          <p:nvPr/>
        </p:nvSpPr>
        <p:spPr>
          <a:xfrm>
            <a:off x="648000" y="4535998"/>
            <a:ext cx="54000" cy="79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0000" y="4535998"/>
            <a:ext cx="5760000" cy="251999"/>
          </a:xfrm>
          <a:prstGeom prst="rect">
            <a:avLst/>
          </a:prstGeom>
          <a:noFill/>
        </p:spPr>
        <p:txBody>
          <a:bodyPr wrap="square">
            <a:spAutoFit/>
          </a:bodyPr>
          <a:lstStyle/>
          <a:p>
            <a:pPr algn="l">
              <a:defRPr sz="1000" b="1">
                <a:solidFill>
                  <a:srgbClr val="1E3A5F"/>
                </a:solidFill>
                <a:latin typeface="Montserrat"/>
              </a:defRPr>
            </a:pPr>
            <a:r>
              <a:t>82,5 M DH de projets détaillés (7,4 M€)</a:t>
            </a:r>
          </a:p>
        </p:txBody>
      </p:sp>
      <p:sp>
        <p:nvSpPr>
          <p:cNvPr id="15" name="TextBox 14"/>
          <p:cNvSpPr txBox="1"/>
          <p:nvPr/>
        </p:nvSpPr>
        <p:spPr>
          <a:xfrm>
            <a:off x="900000" y="4823998"/>
            <a:ext cx="5760000" cy="360000"/>
          </a:xfrm>
          <a:prstGeom prst="rect">
            <a:avLst/>
          </a:prstGeom>
          <a:noFill/>
        </p:spPr>
        <p:txBody>
          <a:bodyPr wrap="square">
            <a:spAutoFit/>
          </a:bodyPr>
          <a:lstStyle/>
          <a:p>
            <a:pPr algn="l">
              <a:defRPr sz="800" b="0">
                <a:solidFill>
                  <a:srgbClr val="555555"/>
                </a:solidFill>
                <a:latin typeface="Inter"/>
              </a:defRPr>
            </a:pPr>
            <a:r>
              <a:t>Mise à niveau 4 communes + Route 25 km + 5 marchés complémentaires</a:t>
            </a:r>
          </a:p>
        </p:txBody>
      </p:sp>
      <p:sp>
        <p:nvSpPr>
          <p:cNvPr id="16" name="Rectangle 15"/>
          <p:cNvSpPr/>
          <p:nvPr/>
        </p:nvSpPr>
        <p:spPr>
          <a:xfrm>
            <a:off x="648000" y="5543997"/>
            <a:ext cx="54000" cy="792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000" y="5543997"/>
            <a:ext cx="5760000" cy="251999"/>
          </a:xfrm>
          <a:prstGeom prst="rect">
            <a:avLst/>
          </a:prstGeom>
          <a:noFill/>
        </p:spPr>
        <p:txBody>
          <a:bodyPr wrap="square">
            <a:spAutoFit/>
          </a:bodyPr>
          <a:lstStyle/>
          <a:p>
            <a:pPr algn="l">
              <a:defRPr sz="1000" b="1">
                <a:solidFill>
                  <a:srgbClr val="1E3A5F"/>
                </a:solidFill>
                <a:latin typeface="Montserrat"/>
              </a:defRPr>
            </a:pPr>
            <a:r>
              <a:t>BIMCO : BIM + Économie de la Construction</a:t>
            </a:r>
          </a:p>
        </p:txBody>
      </p:sp>
      <p:sp>
        <p:nvSpPr>
          <p:cNvPr id="18" name="TextBox 17"/>
          <p:cNvSpPr txBox="1"/>
          <p:nvPr/>
        </p:nvSpPr>
        <p:spPr>
          <a:xfrm>
            <a:off x="900000" y="5831997"/>
            <a:ext cx="5760000" cy="360000"/>
          </a:xfrm>
          <a:prstGeom prst="rect">
            <a:avLst/>
          </a:prstGeom>
          <a:noFill/>
        </p:spPr>
        <p:txBody>
          <a:bodyPr wrap="square">
            <a:spAutoFit/>
          </a:bodyPr>
          <a:lstStyle/>
          <a:p>
            <a:pPr algn="l">
              <a:defRPr sz="800" b="0">
                <a:solidFill>
                  <a:srgbClr val="555555"/>
                </a:solidFill>
                <a:latin typeface="Inter"/>
              </a:defRPr>
            </a:pPr>
            <a:r>
              <a:t>Triple vision MOA / Exécution / BIM au service du MEC</a:t>
            </a:r>
          </a:p>
        </p:txBody>
      </p:sp>
      <p:sp>
        <p:nvSpPr>
          <p:cNvPr id="19" name="Rounded Rectangle 18"/>
          <p:cNvSpPr/>
          <p:nvPr/>
        </p:nvSpPr>
        <p:spPr>
          <a:xfrm>
            <a:off x="648000" y="6731996"/>
            <a:ext cx="6263999" cy="1080000"/>
          </a:xfrm>
          <a:prstGeom prst="roundRect">
            <a:avLst>
              <a:gd name="adj" fmla="val 10000"/>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8000" y="6731996"/>
            <a:ext cx="54000" cy="10800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0000" y="6839996"/>
            <a:ext cx="5760000" cy="900000"/>
          </a:xfrm>
          <a:prstGeom prst="rect">
            <a:avLst/>
          </a:prstGeom>
          <a:noFill/>
        </p:spPr>
        <p:txBody>
          <a:bodyPr wrap="square">
            <a:spAutoFit/>
          </a:bodyPr>
          <a:lstStyle/>
          <a:p>
            <a:pPr algn="ctr">
              <a:defRPr sz="900" b="1">
                <a:solidFill>
                  <a:srgbClr val="1E3A5F"/>
                </a:solidFill>
                <a:latin typeface="Inter"/>
              </a:defRPr>
            </a:pPr>
            <a:r>
              <a:t>« Le BTS MEC représente bien plus qu'un diplôme : c'est la validation officielle d'un parcours professionnel engagé et le socle sur lequel je construirai des outils qui transformeront la pratique quotidienne de l'économie de la construction. »</a:t>
            </a:r>
          </a:p>
        </p:txBody>
      </p:sp>
      <p:sp>
        <p:nvSpPr>
          <p:cNvPr id="22" name="Rounded Rectangle 21"/>
          <p:cNvSpPr/>
          <p:nvPr/>
        </p:nvSpPr>
        <p:spPr>
          <a:xfrm>
            <a:off x="648000" y="7991996"/>
            <a:ext cx="6263999" cy="432000"/>
          </a:xfrm>
          <a:prstGeom prst="roundRect">
            <a:avLst>
              <a:gd name="adj" fmla="val 50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0000" y="8063996"/>
            <a:ext cx="5760000" cy="288000"/>
          </a:xfrm>
          <a:prstGeom prst="rect">
            <a:avLst/>
          </a:prstGeom>
          <a:noFill/>
        </p:spPr>
        <p:txBody>
          <a:bodyPr wrap="square">
            <a:spAutoFit/>
          </a:bodyPr>
          <a:lstStyle/>
          <a:p>
            <a:pPr algn="ctr">
              <a:defRPr sz="800" b="0">
                <a:solidFill>
                  <a:srgbClr val="FFFFFF"/>
                </a:solidFill>
                <a:latin typeface="Inter"/>
              </a:defRPr>
            </a:pPr>
            <a:r>
              <a:t>BAHAFID Mohamed | BIMCO | BTS MEC Session 2026 | Académie de Lyon</a:t>
            </a:r>
          </a:p>
        </p:txBody>
      </p:sp>
      <p:sp>
        <p:nvSpPr>
          <p:cNvPr id="24" name="TextBox 23"/>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540000"/>
            <a:ext cx="6120000" cy="360000"/>
          </a:xfrm>
          <a:prstGeom prst="rect">
            <a:avLst/>
          </a:prstGeom>
          <a:noFill/>
        </p:spPr>
        <p:txBody>
          <a:bodyPr wrap="square">
            <a:spAutoFit/>
          </a:bodyPr>
          <a:lstStyle/>
          <a:p>
            <a:pPr algn="l">
              <a:defRPr sz="2000" b="1">
                <a:solidFill>
                  <a:srgbClr val="1E3A5F"/>
                </a:solidFill>
                <a:latin typeface="Montserrat"/>
              </a:defRPr>
            </a:pPr>
            <a:r>
              <a:t>ANNEXE 1 : DOCUMENTS OFFICIELS</a:t>
            </a:r>
          </a:p>
        </p:txBody>
      </p:sp>
      <p:sp>
        <p:nvSpPr>
          <p:cNvPr id="3" name="Rectangle 2"/>
          <p:cNvSpPr/>
          <p:nvPr/>
        </p:nvSpPr>
        <p:spPr>
          <a:xfrm>
            <a:off x="648000" y="1152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332000"/>
            <a:ext cx="6263999" cy="360000"/>
          </a:xfrm>
          <a:prstGeom prst="rect">
            <a:avLst/>
          </a:prstGeom>
          <a:noFill/>
        </p:spPr>
        <p:txBody>
          <a:bodyPr wrap="square">
            <a:spAutoFit/>
          </a:bodyPr>
          <a:lstStyle/>
          <a:p>
            <a:pPr algn="just">
              <a:defRPr sz="900" b="0">
                <a:solidFill>
                  <a:srgbClr val="555555"/>
                </a:solidFill>
                <a:latin typeface="Inter"/>
              </a:defRPr>
            </a:pPr>
            <a:r>
              <a:t>Les documents ci-dessous attestent de la realite des activites professionnelles decrites dans ce rapport.</a:t>
            </a:r>
          </a:p>
        </p:txBody>
      </p:sp>
      <p:sp>
        <p:nvSpPr>
          <p:cNvPr id="5" name="Rounded Rectangle 4"/>
          <p:cNvSpPr/>
          <p:nvPr/>
        </p:nvSpPr>
        <p:spPr>
          <a:xfrm>
            <a:off x="540000" y="1980000"/>
            <a:ext cx="2088000" cy="288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3240000"/>
            <a:ext cx="2088000" cy="180000"/>
          </a:xfrm>
          <a:prstGeom prst="rect">
            <a:avLst/>
          </a:prstGeom>
          <a:noFill/>
        </p:spPr>
        <p:txBody>
          <a:bodyPr wrap="square">
            <a:spAutoFit/>
          </a:bodyPr>
          <a:lstStyle/>
          <a:p>
            <a:pPr algn="ctr">
              <a:defRPr sz="800" b="0">
                <a:solidFill>
                  <a:srgbClr val="888888"/>
                </a:solidFill>
                <a:latin typeface="Inter"/>
              </a:defRPr>
            </a:pPr>
            <a:r>
              <a:t>Placeholder</a:t>
            </a:r>
          </a:p>
        </p:txBody>
      </p:sp>
      <p:sp>
        <p:nvSpPr>
          <p:cNvPr id="7" name="TextBox 6"/>
          <p:cNvSpPr txBox="1"/>
          <p:nvPr/>
        </p:nvSpPr>
        <p:spPr>
          <a:xfrm>
            <a:off x="540000" y="5040000"/>
            <a:ext cx="2088000" cy="251999"/>
          </a:xfrm>
          <a:prstGeom prst="rect">
            <a:avLst/>
          </a:prstGeom>
          <a:noFill/>
        </p:spPr>
        <p:txBody>
          <a:bodyPr wrap="square">
            <a:spAutoFit/>
          </a:bodyPr>
          <a:lstStyle/>
          <a:p>
            <a:pPr algn="ctr">
              <a:defRPr sz="900" b="1">
                <a:solidFill>
                  <a:srgbClr val="F39200"/>
                </a:solidFill>
                <a:latin typeface="Montserrat"/>
              </a:defRPr>
            </a:pPr>
            <a:r>
              <a:t>Convocation CAO</a:t>
            </a:r>
          </a:p>
        </p:txBody>
      </p:sp>
      <p:sp>
        <p:nvSpPr>
          <p:cNvPr id="8" name="TextBox 7"/>
          <p:cNvSpPr txBox="1"/>
          <p:nvPr/>
        </p:nvSpPr>
        <p:spPr>
          <a:xfrm>
            <a:off x="540000" y="5328000"/>
            <a:ext cx="2088000" cy="360000"/>
          </a:xfrm>
          <a:prstGeom prst="rect">
            <a:avLst/>
          </a:prstGeom>
          <a:noFill/>
        </p:spPr>
        <p:txBody>
          <a:bodyPr wrap="square">
            <a:spAutoFit/>
          </a:bodyPr>
          <a:lstStyle/>
          <a:p>
            <a:pPr algn="ctr">
              <a:defRPr sz="700" b="0">
                <a:solidFill>
                  <a:srgbClr val="888888"/>
                </a:solidFill>
                <a:latin typeface="Inter"/>
              </a:defRPr>
            </a:pPr>
            <a:r>
              <a:t>Commission d'Appel d'Offres Région Béni Mellal-Khénifra</a:t>
            </a:r>
          </a:p>
        </p:txBody>
      </p:sp>
      <p:sp>
        <p:nvSpPr>
          <p:cNvPr id="9" name="Rounded Rectangle 8"/>
          <p:cNvSpPr/>
          <p:nvPr/>
        </p:nvSpPr>
        <p:spPr>
          <a:xfrm>
            <a:off x="2772000" y="1980000"/>
            <a:ext cx="2088000" cy="288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72000" y="3240000"/>
            <a:ext cx="2088000" cy="180000"/>
          </a:xfrm>
          <a:prstGeom prst="rect">
            <a:avLst/>
          </a:prstGeom>
          <a:noFill/>
        </p:spPr>
        <p:txBody>
          <a:bodyPr wrap="square">
            <a:spAutoFit/>
          </a:bodyPr>
          <a:lstStyle/>
          <a:p>
            <a:pPr algn="ctr">
              <a:defRPr sz="800" b="0">
                <a:solidFill>
                  <a:srgbClr val="888888"/>
                </a:solidFill>
                <a:latin typeface="Inter"/>
              </a:defRPr>
            </a:pPr>
            <a:r>
              <a:t>Placeholder</a:t>
            </a:r>
          </a:p>
        </p:txBody>
      </p:sp>
      <p:sp>
        <p:nvSpPr>
          <p:cNvPr id="11" name="TextBox 10"/>
          <p:cNvSpPr txBox="1"/>
          <p:nvPr/>
        </p:nvSpPr>
        <p:spPr>
          <a:xfrm>
            <a:off x="2772000" y="5040000"/>
            <a:ext cx="2088000" cy="251999"/>
          </a:xfrm>
          <a:prstGeom prst="rect">
            <a:avLst/>
          </a:prstGeom>
          <a:noFill/>
        </p:spPr>
        <p:txBody>
          <a:bodyPr wrap="square">
            <a:spAutoFit/>
          </a:bodyPr>
          <a:lstStyle/>
          <a:p>
            <a:pPr algn="ctr">
              <a:defRPr sz="900" b="1">
                <a:solidFill>
                  <a:srgbClr val="F39200"/>
                </a:solidFill>
                <a:latin typeface="Montserrat"/>
              </a:defRPr>
            </a:pPr>
            <a:r>
              <a:t>Notification de rejet</a:t>
            </a:r>
          </a:p>
        </p:txBody>
      </p:sp>
      <p:sp>
        <p:nvSpPr>
          <p:cNvPr id="12" name="TextBox 11"/>
          <p:cNvSpPr txBox="1"/>
          <p:nvPr/>
        </p:nvSpPr>
        <p:spPr>
          <a:xfrm>
            <a:off x="2772000" y="5328000"/>
            <a:ext cx="2088000" cy="360000"/>
          </a:xfrm>
          <a:prstGeom prst="rect">
            <a:avLst/>
          </a:prstGeom>
          <a:noFill/>
        </p:spPr>
        <p:txBody>
          <a:bodyPr wrap="square">
            <a:spAutoFit/>
          </a:bodyPr>
          <a:lstStyle/>
          <a:p>
            <a:pPr algn="ctr">
              <a:defRPr sz="700" b="0">
                <a:solidFill>
                  <a:srgbClr val="888888"/>
                </a:solidFill>
                <a:latin typeface="Inter"/>
              </a:defRPr>
            </a:pPr>
            <a:r>
              <a:t>Procédure marchés publics Décret n°2-12-349</a:t>
            </a:r>
          </a:p>
        </p:txBody>
      </p:sp>
      <p:sp>
        <p:nvSpPr>
          <p:cNvPr id="13" name="Rounded Rectangle 12"/>
          <p:cNvSpPr/>
          <p:nvPr/>
        </p:nvSpPr>
        <p:spPr>
          <a:xfrm>
            <a:off x="5004000" y="1980000"/>
            <a:ext cx="2088000" cy="288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04000" y="3240000"/>
            <a:ext cx="2088000" cy="180000"/>
          </a:xfrm>
          <a:prstGeom prst="rect">
            <a:avLst/>
          </a:prstGeom>
          <a:noFill/>
        </p:spPr>
        <p:txBody>
          <a:bodyPr wrap="square">
            <a:spAutoFit/>
          </a:bodyPr>
          <a:lstStyle/>
          <a:p>
            <a:pPr algn="ctr">
              <a:defRPr sz="800" b="0">
                <a:solidFill>
                  <a:srgbClr val="888888"/>
                </a:solidFill>
                <a:latin typeface="Inter"/>
              </a:defRPr>
            </a:pPr>
            <a:r>
              <a:t>Placeholder</a:t>
            </a:r>
          </a:p>
        </p:txBody>
      </p:sp>
      <p:sp>
        <p:nvSpPr>
          <p:cNvPr id="15" name="TextBox 14"/>
          <p:cNvSpPr txBox="1"/>
          <p:nvPr/>
        </p:nvSpPr>
        <p:spPr>
          <a:xfrm>
            <a:off x="5004000" y="5040000"/>
            <a:ext cx="2088000" cy="251999"/>
          </a:xfrm>
          <a:prstGeom prst="rect">
            <a:avLst/>
          </a:prstGeom>
          <a:noFill/>
        </p:spPr>
        <p:txBody>
          <a:bodyPr wrap="square">
            <a:spAutoFit/>
          </a:bodyPr>
          <a:lstStyle/>
          <a:p>
            <a:pPr algn="ctr">
              <a:defRPr sz="900" b="1">
                <a:solidFill>
                  <a:srgbClr val="F39200"/>
                </a:solidFill>
                <a:latin typeface="Montserrat"/>
              </a:defRPr>
            </a:pPr>
            <a:r>
              <a:t>CPS signé</a:t>
            </a:r>
          </a:p>
        </p:txBody>
      </p:sp>
      <p:sp>
        <p:nvSpPr>
          <p:cNvPr id="16" name="TextBox 15"/>
          <p:cNvSpPr txBox="1"/>
          <p:nvPr/>
        </p:nvSpPr>
        <p:spPr>
          <a:xfrm>
            <a:off x="5004000" y="5328000"/>
            <a:ext cx="2088000" cy="360000"/>
          </a:xfrm>
          <a:prstGeom prst="rect">
            <a:avLst/>
          </a:prstGeom>
          <a:noFill/>
        </p:spPr>
        <p:txBody>
          <a:bodyPr wrap="square">
            <a:spAutoFit/>
          </a:bodyPr>
          <a:lstStyle/>
          <a:p>
            <a:pPr algn="ctr">
              <a:defRPr sz="700" b="0">
                <a:solidFill>
                  <a:srgbClr val="888888"/>
                </a:solidFill>
                <a:latin typeface="Inter"/>
              </a:defRPr>
            </a:pPr>
            <a:r>
              <a:t>Cahier des Prescriptions Spéciales Marché n°46-RBK-2017</a:t>
            </a:r>
          </a:p>
        </p:txBody>
      </p:sp>
      <p:sp>
        <p:nvSpPr>
          <p:cNvPr id="17" name="Rounded Rectangle 16"/>
          <p:cNvSpPr/>
          <p:nvPr/>
        </p:nvSpPr>
        <p:spPr>
          <a:xfrm>
            <a:off x="648000" y="6120000"/>
            <a:ext cx="6263999" cy="360000"/>
          </a:xfrm>
          <a:prstGeom prst="roundRect">
            <a:avLst>
              <a:gd name="adj" fmla="val 5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000" y="6156000"/>
            <a:ext cx="5760000" cy="288000"/>
          </a:xfrm>
          <a:prstGeom prst="rect">
            <a:avLst/>
          </a:prstGeom>
          <a:noFill/>
        </p:spPr>
        <p:txBody>
          <a:bodyPr wrap="square">
            <a:spAutoFit/>
          </a:bodyPr>
          <a:lstStyle/>
          <a:p>
            <a:pPr algn="ctr">
              <a:defRPr sz="700" b="0">
                <a:solidFill>
                  <a:srgbClr val="888888"/>
                </a:solidFill>
                <a:latin typeface="Inter"/>
              </a:defRPr>
            </a:pPr>
            <a:r>
              <a:t>Ces documents originaux seront presentes lors de l'epreuve orale.</a:t>
            </a:r>
          </a:p>
        </p:txBody>
      </p:sp>
      <p:sp>
        <p:nvSpPr>
          <p:cNvPr id="19" name="Rounded Rectangle 18"/>
          <p:cNvSpPr/>
          <p:nvPr/>
        </p:nvSpPr>
        <p:spPr>
          <a:xfrm>
            <a:off x="6480000" y="7920000"/>
            <a:ext cx="1080000" cy="1440000"/>
          </a:xfrm>
          <a:prstGeom prst="roundRect">
            <a:avLst>
              <a:gd name="adj" fmla="val 15000"/>
            </a:avLst>
          </a:prstGeom>
          <a:solidFill>
            <a:srgbClr val="5CC8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8000" y="540000"/>
            <a:ext cx="6120000" cy="360000"/>
          </a:xfrm>
          <a:prstGeom prst="rect">
            <a:avLst/>
          </a:prstGeom>
          <a:noFill/>
        </p:spPr>
        <p:txBody>
          <a:bodyPr wrap="square">
            <a:spAutoFit/>
          </a:bodyPr>
          <a:lstStyle/>
          <a:p>
            <a:pPr algn="l">
              <a:defRPr sz="2000" b="1">
                <a:solidFill>
                  <a:srgbClr val="1E3A5F"/>
                </a:solidFill>
                <a:latin typeface="Montserrat"/>
              </a:defRPr>
            </a:pPr>
            <a:r>
              <a:t>ANNEXE 2 : PHOTOS DE CHANTIER</a:t>
            </a:r>
          </a:p>
        </p:txBody>
      </p:sp>
      <p:sp>
        <p:nvSpPr>
          <p:cNvPr id="3" name="Rectangle 2"/>
          <p:cNvSpPr/>
          <p:nvPr/>
        </p:nvSpPr>
        <p:spPr>
          <a:xfrm>
            <a:off x="648000" y="1152000"/>
            <a:ext cx="900000" cy="43200"/>
          </a:xfrm>
          <a:prstGeom prst="rect">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332000"/>
            <a:ext cx="6263999" cy="360000"/>
          </a:xfrm>
          <a:prstGeom prst="rect">
            <a:avLst/>
          </a:prstGeom>
          <a:noFill/>
        </p:spPr>
        <p:txBody>
          <a:bodyPr wrap="square">
            <a:spAutoFit/>
          </a:bodyPr>
          <a:lstStyle/>
          <a:p>
            <a:pPr algn="just">
              <a:defRPr sz="900" b="0">
                <a:solidFill>
                  <a:srgbClr val="555555"/>
                </a:solidFill>
                <a:latin typeface="Inter"/>
              </a:defRPr>
            </a:pPr>
            <a:r>
              <a:t>Selection de photographies prises sur les chantiers suivis.</a:t>
            </a:r>
          </a:p>
        </p:txBody>
      </p:sp>
      <p:sp>
        <p:nvSpPr>
          <p:cNvPr id="5" name="Rounded Rectangle 4"/>
          <p:cNvSpPr/>
          <p:nvPr/>
        </p:nvSpPr>
        <p:spPr>
          <a:xfrm>
            <a:off x="540000" y="1800000"/>
            <a:ext cx="2088000" cy="126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2268000"/>
            <a:ext cx="2088000" cy="180000"/>
          </a:xfrm>
          <a:prstGeom prst="rect">
            <a:avLst/>
          </a:prstGeom>
          <a:noFill/>
        </p:spPr>
        <p:txBody>
          <a:bodyPr wrap="square">
            <a:spAutoFit/>
          </a:bodyPr>
          <a:lstStyle/>
          <a:p>
            <a:pPr algn="ctr">
              <a:defRPr sz="700" b="0">
                <a:solidFill>
                  <a:srgbClr val="888888"/>
                </a:solidFill>
                <a:latin typeface="Inter"/>
              </a:defRPr>
            </a:pPr>
            <a:r>
              <a:t>Aménagement urbain – VRD</a:t>
            </a:r>
          </a:p>
        </p:txBody>
      </p:sp>
      <p:sp>
        <p:nvSpPr>
          <p:cNvPr id="7" name="TextBox 6"/>
          <p:cNvSpPr txBox="1"/>
          <p:nvPr/>
        </p:nvSpPr>
        <p:spPr>
          <a:xfrm>
            <a:off x="540000" y="3132000"/>
            <a:ext cx="2088000" cy="180000"/>
          </a:xfrm>
          <a:prstGeom prst="rect">
            <a:avLst/>
          </a:prstGeom>
          <a:noFill/>
        </p:spPr>
        <p:txBody>
          <a:bodyPr wrap="square">
            <a:spAutoFit/>
          </a:bodyPr>
          <a:lstStyle/>
          <a:p>
            <a:pPr algn="ctr">
              <a:defRPr sz="700" b="0">
                <a:solidFill>
                  <a:srgbClr val="888888"/>
                </a:solidFill>
                <a:latin typeface="Inter"/>
              </a:defRPr>
            </a:pPr>
            <a:r>
              <a:t>Aménagement urbain – VRD</a:t>
            </a:r>
          </a:p>
        </p:txBody>
      </p:sp>
      <p:sp>
        <p:nvSpPr>
          <p:cNvPr id="8" name="Rounded Rectangle 7"/>
          <p:cNvSpPr/>
          <p:nvPr/>
        </p:nvSpPr>
        <p:spPr>
          <a:xfrm>
            <a:off x="2772000" y="1800000"/>
            <a:ext cx="2088000" cy="126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72000" y="2268000"/>
            <a:ext cx="2088000" cy="180000"/>
          </a:xfrm>
          <a:prstGeom prst="rect">
            <a:avLst/>
          </a:prstGeom>
          <a:noFill/>
        </p:spPr>
        <p:txBody>
          <a:bodyPr wrap="square">
            <a:spAutoFit/>
          </a:bodyPr>
          <a:lstStyle/>
          <a:p>
            <a:pPr algn="ctr">
              <a:defRPr sz="700" b="0">
                <a:solidFill>
                  <a:srgbClr val="888888"/>
                </a:solidFill>
                <a:latin typeface="Inter"/>
              </a:defRPr>
            </a:pPr>
            <a:r>
              <a:t>Pose de bordures</a:t>
            </a:r>
          </a:p>
        </p:txBody>
      </p:sp>
      <p:sp>
        <p:nvSpPr>
          <p:cNvPr id="10" name="TextBox 9"/>
          <p:cNvSpPr txBox="1"/>
          <p:nvPr/>
        </p:nvSpPr>
        <p:spPr>
          <a:xfrm>
            <a:off x="2772000" y="3132000"/>
            <a:ext cx="2088000" cy="180000"/>
          </a:xfrm>
          <a:prstGeom prst="rect">
            <a:avLst/>
          </a:prstGeom>
          <a:noFill/>
        </p:spPr>
        <p:txBody>
          <a:bodyPr wrap="square">
            <a:spAutoFit/>
          </a:bodyPr>
          <a:lstStyle/>
          <a:p>
            <a:pPr algn="ctr">
              <a:defRPr sz="700" b="0">
                <a:solidFill>
                  <a:srgbClr val="888888"/>
                </a:solidFill>
                <a:latin typeface="Inter"/>
              </a:defRPr>
            </a:pPr>
            <a:r>
              <a:t>Pose de bordures</a:t>
            </a:r>
          </a:p>
        </p:txBody>
      </p:sp>
      <p:sp>
        <p:nvSpPr>
          <p:cNvPr id="11" name="Rounded Rectangle 10"/>
          <p:cNvSpPr/>
          <p:nvPr/>
        </p:nvSpPr>
        <p:spPr>
          <a:xfrm>
            <a:off x="5004000" y="1800000"/>
            <a:ext cx="2088000" cy="126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04000" y="2268000"/>
            <a:ext cx="2088000" cy="180000"/>
          </a:xfrm>
          <a:prstGeom prst="rect">
            <a:avLst/>
          </a:prstGeom>
          <a:noFill/>
        </p:spPr>
        <p:txBody>
          <a:bodyPr wrap="square">
            <a:spAutoFit/>
          </a:bodyPr>
          <a:lstStyle/>
          <a:p>
            <a:pPr algn="ctr">
              <a:defRPr sz="700" b="0">
                <a:solidFill>
                  <a:srgbClr val="888888"/>
                </a:solidFill>
                <a:latin typeface="Inter"/>
              </a:defRPr>
            </a:pPr>
            <a:r>
              <a:t>Terrassement</a:t>
            </a:r>
          </a:p>
        </p:txBody>
      </p:sp>
      <p:sp>
        <p:nvSpPr>
          <p:cNvPr id="13" name="TextBox 12"/>
          <p:cNvSpPr txBox="1"/>
          <p:nvPr/>
        </p:nvSpPr>
        <p:spPr>
          <a:xfrm>
            <a:off x="5004000" y="3132000"/>
            <a:ext cx="2088000" cy="180000"/>
          </a:xfrm>
          <a:prstGeom prst="rect">
            <a:avLst/>
          </a:prstGeom>
          <a:noFill/>
        </p:spPr>
        <p:txBody>
          <a:bodyPr wrap="square">
            <a:spAutoFit/>
          </a:bodyPr>
          <a:lstStyle/>
          <a:p>
            <a:pPr algn="ctr">
              <a:defRPr sz="700" b="0">
                <a:solidFill>
                  <a:srgbClr val="888888"/>
                </a:solidFill>
                <a:latin typeface="Inter"/>
              </a:defRPr>
            </a:pPr>
            <a:r>
              <a:t>Terrassement</a:t>
            </a:r>
          </a:p>
        </p:txBody>
      </p:sp>
      <p:sp>
        <p:nvSpPr>
          <p:cNvPr id="14" name="Rounded Rectangle 13"/>
          <p:cNvSpPr/>
          <p:nvPr/>
        </p:nvSpPr>
        <p:spPr>
          <a:xfrm>
            <a:off x="540000" y="3600000"/>
            <a:ext cx="2088000" cy="126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4068000"/>
            <a:ext cx="2088000" cy="180000"/>
          </a:xfrm>
          <a:prstGeom prst="rect">
            <a:avLst/>
          </a:prstGeom>
          <a:noFill/>
        </p:spPr>
        <p:txBody>
          <a:bodyPr wrap="square">
            <a:spAutoFit/>
          </a:bodyPr>
          <a:lstStyle/>
          <a:p>
            <a:pPr algn="ctr">
              <a:defRPr sz="700" b="0">
                <a:solidFill>
                  <a:srgbClr val="888888"/>
                </a:solidFill>
                <a:latin typeface="Inter"/>
              </a:defRPr>
            </a:pPr>
            <a:r>
              <a:t>Assainissement</a:t>
            </a:r>
          </a:p>
        </p:txBody>
      </p:sp>
      <p:sp>
        <p:nvSpPr>
          <p:cNvPr id="16" name="TextBox 15"/>
          <p:cNvSpPr txBox="1"/>
          <p:nvPr/>
        </p:nvSpPr>
        <p:spPr>
          <a:xfrm>
            <a:off x="540000" y="4932000"/>
            <a:ext cx="2088000" cy="180000"/>
          </a:xfrm>
          <a:prstGeom prst="rect">
            <a:avLst/>
          </a:prstGeom>
          <a:noFill/>
        </p:spPr>
        <p:txBody>
          <a:bodyPr wrap="square">
            <a:spAutoFit/>
          </a:bodyPr>
          <a:lstStyle/>
          <a:p>
            <a:pPr algn="ctr">
              <a:defRPr sz="700" b="0">
                <a:solidFill>
                  <a:srgbClr val="888888"/>
                </a:solidFill>
                <a:latin typeface="Inter"/>
              </a:defRPr>
            </a:pPr>
            <a:r>
              <a:t>Assainissement</a:t>
            </a:r>
          </a:p>
        </p:txBody>
      </p:sp>
      <p:sp>
        <p:nvSpPr>
          <p:cNvPr id="17" name="Rounded Rectangle 16"/>
          <p:cNvSpPr/>
          <p:nvPr/>
        </p:nvSpPr>
        <p:spPr>
          <a:xfrm>
            <a:off x="2772000" y="3600000"/>
            <a:ext cx="2088000" cy="126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72000" y="4068000"/>
            <a:ext cx="2088000" cy="180000"/>
          </a:xfrm>
          <a:prstGeom prst="rect">
            <a:avLst/>
          </a:prstGeom>
          <a:noFill/>
        </p:spPr>
        <p:txBody>
          <a:bodyPr wrap="square">
            <a:spAutoFit/>
          </a:bodyPr>
          <a:lstStyle/>
          <a:p>
            <a:pPr algn="ctr">
              <a:defRPr sz="700" b="0">
                <a:solidFill>
                  <a:srgbClr val="888888"/>
                </a:solidFill>
                <a:latin typeface="Inter"/>
              </a:defRPr>
            </a:pPr>
            <a:r>
              <a:t>Enrobés</a:t>
            </a:r>
          </a:p>
        </p:txBody>
      </p:sp>
      <p:sp>
        <p:nvSpPr>
          <p:cNvPr id="19" name="TextBox 18"/>
          <p:cNvSpPr txBox="1"/>
          <p:nvPr/>
        </p:nvSpPr>
        <p:spPr>
          <a:xfrm>
            <a:off x="2772000" y="4932000"/>
            <a:ext cx="2088000" cy="180000"/>
          </a:xfrm>
          <a:prstGeom prst="rect">
            <a:avLst/>
          </a:prstGeom>
          <a:noFill/>
        </p:spPr>
        <p:txBody>
          <a:bodyPr wrap="square">
            <a:spAutoFit/>
          </a:bodyPr>
          <a:lstStyle/>
          <a:p>
            <a:pPr algn="ctr">
              <a:defRPr sz="700" b="0">
                <a:solidFill>
                  <a:srgbClr val="888888"/>
                </a:solidFill>
                <a:latin typeface="Inter"/>
              </a:defRPr>
            </a:pPr>
            <a:r>
              <a:t>Enrobés</a:t>
            </a:r>
          </a:p>
        </p:txBody>
      </p:sp>
      <p:sp>
        <p:nvSpPr>
          <p:cNvPr id="20" name="Rounded Rectangle 19"/>
          <p:cNvSpPr/>
          <p:nvPr/>
        </p:nvSpPr>
        <p:spPr>
          <a:xfrm>
            <a:off x="5004000" y="3600000"/>
            <a:ext cx="2088000" cy="126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4000" y="4068000"/>
            <a:ext cx="2088000" cy="180000"/>
          </a:xfrm>
          <a:prstGeom prst="rect">
            <a:avLst/>
          </a:prstGeom>
          <a:noFill/>
        </p:spPr>
        <p:txBody>
          <a:bodyPr wrap="square">
            <a:spAutoFit/>
          </a:bodyPr>
          <a:lstStyle/>
          <a:p>
            <a:pPr algn="ctr">
              <a:defRPr sz="700" b="0">
                <a:solidFill>
                  <a:srgbClr val="888888"/>
                </a:solidFill>
                <a:latin typeface="Inter"/>
              </a:defRPr>
            </a:pPr>
            <a:r>
              <a:t>Route montagne</a:t>
            </a:r>
          </a:p>
        </p:txBody>
      </p:sp>
      <p:sp>
        <p:nvSpPr>
          <p:cNvPr id="22" name="TextBox 21"/>
          <p:cNvSpPr txBox="1"/>
          <p:nvPr/>
        </p:nvSpPr>
        <p:spPr>
          <a:xfrm>
            <a:off x="5004000" y="4932000"/>
            <a:ext cx="2088000" cy="180000"/>
          </a:xfrm>
          <a:prstGeom prst="rect">
            <a:avLst/>
          </a:prstGeom>
          <a:noFill/>
        </p:spPr>
        <p:txBody>
          <a:bodyPr wrap="square">
            <a:spAutoFit/>
          </a:bodyPr>
          <a:lstStyle/>
          <a:p>
            <a:pPr algn="ctr">
              <a:defRPr sz="700" b="0">
                <a:solidFill>
                  <a:srgbClr val="888888"/>
                </a:solidFill>
                <a:latin typeface="Inter"/>
              </a:defRPr>
            </a:pPr>
            <a:r>
              <a:t>Route montagne</a:t>
            </a:r>
          </a:p>
        </p:txBody>
      </p:sp>
      <p:sp>
        <p:nvSpPr>
          <p:cNvPr id="23" name="Rounded Rectangle 22"/>
          <p:cNvSpPr/>
          <p:nvPr/>
        </p:nvSpPr>
        <p:spPr>
          <a:xfrm>
            <a:off x="540000" y="5400000"/>
            <a:ext cx="2088000" cy="126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0000" y="5868000"/>
            <a:ext cx="2088000" cy="180000"/>
          </a:xfrm>
          <a:prstGeom prst="rect">
            <a:avLst/>
          </a:prstGeom>
          <a:noFill/>
        </p:spPr>
        <p:txBody>
          <a:bodyPr wrap="square">
            <a:spAutoFit/>
          </a:bodyPr>
          <a:lstStyle/>
          <a:p>
            <a:pPr algn="ctr">
              <a:defRPr sz="700" b="0">
                <a:solidFill>
                  <a:srgbClr val="888888"/>
                </a:solidFill>
                <a:latin typeface="Inter"/>
              </a:defRPr>
            </a:pPr>
            <a:r>
              <a:t>Route Lehri-Kerrouchen</a:t>
            </a:r>
          </a:p>
        </p:txBody>
      </p:sp>
      <p:sp>
        <p:nvSpPr>
          <p:cNvPr id="25" name="TextBox 24"/>
          <p:cNvSpPr txBox="1"/>
          <p:nvPr/>
        </p:nvSpPr>
        <p:spPr>
          <a:xfrm>
            <a:off x="540000" y="6732000"/>
            <a:ext cx="2088000" cy="180000"/>
          </a:xfrm>
          <a:prstGeom prst="rect">
            <a:avLst/>
          </a:prstGeom>
          <a:noFill/>
        </p:spPr>
        <p:txBody>
          <a:bodyPr wrap="square">
            <a:spAutoFit/>
          </a:bodyPr>
          <a:lstStyle/>
          <a:p>
            <a:pPr algn="ctr">
              <a:defRPr sz="700" b="0">
                <a:solidFill>
                  <a:srgbClr val="888888"/>
                </a:solidFill>
                <a:latin typeface="Inter"/>
              </a:defRPr>
            </a:pPr>
            <a:r>
              <a:t>Route Lehri-Kerrouchen</a:t>
            </a:r>
          </a:p>
        </p:txBody>
      </p:sp>
      <p:sp>
        <p:nvSpPr>
          <p:cNvPr id="26" name="Rounded Rectangle 25"/>
          <p:cNvSpPr/>
          <p:nvPr/>
        </p:nvSpPr>
        <p:spPr>
          <a:xfrm>
            <a:off x="2772000" y="5400000"/>
            <a:ext cx="2088000" cy="126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72000" y="5868000"/>
            <a:ext cx="2088000" cy="180000"/>
          </a:xfrm>
          <a:prstGeom prst="rect">
            <a:avLst/>
          </a:prstGeom>
          <a:noFill/>
        </p:spPr>
        <p:txBody>
          <a:bodyPr wrap="square">
            <a:spAutoFit/>
          </a:bodyPr>
          <a:lstStyle/>
          <a:p>
            <a:pPr algn="ctr">
              <a:defRPr sz="700" b="0">
                <a:solidFill>
                  <a:srgbClr val="888888"/>
                </a:solidFill>
                <a:latin typeface="Inter"/>
              </a:defRPr>
            </a:pPr>
            <a:r>
              <a:t>Section montagneuse</a:t>
            </a:r>
          </a:p>
        </p:txBody>
      </p:sp>
      <p:sp>
        <p:nvSpPr>
          <p:cNvPr id="28" name="TextBox 27"/>
          <p:cNvSpPr txBox="1"/>
          <p:nvPr/>
        </p:nvSpPr>
        <p:spPr>
          <a:xfrm>
            <a:off x="2772000" y="6732000"/>
            <a:ext cx="2088000" cy="180000"/>
          </a:xfrm>
          <a:prstGeom prst="rect">
            <a:avLst/>
          </a:prstGeom>
          <a:noFill/>
        </p:spPr>
        <p:txBody>
          <a:bodyPr wrap="square">
            <a:spAutoFit/>
          </a:bodyPr>
          <a:lstStyle/>
          <a:p>
            <a:pPr algn="ctr">
              <a:defRPr sz="700" b="0">
                <a:solidFill>
                  <a:srgbClr val="888888"/>
                </a:solidFill>
                <a:latin typeface="Inter"/>
              </a:defRPr>
            </a:pPr>
            <a:r>
              <a:t>Section montagneuse</a:t>
            </a:r>
          </a:p>
        </p:txBody>
      </p:sp>
      <p:sp>
        <p:nvSpPr>
          <p:cNvPr id="29" name="Rounded Rectangle 28"/>
          <p:cNvSpPr/>
          <p:nvPr/>
        </p:nvSpPr>
        <p:spPr>
          <a:xfrm>
            <a:off x="5004000" y="5400000"/>
            <a:ext cx="2088000" cy="12600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04000" y="5868000"/>
            <a:ext cx="2088000" cy="180000"/>
          </a:xfrm>
          <a:prstGeom prst="rect">
            <a:avLst/>
          </a:prstGeom>
          <a:noFill/>
        </p:spPr>
        <p:txBody>
          <a:bodyPr wrap="square">
            <a:spAutoFit/>
          </a:bodyPr>
          <a:lstStyle/>
          <a:p>
            <a:pPr algn="ctr">
              <a:defRPr sz="700" b="0">
                <a:solidFill>
                  <a:srgbClr val="888888"/>
                </a:solidFill>
                <a:latin typeface="Inter"/>
              </a:defRPr>
            </a:pPr>
            <a:r>
              <a:t>Terrassement rocheux</a:t>
            </a:r>
          </a:p>
        </p:txBody>
      </p:sp>
      <p:sp>
        <p:nvSpPr>
          <p:cNvPr id="31" name="TextBox 30"/>
          <p:cNvSpPr txBox="1"/>
          <p:nvPr/>
        </p:nvSpPr>
        <p:spPr>
          <a:xfrm>
            <a:off x="5004000" y="6732000"/>
            <a:ext cx="2088000" cy="180000"/>
          </a:xfrm>
          <a:prstGeom prst="rect">
            <a:avLst/>
          </a:prstGeom>
          <a:noFill/>
        </p:spPr>
        <p:txBody>
          <a:bodyPr wrap="square">
            <a:spAutoFit/>
          </a:bodyPr>
          <a:lstStyle/>
          <a:p>
            <a:pPr algn="ctr">
              <a:defRPr sz="700" b="0">
                <a:solidFill>
                  <a:srgbClr val="888888"/>
                </a:solidFill>
                <a:latin typeface="Inter"/>
              </a:defRPr>
            </a:pPr>
            <a:r>
              <a:t>Terrassement rocheux</a:t>
            </a:r>
          </a:p>
        </p:txBody>
      </p:sp>
      <p:sp>
        <p:nvSpPr>
          <p:cNvPr id="32" name="Rounded Rectangle 31"/>
          <p:cNvSpPr/>
          <p:nvPr/>
        </p:nvSpPr>
        <p:spPr>
          <a:xfrm>
            <a:off x="0" y="9720000"/>
            <a:ext cx="360000" cy="972000"/>
          </a:xfrm>
          <a:prstGeom prst="roundRect">
            <a:avLst>
              <a:gd name="adj" fmla="val 15000"/>
            </a:avLst>
          </a:prstGeom>
          <a:solidFill>
            <a:srgbClr val="F39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0" y="10224000"/>
            <a:ext cx="7560000" cy="288000"/>
          </a:xfrm>
          <a:prstGeom prst="rect">
            <a:avLst/>
          </a:prstGeom>
          <a:noFill/>
        </p:spPr>
        <p:txBody>
          <a:bodyPr wrap="square">
            <a:spAutoFit/>
          </a:bodyPr>
          <a:lstStyle/>
          <a:p>
            <a:pPr algn="ctr">
              <a:defRPr sz="700" b="0">
                <a:solidFill>
                  <a:srgbClr val="888888"/>
                </a:solidFill>
                <a:latin typeface="Inter"/>
              </a:defRPr>
            </a:pPr>
            <a:r>
              <a:t>BAHAFID Mohamed | Rapport d'activites U62 | BTS MEC 2026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