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7F"/>
              </a:solidFill>
              <a:effectLst/>
            </c:spPr>
          </c:dPt>
          <c:dPt>
            <c:idx val="1"/>
            <c:bubble3D val="0"/>
            <c:spPr>
              <a:solidFill>
                <a:srgbClr val="00A3A8"/>
              </a:solidFill>
              <a:effectLst/>
            </c:spPr>
          </c:dPt>
          <c:dPt>
            <c:idx val="2"/>
            <c:bubble3D val="0"/>
            <c:spPr>
              <a:solidFill>
                <a:srgbClr val="4DB8BD"/>
              </a:solidFill>
              <a:effectLst/>
            </c:spPr>
          </c:dPt>
          <c:dPt>
            <c:idx val="3"/>
            <c:bubble3D val="0"/>
            <c:spPr>
              <a:solidFill>
                <a:srgbClr val="80CED1"/>
              </a:solidFill>
              <a:effectLst/>
            </c:spPr>
          </c:dPt>
          <c:dPt>
            <c:idx val="4"/>
            <c:bubble3D val="0"/>
            <c:spPr>
              <a:solidFill>
                <a:srgbClr val="B3E4E6"/>
              </a:solidFill>
              <a:effectLst/>
            </c:spPr>
          </c:dPt>
          <c:dPt>
            <c:idx val="5"/>
            <c:bubble3D val="0"/>
            <c:spPr>
              <a:solidFill>
                <a:srgbClr val="E0F4F5"/>
              </a:solidFill>
              <a:effectLst/>
            </c:spPr>
          </c:dPt>
          <c:dPt>
            <c:idx val="6"/>
            <c:bubble3D val="0"/>
            <c:spPr>
              <a:solidFill>
                <a:srgbClr val="D97706"/>
              </a:solidFill>
              <a:effectLst/>
            </c:spPr>
          </c:dPt>
          <c:dPt>
            <c:idx val="7"/>
            <c:bubble3D val="0"/>
            <c:spPr>
              <a:solidFill>
                <a:srgbClr val="F5DEB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</c:v>
                </c:pt>
                <c:pt idx="5">
                  <c:v>Signalisation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Corps chaussée</c:v>
                  </c:pt>
                  <c:pt idx="1">
                    <c:v>Ouv. hydrauliques</c:v>
                  </c:pt>
                  <c:pt idx="2">
                    <c:v>Terrassement</c:v>
                  </c:pt>
                  <c:pt idx="3">
                    <c:v>Revêtement</c:v>
                  </c:pt>
                  <c:pt idx="4">
                    <c:v>Bretelles/carrefour</c:v>
                  </c:pt>
                  <c:pt idx="5">
                    <c:v>Soutènement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30.1</c:v>
                </c:pt>
                <c:pt idx="1">
                  <c:v>28.1</c:v>
                </c:pt>
                <c:pt idx="2">
                  <c:v>17.9</c:v>
                </c:pt>
                <c:pt idx="3">
                  <c:v>10.7</c:v>
                </c:pt>
                <c:pt idx="4">
                  <c:v>11.3</c:v>
                </c:pt>
                <c:pt idx="5">
                  <c:v>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Niveau</c:v>
                </c:pt>
              </c:strCache>
            </c:strRef>
          </c:tx>
          <c:spPr>
            <a:solidFill>
              <a:srgbClr val="007A7F"/>
            </a:solidFill>
            <a:ln w="25400" cap="flat">
              <a:solidFill>
                <a:srgbClr val="007A7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7A7F"/>
              </a:solidFill>
              <a:ln w="9525" cap="flat">
                <a:solidFill>
                  <a:srgbClr val="007A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Métrés</c:v>
                  </c:pt>
                  <c:pt idx="1">
                    <c:v>Estimation</c:v>
                  </c:pt>
                  <c:pt idx="2">
                    <c:v>Analyse AO</c:v>
                  </c:pt>
                  <c:pt idx="3">
                    <c:v>Suivi financier</c:v>
                  </c:pt>
                  <c:pt idx="4">
                    <c:v>Coordination</c:v>
                  </c:pt>
                  <c:pt idx="5">
                    <c:v>Cubatures</c:v>
                  </c:pt>
                  <c:pt idx="6">
                    <c:v>BIM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</c:v>
                </c:pt>
                <c:pt idx="1">
                  <c:v>90</c:v>
                </c:pt>
                <c:pt idx="2">
                  <c:v>85</c:v>
                </c:pt>
                <c:pt idx="3">
                  <c:v>95</c:v>
                </c:pt>
                <c:pt idx="4">
                  <c:v>88</c:v>
                </c:pt>
                <c:pt idx="5">
                  <c:v>92</c:v>
                </c:pt>
                <c:pt idx="6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A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d’Activités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MEC · SESSION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234440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ans</a:t>
            </a:r>
            <a:endParaRPr lang="en-US" sz="2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BTP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pays</a:t>
            </a:r>
            <a:endParaRPr lang="en-US" sz="2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 + France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82,5 M DH</a:t>
            </a:r>
            <a:endParaRPr lang="en-US" sz="2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gérés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marchés</a:t>
            </a:r>
            <a:endParaRPr lang="en-US" sz="2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02537399911 · Académie de Lyon · BIMCO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SUIS-JE 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profil construit en trois phases : MOA publique, exécution terrain, BIM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2/15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BAHAFID Mohamed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764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Candidat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02537399911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112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Lyon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459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Conseil Régional de Béni Mellal-Khénifra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Technicien études et suivi des travaux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 ans BTP (3 ans Maroc + 5 ans France)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502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BIM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Modeleur BIM – AFPA Colmar (8 mois)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8496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actuelle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BIMCO – Projeteur BIM / économiste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197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999 580 053 / 7112B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CHRONOLOGIQUE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79222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2017–2022  </a:t>
            </a:r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publique – Maroc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Régional BMK. 7 marchés publics, +100 M DH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578608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25420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  </a:t>
            </a:r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terrain – France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GO Ergalis + Chef chantier Minssieux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3328416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291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 </a:t>
            </a:r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BIM – AFPA Colmar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Modeleur BIM. Bâtiment R+2, 78 postes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4078224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40416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</a:t>
            </a:r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BIMCO + BTS MEC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Micro-entreprise + candidat libre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Cadre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D’ACCUEIL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Régional de Béni Mellal-Khénifra – Agence d’Exécution des Projets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3/15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17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Collectivité territoriale couvrant 5 provinces et 2,5 millions d’habitants.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poste : Technicien études et suivi des travaux.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PRINCIPALES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Métrés avant-projet et estimation confidentielle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des DCE : CPS, RC, BPDE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offres en Commission AO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financier mensuel, décomptes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terrain, attachements contradictoires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1325880"/>
            <a:ext cx="3108960" cy="3291840"/>
          </a:xfrm>
          <a:prstGeom prst="rect">
            <a:avLst/>
          </a:prstGeom>
          <a:solidFill>
            <a:srgbClr val="E0F4F5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RÉGLEMENTAIRE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AO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+ RC + BPDE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21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d’offres ouvert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21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Confidentielle obligatoire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5216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marocaines, RPS 2000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216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Attachements contradictoires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BIMCO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BIMCO – MON ACTIVITÉ INDÉPENDANTE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en janvier 2026 – BIM au service de l’économiste de la construction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4/15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572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17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 BIM aux métiers de l’économiste de la construction. Métrés par extraction de maquette numérique, études de prix ancrées dans les coûts réels, plugins Revit/Dynamo pour automatiser la chaîne mètre → DPGF.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5720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246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325880" cy="32004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API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1680" y="3566160"/>
            <a:ext cx="1325880" cy="32004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566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0" y="3566160"/>
            <a:ext cx="1325880" cy="32004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566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325880" cy="32004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11680" y="3977640"/>
            <a:ext cx="1325880" cy="32004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/ BIM360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0" y="3977640"/>
            <a:ext cx="1325880" cy="32004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Node.js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12080" y="1325880"/>
            <a:ext cx="3566160" cy="3246120"/>
          </a:xfrm>
          <a:prstGeom prst="rect">
            <a:avLst/>
          </a:prstGeom>
          <a:solidFill>
            <a:srgbClr val="007A7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compétence rare sur le marché 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148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publique (Maroc) – vision globale projet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terrain (France) – réalité chantier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– pont entre conception et chiffrage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</a:t>
            </a:r>
            <a:pPr algn="ctr" indent="0" marL="0">
              <a:buNone/>
            </a:pPr>
            <a:r>
              <a:rPr lang="en-US" sz="2000" dirty="0">
                <a:solidFill>
                  <a:srgbClr val="E0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3949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Information Modeling + Économie de la Construction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– Projet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NIVEAU DE 4 COMMUNES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n°38-RBK-2017 – 53,5 M DH TTC – Province de Khénifra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5/15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53,5 M DH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communes · 8 corps d’état · 18 mois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4114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5486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Partie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Désignation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Assainissement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Chaussée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Trottoirs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Signalisation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Éclairage public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Murs &amp; ouvrages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Paysager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A7F"/>
                          </a:solidFill>
                        </a:rPr>
                        <a:t>08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Mobilier urbain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4846320" y="132588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– Sit. 1&amp;2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CONFIDENTIELLE &amp; ANALYSE DES OFFRES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C18 – Métrer, estimer, analyser les offres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6/15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4114800" cy="36576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1 – ESTIMATION CONFIDENTIELLE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Ouaoumana – 15,8 M DH 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1417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9933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plafond avant AO. 35% du budget. Délai 3 semaines.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Mercuriale 2014 obsolète : prix dérivés de 15 à 22%.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1821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lignes AutoCAD + 4 visites terrain + 3 sources croisées.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7764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3,2% vs 5-10% norme. Méthode adoptée standard.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325880"/>
            <a:ext cx="41148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2 – ANALYSE DES OFFRES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CAO – 3 offres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1417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94/100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4846320" y="201168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19933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technique commission. Analyse comparative 3 dossiers.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60604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25877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erreurs arithmétiques + prix bas anormaux sur 42% du montant.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20040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200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31821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100 pts (technique 60 + financier 40). Justification écrite.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79476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66360" y="37764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15 jours. Zéro recours. Rapport validé sans réserve.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– Sit. 3&amp;4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FINANCIER &amp; COORDINATION MULTI-SITES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C18 (suivi budget) et C19 (coordonner, communiquer)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7/15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4114800" cy="36576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3 – SUIVI FINANCIER KERROUCHEN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 M DH – 18 mois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1417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+0,8%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9933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mensuel complet : situations, quantités, décomptes.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Chaussée +12%, murs +15%. Dérive +4,8% (seuil avenant = 5%).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1821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TdB hebdo 3 indicateurs. Compensation paysager −44k + mobilier −12k.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7764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+0,8%. Aucun avenant. TdB adopté 3 communes.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325880"/>
            <a:ext cx="41148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4 – COORDINATION 4 CHANTIERS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de Khénifra – 20 à 80 km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1417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4846320" y="201168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19933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 unique Directeur. Interface entreprise/BET/labo/hiérarchie.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60604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25877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: retard enrobés + alerte météo + litige bordures 15%.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20040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200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31821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Directeur + OS arrêt photos + re-mesurage contradictoire.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79476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66360" y="37764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crises résolues. Litige 15% → 2,3%. Modèle CR adopté.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Projet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LEHRI-KERROUCHEN – 25 KM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PRR3 – 29 M DH TTC – Zone montagneuse du Moyen Atlas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8/15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M DH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TTC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32588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km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montagneuse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120 334 m³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Déblais vérifiés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12280" y="132588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prix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bordereau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377440"/>
          <a:ext cx="8412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Sit.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 DES CUBATURES DE TERRASSEMENT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C18 – Vérifier les quantités exécutées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9/15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−8,3%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cubatures corrigé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285 000 DH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Surcoût absorbé sans avenant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14600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49631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120 334 m³ déblais + 76 735 m³ remblais. Dénivelé 400 m, pentes 12%.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02666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12 : calcaire fracturé non détecté. 5 000 m³ à reclassifier. +8% budget.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575304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75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557016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en travers /25 m. Relevés GPS contradictoires /500 ml. 3 dalots dimensionnés avec BET.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105656"/>
            <a:ext cx="237744" cy="23774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05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08736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Surcoût absorbé par compensation. Réception sans avenant. Traçabilité complète.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Compl.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ACTIVITÉS COMPLÉMENTAIRES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autres marchés publics + expérience terrain en France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10/15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754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AUTRES MARCHÉS AU CONSEIL RÉGIONAL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389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N°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Objet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Montant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27-RBK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Route Sidi Bouabbad → Oued Grou (12 km)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8,2 M DH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28-RBK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Route Ajdir-Ayoun + Piste Lijon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6,5 M DH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30-RBK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AEP El Borj – El Hamam (18 km)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4,8 M DH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39-RBK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Pistes Hartaf – Sebt Ait Rahou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3,1 M DH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49-RBK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Voirie Amghass – Bouchbel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5,9 M DH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394960" y="132588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77840" y="1417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TERRAIN FRANCE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77840" y="17373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d’équipe GO – Ergalis BTP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Feurs (Loire) : banches, armatures HA, coulage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chantier – Minssieux &amp; Fils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Mornant (Rhône) : planning, contrôle qualité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: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réels de production, contraintes d’exécution, rendements terrain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d’infrastructures maîtrisées : routes, VRD, adduction d’eau potable, voirie urbaine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– Bilan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DES COMPÉTENCES BTS MEC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mobilisées sur 5 situations professionnelles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11/15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54864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Activité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Sous-compétence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Sit.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Niveau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Métrés 112 prix, 4 communes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Réaliser des métrés TCA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Maîtrise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Estimation 15,8 M DH, 3 sources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Estimer un ouvrage en AO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Maîtrise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Analyse 3 offres, grille /100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Analyser les offres en commission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Maîtrise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TdB hebdo, compensation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Suivre l’exécution financière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Expert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Contrôle cubatures GPS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Vérifier les quantités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Expert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CR, OS, notes factuelles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Communiquer par écrit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Maîtrise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Réunions, points quotidiens, CAO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Communiquer oralement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2,4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Maîtrise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Convention BIM, export IFC, 78 postes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Collaborer en BIM (Open BIM)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BIM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7A7F"/>
                          </a:solidFill>
                        </a:rPr>
                        <a:t>Maîtrise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5029200" y="3108960"/>
          <a:ext cx="37490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– 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COMPARATIVE MAROC / FRANCE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fondamentaux – deux cadres réglementaires – une seule exigence : la rigueur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12/15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383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Maroc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France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Réglementation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Décret n°2-12-349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Code commande publique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Pièces marché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CPS + RC + BPDE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CCAP + CCTP + BPU/DQE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Estimation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Confidentielle obligatoire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Estimation MOA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Normes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Normes marocaines, RPS 2000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DTU, Eurocodes, RE2020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Suivi financier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Attachements contradictoires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Situations mensuelles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Commission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CAO (Commission AO)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Commission d’Appel d’Offres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6118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36576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MOA – Maroc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les marchés, rédiger CPS/RC/BPDE, piloter la CAO, analyser les offres. 7 marchés, 100 M DH.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0" y="36118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3611880"/>
            <a:ext cx="54864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36576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exécution – France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Banches, ferraillage, planning, contrôle qualité. Coûts réels, rendements, contraintes terrain.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– Réflexif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RÉFLEXIF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terrain m’a appris – Méthode CAMP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13/15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17320"/>
            <a:ext cx="320040" cy="32004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J’AI APPRIS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3 crises simultanées à 80 km d’écart m’a obligé à prioriser, formaliser et communiquer. L’urgence structure la rigueur. Croiser 3 sources de prix donne un écart de 3,2% là où les estimations de la région dépassaient 10%.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17320"/>
            <a:ext cx="320040" cy="32004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FERAIS DIFFÉREMMENT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tableau de bord dès le 1er mois, pas au 9ème. Insister pour une étude géotechnique complémentaire. Standardiser les CR dès le démarrage du chantier – pas dans l’urgence de la semaine 23.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46120"/>
            <a:ext cx="320040" cy="32004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J’APPORTE AU BTS MEC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36118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L’estimation confidentielle est l’acte fondateur de tout marché public. En France, mêmes fondamentaux avec le DQE/DPGF. Triple compétence MOA + Exécution + BIM = positionnement rare sur le marché.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246120"/>
            <a:ext cx="320040" cy="32004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M’A APPORTÉ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6118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BIMCO est né de ce parcours. Le BIM est l’outil qui manquait pour industrialiser la méthode métrés + estimation développée sur le terrain. Le BTS MEC formalise 8 ans de pratique.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BIM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BIM &amp; PERSPECTIVES BIMCO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AFPA Colmar + Projet professionnel 2026–2029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14/15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BIM – CAS AFPA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extraits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7452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7452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vs métré manuel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0040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clashs résolus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201168" cy="201168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Revit Architecture + Structure (LOD 300)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862072"/>
            <a:ext cx="201168" cy="201168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62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8437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IFC 2x3 – Open BIM – MVD Coordination View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clashs Navisworks (12 conflits résolus)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8640" y="3648456"/>
            <a:ext cx="201168" cy="201168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48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630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quantités Revit + Dynamo (2h vs 2 jours)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023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Chiffrage avec traçabilité maquette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63440" y="128016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691640"/>
            <a:ext cx="731520" cy="2743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MEC + premières prestations BIMCO : métrés BIM, études de prix, DPGF. Premiers plugins Revit/Dynamo.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46320" y="2697480"/>
            <a:ext cx="731520" cy="2743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Revit → DPGF automatisé. App web suivi économique. Base prix Batiprix. 3–5 clients.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3703320"/>
            <a:ext cx="731520" cy="2743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2029+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023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ingénierie BIM + éco construction. SaaS MEC. Équipe 3–5 personnes. CA 200–300 k€/an.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7A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BTS MEC U62 · Session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731520"/>
            <a:ext cx="3291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23560" y="804672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6" name="Text 4"/>
          <p:cNvSpPr/>
          <p:nvPr/>
        </p:nvSpPr>
        <p:spPr>
          <a:xfrm>
            <a:off x="5623560" y="804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89320" y="804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compétences terrain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Estimer, analyser, suivre, coordonner, contrôler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691640"/>
            <a:ext cx="3291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1764792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17647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lecture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Maroc + exécution France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651760"/>
            <a:ext cx="3291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2724912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2724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de l’écrit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attachements, CR – le rempart contre les litiges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3611880"/>
            <a:ext cx="3291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0" y="3685032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3685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BIMCO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rigueur terrain + les outils numériques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· N° 02537399911 · Académie de Lyon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BIMCO | gestion.bimco-consulting.fr | Bussières, Loire 42510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ans BTP · 2 pays · 7 marchés publics · 82,5 M DH gérés · Triple compétence MOA + Exécution + BIM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d’Activités Professionnelles – BTS MEC U62 – Session 2026</dc:title>
  <dc:subject>PptxGenJS Presentation</dc:subject>
  <dc:creator>BAHAFID Mohamed</dc:creator>
  <cp:lastModifiedBy>BAHAFID Mohamed</cp:lastModifiedBy>
  <cp:revision>1</cp:revision>
  <dcterms:created xsi:type="dcterms:W3CDTF">2026-03-23T11:36:54Z</dcterms:created>
  <dcterms:modified xsi:type="dcterms:W3CDTF">2026-03-23T11:36:54Z</dcterms:modified>
</cp:coreProperties>
</file>