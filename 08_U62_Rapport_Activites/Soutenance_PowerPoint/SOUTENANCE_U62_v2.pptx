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Budget</c:v>
                </c:pt>
              </c:strCache>
            </c:strRef>
          </c:tx>
          <c:spPr>
            <a:solidFill>
              <a:schemeClr val="accent1"/>
            </a:solidFill>
            <a:ln w="9525" cap="flat">
              <a:solidFill>
                <a:srgbClr val="F9F9F9"/>
              </a:solidFill>
              <a:prstDash val="solid"/>
              <a:round/>
            </a:ln>
            <a:effectLst/>
          </c:spPr>
          <c:dPt>
            <c:idx val="0"/>
            <c:bubble3D val="0"/>
            <c:spPr>
              <a:solidFill>
                <a:srgbClr val="007A7F"/>
              </a:solidFill>
              <a:effectLst/>
            </c:spPr>
          </c:dPt>
          <c:dPt>
            <c:idx val="1"/>
            <c:bubble3D val="0"/>
            <c:spPr>
              <a:solidFill>
                <a:srgbClr val="00A3A8"/>
              </a:solidFill>
              <a:effectLst/>
            </c:spPr>
          </c:dPt>
          <c:dPt>
            <c:idx val="2"/>
            <c:bubble3D val="0"/>
            <c:spPr>
              <a:solidFill>
                <a:srgbClr val="4DB8BD"/>
              </a:solidFill>
              <a:effectLst/>
            </c:spPr>
          </c:dPt>
          <c:dPt>
            <c:idx val="3"/>
            <c:bubble3D val="0"/>
            <c:spPr>
              <a:solidFill>
                <a:srgbClr val="80CED1"/>
              </a:solidFill>
              <a:effectLst/>
            </c:spPr>
          </c:dPt>
          <c:dPt>
            <c:idx val="4"/>
            <c:bubble3D val="0"/>
            <c:spPr>
              <a:solidFill>
                <a:srgbClr val="B3E4E6"/>
              </a:solidFill>
              <a:effectLst/>
            </c:spPr>
          </c:dPt>
          <c:dPt>
            <c:idx val="5"/>
            <c:bubble3D val="0"/>
            <c:spPr>
              <a:solidFill>
                <a:srgbClr val="E0F4F5"/>
              </a:solidFill>
              <a:effectLst/>
            </c:spPr>
          </c:dPt>
          <c:dPt>
            <c:idx val="6"/>
            <c:bubble3D val="0"/>
            <c:spPr>
              <a:solidFill>
                <a:srgbClr val="D97706"/>
              </a:solidFill>
              <a:effectLst/>
            </c:spPr>
          </c:dPt>
          <c:dPt>
            <c:idx val="7"/>
            <c:bubble3D val="0"/>
            <c:spPr>
              <a:solidFill>
                <a:srgbClr val="F5DEB3"/>
              </a:solidFill>
              <a:effectLst/>
            </c:spPr>
          </c:dPt>
          <c:dLbls>
            <c:dLbl>
              <c:idx val="0"/>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dLbl>
              <c:idx val="5"/>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dLbl>
              <c:idx val="6"/>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dLbl>
              <c:idx val="7"/>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Sheet1!$A$2:$A$9</c:f>
              <c:strCache>
                <c:ptCount val="8"/>
                <c:pt idx="0">
                  <c:v>Assainissement</c:v>
                </c:pt>
                <c:pt idx="1">
                  <c:v>Chaussée</c:v>
                </c:pt>
                <c:pt idx="2">
                  <c:v>Éclairage</c:v>
                </c:pt>
                <c:pt idx="3">
                  <c:v>Trottoirs</c:v>
                </c:pt>
                <c:pt idx="4">
                  <c:v>Murs</c:v>
                </c:pt>
                <c:pt idx="5">
                  <c:v>Signalisation</c:v>
                </c:pt>
                <c:pt idx="6">
                  <c:v>Paysager</c:v>
                </c:pt>
                <c:pt idx="7">
                  <c:v>Mobilier</c:v>
                </c:pt>
              </c:strCache>
            </c:strRef>
          </c:cat>
          <c:val>
            <c:numRef>
              <c:f>Sheet1!$B$2:$B$9</c:f>
              <c:numCache>
                <c:ptCount val="8"/>
                <c:pt idx="0">
                  <c:v>22</c:v>
                </c:pt>
                <c:pt idx="1">
                  <c:v>19</c:v>
                </c:pt>
                <c:pt idx="2">
                  <c:v>16</c:v>
                </c:pt>
                <c:pt idx="3">
                  <c:v>14</c:v>
                </c:pt>
                <c:pt idx="4">
                  <c:v>14</c:v>
                </c:pt>
                <c:pt idx="5">
                  <c:v>6</c:v>
                </c:pt>
                <c:pt idx="6">
                  <c:v>5</c:v>
                </c:pt>
                <c:pt idx="7">
                  <c:v>4</c:v>
                </c:pt>
              </c:numCache>
            </c:numRef>
          </c:val>
        </c:ser>
        <c:firstSliceAng val="0"/>
      </c:pieChart>
      <c:spPr>
        <a:noFill/>
        <a:ln>
          <a:noFill/>
        </a:ln>
        <a:effectLst/>
      </c:spPr>
    </c:plotArea>
    <c:legend>
      <c:legendPos val="b"/>
      <c:overlay val="0"/>
      <c:txPr>
        <a:bodyPr/>
        <a:lstStyle/>
        <a:p>
          <a:pPr>
            <a:defRPr sz="7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Budget</c:v>
                </c:pt>
              </c:strCache>
            </c:strRef>
          </c:tx>
          <c:spPr>
            <a:solidFill>
              <a:srgbClr val="007A7F"/>
            </a:solidFill>
            <a:effectLst/>
          </c:spPr>
          <c:invertIfNegative val="0"/>
          <c:dLbls>
            <c:numFmt formatCode="#,##0" sourceLinked="0"/>
            <c:txPr>
              <a:bodyPr/>
              <a:lstStyle/>
              <a:p>
                <a:pPr>
                  <a:defRPr b="0" i="0" strike="noStrike" sz="800" u="none">
                    <a:solidFill>
                      <a:srgbClr val="1E1E1E"/>
                    </a:solidFill>
                    <a:latin typeface="Arial"/>
                  </a:defRPr>
                </a:pPr>
              </a:p>
            </c:txPr>
            <c:showLegendKey val="0"/>
            <c:showVal val="1"/>
            <c:showCatName val="0"/>
            <c:showSerName val="0"/>
            <c:showPercent val="0"/>
            <c:showBubbleSize val="0"/>
            <c:showLeaderLines val="0"/>
          </c:dLbls>
          <c:cat>
            <c:multiLvlStrRef>
              <c:f>Sheet1!$A$2:$A$7</c:f>
              <c:multiLvlStrCache>
                <c:ptCount val="6"/>
                <c:lvl>
                  <c:pt idx="0">
                    <c:v>Corps chaussée</c:v>
                  </c:pt>
                  <c:pt idx="1">
                    <c:v>Ouv. hydrauliques</c:v>
                  </c:pt>
                  <c:pt idx="2">
                    <c:v>Terrassement</c:v>
                  </c:pt>
                  <c:pt idx="3">
                    <c:v>Revêtement</c:v>
                  </c:pt>
                  <c:pt idx="4">
                    <c:v>Bretelles/carrefour</c:v>
                  </c:pt>
                  <c:pt idx="5">
                    <c:v>Soutènement</c:v>
                  </c:pt>
                </c:lvl>
              </c:multiLvlStrCache>
            </c:multiLvlStrRef>
          </c:cat>
          <c:val>
            <c:numRef>
              <c:f>Sheet1!$B$2:$B$7</c:f>
              <c:numCache>
                <c:formatCode>General</c:formatCode>
                <c:ptCount val="6"/>
                <c:pt idx="0">
                  <c:v>30.1</c:v>
                </c:pt>
                <c:pt idx="1">
                  <c:v>28.1</c:v>
                </c:pt>
                <c:pt idx="2">
                  <c:v>17.9</c:v>
                </c:pt>
                <c:pt idx="3">
                  <c:v>10.7</c:v>
                </c:pt>
                <c:pt idx="4">
                  <c:v>11.3</c:v>
                </c:pt>
                <c:pt idx="5">
                  <c:v>1.9</c:v>
                </c:pt>
              </c:numCache>
            </c:numRef>
          </c:val>
        </c:ser>
        <c:dLbls>
          <c:numFmt formatCode="#,##0" sourceLinked="0"/>
          <c:txPr>
            <a:bodyPr/>
            <a:lstStyle/>
            <a:p>
              <a:pPr>
                <a:defRPr b="0" i="0" strike="noStrike" sz="800" u="none">
                  <a:solidFill>
                    <a:srgbClr val="1E1E1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666666"/>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radarChart>
        <c:radarStyle val="standard"/>
        <c:varyColors val="0"/>
        <c:ser>
          <c:idx val="0"/>
          <c:order val="0"/>
          <c:tx>
            <c:strRef>
              <c:f>Sheet1!$B$1</c:f>
              <c:strCache>
                <c:ptCount val="1"/>
                <c:pt idx="0">
                  <c:v>Niveau</c:v>
                </c:pt>
              </c:strCache>
            </c:strRef>
          </c:tx>
          <c:spPr>
            <a:solidFill>
              <a:srgbClr val="007A7F"/>
            </a:solidFill>
            <a:ln w="25400" cap="flat">
              <a:solidFill>
                <a:srgbClr val="007A7F"/>
              </a:solidFill>
              <a:prstDash val="solid"/>
              <a:round/>
            </a:ln>
            <a:effectLst/>
          </c:spPr>
          <c:invertIfNegative val="0"/>
          <c:marker>
            <c:symbol val="circle"/>
            <c:size val="6"/>
            <c:spPr>
              <a:solidFill>
                <a:srgbClr val="007A7F"/>
              </a:solidFill>
              <a:ln w="9525" cap="flat">
                <a:solidFill>
                  <a:srgbClr val="007A7F"/>
                </a:solidFill>
                <a:prstDash val="solid"/>
                <a:round/>
              </a:ln>
              <a:effectLst/>
            </c:spPr>
          </c:marker>
          <c:cat>
            <c:multiLvlStrRef>
              <c:f>Sheet1!$A$2:$A$8</c:f>
              <c:multiLvlStrCache>
                <c:ptCount val="7"/>
                <c:lvl>
                  <c:pt idx="0">
                    <c:v>Métrés</c:v>
                  </c:pt>
                  <c:pt idx="1">
                    <c:v>Estimation</c:v>
                  </c:pt>
                  <c:pt idx="2">
                    <c:v>Analyse AO</c:v>
                  </c:pt>
                  <c:pt idx="3">
                    <c:v>Suivi financier</c:v>
                  </c:pt>
                  <c:pt idx="4">
                    <c:v>Coordination</c:v>
                  </c:pt>
                  <c:pt idx="5">
                    <c:v>Cubatures</c:v>
                  </c:pt>
                  <c:pt idx="6">
                    <c:v>BIM</c:v>
                  </c:pt>
                </c:lvl>
              </c:multiLvlStrCache>
            </c:multiLvlStrRef>
          </c:cat>
          <c:val>
            <c:numRef>
              <c:f>Sheet1!$B$2:$B$8</c:f>
              <c:numCache>
                <c:formatCode>General</c:formatCode>
                <c:ptCount val="7"/>
                <c:pt idx="0">
                  <c:v>90</c:v>
                </c:pt>
                <c:pt idx="1">
                  <c:v>90</c:v>
                </c:pt>
                <c:pt idx="2">
                  <c:v>85</c:v>
                </c:pt>
                <c:pt idx="3">
                  <c:v>95</c:v>
                </c:pt>
                <c:pt idx="4">
                  <c:v>88</c:v>
                </c:pt>
                <c:pt idx="5">
                  <c:v>92</c:v>
                </c:pt>
                <c:pt idx="6">
                  <c:v>80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rad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33333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TITRE (1 min)
Bonjour, Mohamed BAHAFID, candidat libre BTS MEC session 2026, académie de Lyon.
En 8 ans dans le BTP, j'ai travaillé des deux côtés de la table : 3 ans côté maîtrise d'ouvrage au Maroc, 5 ans côté exécution en France.
C'est cette double lecture des projets qui structure tout ce rapport.
82,5 millions de dirhams d'investissements gérés, 7 marchés publics.
Aujourd'hui je dirige BIMCO, micro-entreprise spécialisée BIM et économie de la 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QUI SUIS-JE ? (1 min 30)
Mon parcours se décompose en 4 phases.
Phase 1 : au Maroc, de 2017 à 2022, technicien études et suivi au Conseil Régional de Béni Mellal. 3 ans d'activité effective sur les marchés publics – 7 marchés pour plus de 100 millions de dirhams. Métrés, estimation confidentielle, commissions d'AO, suivi financier.
Phase 2 : en France depuis 2022, chef d'équipe gros œuvre chez Ergalis à Feurs puis chef de chantier chez Minssieux à Mornant. Là j'ai appris les coûts réels de production.
Phase 3 : formation BIM à l'AFPA Colmar en 2024-2025. Titre professionnel Modeleur BIM, 8 mois.
Phase 4 : création de BIMCO en janvier 2026 et candidature BTS MEC en candidat libre.
Au total : 8 ans dans le BTP, 3 ans Maroc + 5 ans France. Chaque phase a enrichi la suivante.
[Si le jury demande : les 5 ans France incluent l'exécution terrain 2022-2024, la formation BIM 2024-2025 et BIMCO 2025-2026]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STRUCTURE D'ACCUEIL (1 min 30)
Le Conseil Régional de Béni Mellal-Khénifra couvre 5 provinces, 2,5 millions d'habitants.
J'étais rattaché à l'Agence d'Exécution des Projets, dirigée par M. DOGHMANI.
Mon poste : technicien études et suivi des travaux. Concrètement, quand un marché de 53 millions de dirhams devait être lancé, c'est moi qui établissais l'estimation confidentielle, rédigeais le DCE – CPS, règlement de consultation, bordereau des prix – puis suivais les travaux sur le terrain.
Le cadre réglementaire marocain impose une estimation confidentielle obligatoire avant tout appel d'offres. C'est cette pièce qui fixe le prix plafond.
5 missions principales que vous voyez sur la slide : métrés, DCE, analyse offres en commission, suivi financier mensuel, et visites terrain avec attachements contradictoires.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BIMCO (1 min)
BIMCO est né d'un constat simple : les outils BIM sont faits pour les architectes, pas pour celui qui chiffre.
J'ai créé BIMCO en janvier 2026 pour corriger ce manque.
La mission : extraire les métrés directement de la maquette numérique au lieu de les compter sur plan. Études de prix ancrées dans les coûts réels du terrain. Et développement de plugins Revit/Dynamo pour automatiser la chaîne mètre vers DPGF.
Mon positionnement est rare sur le marché : triple compétence MOA publique, exécution terrain, et BIM. Peu de professionnels combinent ces trois dimensions.
Côté technique : Revit API, C#, Dynamo, Python pour les plugins. React et Node.js pour les applications web. IFC et BIM360 pour la collaboration.
BIMCO est le prolongement direct de 8 ans d'expérience.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PROJET 1 (1 min)
Le Projet 1 : mise à niveau de 4 communes de la province de Khénifra.
53,5 millions de dirhams TTC, soit environ 4,8 millions d'euros. Marché unique couvrant 8 corps d'état, de l'assainissement au mobilier urbain, sur 4 sites distants de 20 à 80 km.
18 mois de suivi.
Comme vous le voyez sur le graphique, l'assainissement et la chaussée concentrent 41% du budget à eux seuls.
C'est sur ce projet que se déroulent les 4 premières situations de mon rapport.
Le détail des 8 corps d'état est dans le tableau à gauche – je ne vais pas les lire, vous les avez dans le rapport page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SITUATIONS 1 &amp; 2 (2 min)
SITUATION 1 – L'estimation confidentielle d'Ouaoumana.
15,8 millions de dirhams, 35% du budget global. Je devais fixer le prix plafond avant l'appel d'offres, en 3 semaines.
Le problème : la mercuriale de référence datait de 2014. Les prix des enrobés avaient dérivé de 15 à 22%. Impossible de chiffrer correctement avec des prix obsolètes.
J'ai croisé 3 sources : mercuriale actualisée, 5 marchés similaires récemment adjugés, et 8 devis fournisseurs.
Résultat : 3,2% d'écart avec l'offre retenue. La norme c'est 5 à 10%. La méthode a été adoptée comme standard par l'Agence.
SITUATION 2 – L'analyse des offres en commission.
3 entreprises soumissionnaires. Un dossier avec 7 erreurs arithmétiques. Un autre avec des prix anormalement bas sur 42% du montant – des écarts de 25 à 33%.
J'ai construit une grille de notation sur 100 points : 60 technique, 40 financier. J'ai demandé une justification écrite pour les prix bas.
Résultat : 94/100 pour l'entreprise retenue, attribution en 15 jours, zéro recours déposé.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SITUATIONS 3 &amp; 4 (2 min 30)
SITUATION 3 – Le suivi financier de Kerrouchen. C'est le cœur de mon rapport.
7,3 millions de dirhams sur 18 mois. À mi-parcours, la chaussée dérape de +12% à cause du terrain rocheux, les murs de +15%.
En extrapolant : +4,8% de dépassement. Le seuil d'avenant est à 5%. Si on le dépasse, c'est 3 à 6 mois de blocage administratif.
J'ai mis en place un tableau de bord hebdomadaire à 3 indicateurs et proposé une compensation : réduire le paysager de 44 000 DH et le mobilier de 12 000 DH.
Résultat : +0,8% final. Aucun avenant. Le tableau de bord a été répliqué sur les 3 autres communes.
SITUATION 4 – La coordination multi-sites.
La semaine 23, tout s'accélère. 3 crises en même temps : retard enrobés à Ouaoumana, alerte météo à Kerrouchen, litige bordures à Sebt Ait Rahou avec 15% d'écart.
J'ai traité les 3 fronts en 48 heures. Note au Directeur, OS d'arrêt avec photos datées, re-mesurage contradictoire sur place.
Le litige est tombé de 15% à 2,3%. Le modèle de compte-rendu créé dans l'urgence est devenu le standard de l'Agence.
C'est cette semaine 23 qui m'a appris que l'écrit systématique est le seul rempart contre les litiges.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PROJET 2 (1 min)
Deuxième projet : la route Lehri-Kerrouchen. 25 kilomètres en zone montagneuse du Moyen Atlas.
29 millions de dirhams TTC, programme national des routes rurales PRR3.
Dénivelé cumulé de 400 mètres, pentes à 12% en lacets. 53 prix au bordereau.
Le poste dominant : corps de chaussée à 30% du budget, suivi des ouvrages hydrauliques à 28%. Ce ratio drainage/chaussée dépasse de 2,5 fois celui d'une route en plaine – c'est la signature budgétaire d'un chantier montagneux.
120 334 mètres cubes de déblais à vérifier. C'est l'objet de la situation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SITUATION 5 (1 min 30)
Le contrôle des cubatures.
Au kilomètre 12, surprise : du calcaire fracturé que l'étude géotechnique n'avait pas détecté.
5 000 mètres cubes à reclassifier en déblais rocheux. Le coût passe de 28 à 85 dirhams le mètre cube. Surcoût immédiat : 285 000 DH. L'écart cumulé montait à +8% du budget.
Ma réponse : profils en travers tous les 25 mètres, relevés GPS contradictoires tous les 500 ml avec le conducteur de travaux.
En parallèle, 3 dalots béton armé dimensionnés avec le bureau d'études NOVEC pour les passages en fond de vallée.
Résultat : surcoût intégralement absorbé par compensation. Réception sans avenant, sans réclamation.
Ce contrôle m'a appris qu'il faut aller sur le terrain, systématiquement.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ACTIVITÉS COMPLÉMENTAIRES (1 min)
En parallèle des deux projets principaux, j'ai suivi 5 autres marchés couvrant des types d'infrastructures différents : routes rurales, pistes, adduction d'eau potable et voirie urbaine.
Ces missions m'ont permis de construire une vision transversale de la maîtrise d'ouvrage publique.
Côté France : chef d'équipe gros œuvre chez Ergalis à Feurs, puis chef de chantier chez Minssieux à Mornant.
L'apport essentiel de cette expérience terrain : comprendre les coûts réels de production. Main-d'œuvre, rendements, consommation matériaux. Connaître le chantier de l'intérieur change profondément la façon d'estimer.
Au total : 4 types d'infrastructures maîtrisées.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SYNTHÈSE DES COMPÉTENCES (1 min)
Vous avez le détail page 23 du rapport.
Ce que je retiens : 8 sous-compétences du BTS MEC mobilisées, toutes pratiquées en situation réelle sous contrainte.
Deux compétences au niveau Expert : le suivi financier, grâce au tableau de bord qui est devenu un outil de référence, et le contrôle des quantités, avec la méthode de contrôle contradictoire GPS que j'ai systématisée.
Les autres compétences sont au niveau Maîtrise – pratique régulière et autonome.
Le radar à droite montre que le suivi financier est mon point le plus fort à 95%, et le BIM à 80% est en progression, c'est la compétence la plus récente.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ANALYSE MAROC / FRANCE (1 min 30)
Les deux systèmes partagent les mêmes principes fondamentaux : transparence, égalité de traitement, mise en concurrence.
CPS au Maroc, CCAP en France – les noms changent mais la logique est la même.
L'estimation confidentielle au Maroc est obligatoire – c'est elle qui fixe le prix plafond. En France, on retrouve le même mécanisme avec l'estimation du maître d'ouvrage.
Le suivi se fait par attachements contradictoires au Maroc, par situations mensuelles en France. Les deux exigent la même rigueur documentaire.
Ce que cette double expérience m'apporte concrètement :
Côté MOA au Maroc : j'ai appris à concevoir les marchés, à rédiger les pièces, à analyser les offres.
Côté exécution en France : j'ai appris les coûts réels, les rendements, les contraintes terrain.
La combinaison des deux rend mes estimations réalistes – ni trop basses, ni trop hautes.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BILAN RÉFLEXIF (2 min) – SLIDE IMPORTANTE POUR LE JURY
Cette slide montre ma capacité de recul. Le jury attend ça. Structure ADM identique au rapport papier page 26.
A – CE QUE J'AI APPRIS :
La leçon la plus forte vient de la semaine 23 : l'écrit systématique – ordres de service, attachements contradictoires, CR consolidés – est le seul rempart réel contre les litiges. Sans la trace écrite signée à Kerrouchen, le dépassement de 0,8% aurait pu être contesté.
Croiser 3 sources de prix m'a donné un écart de 3,2% là où les estimations régionales dépassaient 10%.
D – CE QUE JE FERAIS DIFFÉREMMENT :
Si c'était à refaire : tableau de bord dès le 1er mois, pas au 9ème quand le signal était déjà à +4,8%. Le problème détecté tôt coûte dix fois moins cher à corriger.
Et j'aurais insisté pour une étude géotechnique complémentaire : la reclassification de 5 000 m³ en déblais rocheux aurait pu être anticipée.
M – CE QUE J'APPORTE AU BTS MEC :
L'estimation confidentielle est l'acte fondateur de tout marché public. En France, mêmes fondamentaux avec le DQE/DPGF. La triple compétence MOA + Exécution + BIM est rare sur le marché – c'est ce positionnement que traduit BIMCO.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PROTOCOLE BIM &amp; PERSPECTIVES (1 min 30)
À gauche : le protocole BIM que j'ai pratiqué à l'AFPA Colmar.
Bâtiment R+2, modélisé en LOD 300. 78 postes de métrés extraits automatiquement en 2 heures – contre 2 jours en méthode traditionnelle.
Écart avec le métré manuel : seulement 1,8%. Et 12 clashs structure/réseaux détectés et résolus en amont du chantier.
Le workflow en 6 étapes : modélisation Revit, export IFC, détection clashs Navisworks, extraction quantités avec Dynamo, puis chiffrage avec traçabilité maquette.
À droite : mon projet professionnel sur 3 horizons.
Court terme 2026 : obtenir ce BTS MEC, premières prestations BIMCO.
Moyen terme 2027-28 : un plugin Revit qui génère automatiquement le DPGF depuis la maquette. App web de suivi économique. 3 à 5 clients.
Long terme 2029+ : BIMCO devient un cabinet d'ingénierie BIM + économie de la construction, avec une équipe de 3 à 5 personnes.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CONCLUSION (1 min 30)
Ce rapport démontre une chose : je sais résoudre un problème sous contrainte – délai, budget, aléas géologiques, coordination de crise.
4 points clés :
1. Cinq compétences construites sur le terrain : estimer, analyser, suivre, coordonner, contrôler. Acquises par la pratique, pas par la théorie.
2. Une double lecture des projets : côté MOA au Maroc, côté exécution en France. Comprendre les enjeux des deux côtés de la table change la façon d'estimer.
3. La rigueur de l'écrit : OS, attachements contradictoires, CR consolidés. Le seul rempart réel contre les litiges.
4. BIMCO : un bureau où la rigueur terrain rencontre les outils numériques.
Le BTS MEC ne valide pas seulement un diplôme. Il valide 8 ans de terrain, de chiffres et de chantiers. Et il ouvre la voie à ce que je veux construire avec BIMCO.
Merci pour votre attention. Je suis disponible pour répondre à vos questions.
[TIMING TOTAL VISÉ : 18-20 minutes – garder 2 min de marge pour ne pas dépasser]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7A7F"/>
        </a:solidFill>
      </p:bgPr>
    </p:bg>
    <p:spTree>
      <p:nvGrpSpPr>
        <p:cNvPr id="1" name=""/>
        <p:cNvGrpSpPr/>
        <p:nvPr/>
      </p:nvGrpSpPr>
      <p:grpSpPr>
        <a:xfrm>
          <a:off x="0" y="0"/>
          <a:ext cx="0" cy="0"/>
          <a:chOff x="0" y="0"/>
          <a:chExt cx="0" cy="0"/>
        </a:xfrm>
      </p:grpSpPr>
      <p:sp>
        <p:nvSpPr>
          <p:cNvPr id="2" name="Text 0"/>
          <p:cNvSpPr/>
          <p:nvPr/>
        </p:nvSpPr>
        <p:spPr>
          <a:xfrm>
            <a:off x="457200" y="274320"/>
            <a:ext cx="1828800" cy="365760"/>
          </a:xfrm>
          <a:prstGeom prst="rect">
            <a:avLst/>
          </a:prstGeom>
          <a:noFill/>
          <a:ln/>
        </p:spPr>
        <p:txBody>
          <a:bodyPr wrap="square" lIns="0" tIns="0" rIns="0" bIns="0" rtlCol="0" anchor="ctr"/>
          <a:lstStyle/>
          <a:p>
            <a:pPr indent="0" marL="0">
              <a:buNone/>
            </a:pPr>
            <a:r>
              <a:rPr lang="en-US" sz="1100" spc="600" kern="0" dirty="0">
                <a:solidFill>
                  <a:srgbClr val="E0F4F5"/>
                </a:solidFill>
                <a:latin typeface="Calibri" pitchFamily="34" charset="0"/>
                <a:ea typeface="Calibri" pitchFamily="34" charset="-122"/>
                <a:cs typeface="Calibri" pitchFamily="34" charset="-120"/>
              </a:rPr>
              <a:t>U62</a:t>
            </a:r>
            <a:endParaRPr lang="en-US" sz="1100" dirty="0"/>
          </a:p>
        </p:txBody>
      </p:sp>
      <p:sp>
        <p:nvSpPr>
          <p:cNvPr id="3" name="Text 1"/>
          <p:cNvSpPr/>
          <p:nvPr/>
        </p:nvSpPr>
        <p:spPr>
          <a:xfrm>
            <a:off x="457200" y="914400"/>
            <a:ext cx="5486400" cy="228600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Rapport</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d’Activités</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Professionnelles</a:t>
            </a:r>
            <a:endParaRPr lang="en-US" sz="3600" dirty="0"/>
          </a:p>
        </p:txBody>
      </p:sp>
      <p:sp>
        <p:nvSpPr>
          <p:cNvPr id="4" name="Text 2"/>
          <p:cNvSpPr/>
          <p:nvPr/>
        </p:nvSpPr>
        <p:spPr>
          <a:xfrm>
            <a:off x="457200" y="3200400"/>
            <a:ext cx="4572000" cy="274320"/>
          </a:xfrm>
          <a:prstGeom prst="rect">
            <a:avLst/>
          </a:prstGeom>
          <a:noFill/>
          <a:ln/>
        </p:spPr>
        <p:txBody>
          <a:bodyPr wrap="square" lIns="0" tIns="0" rIns="0" bIns="0" rtlCol="0" anchor="ctr"/>
          <a:lstStyle/>
          <a:p>
            <a:pPr indent="0" marL="0">
              <a:buNone/>
            </a:pPr>
            <a:r>
              <a:rPr lang="en-US" sz="1000" spc="300" kern="0" dirty="0">
                <a:solidFill>
                  <a:srgbClr val="E0F4F5"/>
                </a:solidFill>
                <a:latin typeface="Calibri" pitchFamily="34" charset="0"/>
                <a:ea typeface="Calibri" pitchFamily="34" charset="-122"/>
                <a:cs typeface="Calibri" pitchFamily="34" charset="-120"/>
              </a:rPr>
              <a:t>BTS MEC · SESSION 2026</a:t>
            </a:r>
            <a:endParaRPr lang="en-US" sz="1000" dirty="0"/>
          </a:p>
        </p:txBody>
      </p:sp>
      <p:sp>
        <p:nvSpPr>
          <p:cNvPr id="5" name="Shape 3"/>
          <p:cNvSpPr/>
          <p:nvPr/>
        </p:nvSpPr>
        <p:spPr>
          <a:xfrm>
            <a:off x="6400800" y="1097280"/>
            <a:ext cx="2377440" cy="2926080"/>
          </a:xfrm>
          <a:prstGeom prst="rect">
            <a:avLst/>
          </a:prstGeom>
          <a:solidFill>
            <a:srgbClr val="FFFFFF"/>
          </a:solidFill>
          <a:ln/>
          <a:effectLst>
            <a:outerShdw sx="100000" sy="100000" kx="0" ky="0" algn="bl" rotWithShape="0" blurRad="50800" dist="19050" dir="8100000">
              <a:srgbClr val="000000">
                <a:alpha val="10000"/>
              </a:srgbClr>
            </a:outerShdw>
          </a:effectLst>
        </p:spPr>
      </p:sp>
      <p:sp>
        <p:nvSpPr>
          <p:cNvPr id="6" name="Text 4"/>
          <p:cNvSpPr/>
          <p:nvPr/>
        </p:nvSpPr>
        <p:spPr>
          <a:xfrm>
            <a:off x="6629400" y="1234440"/>
            <a:ext cx="1920240" cy="2651760"/>
          </a:xfrm>
          <a:prstGeom prst="rect">
            <a:avLst/>
          </a:prstGeom>
          <a:noFill/>
          <a:ln/>
        </p:spPr>
        <p:txBody>
          <a:bodyPr wrap="square" lIns="0" tIns="0" rIns="0" bIns="0" rtlCol="0" anchor="ctr"/>
          <a:lstStyle/>
          <a:p>
            <a:pPr algn="ctr" indent="0" marL="0">
              <a:buNone/>
            </a:pPr>
            <a:r>
              <a:rPr lang="en-US" sz="2200" b="1" dirty="0">
                <a:solidFill>
                  <a:srgbClr val="1E1E1E"/>
                </a:solidFill>
                <a:latin typeface="Calibri" pitchFamily="34" charset="0"/>
                <a:ea typeface="Calibri" pitchFamily="34" charset="-122"/>
                <a:cs typeface="Calibri" pitchFamily="34" charset="-120"/>
              </a:rPr>
              <a:t>8 ans</a:t>
            </a:r>
            <a:endParaRPr lang="en-US" sz="2200" dirty="0"/>
          </a:p>
          <a:p>
            <a:pPr algn="ctr" indent="0" marL="0">
              <a:buNone/>
            </a:pPr>
            <a:r>
              <a:rPr lang="en-US" sz="900" dirty="0">
                <a:solidFill>
                  <a:srgbClr val="666666"/>
                </a:solidFill>
                <a:latin typeface="Calibri" pitchFamily="34" charset="0"/>
                <a:ea typeface="Calibri" pitchFamily="34" charset="-122"/>
                <a:cs typeface="Calibri" pitchFamily="34" charset="-120"/>
              </a:rPr>
              <a:t>Expérience BTP</a:t>
            </a:r>
            <a:endParaRPr lang="en-US" sz="2200" dirty="0"/>
          </a:p>
          <a:p>
            <a:pPr algn="ctr" indent="0" marL="0">
              <a:buNone/>
            </a:pPr>
            <a:endParaRPr lang="en-US" sz="2200" dirty="0"/>
          </a:p>
          <a:p>
            <a:pPr algn="ctr" indent="0" marL="0">
              <a:buNone/>
            </a:pPr>
            <a:r>
              <a:rPr lang="en-US" sz="2200" b="1" dirty="0">
                <a:solidFill>
                  <a:srgbClr val="1E1E1E"/>
                </a:solidFill>
                <a:latin typeface="Calibri" pitchFamily="34" charset="0"/>
                <a:ea typeface="Calibri" pitchFamily="34" charset="-122"/>
                <a:cs typeface="Calibri" pitchFamily="34" charset="-120"/>
              </a:rPr>
              <a:t>2 pays</a:t>
            </a:r>
            <a:endParaRPr lang="en-US" sz="2200" dirty="0"/>
          </a:p>
          <a:p>
            <a:pPr algn="ctr" indent="0" marL="0">
              <a:buNone/>
            </a:pPr>
            <a:r>
              <a:rPr lang="en-US" sz="900" dirty="0">
                <a:solidFill>
                  <a:srgbClr val="666666"/>
                </a:solidFill>
                <a:latin typeface="Calibri" pitchFamily="34" charset="0"/>
                <a:ea typeface="Calibri" pitchFamily="34" charset="-122"/>
                <a:cs typeface="Calibri" pitchFamily="34" charset="-120"/>
              </a:rPr>
              <a:t>Maroc + France</a:t>
            </a:r>
            <a:endParaRPr lang="en-US" sz="2200" dirty="0"/>
          </a:p>
          <a:p>
            <a:pPr algn="ctr" indent="0" marL="0">
              <a:buNone/>
            </a:pPr>
            <a:endParaRPr lang="en-US" sz="2200" dirty="0"/>
          </a:p>
          <a:p>
            <a:pPr algn="ctr" indent="0" marL="0">
              <a:buNone/>
            </a:pPr>
            <a:r>
              <a:rPr lang="en-US" sz="2200" b="1" dirty="0">
                <a:solidFill>
                  <a:srgbClr val="1E1E1E"/>
                </a:solidFill>
                <a:latin typeface="Calibri" pitchFamily="34" charset="0"/>
                <a:ea typeface="Calibri" pitchFamily="34" charset="-122"/>
                <a:cs typeface="Calibri" pitchFamily="34" charset="-120"/>
              </a:rPr>
              <a:t>82,5 M DH</a:t>
            </a:r>
            <a:endParaRPr lang="en-US" sz="2200" dirty="0"/>
          </a:p>
          <a:p>
            <a:pPr algn="ctr" indent="0" marL="0">
              <a:buNone/>
            </a:pPr>
            <a:r>
              <a:rPr lang="en-US" sz="900" dirty="0">
                <a:solidFill>
                  <a:srgbClr val="666666"/>
                </a:solidFill>
                <a:latin typeface="Calibri" pitchFamily="34" charset="0"/>
                <a:ea typeface="Calibri" pitchFamily="34" charset="-122"/>
                <a:cs typeface="Calibri" pitchFamily="34" charset="-120"/>
              </a:rPr>
              <a:t>Investissements gérés</a:t>
            </a:r>
            <a:endParaRPr lang="en-US" sz="2200" dirty="0"/>
          </a:p>
          <a:p>
            <a:pPr algn="ctr" indent="0" marL="0">
              <a:buNone/>
            </a:pPr>
            <a:endParaRPr lang="en-US" sz="2200" dirty="0"/>
          </a:p>
          <a:p>
            <a:pPr algn="ctr" indent="0" marL="0">
              <a:buNone/>
            </a:pPr>
            <a:r>
              <a:rPr lang="en-US" sz="2200" b="1" dirty="0">
                <a:solidFill>
                  <a:srgbClr val="1E1E1E"/>
                </a:solidFill>
                <a:latin typeface="Calibri" pitchFamily="34" charset="0"/>
                <a:ea typeface="Calibri" pitchFamily="34" charset="-122"/>
                <a:cs typeface="Calibri" pitchFamily="34" charset="-120"/>
              </a:rPr>
              <a:t>7 marchés</a:t>
            </a:r>
            <a:endParaRPr lang="en-US" sz="2200" dirty="0"/>
          </a:p>
          <a:p>
            <a:pPr algn="ctr" indent="0" marL="0">
              <a:buNone/>
            </a:pPr>
            <a:r>
              <a:rPr lang="en-US" sz="900" dirty="0">
                <a:solidFill>
                  <a:srgbClr val="666666"/>
                </a:solidFill>
                <a:latin typeface="Calibri" pitchFamily="34" charset="0"/>
                <a:ea typeface="Calibri" pitchFamily="34" charset="-122"/>
                <a:cs typeface="Calibri" pitchFamily="34" charset="-120"/>
              </a:rPr>
              <a:t>publics</a:t>
            </a:r>
            <a:endParaRPr lang="en-US" sz="2200" dirty="0"/>
          </a:p>
        </p:txBody>
      </p:sp>
      <p:sp>
        <p:nvSpPr>
          <p:cNvPr id="7" name="Text 5"/>
          <p:cNvSpPr/>
          <p:nvPr/>
        </p:nvSpPr>
        <p:spPr>
          <a:xfrm>
            <a:off x="457200" y="4297680"/>
            <a:ext cx="5486400" cy="640080"/>
          </a:xfrm>
          <a:prstGeom prst="rect">
            <a:avLst/>
          </a:prstGeom>
          <a:noFill/>
          <a:ln/>
        </p:spPr>
        <p:txBody>
          <a:bodyPr wrap="square" lIns="0" tIns="0" rIns="0" bIns="0" rtlCol="0" anchor="ctr"/>
          <a:lstStyle/>
          <a:p>
            <a:pPr indent="0" marL="0">
              <a:buNone/>
            </a:pPr>
            <a:r>
              <a:rPr lang="en-US" sz="1000" b="1" dirty="0">
                <a:solidFill>
                  <a:srgbClr val="E0F4F5"/>
                </a:solidFill>
                <a:latin typeface="Calibri" pitchFamily="34" charset="0"/>
                <a:ea typeface="Calibri" pitchFamily="34" charset="-122"/>
                <a:cs typeface="Calibri" pitchFamily="34" charset="-120"/>
              </a:rPr>
              <a:t>BAHAFID Mohamed</a:t>
            </a:r>
            <a:endParaRPr lang="en-US" sz="1000" dirty="0"/>
          </a:p>
          <a:p>
            <a:pPr indent="0" marL="0">
              <a:buNone/>
            </a:pPr>
            <a:r>
              <a:rPr lang="en-US" sz="1000" dirty="0">
                <a:solidFill>
                  <a:srgbClr val="E0F4F5"/>
                </a:solidFill>
                <a:latin typeface="Calibri" pitchFamily="34" charset="0"/>
                <a:ea typeface="Calibri" pitchFamily="34" charset="-122"/>
                <a:cs typeface="Calibri" pitchFamily="34" charset="-120"/>
              </a:rPr>
              <a:t>N° 02537399911 · Académie de Lyon · BIMCO</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A7F"/>
          </a:solidFill>
          <a:ln/>
        </p:spPr>
      </p:sp>
      <p:sp>
        <p:nvSpPr>
          <p:cNvPr id="3" name="Shape 1"/>
          <p:cNvSpPr/>
          <p:nvPr/>
        </p:nvSpPr>
        <p:spPr>
          <a:xfrm>
            <a:off x="365760" y="164592"/>
            <a:ext cx="777240" cy="347472"/>
          </a:xfrm>
          <a:prstGeom prst="rect">
            <a:avLst/>
          </a:prstGeom>
          <a:solidFill>
            <a:srgbClr val="E0F4F5"/>
          </a:solidFill>
          <a:ln w="10160">
            <a:solidFill>
              <a:srgbClr val="007A7F"/>
            </a:solidFill>
            <a:prstDash val="solid"/>
          </a:ln>
        </p:spPr>
      </p:sp>
      <p:sp>
        <p:nvSpPr>
          <p:cNvPr id="4" name="Text 2"/>
          <p:cNvSpPr/>
          <p:nvPr/>
        </p:nvSpPr>
        <p:spPr>
          <a:xfrm>
            <a:off x="365760" y="164592"/>
            <a:ext cx="777240" cy="347472"/>
          </a:xfrm>
          <a:prstGeom prst="rect">
            <a:avLst/>
          </a:prstGeom>
          <a:noFill/>
          <a:ln/>
        </p:spPr>
        <p:txBody>
          <a:bodyPr wrap="square" lIns="0" tIns="0" rIns="0" bIns="0" rtlCol="0" anchor="ctr"/>
          <a:lstStyle/>
          <a:p>
            <a:pPr algn="ctr" indent="0" marL="0">
              <a:buNone/>
            </a:pPr>
            <a:r>
              <a:rPr lang="en-US" sz="900" b="1" dirty="0">
                <a:solidFill>
                  <a:srgbClr val="007A7F"/>
                </a:solidFill>
                <a:latin typeface="Calibri" pitchFamily="34" charset="0"/>
                <a:ea typeface="Calibri" pitchFamily="34" charset="-122"/>
                <a:cs typeface="Calibri" pitchFamily="34" charset="-120"/>
              </a:rPr>
              <a:t>Profil</a:t>
            </a:r>
            <a:endParaRPr lang="en-US" sz="900" dirty="0"/>
          </a:p>
        </p:txBody>
      </p:sp>
      <p:sp>
        <p:nvSpPr>
          <p:cNvPr id="5" name="Text 3"/>
          <p:cNvSpPr/>
          <p:nvPr/>
        </p:nvSpPr>
        <p:spPr>
          <a:xfrm>
            <a:off x="365760" y="566928"/>
            <a:ext cx="8412480" cy="411480"/>
          </a:xfrm>
          <a:prstGeom prst="rect">
            <a:avLst/>
          </a:prstGeom>
          <a:noFill/>
          <a:ln/>
        </p:spPr>
        <p:txBody>
          <a:bodyPr wrap="square" lIns="0" tIns="0" rIns="0" bIns="0" rtlCol="0" anchor="ctr"/>
          <a:lstStyle/>
          <a:p>
            <a:pPr indent="0" marL="0">
              <a:buNone/>
            </a:pPr>
            <a:r>
              <a:rPr lang="en-US" sz="1800" b="1" dirty="0">
                <a:solidFill>
                  <a:srgbClr val="1E1E1E"/>
                </a:solidFill>
                <a:latin typeface="Cambria" pitchFamily="34" charset="0"/>
                <a:ea typeface="Cambria" pitchFamily="34" charset="-122"/>
                <a:cs typeface="Cambria" pitchFamily="34" charset="-120"/>
              </a:rPr>
              <a:t>QUI SUIS-JE ?</a:t>
            </a:r>
            <a:endParaRPr lang="en-US" sz="1800" dirty="0"/>
          </a:p>
        </p:txBody>
      </p:sp>
      <p:sp>
        <p:nvSpPr>
          <p:cNvPr id="6" name="Text 4"/>
          <p:cNvSpPr/>
          <p:nvPr/>
        </p:nvSpPr>
        <p:spPr>
          <a:xfrm>
            <a:off x="365760" y="932688"/>
            <a:ext cx="8412480" cy="274320"/>
          </a:xfrm>
          <a:prstGeom prst="rect">
            <a:avLst/>
          </a:prstGeom>
          <a:noFill/>
          <a:ln/>
        </p:spPr>
        <p:txBody>
          <a:bodyPr wrap="square" lIns="0" tIns="0" rIns="0" bIns="0" rtlCol="0" anchor="ctr"/>
          <a:lstStyle/>
          <a:p>
            <a:pPr indent="0" marL="0">
              <a:buNone/>
            </a:pPr>
            <a:r>
              <a:rPr lang="en-US" sz="1000" dirty="0">
                <a:solidFill>
                  <a:srgbClr val="666666"/>
                </a:solidFill>
                <a:latin typeface="Calibri" pitchFamily="34" charset="0"/>
                <a:ea typeface="Calibri" pitchFamily="34" charset="-122"/>
                <a:cs typeface="Calibri" pitchFamily="34" charset="-120"/>
              </a:rPr>
              <a:t>Un profil construit en trois phases : MOA publique, exécution terrain, BIM</a:t>
            </a:r>
            <a:endParaRPr lang="en-US" sz="1000" dirty="0"/>
          </a:p>
        </p:txBody>
      </p:sp>
      <p:sp>
        <p:nvSpPr>
          <p:cNvPr id="7" name="Text 5"/>
          <p:cNvSpPr/>
          <p:nvPr/>
        </p:nvSpPr>
        <p:spPr>
          <a:xfrm>
            <a:off x="365760" y="4800600"/>
            <a:ext cx="8412480" cy="274320"/>
          </a:xfrm>
          <a:prstGeom prst="rect">
            <a:avLst/>
          </a:prstGeom>
          <a:noFill/>
          <a:ln/>
        </p:spPr>
        <p:txBody>
          <a:bodyPr wrap="square" rtlCol="0" anchor="ctr"/>
          <a:lstStyle/>
          <a:p>
            <a:pPr algn="r" indent="0" marL="0">
              <a:buNone/>
            </a:pPr>
            <a:r>
              <a:rPr lang="en-US" sz="700" dirty="0">
                <a:solidFill>
                  <a:srgbClr val="666666"/>
                </a:solidFill>
                <a:latin typeface="Calibri" pitchFamily="34" charset="0"/>
                <a:ea typeface="Calibri" pitchFamily="34" charset="-122"/>
                <a:cs typeface="Calibri" pitchFamily="34" charset="-120"/>
              </a:rPr>
              <a:t>BAHAFID Mohamed  ·  Rapport U62  ·  BTS MEC 2026  ·  2/15</a:t>
            </a:r>
            <a:endParaRPr lang="en-US" sz="700" dirty="0"/>
          </a:p>
        </p:txBody>
      </p:sp>
      <p:sp>
        <p:nvSpPr>
          <p:cNvPr id="8" name="Shape 6"/>
          <p:cNvSpPr/>
          <p:nvPr/>
        </p:nvSpPr>
        <p:spPr>
          <a:xfrm>
            <a:off x="365760" y="1325880"/>
            <a:ext cx="3931920" cy="3291840"/>
          </a:xfrm>
          <a:prstGeom prst="rect">
            <a:avLst/>
          </a:prstGeom>
          <a:solidFill>
            <a:srgbClr val="FFFFFF"/>
          </a:solidFill>
          <a:ln/>
          <a:effectLst>
            <a:outerShdw sx="100000" sy="100000" kx="0" ky="0" algn="bl" rotWithShape="0" blurRad="50800" dist="19050" dir="8100000">
              <a:srgbClr val="000000">
                <a:alpha val="10000"/>
              </a:srgbClr>
            </a:outerShdw>
          </a:effectLst>
        </p:spPr>
      </p:sp>
      <p:sp>
        <p:nvSpPr>
          <p:cNvPr id="9" name="Text 7"/>
          <p:cNvSpPr/>
          <p:nvPr/>
        </p:nvSpPr>
        <p:spPr>
          <a:xfrm>
            <a:off x="548640" y="1417320"/>
            <a:ext cx="3566160" cy="320040"/>
          </a:xfrm>
          <a:prstGeom prst="rect">
            <a:avLst/>
          </a:prstGeom>
          <a:noFill/>
          <a:ln/>
        </p:spPr>
        <p:txBody>
          <a:bodyPr wrap="square" lIns="0" tIns="0" rIns="0" bIns="0" rtlCol="0" anchor="ctr"/>
          <a:lstStyle/>
          <a:p>
            <a:pPr indent="0" marL="0">
              <a:buNone/>
            </a:pPr>
            <a:r>
              <a:rPr lang="en-US" sz="800" b="1" dirty="0">
                <a:solidFill>
                  <a:srgbClr val="007A7F"/>
                </a:solidFill>
                <a:latin typeface="Calibri" pitchFamily="34" charset="0"/>
                <a:ea typeface="Calibri" pitchFamily="34" charset="-122"/>
                <a:cs typeface="Calibri" pitchFamily="34" charset="-120"/>
              </a:rPr>
              <a:t>Candidat</a:t>
            </a:r>
            <a:pPr indent="0" marL="0">
              <a:buNone/>
            </a:pPr>
            <a:r>
              <a:rPr lang="en-US" sz="800" dirty="0">
                <a:solidFill>
                  <a:srgbClr val="333333"/>
                </a:solidFill>
                <a:latin typeface="Calibri" pitchFamily="34" charset="0"/>
                <a:ea typeface="Calibri" pitchFamily="34" charset="-122"/>
                <a:cs typeface="Calibri" pitchFamily="34" charset="-120"/>
              </a:rPr>
              <a:t>  BAHAFID Mohamed</a:t>
            </a:r>
            <a:endParaRPr lang="en-US" sz="800" dirty="0"/>
          </a:p>
        </p:txBody>
      </p:sp>
      <p:sp>
        <p:nvSpPr>
          <p:cNvPr id="10" name="Text 8"/>
          <p:cNvSpPr/>
          <p:nvPr/>
        </p:nvSpPr>
        <p:spPr>
          <a:xfrm>
            <a:off x="548640" y="1764792"/>
            <a:ext cx="3566160" cy="320040"/>
          </a:xfrm>
          <a:prstGeom prst="rect">
            <a:avLst/>
          </a:prstGeom>
          <a:noFill/>
          <a:ln/>
        </p:spPr>
        <p:txBody>
          <a:bodyPr wrap="square" lIns="0" tIns="0" rIns="0" bIns="0" rtlCol="0" anchor="ctr"/>
          <a:lstStyle/>
          <a:p>
            <a:pPr indent="0" marL="0">
              <a:buNone/>
            </a:pPr>
            <a:r>
              <a:rPr lang="en-US" sz="800" b="1" dirty="0">
                <a:solidFill>
                  <a:srgbClr val="007A7F"/>
                </a:solidFill>
                <a:latin typeface="Calibri" pitchFamily="34" charset="0"/>
                <a:ea typeface="Calibri" pitchFamily="34" charset="-122"/>
                <a:cs typeface="Calibri" pitchFamily="34" charset="-120"/>
              </a:rPr>
              <a:t>N° Candidat</a:t>
            </a:r>
            <a:pPr indent="0" marL="0">
              <a:buNone/>
            </a:pPr>
            <a:r>
              <a:rPr lang="en-US" sz="800" dirty="0">
                <a:solidFill>
                  <a:srgbClr val="333333"/>
                </a:solidFill>
                <a:latin typeface="Calibri" pitchFamily="34" charset="0"/>
                <a:ea typeface="Calibri" pitchFamily="34" charset="-122"/>
                <a:cs typeface="Calibri" pitchFamily="34" charset="-120"/>
              </a:rPr>
              <a:t>  02537399911</a:t>
            </a:r>
            <a:endParaRPr lang="en-US" sz="800" dirty="0"/>
          </a:p>
        </p:txBody>
      </p:sp>
      <p:sp>
        <p:nvSpPr>
          <p:cNvPr id="11" name="Text 9"/>
          <p:cNvSpPr/>
          <p:nvPr/>
        </p:nvSpPr>
        <p:spPr>
          <a:xfrm>
            <a:off x="548640" y="2112264"/>
            <a:ext cx="3566160" cy="320040"/>
          </a:xfrm>
          <a:prstGeom prst="rect">
            <a:avLst/>
          </a:prstGeom>
          <a:noFill/>
          <a:ln/>
        </p:spPr>
        <p:txBody>
          <a:bodyPr wrap="square" lIns="0" tIns="0" rIns="0" bIns="0" rtlCol="0" anchor="ctr"/>
          <a:lstStyle/>
          <a:p>
            <a:pPr indent="0" marL="0">
              <a:buNone/>
            </a:pPr>
            <a:r>
              <a:rPr lang="en-US" sz="800" b="1" dirty="0">
                <a:solidFill>
                  <a:srgbClr val="007A7F"/>
                </a:solidFill>
                <a:latin typeface="Calibri" pitchFamily="34" charset="0"/>
                <a:ea typeface="Calibri" pitchFamily="34" charset="-122"/>
                <a:cs typeface="Calibri" pitchFamily="34" charset="-120"/>
              </a:rPr>
              <a:t>Académie</a:t>
            </a:r>
            <a:pPr indent="0" marL="0">
              <a:buNone/>
            </a:pPr>
            <a:r>
              <a:rPr lang="en-US" sz="800" dirty="0">
                <a:solidFill>
                  <a:srgbClr val="333333"/>
                </a:solidFill>
                <a:latin typeface="Calibri" pitchFamily="34" charset="0"/>
                <a:ea typeface="Calibri" pitchFamily="34" charset="-122"/>
                <a:cs typeface="Calibri" pitchFamily="34" charset="-120"/>
              </a:rPr>
              <a:t>  Lyon</a:t>
            </a:r>
            <a:endParaRPr lang="en-US" sz="800" dirty="0"/>
          </a:p>
        </p:txBody>
      </p:sp>
      <p:sp>
        <p:nvSpPr>
          <p:cNvPr id="12" name="Text 10"/>
          <p:cNvSpPr/>
          <p:nvPr/>
        </p:nvSpPr>
        <p:spPr>
          <a:xfrm>
            <a:off x="548640" y="2459736"/>
            <a:ext cx="3566160" cy="320040"/>
          </a:xfrm>
          <a:prstGeom prst="rect">
            <a:avLst/>
          </a:prstGeom>
          <a:noFill/>
          <a:ln/>
        </p:spPr>
        <p:txBody>
          <a:bodyPr wrap="square" lIns="0" tIns="0" rIns="0" bIns="0" rtlCol="0" anchor="ctr"/>
          <a:lstStyle/>
          <a:p>
            <a:pPr indent="0" marL="0">
              <a:buNone/>
            </a:pPr>
            <a:r>
              <a:rPr lang="en-US" sz="800" b="1" dirty="0">
                <a:solidFill>
                  <a:srgbClr val="007A7F"/>
                </a:solidFill>
                <a:latin typeface="Calibri" pitchFamily="34" charset="0"/>
                <a:ea typeface="Calibri" pitchFamily="34" charset="-122"/>
                <a:cs typeface="Calibri" pitchFamily="34" charset="-120"/>
              </a:rPr>
              <a:t>Structure</a:t>
            </a:r>
            <a:pPr indent="0" marL="0">
              <a:buNone/>
            </a:pPr>
            <a:r>
              <a:rPr lang="en-US" sz="800" dirty="0">
                <a:solidFill>
                  <a:srgbClr val="333333"/>
                </a:solidFill>
                <a:latin typeface="Calibri" pitchFamily="34" charset="0"/>
                <a:ea typeface="Calibri" pitchFamily="34" charset="-122"/>
                <a:cs typeface="Calibri" pitchFamily="34" charset="-120"/>
              </a:rPr>
              <a:t>  Conseil Régional de Béni Mellal-Khénifra</a:t>
            </a:r>
            <a:endParaRPr lang="en-US" sz="800" dirty="0"/>
          </a:p>
        </p:txBody>
      </p:sp>
      <p:sp>
        <p:nvSpPr>
          <p:cNvPr id="13" name="Text 11"/>
          <p:cNvSpPr/>
          <p:nvPr/>
        </p:nvSpPr>
        <p:spPr>
          <a:xfrm>
            <a:off x="548640" y="2807208"/>
            <a:ext cx="3566160" cy="320040"/>
          </a:xfrm>
          <a:prstGeom prst="rect">
            <a:avLst/>
          </a:prstGeom>
          <a:noFill/>
          <a:ln/>
        </p:spPr>
        <p:txBody>
          <a:bodyPr wrap="square" lIns="0" tIns="0" rIns="0" bIns="0" rtlCol="0" anchor="ctr"/>
          <a:lstStyle/>
          <a:p>
            <a:pPr indent="0" marL="0">
              <a:buNone/>
            </a:pPr>
            <a:r>
              <a:rPr lang="en-US" sz="800" b="1" dirty="0">
                <a:solidFill>
                  <a:srgbClr val="007A7F"/>
                </a:solidFill>
                <a:latin typeface="Calibri" pitchFamily="34" charset="0"/>
                <a:ea typeface="Calibri" pitchFamily="34" charset="-122"/>
                <a:cs typeface="Calibri" pitchFamily="34" charset="-120"/>
              </a:rPr>
              <a:t>Poste</a:t>
            </a:r>
            <a:pPr indent="0" marL="0">
              <a:buNone/>
            </a:pPr>
            <a:r>
              <a:rPr lang="en-US" sz="800" dirty="0">
                <a:solidFill>
                  <a:srgbClr val="333333"/>
                </a:solidFill>
                <a:latin typeface="Calibri" pitchFamily="34" charset="0"/>
                <a:ea typeface="Calibri" pitchFamily="34" charset="-122"/>
                <a:cs typeface="Calibri" pitchFamily="34" charset="-120"/>
              </a:rPr>
              <a:t>  Technicien études et suivi des travaux</a:t>
            </a:r>
            <a:endParaRPr lang="en-US" sz="800" dirty="0"/>
          </a:p>
        </p:txBody>
      </p:sp>
      <p:sp>
        <p:nvSpPr>
          <p:cNvPr id="14" name="Text 12"/>
          <p:cNvSpPr/>
          <p:nvPr/>
        </p:nvSpPr>
        <p:spPr>
          <a:xfrm>
            <a:off x="548640" y="3154680"/>
            <a:ext cx="3566160" cy="320040"/>
          </a:xfrm>
          <a:prstGeom prst="rect">
            <a:avLst/>
          </a:prstGeom>
          <a:noFill/>
          <a:ln/>
        </p:spPr>
        <p:txBody>
          <a:bodyPr wrap="square" lIns="0" tIns="0" rIns="0" bIns="0" rtlCol="0" anchor="ctr"/>
          <a:lstStyle/>
          <a:p>
            <a:pPr indent="0" marL="0">
              <a:buNone/>
            </a:pPr>
            <a:r>
              <a:rPr lang="en-US" sz="800" b="1" dirty="0">
                <a:solidFill>
                  <a:srgbClr val="007A7F"/>
                </a:solidFill>
                <a:latin typeface="Calibri" pitchFamily="34" charset="0"/>
                <a:ea typeface="Calibri" pitchFamily="34" charset="-122"/>
                <a:cs typeface="Calibri" pitchFamily="34" charset="-120"/>
              </a:rPr>
              <a:t>Expérience</a:t>
            </a:r>
            <a:pPr indent="0" marL="0">
              <a:buNone/>
            </a:pPr>
            <a:r>
              <a:rPr lang="en-US" sz="800" dirty="0">
                <a:solidFill>
                  <a:srgbClr val="333333"/>
                </a:solidFill>
                <a:latin typeface="Calibri" pitchFamily="34" charset="0"/>
                <a:ea typeface="Calibri" pitchFamily="34" charset="-122"/>
                <a:cs typeface="Calibri" pitchFamily="34" charset="-120"/>
              </a:rPr>
              <a:t>  8 ans BTP (3 ans Maroc + 5 ans France)</a:t>
            </a:r>
            <a:endParaRPr lang="en-US" sz="800" dirty="0"/>
          </a:p>
        </p:txBody>
      </p:sp>
      <p:sp>
        <p:nvSpPr>
          <p:cNvPr id="15" name="Text 13"/>
          <p:cNvSpPr/>
          <p:nvPr/>
        </p:nvSpPr>
        <p:spPr>
          <a:xfrm>
            <a:off x="548640" y="3502152"/>
            <a:ext cx="3566160" cy="320040"/>
          </a:xfrm>
          <a:prstGeom prst="rect">
            <a:avLst/>
          </a:prstGeom>
          <a:noFill/>
          <a:ln/>
        </p:spPr>
        <p:txBody>
          <a:bodyPr wrap="square" lIns="0" tIns="0" rIns="0" bIns="0" rtlCol="0" anchor="ctr"/>
          <a:lstStyle/>
          <a:p>
            <a:pPr indent="0" marL="0">
              <a:buNone/>
            </a:pPr>
            <a:r>
              <a:rPr lang="en-US" sz="800" b="1" dirty="0">
                <a:solidFill>
                  <a:srgbClr val="007A7F"/>
                </a:solidFill>
                <a:latin typeface="Calibri" pitchFamily="34" charset="0"/>
                <a:ea typeface="Calibri" pitchFamily="34" charset="-122"/>
                <a:cs typeface="Calibri" pitchFamily="34" charset="-120"/>
              </a:rPr>
              <a:t>Formation BIM</a:t>
            </a:r>
            <a:pPr indent="0" marL="0">
              <a:buNone/>
            </a:pPr>
            <a:r>
              <a:rPr lang="en-US" sz="800" dirty="0">
                <a:solidFill>
                  <a:srgbClr val="333333"/>
                </a:solidFill>
                <a:latin typeface="Calibri" pitchFamily="34" charset="0"/>
                <a:ea typeface="Calibri" pitchFamily="34" charset="-122"/>
                <a:cs typeface="Calibri" pitchFamily="34" charset="-120"/>
              </a:rPr>
              <a:t>  Modeleur BIM – AFPA Colmar (8 mois)</a:t>
            </a:r>
            <a:endParaRPr lang="en-US" sz="800" dirty="0"/>
          </a:p>
        </p:txBody>
      </p:sp>
      <p:sp>
        <p:nvSpPr>
          <p:cNvPr id="16" name="Text 14"/>
          <p:cNvSpPr/>
          <p:nvPr/>
        </p:nvSpPr>
        <p:spPr>
          <a:xfrm>
            <a:off x="548640" y="3849624"/>
            <a:ext cx="3566160" cy="320040"/>
          </a:xfrm>
          <a:prstGeom prst="rect">
            <a:avLst/>
          </a:prstGeom>
          <a:noFill/>
          <a:ln/>
        </p:spPr>
        <p:txBody>
          <a:bodyPr wrap="square" lIns="0" tIns="0" rIns="0" bIns="0" rtlCol="0" anchor="ctr"/>
          <a:lstStyle/>
          <a:p>
            <a:pPr indent="0" marL="0">
              <a:buNone/>
            </a:pPr>
            <a:r>
              <a:rPr lang="en-US" sz="800" b="1" dirty="0">
                <a:solidFill>
                  <a:srgbClr val="007A7F"/>
                </a:solidFill>
                <a:latin typeface="Calibri" pitchFamily="34" charset="0"/>
                <a:ea typeface="Calibri" pitchFamily="34" charset="-122"/>
                <a:cs typeface="Calibri" pitchFamily="34" charset="-120"/>
              </a:rPr>
              <a:t>Activité actuelle</a:t>
            </a:r>
            <a:pPr indent="0" marL="0">
              <a:buNone/>
            </a:pPr>
            <a:r>
              <a:rPr lang="en-US" sz="800" dirty="0">
                <a:solidFill>
                  <a:srgbClr val="333333"/>
                </a:solidFill>
                <a:latin typeface="Calibri" pitchFamily="34" charset="0"/>
                <a:ea typeface="Calibri" pitchFamily="34" charset="-122"/>
                <a:cs typeface="Calibri" pitchFamily="34" charset="-120"/>
              </a:rPr>
              <a:t>  BIMCO – Projeteur BIM / économiste</a:t>
            </a:r>
            <a:endParaRPr lang="en-US" sz="800" dirty="0"/>
          </a:p>
        </p:txBody>
      </p:sp>
      <p:sp>
        <p:nvSpPr>
          <p:cNvPr id="17" name="Text 15"/>
          <p:cNvSpPr/>
          <p:nvPr/>
        </p:nvSpPr>
        <p:spPr>
          <a:xfrm>
            <a:off x="548640" y="4197096"/>
            <a:ext cx="3566160" cy="320040"/>
          </a:xfrm>
          <a:prstGeom prst="rect">
            <a:avLst/>
          </a:prstGeom>
          <a:noFill/>
          <a:ln/>
        </p:spPr>
        <p:txBody>
          <a:bodyPr wrap="square" lIns="0" tIns="0" rIns="0" bIns="0" rtlCol="0" anchor="ctr"/>
          <a:lstStyle/>
          <a:p>
            <a:pPr indent="0" marL="0">
              <a:buNone/>
            </a:pPr>
            <a:r>
              <a:rPr lang="en-US" sz="800" b="1" dirty="0">
                <a:solidFill>
                  <a:srgbClr val="007A7F"/>
                </a:solidFill>
                <a:latin typeface="Calibri" pitchFamily="34" charset="0"/>
                <a:ea typeface="Calibri" pitchFamily="34" charset="-122"/>
                <a:cs typeface="Calibri" pitchFamily="34" charset="-120"/>
              </a:rPr>
              <a:t>SIREN</a:t>
            </a:r>
            <a:pPr indent="0" marL="0">
              <a:buNone/>
            </a:pPr>
            <a:r>
              <a:rPr lang="en-US" sz="800" dirty="0">
                <a:solidFill>
                  <a:srgbClr val="333333"/>
                </a:solidFill>
                <a:latin typeface="Calibri" pitchFamily="34" charset="0"/>
                <a:ea typeface="Calibri" pitchFamily="34" charset="-122"/>
                <a:cs typeface="Calibri" pitchFamily="34" charset="-120"/>
              </a:rPr>
              <a:t>  999 580 053 / 7112B</a:t>
            </a:r>
            <a:endParaRPr lang="en-US" sz="800" dirty="0"/>
          </a:p>
        </p:txBody>
      </p:sp>
      <p:sp>
        <p:nvSpPr>
          <p:cNvPr id="18" name="Shape 16"/>
          <p:cNvSpPr/>
          <p:nvPr/>
        </p:nvSpPr>
        <p:spPr>
          <a:xfrm>
            <a:off x="4663440" y="1325880"/>
            <a:ext cx="4114800" cy="3291840"/>
          </a:xfrm>
          <a:prstGeom prst="rect">
            <a:avLst/>
          </a:prstGeom>
          <a:solidFill>
            <a:srgbClr val="FFFFFF"/>
          </a:solidFill>
          <a:ln/>
          <a:effectLst>
            <a:outerShdw sx="100000" sy="100000" kx="0" ky="0" algn="bl" rotWithShape="0" blurRad="50800" dist="19050" dir="8100000">
              <a:srgbClr val="000000">
                <a:alpha val="10000"/>
              </a:srgbClr>
            </a:outerShdw>
          </a:effectLst>
        </p:spPr>
      </p:sp>
      <p:sp>
        <p:nvSpPr>
          <p:cNvPr id="19" name="Text 17"/>
          <p:cNvSpPr/>
          <p:nvPr/>
        </p:nvSpPr>
        <p:spPr>
          <a:xfrm>
            <a:off x="4846320" y="1417320"/>
            <a:ext cx="3749040" cy="274320"/>
          </a:xfrm>
          <a:prstGeom prst="rect">
            <a:avLst/>
          </a:prstGeom>
          <a:noFill/>
          <a:ln/>
        </p:spPr>
        <p:txBody>
          <a:bodyPr wrap="square" lIns="0" tIns="0" rIns="0" bIns="0" rtlCol="0" anchor="ctr"/>
          <a:lstStyle/>
          <a:p>
            <a:pPr indent="0" marL="0">
              <a:buNone/>
            </a:pPr>
            <a:r>
              <a:rPr lang="en-US" sz="900" b="1" spc="200" kern="0" dirty="0">
                <a:solidFill>
                  <a:srgbClr val="007A7F"/>
                </a:solidFill>
                <a:latin typeface="Calibri" pitchFamily="34" charset="0"/>
                <a:ea typeface="Calibri" pitchFamily="34" charset="-122"/>
                <a:cs typeface="Calibri" pitchFamily="34" charset="-120"/>
              </a:rPr>
              <a:t>PARCOURS CHRONOLOGIQUE</a:t>
            </a:r>
            <a:endParaRPr lang="en-US" sz="900" dirty="0"/>
          </a:p>
        </p:txBody>
      </p:sp>
      <p:sp>
        <p:nvSpPr>
          <p:cNvPr id="20" name="Shape 18"/>
          <p:cNvSpPr/>
          <p:nvPr/>
        </p:nvSpPr>
        <p:spPr>
          <a:xfrm>
            <a:off x="4846320" y="1828800"/>
            <a:ext cx="274320" cy="274320"/>
          </a:xfrm>
          <a:prstGeom prst="ellipse">
            <a:avLst/>
          </a:prstGeom>
          <a:solidFill>
            <a:srgbClr val="007A7F"/>
          </a:solidFill>
          <a:ln/>
        </p:spPr>
      </p:sp>
      <p:sp>
        <p:nvSpPr>
          <p:cNvPr id="21" name="Text 19"/>
          <p:cNvSpPr/>
          <p:nvPr/>
        </p:nvSpPr>
        <p:spPr>
          <a:xfrm>
            <a:off x="4846320" y="1828800"/>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22" name="Text 20"/>
          <p:cNvSpPr/>
          <p:nvPr/>
        </p:nvSpPr>
        <p:spPr>
          <a:xfrm>
            <a:off x="5257800" y="1792224"/>
            <a:ext cx="3337560" cy="640080"/>
          </a:xfrm>
          <a:prstGeom prst="rect">
            <a:avLst/>
          </a:prstGeom>
          <a:noFill/>
          <a:ln/>
        </p:spPr>
        <p:txBody>
          <a:bodyPr wrap="square" lIns="0" tIns="0" rIns="0" bIns="0" rtlCol="0" anchor="ctr"/>
          <a:lstStyle/>
          <a:p>
            <a:pPr indent="0" marL="0">
              <a:buNone/>
            </a:pPr>
            <a:r>
              <a:rPr lang="en-US" sz="900" b="1" dirty="0">
                <a:solidFill>
                  <a:srgbClr val="007A7F"/>
                </a:solidFill>
                <a:latin typeface="Calibri" pitchFamily="34" charset="0"/>
                <a:ea typeface="Calibri" pitchFamily="34" charset="-122"/>
                <a:cs typeface="Calibri" pitchFamily="34" charset="-120"/>
              </a:rPr>
              <a:t>2017–2022  </a:t>
            </a:r>
            <a:pPr indent="0" marL="0">
              <a:buNone/>
            </a:pPr>
            <a:r>
              <a:rPr lang="en-US" sz="900" b="1" dirty="0">
                <a:solidFill>
                  <a:srgbClr val="1E1E1E"/>
                </a:solidFill>
                <a:latin typeface="Calibri" pitchFamily="34" charset="0"/>
                <a:ea typeface="Calibri" pitchFamily="34" charset="-122"/>
                <a:cs typeface="Calibri" pitchFamily="34" charset="-120"/>
              </a:rPr>
              <a:t>MOA publique – Maroc (3 ans)</a:t>
            </a:r>
            <a:endParaRPr lang="en-US" sz="900" dirty="0"/>
          </a:p>
          <a:p>
            <a:pPr indent="0" marL="0">
              <a:buNone/>
            </a:pPr>
            <a:r>
              <a:rPr lang="en-US" sz="800" dirty="0">
                <a:solidFill>
                  <a:srgbClr val="666666"/>
                </a:solidFill>
                <a:latin typeface="Calibri" pitchFamily="34" charset="0"/>
                <a:ea typeface="Calibri" pitchFamily="34" charset="-122"/>
                <a:cs typeface="Calibri" pitchFamily="34" charset="-120"/>
              </a:rPr>
              <a:t>Conseil Régional BMK. 7 marchés publics, +100 M DH</a:t>
            </a:r>
            <a:endParaRPr lang="en-US" sz="900" dirty="0"/>
          </a:p>
        </p:txBody>
      </p:sp>
      <p:sp>
        <p:nvSpPr>
          <p:cNvPr id="23" name="Shape 21"/>
          <p:cNvSpPr/>
          <p:nvPr/>
        </p:nvSpPr>
        <p:spPr>
          <a:xfrm>
            <a:off x="4846320" y="2578608"/>
            <a:ext cx="274320" cy="274320"/>
          </a:xfrm>
          <a:prstGeom prst="ellipse">
            <a:avLst/>
          </a:prstGeom>
          <a:solidFill>
            <a:srgbClr val="007A7F"/>
          </a:solidFill>
          <a:ln/>
        </p:spPr>
      </p:sp>
      <p:sp>
        <p:nvSpPr>
          <p:cNvPr id="24" name="Text 22"/>
          <p:cNvSpPr/>
          <p:nvPr/>
        </p:nvSpPr>
        <p:spPr>
          <a:xfrm>
            <a:off x="4846320" y="2578608"/>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5" name="Text 23"/>
          <p:cNvSpPr/>
          <p:nvPr/>
        </p:nvSpPr>
        <p:spPr>
          <a:xfrm>
            <a:off x="5257800" y="2542032"/>
            <a:ext cx="3337560" cy="640080"/>
          </a:xfrm>
          <a:prstGeom prst="rect">
            <a:avLst/>
          </a:prstGeom>
          <a:noFill/>
          <a:ln/>
        </p:spPr>
        <p:txBody>
          <a:bodyPr wrap="square" lIns="0" tIns="0" rIns="0" bIns="0" rtlCol="0" anchor="ctr"/>
          <a:lstStyle/>
          <a:p>
            <a:pPr indent="0" marL="0">
              <a:buNone/>
            </a:pPr>
            <a:r>
              <a:rPr lang="en-US" sz="900" b="1" dirty="0">
                <a:solidFill>
                  <a:srgbClr val="007A7F"/>
                </a:solidFill>
                <a:latin typeface="Calibri" pitchFamily="34" charset="0"/>
                <a:ea typeface="Calibri" pitchFamily="34" charset="-122"/>
                <a:cs typeface="Calibri" pitchFamily="34" charset="-120"/>
              </a:rPr>
              <a:t>2022–2024  </a:t>
            </a:r>
            <a:pPr indent="0" marL="0">
              <a:buNone/>
            </a:pPr>
            <a:r>
              <a:rPr lang="en-US" sz="900" b="1" dirty="0">
                <a:solidFill>
                  <a:srgbClr val="1E1E1E"/>
                </a:solidFill>
                <a:latin typeface="Calibri" pitchFamily="34" charset="0"/>
                <a:ea typeface="Calibri" pitchFamily="34" charset="-122"/>
                <a:cs typeface="Calibri" pitchFamily="34" charset="-120"/>
              </a:rPr>
              <a:t>Exécution terrain – France</a:t>
            </a:r>
            <a:endParaRPr lang="en-US" sz="900" dirty="0"/>
          </a:p>
          <a:p>
            <a:pPr indent="0" marL="0">
              <a:buNone/>
            </a:pPr>
            <a:r>
              <a:rPr lang="en-US" sz="800" dirty="0">
                <a:solidFill>
                  <a:srgbClr val="666666"/>
                </a:solidFill>
                <a:latin typeface="Calibri" pitchFamily="34" charset="0"/>
                <a:ea typeface="Calibri" pitchFamily="34" charset="-122"/>
                <a:cs typeface="Calibri" pitchFamily="34" charset="-120"/>
              </a:rPr>
              <a:t>Chef GO Ergalis + Chef chantier Minssieux</a:t>
            </a:r>
            <a:endParaRPr lang="en-US" sz="900" dirty="0"/>
          </a:p>
        </p:txBody>
      </p:sp>
      <p:sp>
        <p:nvSpPr>
          <p:cNvPr id="26" name="Shape 24"/>
          <p:cNvSpPr/>
          <p:nvPr/>
        </p:nvSpPr>
        <p:spPr>
          <a:xfrm>
            <a:off x="4846320" y="3328416"/>
            <a:ext cx="274320" cy="274320"/>
          </a:xfrm>
          <a:prstGeom prst="ellipse">
            <a:avLst/>
          </a:prstGeom>
          <a:solidFill>
            <a:srgbClr val="007A7F"/>
          </a:solidFill>
          <a:ln/>
        </p:spPr>
      </p:sp>
      <p:sp>
        <p:nvSpPr>
          <p:cNvPr id="27" name="Text 25"/>
          <p:cNvSpPr/>
          <p:nvPr/>
        </p:nvSpPr>
        <p:spPr>
          <a:xfrm>
            <a:off x="4846320" y="3328416"/>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8" name="Text 26"/>
          <p:cNvSpPr/>
          <p:nvPr/>
        </p:nvSpPr>
        <p:spPr>
          <a:xfrm>
            <a:off x="5257800" y="3291840"/>
            <a:ext cx="3337560" cy="640080"/>
          </a:xfrm>
          <a:prstGeom prst="rect">
            <a:avLst/>
          </a:prstGeom>
          <a:noFill/>
          <a:ln/>
        </p:spPr>
        <p:txBody>
          <a:bodyPr wrap="square" lIns="0" tIns="0" rIns="0" bIns="0" rtlCol="0" anchor="ctr"/>
          <a:lstStyle/>
          <a:p>
            <a:pPr indent="0" marL="0">
              <a:buNone/>
            </a:pPr>
            <a:r>
              <a:rPr lang="en-US" sz="900" b="1" dirty="0">
                <a:solidFill>
                  <a:srgbClr val="007A7F"/>
                </a:solidFill>
                <a:latin typeface="Calibri" pitchFamily="34" charset="0"/>
                <a:ea typeface="Calibri" pitchFamily="34" charset="-122"/>
                <a:cs typeface="Calibri" pitchFamily="34" charset="-120"/>
              </a:rPr>
              <a:t>2024–2025  </a:t>
            </a:r>
            <a:pPr indent="0" marL="0">
              <a:buNone/>
            </a:pPr>
            <a:r>
              <a:rPr lang="en-US" sz="900" b="1" dirty="0">
                <a:solidFill>
                  <a:srgbClr val="1E1E1E"/>
                </a:solidFill>
                <a:latin typeface="Calibri" pitchFamily="34" charset="0"/>
                <a:ea typeface="Calibri" pitchFamily="34" charset="-122"/>
                <a:cs typeface="Calibri" pitchFamily="34" charset="-120"/>
              </a:rPr>
              <a:t>Formation BIM – AFPA Colmar</a:t>
            </a:r>
            <a:endParaRPr lang="en-US" sz="900" dirty="0"/>
          </a:p>
          <a:p>
            <a:pPr indent="0" marL="0">
              <a:buNone/>
            </a:pPr>
            <a:r>
              <a:rPr lang="en-US" sz="800" dirty="0">
                <a:solidFill>
                  <a:srgbClr val="666666"/>
                </a:solidFill>
                <a:latin typeface="Calibri" pitchFamily="34" charset="0"/>
                <a:ea typeface="Calibri" pitchFamily="34" charset="-122"/>
                <a:cs typeface="Calibri" pitchFamily="34" charset="-120"/>
              </a:rPr>
              <a:t>Titre Modeleur BIM. Bâtiment R+2, 78 postes</a:t>
            </a:r>
            <a:endParaRPr lang="en-US" sz="900" dirty="0"/>
          </a:p>
        </p:txBody>
      </p:sp>
      <p:sp>
        <p:nvSpPr>
          <p:cNvPr id="29" name="Shape 27"/>
          <p:cNvSpPr/>
          <p:nvPr/>
        </p:nvSpPr>
        <p:spPr>
          <a:xfrm>
            <a:off x="4846320" y="4078224"/>
            <a:ext cx="274320" cy="274320"/>
          </a:xfrm>
          <a:prstGeom prst="ellipse">
            <a:avLst/>
          </a:prstGeom>
          <a:solidFill>
            <a:srgbClr val="007A7F"/>
          </a:solidFill>
          <a:ln/>
        </p:spPr>
      </p:sp>
      <p:sp>
        <p:nvSpPr>
          <p:cNvPr id="30" name="Text 28"/>
          <p:cNvSpPr/>
          <p:nvPr/>
        </p:nvSpPr>
        <p:spPr>
          <a:xfrm>
            <a:off x="4846320" y="4078224"/>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31" name="Text 29"/>
          <p:cNvSpPr/>
          <p:nvPr/>
        </p:nvSpPr>
        <p:spPr>
          <a:xfrm>
            <a:off x="5257800" y="4041648"/>
            <a:ext cx="3337560" cy="640080"/>
          </a:xfrm>
          <a:prstGeom prst="rect">
            <a:avLst/>
          </a:prstGeom>
          <a:noFill/>
          <a:ln/>
        </p:spPr>
        <p:txBody>
          <a:bodyPr wrap="square" lIns="0" tIns="0" rIns="0" bIns="0" rtlCol="0" anchor="ctr"/>
          <a:lstStyle/>
          <a:p>
            <a:pPr indent="0" marL="0">
              <a:buNone/>
            </a:pPr>
            <a:r>
              <a:rPr lang="en-US" sz="900" b="1" dirty="0">
                <a:solidFill>
                  <a:srgbClr val="007A7F"/>
                </a:solidFill>
                <a:latin typeface="Calibri" pitchFamily="34" charset="0"/>
                <a:ea typeface="Calibri" pitchFamily="34" charset="-122"/>
                <a:cs typeface="Calibri" pitchFamily="34" charset="-120"/>
              </a:rPr>
              <a:t>2026  </a:t>
            </a:r>
            <a:pPr indent="0" marL="0">
              <a:buNone/>
            </a:pPr>
            <a:r>
              <a:rPr lang="en-US" sz="900" b="1" dirty="0">
                <a:solidFill>
                  <a:srgbClr val="1E1E1E"/>
                </a:solidFill>
                <a:latin typeface="Calibri" pitchFamily="34" charset="0"/>
                <a:ea typeface="Calibri" pitchFamily="34" charset="-122"/>
                <a:cs typeface="Calibri" pitchFamily="34" charset="-120"/>
              </a:rPr>
              <a:t>BIMCO + BTS MEC</a:t>
            </a:r>
            <a:endParaRPr lang="en-US" sz="900" dirty="0"/>
          </a:p>
          <a:p>
            <a:pPr indent="0" marL="0">
              <a:buNone/>
            </a:pPr>
            <a:r>
              <a:rPr lang="en-US" sz="800" dirty="0">
                <a:solidFill>
                  <a:srgbClr val="666666"/>
                </a:solidFill>
                <a:latin typeface="Calibri" pitchFamily="34" charset="0"/>
                <a:ea typeface="Calibri" pitchFamily="34" charset="-122"/>
                <a:cs typeface="Calibri" pitchFamily="34" charset="-120"/>
              </a:rPr>
              <a:t>Micro-entreprise + candidat libre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A7F"/>
          </a:solidFill>
          <a:ln/>
        </p:spPr>
      </p:sp>
      <p:sp>
        <p:nvSpPr>
          <p:cNvPr id="3" name="Shape 1"/>
          <p:cNvSpPr/>
          <p:nvPr/>
        </p:nvSpPr>
        <p:spPr>
          <a:xfrm>
            <a:off x="365760" y="164592"/>
            <a:ext cx="777240" cy="347472"/>
          </a:xfrm>
          <a:prstGeom prst="rect">
            <a:avLst/>
          </a:prstGeom>
          <a:solidFill>
            <a:srgbClr val="E0F4F5"/>
          </a:solidFill>
          <a:ln w="10160">
            <a:solidFill>
              <a:srgbClr val="007A7F"/>
            </a:solidFill>
            <a:prstDash val="solid"/>
          </a:ln>
        </p:spPr>
      </p:sp>
      <p:sp>
        <p:nvSpPr>
          <p:cNvPr id="4" name="Text 2"/>
          <p:cNvSpPr/>
          <p:nvPr/>
        </p:nvSpPr>
        <p:spPr>
          <a:xfrm>
            <a:off x="365760" y="164592"/>
            <a:ext cx="777240" cy="347472"/>
          </a:xfrm>
          <a:prstGeom prst="rect">
            <a:avLst/>
          </a:prstGeom>
          <a:noFill/>
          <a:ln/>
        </p:spPr>
        <p:txBody>
          <a:bodyPr wrap="square" lIns="0" tIns="0" rIns="0" bIns="0" rtlCol="0" anchor="ctr"/>
          <a:lstStyle/>
          <a:p>
            <a:pPr algn="ctr" indent="0" marL="0">
              <a:buNone/>
            </a:pPr>
            <a:r>
              <a:rPr lang="en-US" sz="900" b="1" dirty="0">
                <a:solidFill>
                  <a:srgbClr val="007A7F"/>
                </a:solidFill>
                <a:latin typeface="Calibri" pitchFamily="34" charset="0"/>
                <a:ea typeface="Calibri" pitchFamily="34" charset="-122"/>
                <a:cs typeface="Calibri" pitchFamily="34" charset="-120"/>
              </a:rPr>
              <a:t>01 – Cadre</a:t>
            </a:r>
            <a:endParaRPr lang="en-US" sz="900" dirty="0"/>
          </a:p>
        </p:txBody>
      </p:sp>
      <p:sp>
        <p:nvSpPr>
          <p:cNvPr id="5" name="Text 3"/>
          <p:cNvSpPr/>
          <p:nvPr/>
        </p:nvSpPr>
        <p:spPr>
          <a:xfrm>
            <a:off x="365760" y="566928"/>
            <a:ext cx="8412480" cy="411480"/>
          </a:xfrm>
          <a:prstGeom prst="rect">
            <a:avLst/>
          </a:prstGeom>
          <a:noFill/>
          <a:ln/>
        </p:spPr>
        <p:txBody>
          <a:bodyPr wrap="square" lIns="0" tIns="0" rIns="0" bIns="0" rtlCol="0" anchor="ctr"/>
          <a:lstStyle/>
          <a:p>
            <a:pPr indent="0" marL="0">
              <a:buNone/>
            </a:pPr>
            <a:r>
              <a:rPr lang="en-US" sz="1800" b="1" dirty="0">
                <a:solidFill>
                  <a:srgbClr val="1E1E1E"/>
                </a:solidFill>
                <a:latin typeface="Cambria" pitchFamily="34" charset="0"/>
                <a:ea typeface="Cambria" pitchFamily="34" charset="-122"/>
                <a:cs typeface="Cambria" pitchFamily="34" charset="-120"/>
              </a:rPr>
              <a:t>STRUCTURE D’ACCUEIL</a:t>
            </a:r>
            <a:endParaRPr lang="en-US" sz="1800" dirty="0"/>
          </a:p>
        </p:txBody>
      </p:sp>
      <p:sp>
        <p:nvSpPr>
          <p:cNvPr id="6" name="Text 4"/>
          <p:cNvSpPr/>
          <p:nvPr/>
        </p:nvSpPr>
        <p:spPr>
          <a:xfrm>
            <a:off x="365760" y="932688"/>
            <a:ext cx="8412480" cy="274320"/>
          </a:xfrm>
          <a:prstGeom prst="rect">
            <a:avLst/>
          </a:prstGeom>
          <a:noFill/>
          <a:ln/>
        </p:spPr>
        <p:txBody>
          <a:bodyPr wrap="square" lIns="0" tIns="0" rIns="0" bIns="0" rtlCol="0" anchor="ctr"/>
          <a:lstStyle/>
          <a:p>
            <a:pPr indent="0" marL="0">
              <a:buNone/>
            </a:pPr>
            <a:r>
              <a:rPr lang="en-US" sz="1000" dirty="0">
                <a:solidFill>
                  <a:srgbClr val="666666"/>
                </a:solidFill>
                <a:latin typeface="Calibri" pitchFamily="34" charset="0"/>
                <a:ea typeface="Calibri" pitchFamily="34" charset="-122"/>
                <a:cs typeface="Calibri" pitchFamily="34" charset="-120"/>
              </a:rPr>
              <a:t>Conseil Régional de Béni Mellal-Khénifra – Agence d’Exécution des Projets</a:t>
            </a:r>
            <a:endParaRPr lang="en-US" sz="1000" dirty="0"/>
          </a:p>
        </p:txBody>
      </p:sp>
      <p:sp>
        <p:nvSpPr>
          <p:cNvPr id="7" name="Text 5"/>
          <p:cNvSpPr/>
          <p:nvPr/>
        </p:nvSpPr>
        <p:spPr>
          <a:xfrm>
            <a:off x="365760" y="4800600"/>
            <a:ext cx="8412480" cy="274320"/>
          </a:xfrm>
          <a:prstGeom prst="rect">
            <a:avLst/>
          </a:prstGeom>
          <a:noFill/>
          <a:ln/>
        </p:spPr>
        <p:txBody>
          <a:bodyPr wrap="square" rtlCol="0" anchor="ctr"/>
          <a:lstStyle/>
          <a:p>
            <a:pPr algn="r" indent="0" marL="0">
              <a:buNone/>
            </a:pPr>
            <a:r>
              <a:rPr lang="en-US" sz="700" dirty="0">
                <a:solidFill>
                  <a:srgbClr val="666666"/>
                </a:solidFill>
                <a:latin typeface="Calibri" pitchFamily="34" charset="0"/>
                <a:ea typeface="Calibri" pitchFamily="34" charset="-122"/>
                <a:cs typeface="Calibri" pitchFamily="34" charset="-120"/>
              </a:rPr>
              <a:t>BAHAFID Mohamed  ·  Rapport U62  ·  BTS MEC 2026  ·  3/15</a:t>
            </a:r>
            <a:endParaRPr lang="en-US" sz="700" dirty="0"/>
          </a:p>
        </p:txBody>
      </p:sp>
      <p:sp>
        <p:nvSpPr>
          <p:cNvPr id="8" name="Shape 6"/>
          <p:cNvSpPr/>
          <p:nvPr/>
        </p:nvSpPr>
        <p:spPr>
          <a:xfrm>
            <a:off x="365760" y="1325880"/>
            <a:ext cx="5029200" cy="3291840"/>
          </a:xfrm>
          <a:prstGeom prst="rect">
            <a:avLst/>
          </a:prstGeom>
          <a:solidFill>
            <a:srgbClr val="FFFFFF"/>
          </a:solidFill>
          <a:ln/>
          <a:effectLst>
            <a:outerShdw sx="100000" sy="100000" kx="0" ky="0" algn="bl" rotWithShape="0" blurRad="50800" dist="19050" dir="8100000">
              <a:srgbClr val="000000">
                <a:alpha val="10000"/>
              </a:srgbClr>
            </a:outerShdw>
          </a:effectLst>
        </p:spPr>
      </p:sp>
      <p:sp>
        <p:nvSpPr>
          <p:cNvPr id="9" name="Text 7"/>
          <p:cNvSpPr/>
          <p:nvPr/>
        </p:nvSpPr>
        <p:spPr>
          <a:xfrm>
            <a:off x="548640" y="1417320"/>
            <a:ext cx="4663440" cy="822960"/>
          </a:xfrm>
          <a:prstGeom prst="rect">
            <a:avLst/>
          </a:prstGeom>
          <a:noFill/>
          <a:ln/>
        </p:spPr>
        <p:txBody>
          <a:bodyPr wrap="square" lIns="0" tIns="0" rIns="0" bIns="0" rtlCol="0" anchor="ctr"/>
          <a:lstStyle/>
          <a:p>
            <a:pPr indent="0" marL="0">
              <a:buNone/>
            </a:pPr>
            <a:r>
              <a:rPr lang="en-US" sz="900" dirty="0">
                <a:solidFill>
                  <a:srgbClr val="333333"/>
                </a:solidFill>
                <a:latin typeface="Calibri" pitchFamily="34" charset="0"/>
                <a:ea typeface="Calibri" pitchFamily="34" charset="-122"/>
                <a:cs typeface="Calibri" pitchFamily="34" charset="-120"/>
              </a:rPr>
              <a:t>Collectivité territoriale couvrant 5 provinces et 2,5 millions d’habitants.</a:t>
            </a:r>
            <a:endParaRPr lang="en-US" sz="900" dirty="0"/>
          </a:p>
          <a:p>
            <a:pPr indent="0" marL="0">
              <a:buNone/>
            </a:pPr>
            <a:r>
              <a:rPr lang="en-US" sz="900" b="1" dirty="0">
                <a:solidFill>
                  <a:srgbClr val="007A7F"/>
                </a:solidFill>
                <a:latin typeface="Calibri" pitchFamily="34" charset="0"/>
                <a:ea typeface="Calibri" pitchFamily="34" charset="-122"/>
                <a:cs typeface="Calibri" pitchFamily="34" charset="-120"/>
              </a:rPr>
              <a:t>Mon poste : Technicien études et suivi des travaux.</a:t>
            </a:r>
            <a:endParaRPr lang="en-US" sz="900" dirty="0"/>
          </a:p>
          <a:p>
            <a:pPr indent="0" marL="0">
              <a:buNone/>
            </a:pPr>
            <a:endParaRPr lang="en-US" sz="900" dirty="0"/>
          </a:p>
          <a:p>
            <a:pPr indent="0" marL="0">
              <a:buNone/>
            </a:pPr>
            <a:r>
              <a:rPr lang="en-US" sz="900" b="1" spc="200" kern="0" dirty="0">
                <a:solidFill>
                  <a:srgbClr val="007A7F"/>
                </a:solidFill>
                <a:latin typeface="Calibri" pitchFamily="34" charset="0"/>
                <a:ea typeface="Calibri" pitchFamily="34" charset="-122"/>
                <a:cs typeface="Calibri" pitchFamily="34" charset="-120"/>
              </a:rPr>
              <a:t>MISSIONS PRINCIPALES</a:t>
            </a:r>
            <a:endParaRPr lang="en-US" sz="900" dirty="0"/>
          </a:p>
        </p:txBody>
      </p:sp>
      <p:sp>
        <p:nvSpPr>
          <p:cNvPr id="10" name="Text 8"/>
          <p:cNvSpPr/>
          <p:nvPr/>
        </p:nvSpPr>
        <p:spPr>
          <a:xfrm>
            <a:off x="548640" y="2286000"/>
            <a:ext cx="4663440" cy="1828800"/>
          </a:xfrm>
          <a:prstGeom prst="rect">
            <a:avLst/>
          </a:prstGeom>
          <a:noFill/>
          <a:ln/>
        </p:spPr>
        <p:txBody>
          <a:bodyPr wrap="square" lIns="0" tIns="0" rIns="0" bIns="0" rtlCol="0" anchor="ctr"/>
          <a:lstStyle/>
          <a:p>
            <a:pPr marL="342900" indent="-342900">
              <a:buSzPct val="100000"/>
              <a:buChar char="•"/>
            </a:pPr>
            <a:r>
              <a:rPr lang="en-US" sz="900" dirty="0">
                <a:solidFill>
                  <a:srgbClr val="333333"/>
                </a:solidFill>
                <a:latin typeface="Calibri" pitchFamily="34" charset="0"/>
                <a:ea typeface="Calibri" pitchFamily="34" charset="-122"/>
                <a:cs typeface="Calibri" pitchFamily="34" charset="-120"/>
              </a:rPr>
              <a:t>Métrés avant-projet et estimation confidentielle</a:t>
            </a:r>
            <a:endParaRPr lang="en-US" sz="900" dirty="0"/>
          </a:p>
          <a:p>
            <a:pPr marL="342900" indent="-342900">
              <a:buSzPct val="100000"/>
              <a:buChar char="•"/>
            </a:pPr>
            <a:r>
              <a:rPr lang="en-US" sz="900" dirty="0">
                <a:solidFill>
                  <a:srgbClr val="333333"/>
                </a:solidFill>
                <a:latin typeface="Calibri" pitchFamily="34" charset="0"/>
                <a:ea typeface="Calibri" pitchFamily="34" charset="-122"/>
                <a:cs typeface="Calibri" pitchFamily="34" charset="-120"/>
              </a:rPr>
              <a:t>Rédaction des DCE : CPS, RC, BPDE</a:t>
            </a:r>
            <a:endParaRPr lang="en-US" sz="900" dirty="0"/>
          </a:p>
          <a:p>
            <a:pPr marL="342900" indent="-342900">
              <a:buSzPct val="100000"/>
              <a:buChar char="•"/>
            </a:pPr>
            <a:r>
              <a:rPr lang="en-US" sz="900" dirty="0">
                <a:solidFill>
                  <a:srgbClr val="333333"/>
                </a:solidFill>
                <a:latin typeface="Calibri" pitchFamily="34" charset="0"/>
                <a:ea typeface="Calibri" pitchFamily="34" charset="-122"/>
                <a:cs typeface="Calibri" pitchFamily="34" charset="-120"/>
              </a:rPr>
              <a:t>Analyse des offres en Commission AO</a:t>
            </a:r>
            <a:endParaRPr lang="en-US" sz="900" dirty="0"/>
          </a:p>
          <a:p>
            <a:pPr marL="342900" indent="-342900">
              <a:buSzPct val="100000"/>
              <a:buChar char="•"/>
            </a:pPr>
            <a:r>
              <a:rPr lang="en-US" sz="900" dirty="0">
                <a:solidFill>
                  <a:srgbClr val="333333"/>
                </a:solidFill>
                <a:latin typeface="Calibri" pitchFamily="34" charset="0"/>
                <a:ea typeface="Calibri" pitchFamily="34" charset="-122"/>
                <a:cs typeface="Calibri" pitchFamily="34" charset="-120"/>
              </a:rPr>
              <a:t>Suivi financier mensuel, décomptes</a:t>
            </a:r>
            <a:endParaRPr lang="en-US" sz="900" dirty="0"/>
          </a:p>
          <a:p>
            <a:pPr marL="342900" indent="-342900">
              <a:buSzPct val="100000"/>
              <a:buChar char="•"/>
            </a:pPr>
            <a:r>
              <a:rPr lang="en-US" sz="900" dirty="0">
                <a:solidFill>
                  <a:srgbClr val="333333"/>
                </a:solidFill>
                <a:latin typeface="Calibri" pitchFamily="34" charset="0"/>
                <a:ea typeface="Calibri" pitchFamily="34" charset="-122"/>
                <a:cs typeface="Calibri" pitchFamily="34" charset="-120"/>
              </a:rPr>
              <a:t>Visites terrain, attachements contradictoires</a:t>
            </a:r>
            <a:endParaRPr lang="en-US" sz="900" dirty="0"/>
          </a:p>
        </p:txBody>
      </p:sp>
      <p:sp>
        <p:nvSpPr>
          <p:cNvPr id="11" name="Shape 9"/>
          <p:cNvSpPr/>
          <p:nvPr/>
        </p:nvSpPr>
        <p:spPr>
          <a:xfrm>
            <a:off x="5669280" y="1325880"/>
            <a:ext cx="3108960" cy="3291840"/>
          </a:xfrm>
          <a:prstGeom prst="rect">
            <a:avLst/>
          </a:prstGeom>
          <a:solidFill>
            <a:srgbClr val="E0F4F5"/>
          </a:solidFill>
          <a:ln/>
          <a:effectLst>
            <a:outerShdw sx="100000" sy="100000" kx="0" ky="0" algn="bl" rotWithShape="0" blurRad="50800" dist="19050" dir="8100000">
              <a:srgbClr val="000000">
                <a:alpha val="10000"/>
              </a:srgbClr>
            </a:outerShdw>
          </a:effectLst>
        </p:spPr>
      </p:sp>
      <p:sp>
        <p:nvSpPr>
          <p:cNvPr id="12" name="Text 10"/>
          <p:cNvSpPr/>
          <p:nvPr/>
        </p:nvSpPr>
        <p:spPr>
          <a:xfrm>
            <a:off x="5852160" y="1417320"/>
            <a:ext cx="2743200" cy="274320"/>
          </a:xfrm>
          <a:prstGeom prst="rect">
            <a:avLst/>
          </a:prstGeom>
          <a:noFill/>
          <a:ln/>
        </p:spPr>
        <p:txBody>
          <a:bodyPr wrap="square" lIns="0" tIns="0" rIns="0" bIns="0" rtlCol="0" anchor="ctr"/>
          <a:lstStyle/>
          <a:p>
            <a:pPr indent="0" marL="0">
              <a:buNone/>
            </a:pPr>
            <a:r>
              <a:rPr lang="en-US" sz="900" b="1" spc="200" kern="0" dirty="0">
                <a:solidFill>
                  <a:srgbClr val="007A7F"/>
                </a:solidFill>
                <a:latin typeface="Calibri" pitchFamily="34" charset="0"/>
                <a:ea typeface="Calibri" pitchFamily="34" charset="-122"/>
                <a:cs typeface="Calibri" pitchFamily="34" charset="-120"/>
              </a:rPr>
              <a:t>CADRE RÉGLEMENTAIRE</a:t>
            </a:r>
            <a:endParaRPr lang="en-US" sz="900" dirty="0"/>
          </a:p>
        </p:txBody>
      </p:sp>
      <p:sp>
        <p:nvSpPr>
          <p:cNvPr id="13" name="Text 11"/>
          <p:cNvSpPr/>
          <p:nvPr/>
        </p:nvSpPr>
        <p:spPr>
          <a:xfrm>
            <a:off x="5852160" y="1828800"/>
            <a:ext cx="2743200" cy="457200"/>
          </a:xfrm>
          <a:prstGeom prst="rect">
            <a:avLst/>
          </a:prstGeom>
          <a:noFill/>
          <a:ln/>
        </p:spPr>
        <p:txBody>
          <a:bodyPr wrap="square" lIns="0" tIns="0" rIns="0" bIns="0" rtlCol="0" anchor="ctr"/>
          <a:lstStyle/>
          <a:p>
            <a:pPr indent="0" marL="0">
              <a:buNone/>
            </a:pPr>
            <a:r>
              <a:rPr lang="en-US" sz="800" b="1" dirty="0">
                <a:solidFill>
                  <a:srgbClr val="007A7F"/>
                </a:solidFill>
                <a:latin typeface="Calibri" pitchFamily="34" charset="0"/>
                <a:ea typeface="Calibri" pitchFamily="34" charset="-122"/>
                <a:cs typeface="Calibri" pitchFamily="34" charset="-120"/>
              </a:rPr>
              <a:t>Pièces AO</a:t>
            </a:r>
            <a:endParaRPr lang="en-US" sz="800" dirty="0"/>
          </a:p>
          <a:p>
            <a:pPr indent="0" marL="0">
              <a:buNone/>
            </a:pPr>
            <a:r>
              <a:rPr lang="en-US" sz="800" dirty="0">
                <a:solidFill>
                  <a:srgbClr val="333333"/>
                </a:solidFill>
                <a:latin typeface="Calibri" pitchFamily="34" charset="0"/>
                <a:ea typeface="Calibri" pitchFamily="34" charset="-122"/>
                <a:cs typeface="Calibri" pitchFamily="34" charset="-120"/>
              </a:rPr>
              <a:t>CPS + RC + BPDE</a:t>
            </a:r>
            <a:endParaRPr lang="en-US" sz="800" dirty="0"/>
          </a:p>
        </p:txBody>
      </p:sp>
      <p:sp>
        <p:nvSpPr>
          <p:cNvPr id="14" name="Text 12"/>
          <p:cNvSpPr/>
          <p:nvPr/>
        </p:nvSpPr>
        <p:spPr>
          <a:xfrm>
            <a:off x="5852160" y="2331720"/>
            <a:ext cx="2743200" cy="457200"/>
          </a:xfrm>
          <a:prstGeom prst="rect">
            <a:avLst/>
          </a:prstGeom>
          <a:noFill/>
          <a:ln/>
        </p:spPr>
        <p:txBody>
          <a:bodyPr wrap="square" lIns="0" tIns="0" rIns="0" bIns="0" rtlCol="0" anchor="ctr"/>
          <a:lstStyle/>
          <a:p>
            <a:pPr indent="0" marL="0">
              <a:buNone/>
            </a:pPr>
            <a:r>
              <a:rPr lang="en-US" sz="800" b="1" dirty="0">
                <a:solidFill>
                  <a:srgbClr val="007A7F"/>
                </a:solidFill>
                <a:latin typeface="Calibri" pitchFamily="34" charset="0"/>
                <a:ea typeface="Calibri" pitchFamily="34" charset="-122"/>
                <a:cs typeface="Calibri" pitchFamily="34" charset="-120"/>
              </a:rPr>
              <a:t>Procédure</a:t>
            </a:r>
            <a:endParaRPr lang="en-US" sz="800" dirty="0"/>
          </a:p>
          <a:p>
            <a:pPr indent="0" marL="0">
              <a:buNone/>
            </a:pPr>
            <a:r>
              <a:rPr lang="en-US" sz="800" dirty="0">
                <a:solidFill>
                  <a:srgbClr val="333333"/>
                </a:solidFill>
                <a:latin typeface="Calibri" pitchFamily="34" charset="0"/>
                <a:ea typeface="Calibri" pitchFamily="34" charset="-122"/>
                <a:cs typeface="Calibri" pitchFamily="34" charset="-120"/>
              </a:rPr>
              <a:t>Appel d’offres ouvert</a:t>
            </a:r>
            <a:endParaRPr lang="en-US" sz="800" dirty="0"/>
          </a:p>
        </p:txBody>
      </p:sp>
      <p:sp>
        <p:nvSpPr>
          <p:cNvPr id="15" name="Text 13"/>
          <p:cNvSpPr/>
          <p:nvPr/>
        </p:nvSpPr>
        <p:spPr>
          <a:xfrm>
            <a:off x="5852160" y="2834640"/>
            <a:ext cx="2743200" cy="457200"/>
          </a:xfrm>
          <a:prstGeom prst="rect">
            <a:avLst/>
          </a:prstGeom>
          <a:noFill/>
          <a:ln/>
        </p:spPr>
        <p:txBody>
          <a:bodyPr wrap="square" lIns="0" tIns="0" rIns="0" bIns="0" rtlCol="0" anchor="ctr"/>
          <a:lstStyle/>
          <a:p>
            <a:pPr indent="0" marL="0">
              <a:buNone/>
            </a:pPr>
            <a:r>
              <a:rPr lang="en-US" sz="800" b="1" dirty="0">
                <a:solidFill>
                  <a:srgbClr val="007A7F"/>
                </a:solidFill>
                <a:latin typeface="Calibri" pitchFamily="34" charset="0"/>
                <a:ea typeface="Calibri" pitchFamily="34" charset="-122"/>
                <a:cs typeface="Calibri" pitchFamily="34" charset="-120"/>
              </a:rPr>
              <a:t>Estimation</a:t>
            </a:r>
            <a:endParaRPr lang="en-US" sz="800" dirty="0"/>
          </a:p>
          <a:p>
            <a:pPr indent="0" marL="0">
              <a:buNone/>
            </a:pPr>
            <a:r>
              <a:rPr lang="en-US" sz="800" dirty="0">
                <a:solidFill>
                  <a:srgbClr val="333333"/>
                </a:solidFill>
                <a:latin typeface="Calibri" pitchFamily="34" charset="0"/>
                <a:ea typeface="Calibri" pitchFamily="34" charset="-122"/>
                <a:cs typeface="Calibri" pitchFamily="34" charset="-120"/>
              </a:rPr>
              <a:t>Confidentielle obligatoire</a:t>
            </a:r>
            <a:endParaRPr lang="en-US" sz="800" dirty="0"/>
          </a:p>
        </p:txBody>
      </p:sp>
      <p:sp>
        <p:nvSpPr>
          <p:cNvPr id="16" name="Text 14"/>
          <p:cNvSpPr/>
          <p:nvPr/>
        </p:nvSpPr>
        <p:spPr>
          <a:xfrm>
            <a:off x="5852160" y="3337560"/>
            <a:ext cx="2743200" cy="457200"/>
          </a:xfrm>
          <a:prstGeom prst="rect">
            <a:avLst/>
          </a:prstGeom>
          <a:noFill/>
          <a:ln/>
        </p:spPr>
        <p:txBody>
          <a:bodyPr wrap="square" lIns="0" tIns="0" rIns="0" bIns="0" rtlCol="0" anchor="ctr"/>
          <a:lstStyle/>
          <a:p>
            <a:pPr indent="0" marL="0">
              <a:buNone/>
            </a:pPr>
            <a:r>
              <a:rPr lang="en-US" sz="800" b="1" dirty="0">
                <a:solidFill>
                  <a:srgbClr val="007A7F"/>
                </a:solidFill>
                <a:latin typeface="Calibri" pitchFamily="34" charset="0"/>
                <a:ea typeface="Calibri" pitchFamily="34" charset="-122"/>
                <a:cs typeface="Calibri" pitchFamily="34" charset="-120"/>
              </a:rPr>
              <a:t>Normes</a:t>
            </a:r>
            <a:endParaRPr lang="en-US" sz="800" dirty="0"/>
          </a:p>
          <a:p>
            <a:pPr indent="0" marL="0">
              <a:buNone/>
            </a:pPr>
            <a:r>
              <a:rPr lang="en-US" sz="800" dirty="0">
                <a:solidFill>
                  <a:srgbClr val="333333"/>
                </a:solidFill>
                <a:latin typeface="Calibri" pitchFamily="34" charset="0"/>
                <a:ea typeface="Calibri" pitchFamily="34" charset="-122"/>
                <a:cs typeface="Calibri" pitchFamily="34" charset="-120"/>
              </a:rPr>
              <a:t>Normes marocaines, RPS 2000</a:t>
            </a:r>
            <a:endParaRPr lang="en-US" sz="800" dirty="0"/>
          </a:p>
        </p:txBody>
      </p:sp>
      <p:sp>
        <p:nvSpPr>
          <p:cNvPr id="17" name="Text 15"/>
          <p:cNvSpPr/>
          <p:nvPr/>
        </p:nvSpPr>
        <p:spPr>
          <a:xfrm>
            <a:off x="5852160" y="3840480"/>
            <a:ext cx="2743200" cy="457200"/>
          </a:xfrm>
          <a:prstGeom prst="rect">
            <a:avLst/>
          </a:prstGeom>
          <a:noFill/>
          <a:ln/>
        </p:spPr>
        <p:txBody>
          <a:bodyPr wrap="square" lIns="0" tIns="0" rIns="0" bIns="0" rtlCol="0" anchor="ctr"/>
          <a:lstStyle/>
          <a:p>
            <a:pPr indent="0" marL="0">
              <a:buNone/>
            </a:pPr>
            <a:r>
              <a:rPr lang="en-US" sz="800" b="1" dirty="0">
                <a:solidFill>
                  <a:srgbClr val="007A7F"/>
                </a:solidFill>
                <a:latin typeface="Calibri" pitchFamily="34" charset="0"/>
                <a:ea typeface="Calibri" pitchFamily="34" charset="-122"/>
                <a:cs typeface="Calibri" pitchFamily="34" charset="-120"/>
              </a:rPr>
              <a:t>Suivi</a:t>
            </a:r>
            <a:endParaRPr lang="en-US" sz="800" dirty="0"/>
          </a:p>
          <a:p>
            <a:pPr indent="0" marL="0">
              <a:buNone/>
            </a:pPr>
            <a:r>
              <a:rPr lang="en-US" sz="800" dirty="0">
                <a:solidFill>
                  <a:srgbClr val="333333"/>
                </a:solidFill>
                <a:latin typeface="Calibri" pitchFamily="34" charset="0"/>
                <a:ea typeface="Calibri" pitchFamily="34" charset="-122"/>
                <a:cs typeface="Calibri" pitchFamily="34" charset="-120"/>
              </a:rPr>
              <a:t>Attachements contradictoires</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A7F"/>
          </a:solidFill>
          <a:ln/>
        </p:spPr>
      </p:sp>
      <p:sp>
        <p:nvSpPr>
          <p:cNvPr id="3" name="Shape 1"/>
          <p:cNvSpPr/>
          <p:nvPr/>
        </p:nvSpPr>
        <p:spPr>
          <a:xfrm>
            <a:off x="365760" y="164592"/>
            <a:ext cx="777240" cy="347472"/>
          </a:xfrm>
          <a:prstGeom prst="rect">
            <a:avLst/>
          </a:prstGeom>
          <a:solidFill>
            <a:srgbClr val="E0F4F5"/>
          </a:solidFill>
          <a:ln w="10160">
            <a:solidFill>
              <a:srgbClr val="007A7F"/>
            </a:solidFill>
            <a:prstDash val="solid"/>
          </a:ln>
        </p:spPr>
      </p:sp>
      <p:sp>
        <p:nvSpPr>
          <p:cNvPr id="4" name="Text 2"/>
          <p:cNvSpPr/>
          <p:nvPr/>
        </p:nvSpPr>
        <p:spPr>
          <a:xfrm>
            <a:off x="365760" y="164592"/>
            <a:ext cx="777240" cy="347472"/>
          </a:xfrm>
          <a:prstGeom prst="rect">
            <a:avLst/>
          </a:prstGeom>
          <a:noFill/>
          <a:ln/>
        </p:spPr>
        <p:txBody>
          <a:bodyPr wrap="square" lIns="0" tIns="0" rIns="0" bIns="0" rtlCol="0" anchor="ctr"/>
          <a:lstStyle/>
          <a:p>
            <a:pPr algn="ctr" indent="0" marL="0">
              <a:buNone/>
            </a:pPr>
            <a:r>
              <a:rPr lang="en-US" sz="900" b="1" dirty="0">
                <a:solidFill>
                  <a:srgbClr val="007A7F"/>
                </a:solidFill>
                <a:latin typeface="Calibri" pitchFamily="34" charset="0"/>
                <a:ea typeface="Calibri" pitchFamily="34" charset="-122"/>
                <a:cs typeface="Calibri" pitchFamily="34" charset="-120"/>
              </a:rPr>
              <a:t>01 – BIMCO</a:t>
            </a:r>
            <a:endParaRPr lang="en-US" sz="900" dirty="0"/>
          </a:p>
        </p:txBody>
      </p:sp>
      <p:sp>
        <p:nvSpPr>
          <p:cNvPr id="5" name="Text 3"/>
          <p:cNvSpPr/>
          <p:nvPr/>
        </p:nvSpPr>
        <p:spPr>
          <a:xfrm>
            <a:off x="365760" y="566928"/>
            <a:ext cx="8412480" cy="411480"/>
          </a:xfrm>
          <a:prstGeom prst="rect">
            <a:avLst/>
          </a:prstGeom>
          <a:noFill/>
          <a:ln/>
        </p:spPr>
        <p:txBody>
          <a:bodyPr wrap="square" lIns="0" tIns="0" rIns="0" bIns="0" rtlCol="0" anchor="ctr"/>
          <a:lstStyle/>
          <a:p>
            <a:pPr indent="0" marL="0">
              <a:buNone/>
            </a:pPr>
            <a:r>
              <a:rPr lang="en-US" sz="1800" b="1" dirty="0">
                <a:solidFill>
                  <a:srgbClr val="1E1E1E"/>
                </a:solidFill>
                <a:latin typeface="Cambria" pitchFamily="34" charset="0"/>
                <a:ea typeface="Cambria" pitchFamily="34" charset="-122"/>
                <a:cs typeface="Cambria" pitchFamily="34" charset="-120"/>
              </a:rPr>
              <a:t>BIMCO – MON ACTIVITÉ INDÉPENDANTE</a:t>
            </a:r>
            <a:endParaRPr lang="en-US" sz="1800" dirty="0"/>
          </a:p>
        </p:txBody>
      </p:sp>
      <p:sp>
        <p:nvSpPr>
          <p:cNvPr id="6" name="Text 4"/>
          <p:cNvSpPr/>
          <p:nvPr/>
        </p:nvSpPr>
        <p:spPr>
          <a:xfrm>
            <a:off x="365760" y="932688"/>
            <a:ext cx="8412480" cy="274320"/>
          </a:xfrm>
          <a:prstGeom prst="rect">
            <a:avLst/>
          </a:prstGeom>
          <a:noFill/>
          <a:ln/>
        </p:spPr>
        <p:txBody>
          <a:bodyPr wrap="square" lIns="0" tIns="0" rIns="0" bIns="0" rtlCol="0" anchor="ctr"/>
          <a:lstStyle/>
          <a:p>
            <a:pPr indent="0" marL="0">
              <a:buNone/>
            </a:pPr>
            <a:r>
              <a:rPr lang="en-US" sz="1000" dirty="0">
                <a:solidFill>
                  <a:srgbClr val="666666"/>
                </a:solidFill>
                <a:latin typeface="Calibri" pitchFamily="34" charset="0"/>
                <a:ea typeface="Calibri" pitchFamily="34" charset="-122"/>
                <a:cs typeface="Calibri" pitchFamily="34" charset="-120"/>
              </a:rPr>
              <a:t>Créée en janvier 2026 – BIM au service de l’économiste de la construction</a:t>
            </a:r>
            <a:endParaRPr lang="en-US" sz="1000" dirty="0"/>
          </a:p>
        </p:txBody>
      </p:sp>
      <p:sp>
        <p:nvSpPr>
          <p:cNvPr id="7" name="Text 5"/>
          <p:cNvSpPr/>
          <p:nvPr/>
        </p:nvSpPr>
        <p:spPr>
          <a:xfrm>
            <a:off x="365760" y="4800600"/>
            <a:ext cx="8412480" cy="274320"/>
          </a:xfrm>
          <a:prstGeom prst="rect">
            <a:avLst/>
          </a:prstGeom>
          <a:noFill/>
          <a:ln/>
        </p:spPr>
        <p:txBody>
          <a:bodyPr wrap="square" rtlCol="0" anchor="ctr"/>
          <a:lstStyle/>
          <a:p>
            <a:pPr algn="r" indent="0" marL="0">
              <a:buNone/>
            </a:pPr>
            <a:r>
              <a:rPr lang="en-US" sz="700" dirty="0">
                <a:solidFill>
                  <a:srgbClr val="666666"/>
                </a:solidFill>
                <a:latin typeface="Calibri" pitchFamily="34" charset="0"/>
                <a:ea typeface="Calibri" pitchFamily="34" charset="-122"/>
                <a:cs typeface="Calibri" pitchFamily="34" charset="-120"/>
              </a:rPr>
              <a:t>BAHAFID Mohamed  ·  Rapport U62  ·  BTS MEC 2026  ·  4/15</a:t>
            </a:r>
            <a:endParaRPr lang="en-US" sz="700" dirty="0"/>
          </a:p>
        </p:txBody>
      </p:sp>
      <p:sp>
        <p:nvSpPr>
          <p:cNvPr id="8" name="Shape 6"/>
          <p:cNvSpPr/>
          <p:nvPr/>
        </p:nvSpPr>
        <p:spPr>
          <a:xfrm>
            <a:off x="365760" y="1325880"/>
            <a:ext cx="4572000" cy="1645920"/>
          </a:xfrm>
          <a:prstGeom prst="rect">
            <a:avLst/>
          </a:prstGeom>
          <a:solidFill>
            <a:srgbClr val="FFFFFF"/>
          </a:solidFill>
          <a:ln/>
          <a:effectLst>
            <a:outerShdw sx="100000" sy="100000" kx="0" ky="0" algn="bl" rotWithShape="0" blurRad="50800" dist="19050" dir="8100000">
              <a:srgbClr val="000000">
                <a:alpha val="10000"/>
              </a:srgbClr>
            </a:outerShdw>
          </a:effectLst>
        </p:spPr>
      </p:sp>
      <p:sp>
        <p:nvSpPr>
          <p:cNvPr id="9" name="Text 7"/>
          <p:cNvSpPr/>
          <p:nvPr/>
        </p:nvSpPr>
        <p:spPr>
          <a:xfrm>
            <a:off x="548640" y="1417320"/>
            <a:ext cx="4206240" cy="228600"/>
          </a:xfrm>
          <a:prstGeom prst="rect">
            <a:avLst/>
          </a:prstGeom>
          <a:noFill/>
          <a:ln/>
        </p:spPr>
        <p:txBody>
          <a:bodyPr wrap="square" lIns="0" tIns="0" rIns="0" bIns="0" rtlCol="0" anchor="ctr"/>
          <a:lstStyle/>
          <a:p>
            <a:pPr indent="0" marL="0">
              <a:buNone/>
            </a:pPr>
            <a:r>
              <a:rPr lang="en-US" sz="900" b="1" spc="200" kern="0" dirty="0">
                <a:solidFill>
                  <a:srgbClr val="007A7F"/>
                </a:solidFill>
                <a:latin typeface="Calibri" pitchFamily="34" charset="0"/>
                <a:ea typeface="Calibri" pitchFamily="34" charset="-122"/>
                <a:cs typeface="Calibri" pitchFamily="34" charset="-120"/>
              </a:rPr>
              <a:t>MISSION</a:t>
            </a:r>
            <a:endParaRPr lang="en-US" sz="900" dirty="0"/>
          </a:p>
        </p:txBody>
      </p:sp>
      <p:sp>
        <p:nvSpPr>
          <p:cNvPr id="10" name="Text 8"/>
          <p:cNvSpPr/>
          <p:nvPr/>
        </p:nvSpPr>
        <p:spPr>
          <a:xfrm>
            <a:off x="548640" y="1691640"/>
            <a:ext cx="4206240" cy="1097280"/>
          </a:xfrm>
          <a:prstGeom prst="rect">
            <a:avLst/>
          </a:prstGeom>
          <a:noFill/>
          <a:ln/>
        </p:spPr>
        <p:txBody>
          <a:bodyPr wrap="square" lIns="0" tIns="0" rIns="0" bIns="0" rtlCol="0" anchor="ctr"/>
          <a:lstStyle/>
          <a:p>
            <a:pPr indent="0" marL="0">
              <a:buNone/>
            </a:pPr>
            <a:r>
              <a:rPr lang="en-US" sz="900" dirty="0">
                <a:solidFill>
                  <a:srgbClr val="333333"/>
                </a:solidFill>
                <a:latin typeface="Calibri" pitchFamily="34" charset="0"/>
                <a:ea typeface="Calibri" pitchFamily="34" charset="-122"/>
                <a:cs typeface="Calibri" pitchFamily="34" charset="-120"/>
              </a:rPr>
              <a:t>Appliquer le BIM aux métiers de l’économiste de la construction. Métrés par extraction de maquette numérique, études de prix ancrées dans les coûts réels, plugins Revit/Dynamo pour automatiser la chaîne mètre → DPGF.</a:t>
            </a:r>
            <a:endParaRPr lang="en-US" sz="900" dirty="0"/>
          </a:p>
        </p:txBody>
      </p:sp>
      <p:sp>
        <p:nvSpPr>
          <p:cNvPr id="11" name="Shape 9"/>
          <p:cNvSpPr/>
          <p:nvPr/>
        </p:nvSpPr>
        <p:spPr>
          <a:xfrm>
            <a:off x="365760" y="3154680"/>
            <a:ext cx="4572000" cy="1417320"/>
          </a:xfrm>
          <a:prstGeom prst="rect">
            <a:avLst/>
          </a:prstGeom>
          <a:solidFill>
            <a:srgbClr val="FFFFFF"/>
          </a:solidFill>
          <a:ln/>
          <a:effectLst>
            <a:outerShdw sx="100000" sy="100000" kx="0" ky="0" algn="bl" rotWithShape="0" blurRad="50800" dist="19050" dir="8100000">
              <a:srgbClr val="000000">
                <a:alpha val="10000"/>
              </a:srgbClr>
            </a:outerShdw>
          </a:effectLst>
        </p:spPr>
      </p:sp>
      <p:sp>
        <p:nvSpPr>
          <p:cNvPr id="12" name="Text 10"/>
          <p:cNvSpPr/>
          <p:nvPr/>
        </p:nvSpPr>
        <p:spPr>
          <a:xfrm>
            <a:off x="548640" y="3246120"/>
            <a:ext cx="4206240" cy="228600"/>
          </a:xfrm>
          <a:prstGeom prst="rect">
            <a:avLst/>
          </a:prstGeom>
          <a:noFill/>
          <a:ln/>
        </p:spPr>
        <p:txBody>
          <a:bodyPr wrap="square" lIns="0" tIns="0" rIns="0" bIns="0" rtlCol="0" anchor="ctr"/>
          <a:lstStyle/>
          <a:p>
            <a:pPr indent="0" marL="0">
              <a:buNone/>
            </a:pPr>
            <a:r>
              <a:rPr lang="en-US" sz="900" b="1" spc="200" kern="0" dirty="0">
                <a:solidFill>
                  <a:srgbClr val="007A7F"/>
                </a:solidFill>
                <a:latin typeface="Calibri" pitchFamily="34" charset="0"/>
                <a:ea typeface="Calibri" pitchFamily="34" charset="-122"/>
                <a:cs typeface="Calibri" pitchFamily="34" charset="-120"/>
              </a:rPr>
              <a:t>STACK TECHNIQUE</a:t>
            </a:r>
            <a:endParaRPr lang="en-US" sz="900" dirty="0"/>
          </a:p>
        </p:txBody>
      </p:sp>
      <p:sp>
        <p:nvSpPr>
          <p:cNvPr id="13" name="Shape 11"/>
          <p:cNvSpPr/>
          <p:nvPr/>
        </p:nvSpPr>
        <p:spPr>
          <a:xfrm>
            <a:off x="548640" y="3566160"/>
            <a:ext cx="1325880" cy="320040"/>
          </a:xfrm>
          <a:prstGeom prst="rect">
            <a:avLst/>
          </a:prstGeom>
          <a:solidFill>
            <a:srgbClr val="E0F4F5"/>
          </a:solidFill>
          <a:ln w="6350">
            <a:solidFill>
              <a:srgbClr val="007A7F"/>
            </a:solidFill>
            <a:prstDash val="solid"/>
          </a:ln>
        </p:spPr>
      </p:sp>
      <p:sp>
        <p:nvSpPr>
          <p:cNvPr id="14" name="Text 12"/>
          <p:cNvSpPr/>
          <p:nvPr/>
        </p:nvSpPr>
        <p:spPr>
          <a:xfrm>
            <a:off x="548640" y="3566160"/>
            <a:ext cx="1325880" cy="320040"/>
          </a:xfrm>
          <a:prstGeom prst="rect">
            <a:avLst/>
          </a:prstGeom>
          <a:noFill/>
          <a:ln/>
        </p:spPr>
        <p:txBody>
          <a:bodyPr wrap="square" lIns="0" tIns="0" rIns="0" bIns="0" rtlCol="0" anchor="ctr"/>
          <a:lstStyle/>
          <a:p>
            <a:pPr algn="ctr" indent="0" marL="0">
              <a:buNone/>
            </a:pPr>
            <a:r>
              <a:rPr lang="en-US" sz="800" b="1" dirty="0">
                <a:solidFill>
                  <a:srgbClr val="007A7F"/>
                </a:solidFill>
                <a:latin typeface="Calibri" pitchFamily="34" charset="0"/>
                <a:ea typeface="Calibri" pitchFamily="34" charset="-122"/>
                <a:cs typeface="Calibri" pitchFamily="34" charset="-120"/>
              </a:rPr>
              <a:t>Revit API</a:t>
            </a:r>
            <a:endParaRPr lang="en-US" sz="800" dirty="0"/>
          </a:p>
        </p:txBody>
      </p:sp>
      <p:sp>
        <p:nvSpPr>
          <p:cNvPr id="15" name="Shape 13"/>
          <p:cNvSpPr/>
          <p:nvPr/>
        </p:nvSpPr>
        <p:spPr>
          <a:xfrm>
            <a:off x="2011680" y="3566160"/>
            <a:ext cx="1325880" cy="320040"/>
          </a:xfrm>
          <a:prstGeom prst="rect">
            <a:avLst/>
          </a:prstGeom>
          <a:solidFill>
            <a:srgbClr val="E0F4F5"/>
          </a:solidFill>
          <a:ln w="6350">
            <a:solidFill>
              <a:srgbClr val="007A7F"/>
            </a:solidFill>
            <a:prstDash val="solid"/>
          </a:ln>
        </p:spPr>
      </p:sp>
      <p:sp>
        <p:nvSpPr>
          <p:cNvPr id="16" name="Text 14"/>
          <p:cNvSpPr/>
          <p:nvPr/>
        </p:nvSpPr>
        <p:spPr>
          <a:xfrm>
            <a:off x="2011680" y="3566160"/>
            <a:ext cx="1325880" cy="320040"/>
          </a:xfrm>
          <a:prstGeom prst="rect">
            <a:avLst/>
          </a:prstGeom>
          <a:noFill/>
          <a:ln/>
        </p:spPr>
        <p:txBody>
          <a:bodyPr wrap="square" lIns="0" tIns="0" rIns="0" bIns="0" rtlCol="0" anchor="ctr"/>
          <a:lstStyle/>
          <a:p>
            <a:pPr algn="ctr" indent="0" marL="0">
              <a:buNone/>
            </a:pPr>
            <a:r>
              <a:rPr lang="en-US" sz="800" b="1" dirty="0">
                <a:solidFill>
                  <a:srgbClr val="007A7F"/>
                </a:solidFill>
                <a:latin typeface="Calibri" pitchFamily="34" charset="0"/>
                <a:ea typeface="Calibri" pitchFamily="34" charset="-122"/>
                <a:cs typeface="Calibri" pitchFamily="34" charset="-120"/>
              </a:rPr>
              <a:t>C# .NET</a:t>
            </a:r>
            <a:endParaRPr lang="en-US" sz="800" dirty="0"/>
          </a:p>
        </p:txBody>
      </p:sp>
      <p:sp>
        <p:nvSpPr>
          <p:cNvPr id="17" name="Shape 15"/>
          <p:cNvSpPr/>
          <p:nvPr/>
        </p:nvSpPr>
        <p:spPr>
          <a:xfrm>
            <a:off x="3474720" y="3566160"/>
            <a:ext cx="1325880" cy="320040"/>
          </a:xfrm>
          <a:prstGeom prst="rect">
            <a:avLst/>
          </a:prstGeom>
          <a:solidFill>
            <a:srgbClr val="E0F4F5"/>
          </a:solidFill>
          <a:ln w="6350">
            <a:solidFill>
              <a:srgbClr val="007A7F"/>
            </a:solidFill>
            <a:prstDash val="solid"/>
          </a:ln>
        </p:spPr>
      </p:sp>
      <p:sp>
        <p:nvSpPr>
          <p:cNvPr id="18" name="Text 16"/>
          <p:cNvSpPr/>
          <p:nvPr/>
        </p:nvSpPr>
        <p:spPr>
          <a:xfrm>
            <a:off x="3474720" y="3566160"/>
            <a:ext cx="1325880" cy="320040"/>
          </a:xfrm>
          <a:prstGeom prst="rect">
            <a:avLst/>
          </a:prstGeom>
          <a:noFill/>
          <a:ln/>
        </p:spPr>
        <p:txBody>
          <a:bodyPr wrap="square" lIns="0" tIns="0" rIns="0" bIns="0" rtlCol="0" anchor="ctr"/>
          <a:lstStyle/>
          <a:p>
            <a:pPr algn="ctr" indent="0" marL="0">
              <a:buNone/>
            </a:pPr>
            <a:r>
              <a:rPr lang="en-US" sz="800" b="1" dirty="0">
                <a:solidFill>
                  <a:srgbClr val="007A7F"/>
                </a:solidFill>
                <a:latin typeface="Calibri" pitchFamily="34" charset="0"/>
                <a:ea typeface="Calibri" pitchFamily="34" charset="-122"/>
                <a:cs typeface="Calibri" pitchFamily="34" charset="-120"/>
              </a:rPr>
              <a:t>Dynamo</a:t>
            </a:r>
            <a:endParaRPr lang="en-US" sz="800" dirty="0"/>
          </a:p>
        </p:txBody>
      </p:sp>
      <p:sp>
        <p:nvSpPr>
          <p:cNvPr id="19" name="Shape 17"/>
          <p:cNvSpPr/>
          <p:nvPr/>
        </p:nvSpPr>
        <p:spPr>
          <a:xfrm>
            <a:off x="548640" y="3977640"/>
            <a:ext cx="1325880" cy="320040"/>
          </a:xfrm>
          <a:prstGeom prst="rect">
            <a:avLst/>
          </a:prstGeom>
          <a:solidFill>
            <a:srgbClr val="E0F4F5"/>
          </a:solidFill>
          <a:ln w="6350">
            <a:solidFill>
              <a:srgbClr val="007A7F"/>
            </a:solidFill>
            <a:prstDash val="solid"/>
          </a:ln>
        </p:spPr>
      </p:sp>
      <p:sp>
        <p:nvSpPr>
          <p:cNvPr id="20" name="Text 18"/>
          <p:cNvSpPr/>
          <p:nvPr/>
        </p:nvSpPr>
        <p:spPr>
          <a:xfrm>
            <a:off x="548640" y="3977640"/>
            <a:ext cx="1325880" cy="320040"/>
          </a:xfrm>
          <a:prstGeom prst="rect">
            <a:avLst/>
          </a:prstGeom>
          <a:noFill/>
          <a:ln/>
        </p:spPr>
        <p:txBody>
          <a:bodyPr wrap="square" lIns="0" tIns="0" rIns="0" bIns="0" rtlCol="0" anchor="ctr"/>
          <a:lstStyle/>
          <a:p>
            <a:pPr algn="ctr" indent="0" marL="0">
              <a:buNone/>
            </a:pPr>
            <a:r>
              <a:rPr lang="en-US" sz="800" b="1" dirty="0">
                <a:solidFill>
                  <a:srgbClr val="007A7F"/>
                </a:solidFill>
                <a:latin typeface="Calibri" pitchFamily="34" charset="0"/>
                <a:ea typeface="Calibri" pitchFamily="34" charset="-122"/>
                <a:cs typeface="Calibri" pitchFamily="34" charset="-120"/>
              </a:rPr>
              <a:t>Python</a:t>
            </a:r>
            <a:endParaRPr lang="en-US" sz="800" dirty="0"/>
          </a:p>
        </p:txBody>
      </p:sp>
      <p:sp>
        <p:nvSpPr>
          <p:cNvPr id="21" name="Shape 19"/>
          <p:cNvSpPr/>
          <p:nvPr/>
        </p:nvSpPr>
        <p:spPr>
          <a:xfrm>
            <a:off x="2011680" y="3977640"/>
            <a:ext cx="1325880" cy="320040"/>
          </a:xfrm>
          <a:prstGeom prst="rect">
            <a:avLst/>
          </a:prstGeom>
          <a:solidFill>
            <a:srgbClr val="E0F4F5"/>
          </a:solidFill>
          <a:ln w="6350">
            <a:solidFill>
              <a:srgbClr val="007A7F"/>
            </a:solidFill>
            <a:prstDash val="solid"/>
          </a:ln>
        </p:spPr>
      </p:sp>
      <p:sp>
        <p:nvSpPr>
          <p:cNvPr id="22" name="Text 20"/>
          <p:cNvSpPr/>
          <p:nvPr/>
        </p:nvSpPr>
        <p:spPr>
          <a:xfrm>
            <a:off x="2011680" y="3977640"/>
            <a:ext cx="1325880" cy="320040"/>
          </a:xfrm>
          <a:prstGeom prst="rect">
            <a:avLst/>
          </a:prstGeom>
          <a:noFill/>
          <a:ln/>
        </p:spPr>
        <p:txBody>
          <a:bodyPr wrap="square" lIns="0" tIns="0" rIns="0" bIns="0" rtlCol="0" anchor="ctr"/>
          <a:lstStyle/>
          <a:p>
            <a:pPr algn="ctr" indent="0" marL="0">
              <a:buNone/>
            </a:pPr>
            <a:r>
              <a:rPr lang="en-US" sz="800" b="1" dirty="0">
                <a:solidFill>
                  <a:srgbClr val="007A7F"/>
                </a:solidFill>
                <a:latin typeface="Calibri" pitchFamily="34" charset="0"/>
                <a:ea typeface="Calibri" pitchFamily="34" charset="-122"/>
                <a:cs typeface="Calibri" pitchFamily="34" charset="-120"/>
              </a:rPr>
              <a:t>IFC / BIM360</a:t>
            </a:r>
            <a:endParaRPr lang="en-US" sz="800" dirty="0"/>
          </a:p>
        </p:txBody>
      </p:sp>
      <p:sp>
        <p:nvSpPr>
          <p:cNvPr id="23" name="Shape 21"/>
          <p:cNvSpPr/>
          <p:nvPr/>
        </p:nvSpPr>
        <p:spPr>
          <a:xfrm>
            <a:off x="3474720" y="3977640"/>
            <a:ext cx="1325880" cy="320040"/>
          </a:xfrm>
          <a:prstGeom prst="rect">
            <a:avLst/>
          </a:prstGeom>
          <a:solidFill>
            <a:srgbClr val="E0F4F5"/>
          </a:solidFill>
          <a:ln w="6350">
            <a:solidFill>
              <a:srgbClr val="007A7F"/>
            </a:solidFill>
            <a:prstDash val="solid"/>
          </a:ln>
        </p:spPr>
      </p:sp>
      <p:sp>
        <p:nvSpPr>
          <p:cNvPr id="24" name="Text 22"/>
          <p:cNvSpPr/>
          <p:nvPr/>
        </p:nvSpPr>
        <p:spPr>
          <a:xfrm>
            <a:off x="3474720" y="3977640"/>
            <a:ext cx="1325880" cy="320040"/>
          </a:xfrm>
          <a:prstGeom prst="rect">
            <a:avLst/>
          </a:prstGeom>
          <a:noFill/>
          <a:ln/>
        </p:spPr>
        <p:txBody>
          <a:bodyPr wrap="square" lIns="0" tIns="0" rIns="0" bIns="0" rtlCol="0" anchor="ctr"/>
          <a:lstStyle/>
          <a:p>
            <a:pPr algn="ctr" indent="0" marL="0">
              <a:buNone/>
            </a:pPr>
            <a:r>
              <a:rPr lang="en-US" sz="800" b="1" dirty="0">
                <a:solidFill>
                  <a:srgbClr val="007A7F"/>
                </a:solidFill>
                <a:latin typeface="Calibri" pitchFamily="34" charset="0"/>
                <a:ea typeface="Calibri" pitchFamily="34" charset="-122"/>
                <a:cs typeface="Calibri" pitchFamily="34" charset="-120"/>
              </a:rPr>
              <a:t>React / Node.js</a:t>
            </a:r>
            <a:endParaRPr lang="en-US" sz="800" dirty="0"/>
          </a:p>
        </p:txBody>
      </p:sp>
      <p:sp>
        <p:nvSpPr>
          <p:cNvPr id="25" name="Shape 23"/>
          <p:cNvSpPr/>
          <p:nvPr/>
        </p:nvSpPr>
        <p:spPr>
          <a:xfrm>
            <a:off x="5212080" y="1325880"/>
            <a:ext cx="3566160" cy="3246120"/>
          </a:xfrm>
          <a:prstGeom prst="rect">
            <a:avLst/>
          </a:prstGeom>
          <a:solidFill>
            <a:srgbClr val="007A7F"/>
          </a:solidFill>
          <a:ln/>
          <a:effectLst>
            <a:outerShdw sx="100000" sy="100000" kx="0" ky="0" algn="bl" rotWithShape="0" blurRad="50800" dist="19050" dir="8100000">
              <a:srgbClr val="000000">
                <a:alpha val="10000"/>
              </a:srgbClr>
            </a:outerShdw>
          </a:effectLst>
        </p:spPr>
      </p:sp>
      <p:sp>
        <p:nvSpPr>
          <p:cNvPr id="26" name="Text 24"/>
          <p:cNvSpPr/>
          <p:nvPr/>
        </p:nvSpPr>
        <p:spPr>
          <a:xfrm>
            <a:off x="5394960" y="1463040"/>
            <a:ext cx="3200400" cy="274320"/>
          </a:xfrm>
          <a:prstGeom prst="rect">
            <a:avLst/>
          </a:prstGeom>
          <a:noFill/>
          <a:ln/>
        </p:spPr>
        <p:txBody>
          <a:bodyPr wrap="square" lIns="0" tIns="0" rIns="0" bIns="0" rtlCol="0" anchor="ctr"/>
          <a:lstStyle/>
          <a:p>
            <a:pPr indent="0" marL="0">
              <a:buNone/>
            </a:pPr>
            <a:r>
              <a:rPr lang="en-US" sz="1000" b="1" spc="200" kern="0" dirty="0">
                <a:solidFill>
                  <a:srgbClr val="FFFFFF"/>
                </a:solidFill>
                <a:latin typeface="Calibri" pitchFamily="34" charset="0"/>
                <a:ea typeface="Calibri" pitchFamily="34" charset="-122"/>
                <a:cs typeface="Calibri" pitchFamily="34" charset="-120"/>
              </a:rPr>
              <a:t>POSITIONNEMENT</a:t>
            </a:r>
            <a:endParaRPr lang="en-US" sz="1000" dirty="0"/>
          </a:p>
        </p:txBody>
      </p:sp>
      <p:sp>
        <p:nvSpPr>
          <p:cNvPr id="27" name="Text 25"/>
          <p:cNvSpPr/>
          <p:nvPr/>
        </p:nvSpPr>
        <p:spPr>
          <a:xfrm>
            <a:off x="5394960" y="1783080"/>
            <a:ext cx="3200400" cy="274320"/>
          </a:xfrm>
          <a:prstGeom prst="rect">
            <a:avLst/>
          </a:prstGeom>
          <a:noFill/>
          <a:ln/>
        </p:spPr>
        <p:txBody>
          <a:bodyPr wrap="square" lIns="0" tIns="0" rIns="0" bIns="0" rtlCol="0" anchor="ctr"/>
          <a:lstStyle/>
          <a:p>
            <a:pPr indent="0" marL="0">
              <a:buNone/>
            </a:pPr>
            <a:r>
              <a:rPr lang="en-US" sz="900" dirty="0">
                <a:solidFill>
                  <a:srgbClr val="E0F4F5"/>
                </a:solidFill>
                <a:latin typeface="Calibri" pitchFamily="34" charset="0"/>
                <a:ea typeface="Calibri" pitchFamily="34" charset="-122"/>
                <a:cs typeface="Calibri" pitchFamily="34" charset="-120"/>
              </a:rPr>
              <a:t>Triple compétence rare sur le marché :</a:t>
            </a:r>
            <a:endParaRPr lang="en-US" sz="900" dirty="0"/>
          </a:p>
        </p:txBody>
      </p:sp>
      <p:sp>
        <p:nvSpPr>
          <p:cNvPr id="28" name="Text 26"/>
          <p:cNvSpPr/>
          <p:nvPr/>
        </p:nvSpPr>
        <p:spPr>
          <a:xfrm>
            <a:off x="5394960" y="2148840"/>
            <a:ext cx="3200400" cy="1371600"/>
          </a:xfrm>
          <a:prstGeom prst="rect">
            <a:avLst/>
          </a:prstGeom>
          <a:noFill/>
          <a:ln/>
        </p:spPr>
        <p:txBody>
          <a:bodyPr wrap="square" lIns="0" tIns="0" rIns="0" bIns="0" rtlCol="0" anchor="ctr"/>
          <a:lstStyle/>
          <a:p>
            <a:pPr marL="342900" indent="-342900">
              <a:buSzPct val="100000"/>
              <a:buChar char="•"/>
            </a:pPr>
            <a:r>
              <a:rPr lang="en-US" sz="900" dirty="0">
                <a:solidFill>
                  <a:srgbClr val="FFFFFF"/>
                </a:solidFill>
                <a:latin typeface="Calibri" pitchFamily="34" charset="0"/>
                <a:ea typeface="Calibri" pitchFamily="34" charset="-122"/>
                <a:cs typeface="Calibri" pitchFamily="34" charset="-120"/>
              </a:rPr>
              <a:t>MOA publique (Maroc) – vision globale projet</a:t>
            </a:r>
            <a:endParaRPr lang="en-US" sz="900" dirty="0"/>
          </a:p>
          <a:p>
            <a:pPr marL="342900" indent="-342900">
              <a:buSzPct val="100000"/>
              <a:buChar char="•"/>
            </a:pPr>
            <a:r>
              <a:rPr lang="en-US" sz="900" dirty="0">
                <a:solidFill>
                  <a:srgbClr val="FFFFFF"/>
                </a:solidFill>
                <a:latin typeface="Calibri" pitchFamily="34" charset="0"/>
                <a:ea typeface="Calibri" pitchFamily="34" charset="-122"/>
                <a:cs typeface="Calibri" pitchFamily="34" charset="-120"/>
              </a:rPr>
              <a:t>Exécution terrain (France) – réalité chantier</a:t>
            </a:r>
            <a:endParaRPr lang="en-US" sz="900" dirty="0"/>
          </a:p>
          <a:p>
            <a:pPr marL="342900" indent="-342900">
              <a:buSzPct val="100000"/>
              <a:buChar char="•"/>
            </a:pPr>
            <a:r>
              <a:rPr lang="en-US" sz="900" dirty="0">
                <a:solidFill>
                  <a:srgbClr val="FFFFFF"/>
                </a:solidFill>
                <a:latin typeface="Calibri" pitchFamily="34" charset="0"/>
                <a:ea typeface="Calibri" pitchFamily="34" charset="-122"/>
                <a:cs typeface="Calibri" pitchFamily="34" charset="-120"/>
              </a:rPr>
              <a:t>BIM – pont entre conception et chiffrage</a:t>
            </a:r>
            <a:endParaRPr lang="en-US" sz="900" dirty="0"/>
          </a:p>
        </p:txBody>
      </p:sp>
      <p:sp>
        <p:nvSpPr>
          <p:cNvPr id="29" name="Text 27"/>
          <p:cNvSpPr/>
          <p:nvPr/>
        </p:nvSpPr>
        <p:spPr>
          <a:xfrm>
            <a:off x="5394960" y="3566160"/>
            <a:ext cx="3200400" cy="64008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BIM</a:t>
            </a:r>
            <a:pPr algn="ctr" indent="0" marL="0">
              <a:buNone/>
            </a:pPr>
            <a:r>
              <a:rPr lang="en-US" sz="2000" dirty="0">
                <a:solidFill>
                  <a:srgbClr val="E0F4F5"/>
                </a:solidFill>
                <a:latin typeface="Cambria" pitchFamily="34" charset="0"/>
                <a:ea typeface="Cambria" pitchFamily="34" charset="-122"/>
                <a:cs typeface="Cambria" pitchFamily="34" charset="-120"/>
              </a:rPr>
              <a:t> + </a:t>
            </a:r>
            <a:pPr algn="ctr" indent="0" marL="0">
              <a:buNone/>
            </a:pPr>
            <a:r>
              <a:rPr lang="en-US" sz="2800" b="1" dirty="0">
                <a:solidFill>
                  <a:srgbClr val="FFFFFF"/>
                </a:solidFill>
                <a:latin typeface="Cambria" pitchFamily="34" charset="0"/>
                <a:ea typeface="Cambria" pitchFamily="34" charset="-122"/>
                <a:cs typeface="Cambria" pitchFamily="34" charset="-120"/>
              </a:rPr>
              <a:t>CO</a:t>
            </a:r>
            <a:endParaRPr lang="en-US" sz="2800" dirty="0"/>
          </a:p>
        </p:txBody>
      </p:sp>
      <p:sp>
        <p:nvSpPr>
          <p:cNvPr id="30" name="Text 28"/>
          <p:cNvSpPr/>
          <p:nvPr/>
        </p:nvSpPr>
        <p:spPr>
          <a:xfrm>
            <a:off x="5394960" y="4160520"/>
            <a:ext cx="3200400" cy="274320"/>
          </a:xfrm>
          <a:prstGeom prst="rect">
            <a:avLst/>
          </a:prstGeom>
          <a:noFill/>
          <a:ln/>
        </p:spPr>
        <p:txBody>
          <a:bodyPr wrap="square" lIns="0" tIns="0" rIns="0" bIns="0" rtlCol="0" anchor="ctr"/>
          <a:lstStyle/>
          <a:p>
            <a:pPr algn="ctr" indent="0" marL="0">
              <a:buNone/>
            </a:pPr>
            <a:r>
              <a:rPr lang="en-US" sz="700" dirty="0">
                <a:solidFill>
                  <a:srgbClr val="E0F4F5"/>
                </a:solidFill>
                <a:latin typeface="Calibri" pitchFamily="34" charset="0"/>
                <a:ea typeface="Calibri" pitchFamily="34" charset="-122"/>
                <a:cs typeface="Calibri" pitchFamily="34" charset="-120"/>
              </a:rPr>
              <a:t>Building Information Modeling + Économie de la Construction</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A7F"/>
          </a:solidFill>
          <a:ln/>
        </p:spPr>
      </p:sp>
      <p:sp>
        <p:nvSpPr>
          <p:cNvPr id="3" name="Shape 1"/>
          <p:cNvSpPr/>
          <p:nvPr/>
        </p:nvSpPr>
        <p:spPr>
          <a:xfrm>
            <a:off x="365760" y="164592"/>
            <a:ext cx="777240" cy="347472"/>
          </a:xfrm>
          <a:prstGeom prst="rect">
            <a:avLst/>
          </a:prstGeom>
          <a:solidFill>
            <a:srgbClr val="E0F4F5"/>
          </a:solidFill>
          <a:ln w="10160">
            <a:solidFill>
              <a:srgbClr val="007A7F"/>
            </a:solidFill>
            <a:prstDash val="solid"/>
          </a:ln>
        </p:spPr>
      </p:sp>
      <p:sp>
        <p:nvSpPr>
          <p:cNvPr id="4" name="Text 2"/>
          <p:cNvSpPr/>
          <p:nvPr/>
        </p:nvSpPr>
        <p:spPr>
          <a:xfrm>
            <a:off x="365760" y="164592"/>
            <a:ext cx="777240" cy="347472"/>
          </a:xfrm>
          <a:prstGeom prst="rect">
            <a:avLst/>
          </a:prstGeom>
          <a:noFill/>
          <a:ln/>
        </p:spPr>
        <p:txBody>
          <a:bodyPr wrap="square" lIns="0" tIns="0" rIns="0" bIns="0" rtlCol="0" anchor="ctr"/>
          <a:lstStyle/>
          <a:p>
            <a:pPr algn="ctr" indent="0" marL="0">
              <a:buNone/>
            </a:pPr>
            <a:r>
              <a:rPr lang="en-US" sz="900" b="1" dirty="0">
                <a:solidFill>
                  <a:srgbClr val="007A7F"/>
                </a:solidFill>
                <a:latin typeface="Calibri" pitchFamily="34" charset="0"/>
                <a:ea typeface="Calibri" pitchFamily="34" charset="-122"/>
                <a:cs typeface="Calibri" pitchFamily="34" charset="-120"/>
              </a:rPr>
              <a:t>02 – Projet 1</a:t>
            </a:r>
            <a:endParaRPr lang="en-US" sz="900" dirty="0"/>
          </a:p>
        </p:txBody>
      </p:sp>
      <p:sp>
        <p:nvSpPr>
          <p:cNvPr id="5" name="Text 3"/>
          <p:cNvSpPr/>
          <p:nvPr/>
        </p:nvSpPr>
        <p:spPr>
          <a:xfrm>
            <a:off x="365760" y="566928"/>
            <a:ext cx="8412480" cy="411480"/>
          </a:xfrm>
          <a:prstGeom prst="rect">
            <a:avLst/>
          </a:prstGeom>
          <a:noFill/>
          <a:ln/>
        </p:spPr>
        <p:txBody>
          <a:bodyPr wrap="square" lIns="0" tIns="0" rIns="0" bIns="0" rtlCol="0" anchor="ctr"/>
          <a:lstStyle/>
          <a:p>
            <a:pPr indent="0" marL="0">
              <a:buNone/>
            </a:pPr>
            <a:r>
              <a:rPr lang="en-US" sz="1800" b="1" dirty="0">
                <a:solidFill>
                  <a:srgbClr val="1E1E1E"/>
                </a:solidFill>
                <a:latin typeface="Cambria" pitchFamily="34" charset="0"/>
                <a:ea typeface="Cambria" pitchFamily="34" charset="-122"/>
                <a:cs typeface="Cambria" pitchFamily="34" charset="-120"/>
              </a:rPr>
              <a:t>MISE À NIVEAU DE 4 COMMUNES</a:t>
            </a:r>
            <a:endParaRPr lang="en-US" sz="1800" dirty="0"/>
          </a:p>
        </p:txBody>
      </p:sp>
      <p:sp>
        <p:nvSpPr>
          <p:cNvPr id="6" name="Text 4"/>
          <p:cNvSpPr/>
          <p:nvPr/>
        </p:nvSpPr>
        <p:spPr>
          <a:xfrm>
            <a:off x="365760" y="932688"/>
            <a:ext cx="8412480" cy="274320"/>
          </a:xfrm>
          <a:prstGeom prst="rect">
            <a:avLst/>
          </a:prstGeom>
          <a:noFill/>
          <a:ln/>
        </p:spPr>
        <p:txBody>
          <a:bodyPr wrap="square" lIns="0" tIns="0" rIns="0" bIns="0" rtlCol="0" anchor="ctr"/>
          <a:lstStyle/>
          <a:p>
            <a:pPr indent="0" marL="0">
              <a:buNone/>
            </a:pPr>
            <a:r>
              <a:rPr lang="en-US" sz="1000" dirty="0">
                <a:solidFill>
                  <a:srgbClr val="666666"/>
                </a:solidFill>
                <a:latin typeface="Calibri" pitchFamily="34" charset="0"/>
                <a:ea typeface="Calibri" pitchFamily="34" charset="-122"/>
                <a:cs typeface="Calibri" pitchFamily="34" charset="-120"/>
              </a:rPr>
              <a:t>Marché n°38-RBK-2017 – 53,5 M DH TTC – Province de Khénifra</a:t>
            </a:r>
            <a:endParaRPr lang="en-US" sz="1000" dirty="0"/>
          </a:p>
        </p:txBody>
      </p:sp>
      <p:sp>
        <p:nvSpPr>
          <p:cNvPr id="7" name="Text 5"/>
          <p:cNvSpPr/>
          <p:nvPr/>
        </p:nvSpPr>
        <p:spPr>
          <a:xfrm>
            <a:off x="365760" y="4800600"/>
            <a:ext cx="8412480" cy="274320"/>
          </a:xfrm>
          <a:prstGeom prst="rect">
            <a:avLst/>
          </a:prstGeom>
          <a:noFill/>
          <a:ln/>
        </p:spPr>
        <p:txBody>
          <a:bodyPr wrap="square" rtlCol="0" anchor="ctr"/>
          <a:lstStyle/>
          <a:p>
            <a:pPr algn="r" indent="0" marL="0">
              <a:buNone/>
            </a:pPr>
            <a:r>
              <a:rPr lang="en-US" sz="700" dirty="0">
                <a:solidFill>
                  <a:srgbClr val="666666"/>
                </a:solidFill>
                <a:latin typeface="Calibri" pitchFamily="34" charset="0"/>
                <a:ea typeface="Calibri" pitchFamily="34" charset="-122"/>
                <a:cs typeface="Calibri" pitchFamily="34" charset="-120"/>
              </a:rPr>
              <a:t>BAHAFID Mohamed  ·  Rapport U62  ·  BTS MEC 2026  ·  5/15</a:t>
            </a:r>
            <a:endParaRPr lang="en-US" sz="700" dirty="0"/>
          </a:p>
        </p:txBody>
      </p:sp>
      <p:sp>
        <p:nvSpPr>
          <p:cNvPr id="8" name="Text 6"/>
          <p:cNvSpPr/>
          <p:nvPr/>
        </p:nvSpPr>
        <p:spPr>
          <a:xfrm>
            <a:off x="365760" y="1371600"/>
            <a:ext cx="3200400" cy="548640"/>
          </a:xfrm>
          <a:prstGeom prst="rect">
            <a:avLst/>
          </a:prstGeom>
          <a:noFill/>
          <a:ln/>
        </p:spPr>
        <p:txBody>
          <a:bodyPr wrap="square" lIns="0" tIns="0" rIns="0" bIns="0" rtlCol="0" anchor="ctr"/>
          <a:lstStyle/>
          <a:p>
            <a:pPr indent="0" marL="0">
              <a:buNone/>
            </a:pPr>
            <a:r>
              <a:rPr lang="en-US" sz="2800" b="1" dirty="0">
                <a:solidFill>
                  <a:srgbClr val="007A7F"/>
                </a:solidFill>
                <a:latin typeface="Cambria" pitchFamily="34" charset="0"/>
                <a:ea typeface="Cambria" pitchFamily="34" charset="-122"/>
                <a:cs typeface="Cambria" pitchFamily="34" charset="-120"/>
              </a:rPr>
              <a:t>53,5 M DH</a:t>
            </a:r>
            <a:endParaRPr lang="en-US" sz="2800" dirty="0"/>
          </a:p>
        </p:txBody>
      </p:sp>
      <p:sp>
        <p:nvSpPr>
          <p:cNvPr id="9" name="Text 7"/>
          <p:cNvSpPr/>
          <p:nvPr/>
        </p:nvSpPr>
        <p:spPr>
          <a:xfrm>
            <a:off x="365760" y="1874520"/>
            <a:ext cx="3200400" cy="274320"/>
          </a:xfrm>
          <a:prstGeom prst="rect">
            <a:avLst/>
          </a:prstGeom>
          <a:noFill/>
          <a:ln/>
        </p:spPr>
        <p:txBody>
          <a:bodyPr wrap="square" lIns="0" tIns="0" rIns="0" bIns="0" rtlCol="0" anchor="ctr"/>
          <a:lstStyle/>
          <a:p>
            <a:pPr indent="0" marL="0">
              <a:buNone/>
            </a:pPr>
            <a:r>
              <a:rPr lang="en-US" sz="900" dirty="0">
                <a:solidFill>
                  <a:srgbClr val="666666"/>
                </a:solidFill>
                <a:latin typeface="Calibri" pitchFamily="34" charset="0"/>
                <a:ea typeface="Calibri" pitchFamily="34" charset="-122"/>
                <a:cs typeface="Calibri" pitchFamily="34" charset="-120"/>
              </a:rPr>
              <a:t>4 communes · 8 corps d’état · 18 mois</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2286000"/>
          <a:ext cx="4114800" cy="914400"/>
        </p:xfrm>
        <a:graphic>
          <a:graphicData uri="http://schemas.openxmlformats.org/drawingml/2006/table">
            <a:tbl>
              <a:tblPr/>
              <a:tblGrid>
                <a:gridCol w="548640"/>
                <a:gridCol w="2560320"/>
                <a:gridCol w="548640"/>
              </a:tblGrid>
              <a:tr h="256032">
                <a:tc>
                  <a:txBody>
                    <a:bodyPr/>
                    <a:lstStyle/>
                    <a:p>
                      <a:pPr indent="0" marL="0">
                        <a:buNone/>
                      </a:pPr>
                      <a:r>
                        <a:rPr lang="en-US" sz="800" b="1" dirty="0">
                          <a:solidFill>
                            <a:srgbClr val="FFFFFF"/>
                          </a:solidFill>
                        </a:rPr>
                        <a:t>Partie</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7A7F"/>
                    </a:solidFill>
                  </a:tcPr>
                </a:tc>
                <a:tc>
                  <a:txBody>
                    <a:bodyPr/>
                    <a:lstStyle/>
                    <a:p>
                      <a:pPr indent="0" marL="0">
                        <a:buNone/>
                      </a:pPr>
                      <a:r>
                        <a:rPr lang="en-US" sz="800" b="1" dirty="0">
                          <a:solidFill>
                            <a:srgbClr val="FFFFFF"/>
                          </a:solidFill>
                        </a:rPr>
                        <a:t>Désignation</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7A7F"/>
                    </a:solidFill>
                  </a:tcPr>
                </a:tc>
                <a:tc>
                  <a:txBody>
                    <a:bodyPr/>
                    <a:lstStyle/>
                    <a:p>
                      <a:pPr algn="ctr" indent="0" marL="0">
                        <a:buNone/>
                      </a:pPr>
                      <a:r>
                        <a:rPr lang="en-US" sz="800" b="1" dirty="0">
                          <a:solidFill>
                            <a:srgbClr val="FFFFFF"/>
                          </a:solidFill>
                        </a:rPr>
                        <a:t>%</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7A7F"/>
                    </a:solidFill>
                  </a:tcPr>
                </a:tc>
              </a:tr>
              <a:tr h="256032">
                <a:tc>
                  <a:txBody>
                    <a:bodyPr/>
                    <a:lstStyle/>
                    <a:p>
                      <a:pPr indent="0" marL="0">
                        <a:buNone/>
                      </a:pPr>
                      <a:r>
                        <a:rPr lang="en-US" sz="800" b="1" dirty="0">
                          <a:solidFill>
                            <a:srgbClr val="007A7F"/>
                          </a:solidFill>
                        </a:rPr>
                        <a:t>01</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00" dirty="0">
                          <a:solidFill>
                            <a:srgbClr val="333333"/>
                          </a:solidFill>
                        </a:rPr>
                        <a:t>Assainissement</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800" dirty="0">
                          <a:solidFill>
                            <a:srgbClr val="333333"/>
                          </a:solidFill>
                        </a:rPr>
                        <a:t>22%</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56032">
                <a:tc>
                  <a:txBody>
                    <a:bodyPr/>
                    <a:lstStyle/>
                    <a:p>
                      <a:pPr indent="0" marL="0">
                        <a:buNone/>
                      </a:pPr>
                      <a:r>
                        <a:rPr lang="en-US" sz="800" b="1" dirty="0">
                          <a:solidFill>
                            <a:srgbClr val="007A7F"/>
                          </a:solidFill>
                        </a:rPr>
                        <a:t>02</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00" dirty="0">
                          <a:solidFill>
                            <a:srgbClr val="333333"/>
                          </a:solidFill>
                        </a:rPr>
                        <a:t>Chaussée</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800" dirty="0">
                          <a:solidFill>
                            <a:srgbClr val="333333"/>
                          </a:solidFill>
                        </a:rPr>
                        <a:t>19%</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56032">
                <a:tc>
                  <a:txBody>
                    <a:bodyPr/>
                    <a:lstStyle/>
                    <a:p>
                      <a:pPr indent="0" marL="0">
                        <a:buNone/>
                      </a:pPr>
                      <a:r>
                        <a:rPr lang="en-US" sz="800" b="1" dirty="0">
                          <a:solidFill>
                            <a:srgbClr val="007A7F"/>
                          </a:solidFill>
                        </a:rPr>
                        <a:t>03</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00" dirty="0">
                          <a:solidFill>
                            <a:srgbClr val="333333"/>
                          </a:solidFill>
                        </a:rPr>
                        <a:t>Trottoirs</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800" dirty="0">
                          <a:solidFill>
                            <a:srgbClr val="333333"/>
                          </a:solidFill>
                        </a:rPr>
                        <a:t>14%</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56032">
                <a:tc>
                  <a:txBody>
                    <a:bodyPr/>
                    <a:lstStyle/>
                    <a:p>
                      <a:pPr indent="0" marL="0">
                        <a:buNone/>
                      </a:pPr>
                      <a:r>
                        <a:rPr lang="en-US" sz="800" b="1" dirty="0">
                          <a:solidFill>
                            <a:srgbClr val="007A7F"/>
                          </a:solidFill>
                        </a:rPr>
                        <a:t>04</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00" dirty="0">
                          <a:solidFill>
                            <a:srgbClr val="333333"/>
                          </a:solidFill>
                        </a:rPr>
                        <a:t>Signalisation</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800" dirty="0">
                          <a:solidFill>
                            <a:srgbClr val="333333"/>
                          </a:solidFill>
                        </a:rPr>
                        <a:t>6%</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56032">
                <a:tc>
                  <a:txBody>
                    <a:bodyPr/>
                    <a:lstStyle/>
                    <a:p>
                      <a:pPr indent="0" marL="0">
                        <a:buNone/>
                      </a:pPr>
                      <a:r>
                        <a:rPr lang="en-US" sz="800" b="1" dirty="0">
                          <a:solidFill>
                            <a:srgbClr val="007A7F"/>
                          </a:solidFill>
                        </a:rPr>
                        <a:t>05</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00" dirty="0">
                          <a:solidFill>
                            <a:srgbClr val="333333"/>
                          </a:solidFill>
                        </a:rPr>
                        <a:t>Éclairage public</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800" dirty="0">
                          <a:solidFill>
                            <a:srgbClr val="333333"/>
                          </a:solidFill>
                        </a:rPr>
                        <a:t>16%</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56032">
                <a:tc>
                  <a:txBody>
                    <a:bodyPr/>
                    <a:lstStyle/>
                    <a:p>
                      <a:pPr indent="0" marL="0">
                        <a:buNone/>
                      </a:pPr>
                      <a:r>
                        <a:rPr lang="en-US" sz="800" b="1" dirty="0">
                          <a:solidFill>
                            <a:srgbClr val="007A7F"/>
                          </a:solidFill>
                        </a:rPr>
                        <a:t>06</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00" dirty="0">
                          <a:solidFill>
                            <a:srgbClr val="333333"/>
                          </a:solidFill>
                        </a:rPr>
                        <a:t>Murs &amp; ouvrages</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800" dirty="0">
                          <a:solidFill>
                            <a:srgbClr val="333333"/>
                          </a:solidFill>
                        </a:rPr>
                        <a:t>14%</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56032">
                <a:tc>
                  <a:txBody>
                    <a:bodyPr/>
                    <a:lstStyle/>
                    <a:p>
                      <a:pPr indent="0" marL="0">
                        <a:buNone/>
                      </a:pPr>
                      <a:r>
                        <a:rPr lang="en-US" sz="800" b="1" dirty="0">
                          <a:solidFill>
                            <a:srgbClr val="007A7F"/>
                          </a:solidFill>
                        </a:rPr>
                        <a:t>07</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00" dirty="0">
                          <a:solidFill>
                            <a:srgbClr val="333333"/>
                          </a:solidFill>
                        </a:rPr>
                        <a:t>Paysager</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800" dirty="0">
                          <a:solidFill>
                            <a:srgbClr val="333333"/>
                          </a:solidFill>
                        </a:rPr>
                        <a:t>5%</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56032">
                <a:tc>
                  <a:txBody>
                    <a:bodyPr/>
                    <a:lstStyle/>
                    <a:p>
                      <a:pPr indent="0" marL="0">
                        <a:buNone/>
                      </a:pPr>
                      <a:r>
                        <a:rPr lang="en-US" sz="800" b="1" dirty="0">
                          <a:solidFill>
                            <a:srgbClr val="007A7F"/>
                          </a:solidFill>
                        </a:rPr>
                        <a:t>08</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00" dirty="0">
                          <a:solidFill>
                            <a:srgbClr val="333333"/>
                          </a:solidFill>
                        </a:rPr>
                        <a:t>Mobilier urbain</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800" dirty="0">
                          <a:solidFill>
                            <a:srgbClr val="333333"/>
                          </a:solidFill>
                        </a:rPr>
                        <a:t>4%</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graphicFrame>
        <p:nvGraphicFramePr>
          <p:cNvPr id="11" name="Chart 0" descr=""/>
          <p:cNvGraphicFramePr/>
          <p:nvPr/>
        </p:nvGraphicFramePr>
        <p:xfrm>
          <a:off x="4846320" y="1325880"/>
          <a:ext cx="3931920" cy="347472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A7F"/>
          </a:solidFill>
          <a:ln/>
        </p:spPr>
      </p:sp>
      <p:sp>
        <p:nvSpPr>
          <p:cNvPr id="3" name="Shape 1"/>
          <p:cNvSpPr/>
          <p:nvPr/>
        </p:nvSpPr>
        <p:spPr>
          <a:xfrm>
            <a:off x="365760" y="164592"/>
            <a:ext cx="777240" cy="347472"/>
          </a:xfrm>
          <a:prstGeom prst="rect">
            <a:avLst/>
          </a:prstGeom>
          <a:solidFill>
            <a:srgbClr val="E0F4F5"/>
          </a:solidFill>
          <a:ln w="10160">
            <a:solidFill>
              <a:srgbClr val="007A7F"/>
            </a:solidFill>
            <a:prstDash val="solid"/>
          </a:ln>
        </p:spPr>
      </p:sp>
      <p:sp>
        <p:nvSpPr>
          <p:cNvPr id="4" name="Text 2"/>
          <p:cNvSpPr/>
          <p:nvPr/>
        </p:nvSpPr>
        <p:spPr>
          <a:xfrm>
            <a:off x="365760" y="164592"/>
            <a:ext cx="777240" cy="347472"/>
          </a:xfrm>
          <a:prstGeom prst="rect">
            <a:avLst/>
          </a:prstGeom>
          <a:noFill/>
          <a:ln/>
        </p:spPr>
        <p:txBody>
          <a:bodyPr wrap="square" lIns="0" tIns="0" rIns="0" bIns="0" rtlCol="0" anchor="ctr"/>
          <a:lstStyle/>
          <a:p>
            <a:pPr algn="ctr" indent="0" marL="0">
              <a:buNone/>
            </a:pPr>
            <a:r>
              <a:rPr lang="en-US" sz="900" b="1" dirty="0">
                <a:solidFill>
                  <a:srgbClr val="007A7F"/>
                </a:solidFill>
                <a:latin typeface="Calibri" pitchFamily="34" charset="0"/>
                <a:ea typeface="Calibri" pitchFamily="34" charset="-122"/>
                <a:cs typeface="Calibri" pitchFamily="34" charset="-120"/>
              </a:rPr>
              <a:t>02 – Sit. 1&amp;2</a:t>
            </a:r>
            <a:endParaRPr lang="en-US" sz="900" dirty="0"/>
          </a:p>
        </p:txBody>
      </p:sp>
      <p:sp>
        <p:nvSpPr>
          <p:cNvPr id="5" name="Text 3"/>
          <p:cNvSpPr/>
          <p:nvPr/>
        </p:nvSpPr>
        <p:spPr>
          <a:xfrm>
            <a:off x="365760" y="566928"/>
            <a:ext cx="8412480" cy="411480"/>
          </a:xfrm>
          <a:prstGeom prst="rect">
            <a:avLst/>
          </a:prstGeom>
          <a:noFill/>
          <a:ln/>
        </p:spPr>
        <p:txBody>
          <a:bodyPr wrap="square" lIns="0" tIns="0" rIns="0" bIns="0" rtlCol="0" anchor="ctr"/>
          <a:lstStyle/>
          <a:p>
            <a:pPr indent="0" marL="0">
              <a:buNone/>
            </a:pPr>
            <a:r>
              <a:rPr lang="en-US" sz="1800" b="1" dirty="0">
                <a:solidFill>
                  <a:srgbClr val="1E1E1E"/>
                </a:solidFill>
                <a:latin typeface="Cambria" pitchFamily="34" charset="0"/>
                <a:ea typeface="Cambria" pitchFamily="34" charset="-122"/>
                <a:cs typeface="Cambria" pitchFamily="34" charset="-120"/>
              </a:rPr>
              <a:t>ESTIMATION CONFIDENTIELLE &amp; ANALYSE DES OFFRES</a:t>
            </a:r>
            <a:endParaRPr lang="en-US" sz="1800" dirty="0"/>
          </a:p>
        </p:txBody>
      </p:sp>
      <p:sp>
        <p:nvSpPr>
          <p:cNvPr id="6" name="Text 4"/>
          <p:cNvSpPr/>
          <p:nvPr/>
        </p:nvSpPr>
        <p:spPr>
          <a:xfrm>
            <a:off x="365760" y="932688"/>
            <a:ext cx="8412480" cy="274320"/>
          </a:xfrm>
          <a:prstGeom prst="rect">
            <a:avLst/>
          </a:prstGeom>
          <a:noFill/>
          <a:ln/>
        </p:spPr>
        <p:txBody>
          <a:bodyPr wrap="square" lIns="0" tIns="0" rIns="0" bIns="0" rtlCol="0" anchor="ctr"/>
          <a:lstStyle/>
          <a:p>
            <a:pPr indent="0" marL="0">
              <a:buNone/>
            </a:pPr>
            <a:r>
              <a:rPr lang="en-US" sz="1000" dirty="0">
                <a:solidFill>
                  <a:srgbClr val="666666"/>
                </a:solidFill>
                <a:latin typeface="Calibri" pitchFamily="34" charset="0"/>
                <a:ea typeface="Calibri" pitchFamily="34" charset="-122"/>
                <a:cs typeface="Calibri" pitchFamily="34" charset="-120"/>
              </a:rPr>
              <a:t>Compétence C18 – Métrer, estimer, analyser les offres</a:t>
            </a:r>
            <a:endParaRPr lang="en-US" sz="1000" dirty="0"/>
          </a:p>
        </p:txBody>
      </p:sp>
      <p:sp>
        <p:nvSpPr>
          <p:cNvPr id="7" name="Text 5"/>
          <p:cNvSpPr/>
          <p:nvPr/>
        </p:nvSpPr>
        <p:spPr>
          <a:xfrm>
            <a:off x="365760" y="4800600"/>
            <a:ext cx="8412480" cy="274320"/>
          </a:xfrm>
          <a:prstGeom prst="rect">
            <a:avLst/>
          </a:prstGeom>
          <a:noFill/>
          <a:ln/>
        </p:spPr>
        <p:txBody>
          <a:bodyPr wrap="square" rtlCol="0" anchor="ctr"/>
          <a:lstStyle/>
          <a:p>
            <a:pPr algn="r" indent="0" marL="0">
              <a:buNone/>
            </a:pPr>
            <a:r>
              <a:rPr lang="en-US" sz="700" dirty="0">
                <a:solidFill>
                  <a:srgbClr val="666666"/>
                </a:solidFill>
                <a:latin typeface="Calibri" pitchFamily="34" charset="0"/>
                <a:ea typeface="Calibri" pitchFamily="34" charset="-122"/>
                <a:cs typeface="Calibri" pitchFamily="34" charset="-120"/>
              </a:rPr>
              <a:t>BAHAFID Mohamed  ·  Rapport U62  ·  BTS MEC 2026  ·  6/15</a:t>
            </a:r>
            <a:endParaRPr lang="en-US" sz="700" dirty="0"/>
          </a:p>
        </p:txBody>
      </p:sp>
      <p:sp>
        <p:nvSpPr>
          <p:cNvPr id="8" name="Shape 6"/>
          <p:cNvSpPr/>
          <p:nvPr/>
        </p:nvSpPr>
        <p:spPr>
          <a:xfrm>
            <a:off x="365760" y="1325880"/>
            <a:ext cx="4114800" cy="3291840"/>
          </a:xfrm>
          <a:prstGeom prst="rect">
            <a:avLst/>
          </a:prstGeom>
          <a:solidFill>
            <a:srgbClr val="FFFFFF"/>
          </a:solidFill>
          <a:ln/>
          <a:effectLst>
            <a:outerShdw sx="100000" sy="100000" kx="0" ky="0" algn="bl" rotWithShape="0" blurRad="50800" dist="19050" dir="8100000">
              <a:srgbClr val="000000">
                <a:alpha val="10000"/>
              </a:srgbClr>
            </a:outerShdw>
          </a:effectLst>
        </p:spPr>
      </p:sp>
      <p:sp>
        <p:nvSpPr>
          <p:cNvPr id="9" name="Shape 7"/>
          <p:cNvSpPr/>
          <p:nvPr/>
        </p:nvSpPr>
        <p:spPr>
          <a:xfrm>
            <a:off x="365760" y="1325880"/>
            <a:ext cx="4114800" cy="36576"/>
          </a:xfrm>
          <a:prstGeom prst="rect">
            <a:avLst/>
          </a:prstGeom>
          <a:solidFill>
            <a:srgbClr val="007A7F"/>
          </a:solidFill>
          <a:ln/>
        </p:spPr>
      </p:sp>
      <p:sp>
        <p:nvSpPr>
          <p:cNvPr id="10" name="Text 8"/>
          <p:cNvSpPr/>
          <p:nvPr/>
        </p:nvSpPr>
        <p:spPr>
          <a:xfrm>
            <a:off x="548640" y="1417320"/>
            <a:ext cx="3749040" cy="274320"/>
          </a:xfrm>
          <a:prstGeom prst="rect">
            <a:avLst/>
          </a:prstGeom>
          <a:noFill/>
          <a:ln/>
        </p:spPr>
        <p:txBody>
          <a:bodyPr wrap="square" lIns="0" tIns="0" rIns="0" bIns="0" rtlCol="0" anchor="ctr"/>
          <a:lstStyle/>
          <a:p>
            <a:pPr indent="0" marL="0">
              <a:buNone/>
            </a:pPr>
            <a:r>
              <a:rPr lang="en-US" sz="800" b="1" spc="100" kern="0" dirty="0">
                <a:solidFill>
                  <a:srgbClr val="007A7F"/>
                </a:solidFill>
                <a:latin typeface="Calibri" pitchFamily="34" charset="0"/>
                <a:ea typeface="Calibri" pitchFamily="34" charset="-122"/>
                <a:cs typeface="Calibri" pitchFamily="34" charset="-120"/>
              </a:rPr>
              <a:t>SITUATION 1 – ESTIMATION CONFIDENTIELLE</a:t>
            </a:r>
            <a:endParaRPr lang="en-US" sz="800" dirty="0"/>
          </a:p>
        </p:txBody>
      </p:sp>
      <p:sp>
        <p:nvSpPr>
          <p:cNvPr id="11" name="Text 9"/>
          <p:cNvSpPr/>
          <p:nvPr/>
        </p:nvSpPr>
        <p:spPr>
          <a:xfrm>
            <a:off x="548640" y="1691640"/>
            <a:ext cx="3749040" cy="228600"/>
          </a:xfrm>
          <a:prstGeom prst="rect">
            <a:avLst/>
          </a:prstGeom>
          <a:noFill/>
          <a:ln/>
        </p:spPr>
        <p:txBody>
          <a:bodyPr wrap="square" lIns="0" tIns="0" rIns="0" bIns="0" rtlCol="0" anchor="ctr"/>
          <a:lstStyle/>
          <a:p>
            <a:pPr indent="0" marL="0">
              <a:buNone/>
            </a:pPr>
            <a:r>
              <a:rPr lang="en-US" sz="900" b="1" dirty="0">
                <a:solidFill>
                  <a:srgbClr val="1E1E1E"/>
                </a:solidFill>
                <a:latin typeface="Calibri" pitchFamily="34" charset="0"/>
                <a:ea typeface="Calibri" pitchFamily="34" charset="-122"/>
                <a:cs typeface="Calibri" pitchFamily="34" charset="-120"/>
              </a:rPr>
              <a:t>Ouaoumana – 15,8 M DH HT</a:t>
            </a:r>
            <a:endParaRPr lang="en-US" sz="900" dirty="0"/>
          </a:p>
        </p:txBody>
      </p:sp>
      <p:sp>
        <p:nvSpPr>
          <p:cNvPr id="12" name="Text 10"/>
          <p:cNvSpPr/>
          <p:nvPr/>
        </p:nvSpPr>
        <p:spPr>
          <a:xfrm>
            <a:off x="3108960" y="1417320"/>
            <a:ext cx="1188720" cy="548640"/>
          </a:xfrm>
          <a:prstGeom prst="rect">
            <a:avLst/>
          </a:prstGeom>
          <a:noFill/>
          <a:ln/>
        </p:spPr>
        <p:txBody>
          <a:bodyPr wrap="square" lIns="0" tIns="0" rIns="0" bIns="0" rtlCol="0" anchor="ctr"/>
          <a:lstStyle/>
          <a:p>
            <a:pPr algn="r" indent="0" marL="0">
              <a:buNone/>
            </a:pPr>
            <a:r>
              <a:rPr lang="en-US" sz="2800" b="1" dirty="0">
                <a:solidFill>
                  <a:srgbClr val="16A34A"/>
                </a:solidFill>
                <a:latin typeface="Cambria" pitchFamily="34" charset="0"/>
                <a:ea typeface="Cambria" pitchFamily="34" charset="-122"/>
                <a:cs typeface="Cambria" pitchFamily="34" charset="-120"/>
              </a:rPr>
              <a:t>3,2%</a:t>
            </a:r>
            <a:endParaRPr lang="en-US" sz="2800" dirty="0"/>
          </a:p>
        </p:txBody>
      </p:sp>
      <p:sp>
        <p:nvSpPr>
          <p:cNvPr id="13" name="Shape 11"/>
          <p:cNvSpPr/>
          <p:nvPr/>
        </p:nvSpPr>
        <p:spPr>
          <a:xfrm>
            <a:off x="548640" y="2011680"/>
            <a:ext cx="237744" cy="237744"/>
          </a:xfrm>
          <a:prstGeom prst="ellipse">
            <a:avLst/>
          </a:prstGeom>
          <a:solidFill>
            <a:srgbClr val="007A7F"/>
          </a:solidFill>
          <a:ln/>
        </p:spPr>
      </p:sp>
      <p:sp>
        <p:nvSpPr>
          <p:cNvPr id="14" name="Text 12"/>
          <p:cNvSpPr/>
          <p:nvPr/>
        </p:nvSpPr>
        <p:spPr>
          <a:xfrm>
            <a:off x="548640" y="2011680"/>
            <a:ext cx="237744" cy="23774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a:t>
            </a:r>
            <a:endParaRPr lang="en-US" sz="1400" dirty="0"/>
          </a:p>
        </p:txBody>
      </p:sp>
      <p:sp>
        <p:nvSpPr>
          <p:cNvPr id="15" name="Text 13"/>
          <p:cNvSpPr/>
          <p:nvPr/>
        </p:nvSpPr>
        <p:spPr>
          <a:xfrm>
            <a:off x="868680" y="1993392"/>
            <a:ext cx="3520440" cy="502920"/>
          </a:xfrm>
          <a:prstGeom prst="rect">
            <a:avLst/>
          </a:prstGeom>
          <a:noFill/>
          <a:ln/>
        </p:spPr>
        <p:txBody>
          <a:bodyPr wrap="square" lIns="0" tIns="0" rIns="0" bIns="0" rtlCol="0" anchor="ctr"/>
          <a:lstStyle/>
          <a:p>
            <a:pPr indent="0" marL="0">
              <a:buNone/>
            </a:pPr>
            <a:r>
              <a:rPr lang="en-US" sz="800" dirty="0">
                <a:solidFill>
                  <a:srgbClr val="333333"/>
                </a:solidFill>
                <a:latin typeface="Calibri" pitchFamily="34" charset="0"/>
                <a:ea typeface="Calibri" pitchFamily="34" charset="-122"/>
                <a:cs typeface="Calibri" pitchFamily="34" charset="-120"/>
              </a:rPr>
              <a:t>Prix plafond avant AO. 35% du budget. Délai 3 semaines.</a:t>
            </a:r>
            <a:endParaRPr lang="en-US" sz="800" dirty="0"/>
          </a:p>
        </p:txBody>
      </p:sp>
      <p:sp>
        <p:nvSpPr>
          <p:cNvPr id="16" name="Shape 14"/>
          <p:cNvSpPr/>
          <p:nvPr/>
        </p:nvSpPr>
        <p:spPr>
          <a:xfrm>
            <a:off x="548640" y="2606040"/>
            <a:ext cx="237744" cy="237744"/>
          </a:xfrm>
          <a:prstGeom prst="ellipse">
            <a:avLst/>
          </a:prstGeom>
          <a:solidFill>
            <a:srgbClr val="007A7F"/>
          </a:solidFill>
          <a:ln/>
        </p:spPr>
      </p:sp>
      <p:sp>
        <p:nvSpPr>
          <p:cNvPr id="17" name="Text 15"/>
          <p:cNvSpPr/>
          <p:nvPr/>
        </p:nvSpPr>
        <p:spPr>
          <a:xfrm>
            <a:off x="548640" y="2606040"/>
            <a:ext cx="237744" cy="23774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a:t>
            </a:r>
            <a:endParaRPr lang="en-US" sz="1400" dirty="0"/>
          </a:p>
        </p:txBody>
      </p:sp>
      <p:sp>
        <p:nvSpPr>
          <p:cNvPr id="18" name="Text 16"/>
          <p:cNvSpPr/>
          <p:nvPr/>
        </p:nvSpPr>
        <p:spPr>
          <a:xfrm>
            <a:off x="868680" y="2587752"/>
            <a:ext cx="3520440" cy="502920"/>
          </a:xfrm>
          <a:prstGeom prst="rect">
            <a:avLst/>
          </a:prstGeom>
          <a:noFill/>
          <a:ln/>
        </p:spPr>
        <p:txBody>
          <a:bodyPr wrap="square" lIns="0" tIns="0" rIns="0" bIns="0" rtlCol="0" anchor="ctr"/>
          <a:lstStyle/>
          <a:p>
            <a:pPr indent="0" marL="0">
              <a:buNone/>
            </a:pPr>
            <a:r>
              <a:rPr lang="en-US" sz="800" dirty="0">
                <a:solidFill>
                  <a:srgbClr val="333333"/>
                </a:solidFill>
                <a:latin typeface="Calibri" pitchFamily="34" charset="0"/>
                <a:ea typeface="Calibri" pitchFamily="34" charset="-122"/>
                <a:cs typeface="Calibri" pitchFamily="34" charset="-120"/>
              </a:rPr>
              <a:t>Mercuriale 2014 obsolète : prix dérivés de 15 à 22%.</a:t>
            </a:r>
            <a:endParaRPr lang="en-US" sz="800" dirty="0"/>
          </a:p>
        </p:txBody>
      </p:sp>
      <p:sp>
        <p:nvSpPr>
          <p:cNvPr id="19" name="Shape 17"/>
          <p:cNvSpPr/>
          <p:nvPr/>
        </p:nvSpPr>
        <p:spPr>
          <a:xfrm>
            <a:off x="548640" y="3200400"/>
            <a:ext cx="237744" cy="237744"/>
          </a:xfrm>
          <a:prstGeom prst="ellipse">
            <a:avLst/>
          </a:prstGeom>
          <a:solidFill>
            <a:srgbClr val="007A7F"/>
          </a:solidFill>
          <a:ln/>
        </p:spPr>
      </p:sp>
      <p:sp>
        <p:nvSpPr>
          <p:cNvPr id="20" name="Text 18"/>
          <p:cNvSpPr/>
          <p:nvPr/>
        </p:nvSpPr>
        <p:spPr>
          <a:xfrm>
            <a:off x="548640" y="3200400"/>
            <a:ext cx="237744" cy="23774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a:t>
            </a:r>
            <a:endParaRPr lang="en-US" sz="1400" dirty="0"/>
          </a:p>
        </p:txBody>
      </p:sp>
      <p:sp>
        <p:nvSpPr>
          <p:cNvPr id="21" name="Text 19"/>
          <p:cNvSpPr/>
          <p:nvPr/>
        </p:nvSpPr>
        <p:spPr>
          <a:xfrm>
            <a:off x="868680" y="3182112"/>
            <a:ext cx="3520440" cy="502920"/>
          </a:xfrm>
          <a:prstGeom prst="rect">
            <a:avLst/>
          </a:prstGeom>
          <a:noFill/>
          <a:ln/>
        </p:spPr>
        <p:txBody>
          <a:bodyPr wrap="square" lIns="0" tIns="0" rIns="0" bIns="0" rtlCol="0" anchor="ctr"/>
          <a:lstStyle/>
          <a:p>
            <a:pPr indent="0" marL="0">
              <a:buNone/>
            </a:pPr>
            <a:r>
              <a:rPr lang="en-US" sz="800" dirty="0">
                <a:solidFill>
                  <a:srgbClr val="333333"/>
                </a:solidFill>
                <a:latin typeface="Calibri" pitchFamily="34" charset="0"/>
                <a:ea typeface="Calibri" pitchFamily="34" charset="-122"/>
                <a:cs typeface="Calibri" pitchFamily="34" charset="-120"/>
              </a:rPr>
              <a:t>112 lignes AutoCAD + 4 visites terrain + 3 sources croisées.</a:t>
            </a:r>
            <a:endParaRPr lang="en-US" sz="800" dirty="0"/>
          </a:p>
        </p:txBody>
      </p:sp>
      <p:sp>
        <p:nvSpPr>
          <p:cNvPr id="22" name="Shape 20"/>
          <p:cNvSpPr/>
          <p:nvPr/>
        </p:nvSpPr>
        <p:spPr>
          <a:xfrm>
            <a:off x="548640" y="3794760"/>
            <a:ext cx="237744" cy="237744"/>
          </a:xfrm>
          <a:prstGeom prst="ellipse">
            <a:avLst/>
          </a:prstGeom>
          <a:solidFill>
            <a:srgbClr val="007A7F"/>
          </a:solidFill>
          <a:ln/>
        </p:spPr>
      </p:sp>
      <p:sp>
        <p:nvSpPr>
          <p:cNvPr id="23" name="Text 21"/>
          <p:cNvSpPr/>
          <p:nvPr/>
        </p:nvSpPr>
        <p:spPr>
          <a:xfrm>
            <a:off x="548640" y="3794760"/>
            <a:ext cx="237744" cy="23774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R</a:t>
            </a:r>
            <a:endParaRPr lang="en-US" sz="1400" dirty="0"/>
          </a:p>
        </p:txBody>
      </p:sp>
      <p:sp>
        <p:nvSpPr>
          <p:cNvPr id="24" name="Text 22"/>
          <p:cNvSpPr/>
          <p:nvPr/>
        </p:nvSpPr>
        <p:spPr>
          <a:xfrm>
            <a:off x="868680" y="3776472"/>
            <a:ext cx="3520440" cy="502920"/>
          </a:xfrm>
          <a:prstGeom prst="rect">
            <a:avLst/>
          </a:prstGeom>
          <a:noFill/>
          <a:ln/>
        </p:spPr>
        <p:txBody>
          <a:bodyPr wrap="square" lIns="0" tIns="0" rIns="0" bIns="0" rtlCol="0" anchor="ctr"/>
          <a:lstStyle/>
          <a:p>
            <a:pPr indent="0" marL="0">
              <a:buNone/>
            </a:pPr>
            <a:r>
              <a:rPr lang="en-US" sz="800" dirty="0">
                <a:solidFill>
                  <a:srgbClr val="333333"/>
                </a:solidFill>
                <a:latin typeface="Calibri" pitchFamily="34" charset="0"/>
                <a:ea typeface="Calibri" pitchFamily="34" charset="-122"/>
                <a:cs typeface="Calibri" pitchFamily="34" charset="-120"/>
              </a:rPr>
              <a:t>Écart 3,2% vs 5-10% norme. Méthode adoptée standard.</a:t>
            </a:r>
            <a:endParaRPr lang="en-US" sz="800" dirty="0"/>
          </a:p>
        </p:txBody>
      </p:sp>
      <p:sp>
        <p:nvSpPr>
          <p:cNvPr id="25" name="Shape 23"/>
          <p:cNvSpPr/>
          <p:nvPr/>
        </p:nvSpPr>
        <p:spPr>
          <a:xfrm>
            <a:off x="4663440" y="1325880"/>
            <a:ext cx="4114800" cy="3291840"/>
          </a:xfrm>
          <a:prstGeom prst="rect">
            <a:avLst/>
          </a:prstGeom>
          <a:solidFill>
            <a:srgbClr val="FFFFFF"/>
          </a:solidFill>
          <a:ln/>
          <a:effectLst>
            <a:outerShdw sx="100000" sy="100000" kx="0" ky="0" algn="bl" rotWithShape="0" blurRad="50800" dist="19050" dir="8100000">
              <a:srgbClr val="000000">
                <a:alpha val="10000"/>
              </a:srgbClr>
            </a:outerShdw>
          </a:effectLst>
        </p:spPr>
      </p:sp>
      <p:sp>
        <p:nvSpPr>
          <p:cNvPr id="26" name="Shape 24"/>
          <p:cNvSpPr/>
          <p:nvPr/>
        </p:nvSpPr>
        <p:spPr>
          <a:xfrm>
            <a:off x="4663440" y="1325880"/>
            <a:ext cx="4114800" cy="36576"/>
          </a:xfrm>
          <a:prstGeom prst="rect">
            <a:avLst/>
          </a:prstGeom>
          <a:solidFill>
            <a:srgbClr val="D97706"/>
          </a:solidFill>
          <a:ln/>
        </p:spPr>
      </p:sp>
      <p:sp>
        <p:nvSpPr>
          <p:cNvPr id="27" name="Text 25"/>
          <p:cNvSpPr/>
          <p:nvPr/>
        </p:nvSpPr>
        <p:spPr>
          <a:xfrm>
            <a:off x="4846320" y="1417320"/>
            <a:ext cx="3749040" cy="274320"/>
          </a:xfrm>
          <a:prstGeom prst="rect">
            <a:avLst/>
          </a:prstGeom>
          <a:noFill/>
          <a:ln/>
        </p:spPr>
        <p:txBody>
          <a:bodyPr wrap="square" lIns="0" tIns="0" rIns="0" bIns="0" rtlCol="0" anchor="ctr"/>
          <a:lstStyle/>
          <a:p>
            <a:pPr indent="0" marL="0">
              <a:buNone/>
            </a:pPr>
            <a:r>
              <a:rPr lang="en-US" sz="800" b="1" spc="100" kern="0" dirty="0">
                <a:solidFill>
                  <a:srgbClr val="D97706"/>
                </a:solidFill>
                <a:latin typeface="Calibri" pitchFamily="34" charset="0"/>
                <a:ea typeface="Calibri" pitchFamily="34" charset="-122"/>
                <a:cs typeface="Calibri" pitchFamily="34" charset="-120"/>
              </a:rPr>
              <a:t>SITUATION 2 – ANALYSE DES OFFRES</a:t>
            </a:r>
            <a:endParaRPr lang="en-US" sz="800" dirty="0"/>
          </a:p>
        </p:txBody>
      </p:sp>
      <p:sp>
        <p:nvSpPr>
          <p:cNvPr id="28" name="Text 26"/>
          <p:cNvSpPr/>
          <p:nvPr/>
        </p:nvSpPr>
        <p:spPr>
          <a:xfrm>
            <a:off x="4846320" y="1691640"/>
            <a:ext cx="3749040" cy="228600"/>
          </a:xfrm>
          <a:prstGeom prst="rect">
            <a:avLst/>
          </a:prstGeom>
          <a:noFill/>
          <a:ln/>
        </p:spPr>
        <p:txBody>
          <a:bodyPr wrap="square" lIns="0" tIns="0" rIns="0" bIns="0" rtlCol="0" anchor="ctr"/>
          <a:lstStyle/>
          <a:p>
            <a:pPr indent="0" marL="0">
              <a:buNone/>
            </a:pPr>
            <a:r>
              <a:rPr lang="en-US" sz="900" b="1" dirty="0">
                <a:solidFill>
                  <a:srgbClr val="1E1E1E"/>
                </a:solidFill>
                <a:latin typeface="Calibri" pitchFamily="34" charset="0"/>
                <a:ea typeface="Calibri" pitchFamily="34" charset="-122"/>
                <a:cs typeface="Calibri" pitchFamily="34" charset="-120"/>
              </a:rPr>
              <a:t>Commission CAO – 3 offres</a:t>
            </a:r>
            <a:endParaRPr lang="en-US" sz="900" dirty="0"/>
          </a:p>
        </p:txBody>
      </p:sp>
      <p:sp>
        <p:nvSpPr>
          <p:cNvPr id="29" name="Text 27"/>
          <p:cNvSpPr/>
          <p:nvPr/>
        </p:nvSpPr>
        <p:spPr>
          <a:xfrm>
            <a:off x="7406640" y="1417320"/>
            <a:ext cx="1188720" cy="548640"/>
          </a:xfrm>
          <a:prstGeom prst="rect">
            <a:avLst/>
          </a:prstGeom>
          <a:noFill/>
          <a:ln/>
        </p:spPr>
        <p:txBody>
          <a:bodyPr wrap="square" lIns="0" tIns="0" rIns="0" bIns="0" rtlCol="0" anchor="ctr"/>
          <a:lstStyle/>
          <a:p>
            <a:pPr algn="r" indent="0" marL="0">
              <a:buNone/>
            </a:pPr>
            <a:r>
              <a:rPr lang="en-US" sz="2800" b="1" dirty="0">
                <a:solidFill>
                  <a:srgbClr val="D97706"/>
                </a:solidFill>
                <a:latin typeface="Cambria" pitchFamily="34" charset="0"/>
                <a:ea typeface="Cambria" pitchFamily="34" charset="-122"/>
                <a:cs typeface="Cambria" pitchFamily="34" charset="-120"/>
              </a:rPr>
              <a:t>94/100</a:t>
            </a:r>
            <a:endParaRPr lang="en-US" sz="2800" dirty="0"/>
          </a:p>
        </p:txBody>
      </p:sp>
      <p:sp>
        <p:nvSpPr>
          <p:cNvPr id="30" name="Shape 28"/>
          <p:cNvSpPr/>
          <p:nvPr/>
        </p:nvSpPr>
        <p:spPr>
          <a:xfrm>
            <a:off x="4846320" y="2011680"/>
            <a:ext cx="237744" cy="237744"/>
          </a:xfrm>
          <a:prstGeom prst="ellipse">
            <a:avLst/>
          </a:prstGeom>
          <a:solidFill>
            <a:srgbClr val="007A7F"/>
          </a:solidFill>
          <a:ln/>
        </p:spPr>
      </p:sp>
      <p:sp>
        <p:nvSpPr>
          <p:cNvPr id="31" name="Text 29"/>
          <p:cNvSpPr/>
          <p:nvPr/>
        </p:nvSpPr>
        <p:spPr>
          <a:xfrm>
            <a:off x="4846320" y="2011680"/>
            <a:ext cx="237744" cy="23774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a:t>
            </a:r>
            <a:endParaRPr lang="en-US" sz="1400" dirty="0"/>
          </a:p>
        </p:txBody>
      </p:sp>
      <p:sp>
        <p:nvSpPr>
          <p:cNvPr id="32" name="Text 30"/>
          <p:cNvSpPr/>
          <p:nvPr/>
        </p:nvSpPr>
        <p:spPr>
          <a:xfrm>
            <a:off x="5166360" y="1993392"/>
            <a:ext cx="3520440" cy="502920"/>
          </a:xfrm>
          <a:prstGeom prst="rect">
            <a:avLst/>
          </a:prstGeom>
          <a:noFill/>
          <a:ln/>
        </p:spPr>
        <p:txBody>
          <a:bodyPr wrap="square" lIns="0" tIns="0" rIns="0" bIns="0" rtlCol="0" anchor="ctr"/>
          <a:lstStyle/>
          <a:p>
            <a:pPr indent="0" marL="0">
              <a:buNone/>
            </a:pPr>
            <a:r>
              <a:rPr lang="en-US" sz="800" dirty="0">
                <a:solidFill>
                  <a:srgbClr val="333333"/>
                </a:solidFill>
                <a:latin typeface="Calibri" pitchFamily="34" charset="0"/>
                <a:ea typeface="Calibri" pitchFamily="34" charset="-122"/>
                <a:cs typeface="Calibri" pitchFamily="34" charset="-120"/>
              </a:rPr>
              <a:t>Membre technique commission. Analyse comparative 3 dossiers.</a:t>
            </a:r>
            <a:endParaRPr lang="en-US" sz="800" dirty="0"/>
          </a:p>
        </p:txBody>
      </p:sp>
      <p:sp>
        <p:nvSpPr>
          <p:cNvPr id="33" name="Shape 31"/>
          <p:cNvSpPr/>
          <p:nvPr/>
        </p:nvSpPr>
        <p:spPr>
          <a:xfrm>
            <a:off x="4846320" y="2606040"/>
            <a:ext cx="237744" cy="237744"/>
          </a:xfrm>
          <a:prstGeom prst="ellipse">
            <a:avLst/>
          </a:prstGeom>
          <a:solidFill>
            <a:srgbClr val="007A7F"/>
          </a:solidFill>
          <a:ln/>
        </p:spPr>
      </p:sp>
      <p:sp>
        <p:nvSpPr>
          <p:cNvPr id="34" name="Text 32"/>
          <p:cNvSpPr/>
          <p:nvPr/>
        </p:nvSpPr>
        <p:spPr>
          <a:xfrm>
            <a:off x="4846320" y="2606040"/>
            <a:ext cx="237744" cy="23774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a:t>
            </a:r>
            <a:endParaRPr lang="en-US" sz="1400" dirty="0"/>
          </a:p>
        </p:txBody>
      </p:sp>
      <p:sp>
        <p:nvSpPr>
          <p:cNvPr id="35" name="Text 33"/>
          <p:cNvSpPr/>
          <p:nvPr/>
        </p:nvSpPr>
        <p:spPr>
          <a:xfrm>
            <a:off x="5166360" y="2587752"/>
            <a:ext cx="3520440" cy="502920"/>
          </a:xfrm>
          <a:prstGeom prst="rect">
            <a:avLst/>
          </a:prstGeom>
          <a:noFill/>
          <a:ln/>
        </p:spPr>
        <p:txBody>
          <a:bodyPr wrap="square" lIns="0" tIns="0" rIns="0" bIns="0" rtlCol="0" anchor="ctr"/>
          <a:lstStyle/>
          <a:p>
            <a:pPr indent="0" marL="0">
              <a:buNone/>
            </a:pPr>
            <a:r>
              <a:rPr lang="en-US" sz="800" dirty="0">
                <a:solidFill>
                  <a:srgbClr val="333333"/>
                </a:solidFill>
                <a:latin typeface="Calibri" pitchFamily="34" charset="0"/>
                <a:ea typeface="Calibri" pitchFamily="34" charset="-122"/>
                <a:cs typeface="Calibri" pitchFamily="34" charset="-120"/>
              </a:rPr>
              <a:t>7 erreurs arithmétiques + prix bas anormaux sur 42% du montant.</a:t>
            </a:r>
            <a:endParaRPr lang="en-US" sz="800" dirty="0"/>
          </a:p>
        </p:txBody>
      </p:sp>
      <p:sp>
        <p:nvSpPr>
          <p:cNvPr id="36" name="Shape 34"/>
          <p:cNvSpPr/>
          <p:nvPr/>
        </p:nvSpPr>
        <p:spPr>
          <a:xfrm>
            <a:off x="4846320" y="3200400"/>
            <a:ext cx="237744" cy="237744"/>
          </a:xfrm>
          <a:prstGeom prst="ellipse">
            <a:avLst/>
          </a:prstGeom>
          <a:solidFill>
            <a:srgbClr val="007A7F"/>
          </a:solidFill>
          <a:ln/>
        </p:spPr>
      </p:sp>
      <p:sp>
        <p:nvSpPr>
          <p:cNvPr id="37" name="Text 35"/>
          <p:cNvSpPr/>
          <p:nvPr/>
        </p:nvSpPr>
        <p:spPr>
          <a:xfrm>
            <a:off x="4846320" y="3200400"/>
            <a:ext cx="237744" cy="23774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a:t>
            </a:r>
            <a:endParaRPr lang="en-US" sz="1400" dirty="0"/>
          </a:p>
        </p:txBody>
      </p:sp>
      <p:sp>
        <p:nvSpPr>
          <p:cNvPr id="38" name="Text 36"/>
          <p:cNvSpPr/>
          <p:nvPr/>
        </p:nvSpPr>
        <p:spPr>
          <a:xfrm>
            <a:off x="5166360" y="3182112"/>
            <a:ext cx="3520440" cy="502920"/>
          </a:xfrm>
          <a:prstGeom prst="rect">
            <a:avLst/>
          </a:prstGeom>
          <a:noFill/>
          <a:ln/>
        </p:spPr>
        <p:txBody>
          <a:bodyPr wrap="square" lIns="0" tIns="0" rIns="0" bIns="0" rtlCol="0" anchor="ctr"/>
          <a:lstStyle/>
          <a:p>
            <a:pPr indent="0" marL="0">
              <a:buNone/>
            </a:pPr>
            <a:r>
              <a:rPr lang="en-US" sz="800" dirty="0">
                <a:solidFill>
                  <a:srgbClr val="333333"/>
                </a:solidFill>
                <a:latin typeface="Calibri" pitchFamily="34" charset="0"/>
                <a:ea typeface="Calibri" pitchFamily="34" charset="-122"/>
                <a:cs typeface="Calibri" pitchFamily="34" charset="-120"/>
              </a:rPr>
              <a:t>Grille 100 pts (technique 60 + financier 40). Justification écrite.</a:t>
            </a:r>
            <a:endParaRPr lang="en-US" sz="800" dirty="0"/>
          </a:p>
        </p:txBody>
      </p:sp>
      <p:sp>
        <p:nvSpPr>
          <p:cNvPr id="39" name="Shape 37"/>
          <p:cNvSpPr/>
          <p:nvPr/>
        </p:nvSpPr>
        <p:spPr>
          <a:xfrm>
            <a:off x="4846320" y="3794760"/>
            <a:ext cx="237744" cy="237744"/>
          </a:xfrm>
          <a:prstGeom prst="ellipse">
            <a:avLst/>
          </a:prstGeom>
          <a:solidFill>
            <a:srgbClr val="007A7F"/>
          </a:solidFill>
          <a:ln/>
        </p:spPr>
      </p:sp>
      <p:sp>
        <p:nvSpPr>
          <p:cNvPr id="40" name="Text 38"/>
          <p:cNvSpPr/>
          <p:nvPr/>
        </p:nvSpPr>
        <p:spPr>
          <a:xfrm>
            <a:off x="4846320" y="3794760"/>
            <a:ext cx="237744" cy="23774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R</a:t>
            </a:r>
            <a:endParaRPr lang="en-US" sz="1400" dirty="0"/>
          </a:p>
        </p:txBody>
      </p:sp>
      <p:sp>
        <p:nvSpPr>
          <p:cNvPr id="41" name="Text 39"/>
          <p:cNvSpPr/>
          <p:nvPr/>
        </p:nvSpPr>
        <p:spPr>
          <a:xfrm>
            <a:off x="5166360" y="3776472"/>
            <a:ext cx="3520440" cy="502920"/>
          </a:xfrm>
          <a:prstGeom prst="rect">
            <a:avLst/>
          </a:prstGeom>
          <a:noFill/>
          <a:ln/>
        </p:spPr>
        <p:txBody>
          <a:bodyPr wrap="square" lIns="0" tIns="0" rIns="0" bIns="0" rtlCol="0" anchor="ctr"/>
          <a:lstStyle/>
          <a:p>
            <a:pPr indent="0" marL="0">
              <a:buNone/>
            </a:pPr>
            <a:r>
              <a:rPr lang="en-US" sz="800" dirty="0">
                <a:solidFill>
                  <a:srgbClr val="333333"/>
                </a:solidFill>
                <a:latin typeface="Calibri" pitchFamily="34" charset="0"/>
                <a:ea typeface="Calibri" pitchFamily="34" charset="-122"/>
                <a:cs typeface="Calibri" pitchFamily="34" charset="-120"/>
              </a:rPr>
              <a:t>Attribution 15 jours. Zéro recours. Rapport validé sans réserve.</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A7F"/>
          </a:solidFill>
          <a:ln/>
        </p:spPr>
      </p:sp>
      <p:sp>
        <p:nvSpPr>
          <p:cNvPr id="3" name="Shape 1"/>
          <p:cNvSpPr/>
          <p:nvPr/>
        </p:nvSpPr>
        <p:spPr>
          <a:xfrm>
            <a:off x="365760" y="164592"/>
            <a:ext cx="777240" cy="347472"/>
          </a:xfrm>
          <a:prstGeom prst="rect">
            <a:avLst/>
          </a:prstGeom>
          <a:solidFill>
            <a:srgbClr val="E0F4F5"/>
          </a:solidFill>
          <a:ln w="10160">
            <a:solidFill>
              <a:srgbClr val="007A7F"/>
            </a:solidFill>
            <a:prstDash val="solid"/>
          </a:ln>
        </p:spPr>
      </p:sp>
      <p:sp>
        <p:nvSpPr>
          <p:cNvPr id="4" name="Text 2"/>
          <p:cNvSpPr/>
          <p:nvPr/>
        </p:nvSpPr>
        <p:spPr>
          <a:xfrm>
            <a:off x="365760" y="164592"/>
            <a:ext cx="777240" cy="347472"/>
          </a:xfrm>
          <a:prstGeom prst="rect">
            <a:avLst/>
          </a:prstGeom>
          <a:noFill/>
          <a:ln/>
        </p:spPr>
        <p:txBody>
          <a:bodyPr wrap="square" lIns="0" tIns="0" rIns="0" bIns="0" rtlCol="0" anchor="ctr"/>
          <a:lstStyle/>
          <a:p>
            <a:pPr algn="ctr" indent="0" marL="0">
              <a:buNone/>
            </a:pPr>
            <a:r>
              <a:rPr lang="en-US" sz="900" b="1" dirty="0">
                <a:solidFill>
                  <a:srgbClr val="007A7F"/>
                </a:solidFill>
                <a:latin typeface="Calibri" pitchFamily="34" charset="0"/>
                <a:ea typeface="Calibri" pitchFamily="34" charset="-122"/>
                <a:cs typeface="Calibri" pitchFamily="34" charset="-120"/>
              </a:rPr>
              <a:t>02 – Sit. 3&amp;4</a:t>
            </a:r>
            <a:endParaRPr lang="en-US" sz="900" dirty="0"/>
          </a:p>
        </p:txBody>
      </p:sp>
      <p:sp>
        <p:nvSpPr>
          <p:cNvPr id="5" name="Text 3"/>
          <p:cNvSpPr/>
          <p:nvPr/>
        </p:nvSpPr>
        <p:spPr>
          <a:xfrm>
            <a:off x="365760" y="566928"/>
            <a:ext cx="8412480" cy="411480"/>
          </a:xfrm>
          <a:prstGeom prst="rect">
            <a:avLst/>
          </a:prstGeom>
          <a:noFill/>
          <a:ln/>
        </p:spPr>
        <p:txBody>
          <a:bodyPr wrap="square" lIns="0" tIns="0" rIns="0" bIns="0" rtlCol="0" anchor="ctr"/>
          <a:lstStyle/>
          <a:p>
            <a:pPr indent="0" marL="0">
              <a:buNone/>
            </a:pPr>
            <a:r>
              <a:rPr lang="en-US" sz="1800" b="1" dirty="0">
                <a:solidFill>
                  <a:srgbClr val="1E1E1E"/>
                </a:solidFill>
                <a:latin typeface="Cambria" pitchFamily="34" charset="0"/>
                <a:ea typeface="Cambria" pitchFamily="34" charset="-122"/>
                <a:cs typeface="Cambria" pitchFamily="34" charset="-120"/>
              </a:rPr>
              <a:t>SUIVI FINANCIER &amp; COORDINATION MULTI-SITES</a:t>
            </a:r>
            <a:endParaRPr lang="en-US" sz="1800" dirty="0"/>
          </a:p>
        </p:txBody>
      </p:sp>
      <p:sp>
        <p:nvSpPr>
          <p:cNvPr id="6" name="Text 4"/>
          <p:cNvSpPr/>
          <p:nvPr/>
        </p:nvSpPr>
        <p:spPr>
          <a:xfrm>
            <a:off x="365760" y="932688"/>
            <a:ext cx="8412480" cy="274320"/>
          </a:xfrm>
          <a:prstGeom prst="rect">
            <a:avLst/>
          </a:prstGeom>
          <a:noFill/>
          <a:ln/>
        </p:spPr>
        <p:txBody>
          <a:bodyPr wrap="square" lIns="0" tIns="0" rIns="0" bIns="0" rtlCol="0" anchor="ctr"/>
          <a:lstStyle/>
          <a:p>
            <a:pPr indent="0" marL="0">
              <a:buNone/>
            </a:pPr>
            <a:r>
              <a:rPr lang="en-US" sz="1000" dirty="0">
                <a:solidFill>
                  <a:srgbClr val="666666"/>
                </a:solidFill>
                <a:latin typeface="Calibri" pitchFamily="34" charset="0"/>
                <a:ea typeface="Calibri" pitchFamily="34" charset="-122"/>
                <a:cs typeface="Calibri" pitchFamily="34" charset="-120"/>
              </a:rPr>
              <a:t>Compétences C18 (suivi budget) et C19 (coordonner, communiquer)</a:t>
            </a:r>
            <a:endParaRPr lang="en-US" sz="1000" dirty="0"/>
          </a:p>
        </p:txBody>
      </p:sp>
      <p:sp>
        <p:nvSpPr>
          <p:cNvPr id="7" name="Text 5"/>
          <p:cNvSpPr/>
          <p:nvPr/>
        </p:nvSpPr>
        <p:spPr>
          <a:xfrm>
            <a:off x="365760" y="4800600"/>
            <a:ext cx="8412480" cy="274320"/>
          </a:xfrm>
          <a:prstGeom prst="rect">
            <a:avLst/>
          </a:prstGeom>
          <a:noFill/>
          <a:ln/>
        </p:spPr>
        <p:txBody>
          <a:bodyPr wrap="square" rtlCol="0" anchor="ctr"/>
          <a:lstStyle/>
          <a:p>
            <a:pPr algn="r" indent="0" marL="0">
              <a:buNone/>
            </a:pPr>
            <a:r>
              <a:rPr lang="en-US" sz="700" dirty="0">
                <a:solidFill>
                  <a:srgbClr val="666666"/>
                </a:solidFill>
                <a:latin typeface="Calibri" pitchFamily="34" charset="0"/>
                <a:ea typeface="Calibri" pitchFamily="34" charset="-122"/>
                <a:cs typeface="Calibri" pitchFamily="34" charset="-120"/>
              </a:rPr>
              <a:t>BAHAFID Mohamed  ·  Rapport U62  ·  BTS MEC 2026  ·  7/15</a:t>
            </a:r>
            <a:endParaRPr lang="en-US" sz="700" dirty="0"/>
          </a:p>
        </p:txBody>
      </p:sp>
      <p:sp>
        <p:nvSpPr>
          <p:cNvPr id="8" name="Shape 6"/>
          <p:cNvSpPr/>
          <p:nvPr/>
        </p:nvSpPr>
        <p:spPr>
          <a:xfrm>
            <a:off x="365760" y="1325880"/>
            <a:ext cx="4114800" cy="3291840"/>
          </a:xfrm>
          <a:prstGeom prst="rect">
            <a:avLst/>
          </a:prstGeom>
          <a:solidFill>
            <a:srgbClr val="FFFFFF"/>
          </a:solidFill>
          <a:ln/>
          <a:effectLst>
            <a:outerShdw sx="100000" sy="100000" kx="0" ky="0" algn="bl" rotWithShape="0" blurRad="50800" dist="19050" dir="8100000">
              <a:srgbClr val="000000">
                <a:alpha val="10000"/>
              </a:srgbClr>
            </a:outerShdw>
          </a:effectLst>
        </p:spPr>
      </p:sp>
      <p:sp>
        <p:nvSpPr>
          <p:cNvPr id="9" name="Shape 7"/>
          <p:cNvSpPr/>
          <p:nvPr/>
        </p:nvSpPr>
        <p:spPr>
          <a:xfrm>
            <a:off x="365760" y="1325880"/>
            <a:ext cx="4114800" cy="36576"/>
          </a:xfrm>
          <a:prstGeom prst="rect">
            <a:avLst/>
          </a:prstGeom>
          <a:solidFill>
            <a:srgbClr val="007A7F"/>
          </a:solidFill>
          <a:ln/>
        </p:spPr>
      </p:sp>
      <p:sp>
        <p:nvSpPr>
          <p:cNvPr id="10" name="Text 8"/>
          <p:cNvSpPr/>
          <p:nvPr/>
        </p:nvSpPr>
        <p:spPr>
          <a:xfrm>
            <a:off x="548640" y="1417320"/>
            <a:ext cx="3749040" cy="274320"/>
          </a:xfrm>
          <a:prstGeom prst="rect">
            <a:avLst/>
          </a:prstGeom>
          <a:noFill/>
          <a:ln/>
        </p:spPr>
        <p:txBody>
          <a:bodyPr wrap="square" lIns="0" tIns="0" rIns="0" bIns="0" rtlCol="0" anchor="ctr"/>
          <a:lstStyle/>
          <a:p>
            <a:pPr indent="0" marL="0">
              <a:buNone/>
            </a:pPr>
            <a:r>
              <a:rPr lang="en-US" sz="800" b="1" spc="100" kern="0" dirty="0">
                <a:solidFill>
                  <a:srgbClr val="007A7F"/>
                </a:solidFill>
                <a:latin typeface="Calibri" pitchFamily="34" charset="0"/>
                <a:ea typeface="Calibri" pitchFamily="34" charset="-122"/>
                <a:cs typeface="Calibri" pitchFamily="34" charset="-120"/>
              </a:rPr>
              <a:t>SITUATION 3 – SUIVI FINANCIER KERROUCHEN</a:t>
            </a:r>
            <a:endParaRPr lang="en-US" sz="800" dirty="0"/>
          </a:p>
        </p:txBody>
      </p:sp>
      <p:sp>
        <p:nvSpPr>
          <p:cNvPr id="11" name="Text 9"/>
          <p:cNvSpPr/>
          <p:nvPr/>
        </p:nvSpPr>
        <p:spPr>
          <a:xfrm>
            <a:off x="548640" y="1691640"/>
            <a:ext cx="2743200" cy="228600"/>
          </a:xfrm>
          <a:prstGeom prst="rect">
            <a:avLst/>
          </a:prstGeom>
          <a:noFill/>
          <a:ln/>
        </p:spPr>
        <p:txBody>
          <a:bodyPr wrap="square" lIns="0" tIns="0" rIns="0" bIns="0" rtlCol="0" anchor="ctr"/>
          <a:lstStyle/>
          <a:p>
            <a:pPr indent="0" marL="0">
              <a:buNone/>
            </a:pPr>
            <a:r>
              <a:rPr lang="en-US" sz="900" b="1" dirty="0">
                <a:solidFill>
                  <a:srgbClr val="1E1E1E"/>
                </a:solidFill>
                <a:latin typeface="Calibri" pitchFamily="34" charset="0"/>
                <a:ea typeface="Calibri" pitchFamily="34" charset="-122"/>
                <a:cs typeface="Calibri" pitchFamily="34" charset="-120"/>
              </a:rPr>
              <a:t>7,3 M DH – 18 mois</a:t>
            </a:r>
            <a:endParaRPr lang="en-US" sz="900" dirty="0"/>
          </a:p>
        </p:txBody>
      </p:sp>
      <p:sp>
        <p:nvSpPr>
          <p:cNvPr id="12" name="Text 10"/>
          <p:cNvSpPr/>
          <p:nvPr/>
        </p:nvSpPr>
        <p:spPr>
          <a:xfrm>
            <a:off x="3108960" y="1417320"/>
            <a:ext cx="1188720" cy="548640"/>
          </a:xfrm>
          <a:prstGeom prst="rect">
            <a:avLst/>
          </a:prstGeom>
          <a:noFill/>
          <a:ln/>
        </p:spPr>
        <p:txBody>
          <a:bodyPr wrap="square" lIns="0" tIns="0" rIns="0" bIns="0" rtlCol="0" anchor="ctr"/>
          <a:lstStyle/>
          <a:p>
            <a:pPr algn="r" indent="0" marL="0">
              <a:buNone/>
            </a:pPr>
            <a:r>
              <a:rPr lang="en-US" sz="2800" b="1" dirty="0">
                <a:solidFill>
                  <a:srgbClr val="16A34A"/>
                </a:solidFill>
                <a:latin typeface="Cambria" pitchFamily="34" charset="0"/>
                <a:ea typeface="Cambria" pitchFamily="34" charset="-122"/>
                <a:cs typeface="Cambria" pitchFamily="34" charset="-120"/>
              </a:rPr>
              <a:t>+0,8%</a:t>
            </a:r>
            <a:endParaRPr lang="en-US" sz="2800" dirty="0"/>
          </a:p>
        </p:txBody>
      </p:sp>
      <p:sp>
        <p:nvSpPr>
          <p:cNvPr id="13" name="Shape 11"/>
          <p:cNvSpPr/>
          <p:nvPr/>
        </p:nvSpPr>
        <p:spPr>
          <a:xfrm>
            <a:off x="548640" y="2011680"/>
            <a:ext cx="237744" cy="237744"/>
          </a:xfrm>
          <a:prstGeom prst="ellipse">
            <a:avLst/>
          </a:prstGeom>
          <a:solidFill>
            <a:srgbClr val="007A7F"/>
          </a:solidFill>
          <a:ln/>
        </p:spPr>
      </p:sp>
      <p:sp>
        <p:nvSpPr>
          <p:cNvPr id="14" name="Text 12"/>
          <p:cNvSpPr/>
          <p:nvPr/>
        </p:nvSpPr>
        <p:spPr>
          <a:xfrm>
            <a:off x="548640" y="2011680"/>
            <a:ext cx="237744" cy="23774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a:t>
            </a:r>
            <a:endParaRPr lang="en-US" sz="1400" dirty="0"/>
          </a:p>
        </p:txBody>
      </p:sp>
      <p:sp>
        <p:nvSpPr>
          <p:cNvPr id="15" name="Text 13"/>
          <p:cNvSpPr/>
          <p:nvPr/>
        </p:nvSpPr>
        <p:spPr>
          <a:xfrm>
            <a:off x="868680" y="1993392"/>
            <a:ext cx="3520440" cy="502920"/>
          </a:xfrm>
          <a:prstGeom prst="rect">
            <a:avLst/>
          </a:prstGeom>
          <a:noFill/>
          <a:ln/>
        </p:spPr>
        <p:txBody>
          <a:bodyPr wrap="square" lIns="0" tIns="0" rIns="0" bIns="0" rtlCol="0" anchor="ctr"/>
          <a:lstStyle/>
          <a:p>
            <a:pPr indent="0" marL="0">
              <a:buNone/>
            </a:pPr>
            <a:r>
              <a:rPr lang="en-US" sz="800" dirty="0">
                <a:solidFill>
                  <a:srgbClr val="333333"/>
                </a:solidFill>
                <a:latin typeface="Calibri" pitchFamily="34" charset="0"/>
                <a:ea typeface="Calibri" pitchFamily="34" charset="-122"/>
                <a:cs typeface="Calibri" pitchFamily="34" charset="-120"/>
              </a:rPr>
              <a:t>Suivi mensuel complet : situations, quantités, décomptes.</a:t>
            </a:r>
            <a:endParaRPr lang="en-US" sz="800" dirty="0"/>
          </a:p>
        </p:txBody>
      </p:sp>
      <p:sp>
        <p:nvSpPr>
          <p:cNvPr id="16" name="Shape 14"/>
          <p:cNvSpPr/>
          <p:nvPr/>
        </p:nvSpPr>
        <p:spPr>
          <a:xfrm>
            <a:off x="548640" y="2606040"/>
            <a:ext cx="237744" cy="237744"/>
          </a:xfrm>
          <a:prstGeom prst="ellipse">
            <a:avLst/>
          </a:prstGeom>
          <a:solidFill>
            <a:srgbClr val="007A7F"/>
          </a:solidFill>
          <a:ln/>
        </p:spPr>
      </p:sp>
      <p:sp>
        <p:nvSpPr>
          <p:cNvPr id="17" name="Text 15"/>
          <p:cNvSpPr/>
          <p:nvPr/>
        </p:nvSpPr>
        <p:spPr>
          <a:xfrm>
            <a:off x="548640" y="2606040"/>
            <a:ext cx="237744" cy="23774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a:t>
            </a:r>
            <a:endParaRPr lang="en-US" sz="1400" dirty="0"/>
          </a:p>
        </p:txBody>
      </p:sp>
      <p:sp>
        <p:nvSpPr>
          <p:cNvPr id="18" name="Text 16"/>
          <p:cNvSpPr/>
          <p:nvPr/>
        </p:nvSpPr>
        <p:spPr>
          <a:xfrm>
            <a:off x="868680" y="2587752"/>
            <a:ext cx="3520440" cy="502920"/>
          </a:xfrm>
          <a:prstGeom prst="rect">
            <a:avLst/>
          </a:prstGeom>
          <a:noFill/>
          <a:ln/>
        </p:spPr>
        <p:txBody>
          <a:bodyPr wrap="square" lIns="0" tIns="0" rIns="0" bIns="0" rtlCol="0" anchor="ctr"/>
          <a:lstStyle/>
          <a:p>
            <a:pPr indent="0" marL="0">
              <a:buNone/>
            </a:pPr>
            <a:r>
              <a:rPr lang="en-US" sz="800" dirty="0">
                <a:solidFill>
                  <a:srgbClr val="333333"/>
                </a:solidFill>
                <a:latin typeface="Calibri" pitchFamily="34" charset="0"/>
                <a:ea typeface="Calibri" pitchFamily="34" charset="-122"/>
                <a:cs typeface="Calibri" pitchFamily="34" charset="-120"/>
              </a:rPr>
              <a:t>Chaussée +12%, murs +15%. Dérive +4,8% (seuil avenant = 5%).</a:t>
            </a:r>
            <a:endParaRPr lang="en-US" sz="800" dirty="0"/>
          </a:p>
        </p:txBody>
      </p:sp>
      <p:sp>
        <p:nvSpPr>
          <p:cNvPr id="19" name="Shape 17"/>
          <p:cNvSpPr/>
          <p:nvPr/>
        </p:nvSpPr>
        <p:spPr>
          <a:xfrm>
            <a:off x="548640" y="3200400"/>
            <a:ext cx="237744" cy="237744"/>
          </a:xfrm>
          <a:prstGeom prst="ellipse">
            <a:avLst/>
          </a:prstGeom>
          <a:solidFill>
            <a:srgbClr val="007A7F"/>
          </a:solidFill>
          <a:ln/>
        </p:spPr>
      </p:sp>
      <p:sp>
        <p:nvSpPr>
          <p:cNvPr id="20" name="Text 18"/>
          <p:cNvSpPr/>
          <p:nvPr/>
        </p:nvSpPr>
        <p:spPr>
          <a:xfrm>
            <a:off x="548640" y="3200400"/>
            <a:ext cx="237744" cy="23774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a:t>
            </a:r>
            <a:endParaRPr lang="en-US" sz="1400" dirty="0"/>
          </a:p>
        </p:txBody>
      </p:sp>
      <p:sp>
        <p:nvSpPr>
          <p:cNvPr id="21" name="Text 19"/>
          <p:cNvSpPr/>
          <p:nvPr/>
        </p:nvSpPr>
        <p:spPr>
          <a:xfrm>
            <a:off x="868680" y="3182112"/>
            <a:ext cx="3520440" cy="502920"/>
          </a:xfrm>
          <a:prstGeom prst="rect">
            <a:avLst/>
          </a:prstGeom>
          <a:noFill/>
          <a:ln/>
        </p:spPr>
        <p:txBody>
          <a:bodyPr wrap="square" lIns="0" tIns="0" rIns="0" bIns="0" rtlCol="0" anchor="ctr"/>
          <a:lstStyle/>
          <a:p>
            <a:pPr indent="0" marL="0">
              <a:buNone/>
            </a:pPr>
            <a:r>
              <a:rPr lang="en-US" sz="800" dirty="0">
                <a:solidFill>
                  <a:srgbClr val="333333"/>
                </a:solidFill>
                <a:latin typeface="Calibri" pitchFamily="34" charset="0"/>
                <a:ea typeface="Calibri" pitchFamily="34" charset="-122"/>
                <a:cs typeface="Calibri" pitchFamily="34" charset="-120"/>
              </a:rPr>
              <a:t>TdB hebdo 3 indicateurs. Compensation paysager −44k + mobilier −12k.</a:t>
            </a:r>
            <a:endParaRPr lang="en-US" sz="800" dirty="0"/>
          </a:p>
        </p:txBody>
      </p:sp>
      <p:sp>
        <p:nvSpPr>
          <p:cNvPr id="22" name="Shape 20"/>
          <p:cNvSpPr/>
          <p:nvPr/>
        </p:nvSpPr>
        <p:spPr>
          <a:xfrm>
            <a:off x="548640" y="3794760"/>
            <a:ext cx="237744" cy="237744"/>
          </a:xfrm>
          <a:prstGeom prst="ellipse">
            <a:avLst/>
          </a:prstGeom>
          <a:solidFill>
            <a:srgbClr val="007A7F"/>
          </a:solidFill>
          <a:ln/>
        </p:spPr>
      </p:sp>
      <p:sp>
        <p:nvSpPr>
          <p:cNvPr id="23" name="Text 21"/>
          <p:cNvSpPr/>
          <p:nvPr/>
        </p:nvSpPr>
        <p:spPr>
          <a:xfrm>
            <a:off x="548640" y="3794760"/>
            <a:ext cx="237744" cy="23774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R</a:t>
            </a:r>
            <a:endParaRPr lang="en-US" sz="1400" dirty="0"/>
          </a:p>
        </p:txBody>
      </p:sp>
      <p:sp>
        <p:nvSpPr>
          <p:cNvPr id="24" name="Text 22"/>
          <p:cNvSpPr/>
          <p:nvPr/>
        </p:nvSpPr>
        <p:spPr>
          <a:xfrm>
            <a:off x="868680" y="3776472"/>
            <a:ext cx="3520440" cy="502920"/>
          </a:xfrm>
          <a:prstGeom prst="rect">
            <a:avLst/>
          </a:prstGeom>
          <a:noFill/>
          <a:ln/>
        </p:spPr>
        <p:txBody>
          <a:bodyPr wrap="square" lIns="0" tIns="0" rIns="0" bIns="0" rtlCol="0" anchor="ctr"/>
          <a:lstStyle/>
          <a:p>
            <a:pPr indent="0" marL="0">
              <a:buNone/>
            </a:pPr>
            <a:r>
              <a:rPr lang="en-US" sz="800" dirty="0">
                <a:solidFill>
                  <a:srgbClr val="333333"/>
                </a:solidFill>
                <a:latin typeface="Calibri" pitchFamily="34" charset="0"/>
                <a:ea typeface="Calibri" pitchFamily="34" charset="-122"/>
                <a:cs typeface="Calibri" pitchFamily="34" charset="-120"/>
              </a:rPr>
              <a:t>Dépassement +0,8%. Aucun avenant. TdB adopté 3 communes.</a:t>
            </a:r>
            <a:endParaRPr lang="en-US" sz="800" dirty="0"/>
          </a:p>
        </p:txBody>
      </p:sp>
      <p:sp>
        <p:nvSpPr>
          <p:cNvPr id="25" name="Shape 23"/>
          <p:cNvSpPr/>
          <p:nvPr/>
        </p:nvSpPr>
        <p:spPr>
          <a:xfrm>
            <a:off x="4663440" y="1325880"/>
            <a:ext cx="4114800" cy="3291840"/>
          </a:xfrm>
          <a:prstGeom prst="rect">
            <a:avLst/>
          </a:prstGeom>
          <a:solidFill>
            <a:srgbClr val="FFFFFF"/>
          </a:solidFill>
          <a:ln/>
          <a:effectLst>
            <a:outerShdw sx="100000" sy="100000" kx="0" ky="0" algn="bl" rotWithShape="0" blurRad="50800" dist="19050" dir="8100000">
              <a:srgbClr val="000000">
                <a:alpha val="10000"/>
              </a:srgbClr>
            </a:outerShdw>
          </a:effectLst>
        </p:spPr>
      </p:sp>
      <p:sp>
        <p:nvSpPr>
          <p:cNvPr id="26" name="Shape 24"/>
          <p:cNvSpPr/>
          <p:nvPr/>
        </p:nvSpPr>
        <p:spPr>
          <a:xfrm>
            <a:off x="4663440" y="1325880"/>
            <a:ext cx="4114800" cy="36576"/>
          </a:xfrm>
          <a:prstGeom prst="rect">
            <a:avLst/>
          </a:prstGeom>
          <a:solidFill>
            <a:srgbClr val="D97706"/>
          </a:solidFill>
          <a:ln/>
        </p:spPr>
      </p:sp>
      <p:sp>
        <p:nvSpPr>
          <p:cNvPr id="27" name="Text 25"/>
          <p:cNvSpPr/>
          <p:nvPr/>
        </p:nvSpPr>
        <p:spPr>
          <a:xfrm>
            <a:off x="4846320" y="1417320"/>
            <a:ext cx="3749040" cy="274320"/>
          </a:xfrm>
          <a:prstGeom prst="rect">
            <a:avLst/>
          </a:prstGeom>
          <a:noFill/>
          <a:ln/>
        </p:spPr>
        <p:txBody>
          <a:bodyPr wrap="square" lIns="0" tIns="0" rIns="0" bIns="0" rtlCol="0" anchor="ctr"/>
          <a:lstStyle/>
          <a:p>
            <a:pPr indent="0" marL="0">
              <a:buNone/>
            </a:pPr>
            <a:r>
              <a:rPr lang="en-US" sz="800" b="1" spc="100" kern="0" dirty="0">
                <a:solidFill>
                  <a:srgbClr val="D97706"/>
                </a:solidFill>
                <a:latin typeface="Calibri" pitchFamily="34" charset="0"/>
                <a:ea typeface="Calibri" pitchFamily="34" charset="-122"/>
                <a:cs typeface="Calibri" pitchFamily="34" charset="-120"/>
              </a:rPr>
              <a:t>SITUATION 4 – COORDINATION 4 CHANTIERS</a:t>
            </a:r>
            <a:endParaRPr lang="en-US" sz="800" dirty="0"/>
          </a:p>
        </p:txBody>
      </p:sp>
      <p:sp>
        <p:nvSpPr>
          <p:cNvPr id="28" name="Text 26"/>
          <p:cNvSpPr/>
          <p:nvPr/>
        </p:nvSpPr>
        <p:spPr>
          <a:xfrm>
            <a:off x="4846320" y="1691640"/>
            <a:ext cx="2743200" cy="228600"/>
          </a:xfrm>
          <a:prstGeom prst="rect">
            <a:avLst/>
          </a:prstGeom>
          <a:noFill/>
          <a:ln/>
        </p:spPr>
        <p:txBody>
          <a:bodyPr wrap="square" lIns="0" tIns="0" rIns="0" bIns="0" rtlCol="0" anchor="ctr"/>
          <a:lstStyle/>
          <a:p>
            <a:pPr indent="0" marL="0">
              <a:buNone/>
            </a:pPr>
            <a:r>
              <a:rPr lang="en-US" sz="900" b="1" dirty="0">
                <a:solidFill>
                  <a:srgbClr val="1E1E1E"/>
                </a:solidFill>
                <a:latin typeface="Calibri" pitchFamily="34" charset="0"/>
                <a:ea typeface="Calibri" pitchFamily="34" charset="-122"/>
                <a:cs typeface="Calibri" pitchFamily="34" charset="-120"/>
              </a:rPr>
              <a:t>Province de Khénifra – 20 à 80 km</a:t>
            </a:r>
            <a:endParaRPr lang="en-US" sz="900" dirty="0"/>
          </a:p>
        </p:txBody>
      </p:sp>
      <p:sp>
        <p:nvSpPr>
          <p:cNvPr id="29" name="Text 27"/>
          <p:cNvSpPr/>
          <p:nvPr/>
        </p:nvSpPr>
        <p:spPr>
          <a:xfrm>
            <a:off x="7406640" y="1417320"/>
            <a:ext cx="1188720" cy="548640"/>
          </a:xfrm>
          <a:prstGeom prst="rect">
            <a:avLst/>
          </a:prstGeom>
          <a:noFill/>
          <a:ln/>
        </p:spPr>
        <p:txBody>
          <a:bodyPr wrap="square" lIns="0" tIns="0" rIns="0" bIns="0" rtlCol="0" anchor="ctr"/>
          <a:lstStyle/>
          <a:p>
            <a:pPr algn="r" indent="0" marL="0">
              <a:buNone/>
            </a:pPr>
            <a:r>
              <a:rPr lang="en-US" sz="2800" b="1" dirty="0">
                <a:solidFill>
                  <a:srgbClr val="D97706"/>
                </a:solidFill>
                <a:latin typeface="Cambria" pitchFamily="34" charset="0"/>
                <a:ea typeface="Cambria" pitchFamily="34" charset="-122"/>
                <a:cs typeface="Cambria" pitchFamily="34" charset="-120"/>
              </a:rPr>
              <a:t>48h</a:t>
            </a:r>
            <a:endParaRPr lang="en-US" sz="2800" dirty="0"/>
          </a:p>
        </p:txBody>
      </p:sp>
      <p:sp>
        <p:nvSpPr>
          <p:cNvPr id="30" name="Shape 28"/>
          <p:cNvSpPr/>
          <p:nvPr/>
        </p:nvSpPr>
        <p:spPr>
          <a:xfrm>
            <a:off x="4846320" y="2011680"/>
            <a:ext cx="237744" cy="237744"/>
          </a:xfrm>
          <a:prstGeom prst="ellipse">
            <a:avLst/>
          </a:prstGeom>
          <a:solidFill>
            <a:srgbClr val="007A7F"/>
          </a:solidFill>
          <a:ln/>
        </p:spPr>
      </p:sp>
      <p:sp>
        <p:nvSpPr>
          <p:cNvPr id="31" name="Text 29"/>
          <p:cNvSpPr/>
          <p:nvPr/>
        </p:nvSpPr>
        <p:spPr>
          <a:xfrm>
            <a:off x="4846320" y="2011680"/>
            <a:ext cx="237744" cy="23774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a:t>
            </a:r>
            <a:endParaRPr lang="en-US" sz="1400" dirty="0"/>
          </a:p>
        </p:txBody>
      </p:sp>
      <p:sp>
        <p:nvSpPr>
          <p:cNvPr id="32" name="Text 30"/>
          <p:cNvSpPr/>
          <p:nvPr/>
        </p:nvSpPr>
        <p:spPr>
          <a:xfrm>
            <a:off x="5166360" y="1993392"/>
            <a:ext cx="3520440" cy="502920"/>
          </a:xfrm>
          <a:prstGeom prst="rect">
            <a:avLst/>
          </a:prstGeom>
          <a:noFill/>
          <a:ln/>
        </p:spPr>
        <p:txBody>
          <a:bodyPr wrap="square" lIns="0" tIns="0" rIns="0" bIns="0" rtlCol="0" anchor="ctr"/>
          <a:lstStyle/>
          <a:p>
            <a:pPr indent="0" marL="0">
              <a:buNone/>
            </a:pPr>
            <a:r>
              <a:rPr lang="en-US" sz="800" dirty="0">
                <a:solidFill>
                  <a:srgbClr val="333333"/>
                </a:solidFill>
                <a:latin typeface="Calibri" pitchFamily="34" charset="0"/>
                <a:ea typeface="Calibri" pitchFamily="34" charset="-122"/>
                <a:cs typeface="Calibri" pitchFamily="34" charset="-120"/>
              </a:rPr>
              <a:t>Relais unique Directeur. Interface entreprise/BET/labo/hiérarchie.</a:t>
            </a:r>
            <a:endParaRPr lang="en-US" sz="800" dirty="0"/>
          </a:p>
        </p:txBody>
      </p:sp>
      <p:sp>
        <p:nvSpPr>
          <p:cNvPr id="33" name="Shape 31"/>
          <p:cNvSpPr/>
          <p:nvPr/>
        </p:nvSpPr>
        <p:spPr>
          <a:xfrm>
            <a:off x="4846320" y="2606040"/>
            <a:ext cx="237744" cy="237744"/>
          </a:xfrm>
          <a:prstGeom prst="ellipse">
            <a:avLst/>
          </a:prstGeom>
          <a:solidFill>
            <a:srgbClr val="007A7F"/>
          </a:solidFill>
          <a:ln/>
        </p:spPr>
      </p:sp>
      <p:sp>
        <p:nvSpPr>
          <p:cNvPr id="34" name="Text 32"/>
          <p:cNvSpPr/>
          <p:nvPr/>
        </p:nvSpPr>
        <p:spPr>
          <a:xfrm>
            <a:off x="4846320" y="2606040"/>
            <a:ext cx="237744" cy="23774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a:t>
            </a:r>
            <a:endParaRPr lang="en-US" sz="1400" dirty="0"/>
          </a:p>
        </p:txBody>
      </p:sp>
      <p:sp>
        <p:nvSpPr>
          <p:cNvPr id="35" name="Text 33"/>
          <p:cNvSpPr/>
          <p:nvPr/>
        </p:nvSpPr>
        <p:spPr>
          <a:xfrm>
            <a:off x="5166360" y="2587752"/>
            <a:ext cx="3520440" cy="502920"/>
          </a:xfrm>
          <a:prstGeom prst="rect">
            <a:avLst/>
          </a:prstGeom>
          <a:noFill/>
          <a:ln/>
        </p:spPr>
        <p:txBody>
          <a:bodyPr wrap="square" lIns="0" tIns="0" rIns="0" bIns="0" rtlCol="0" anchor="ctr"/>
          <a:lstStyle/>
          <a:p>
            <a:pPr indent="0" marL="0">
              <a:buNone/>
            </a:pPr>
            <a:r>
              <a:rPr lang="en-US" sz="800" dirty="0">
                <a:solidFill>
                  <a:srgbClr val="333333"/>
                </a:solidFill>
                <a:latin typeface="Calibri" pitchFamily="34" charset="0"/>
                <a:ea typeface="Calibri" pitchFamily="34" charset="-122"/>
                <a:cs typeface="Calibri" pitchFamily="34" charset="-120"/>
              </a:rPr>
              <a:t>S23 : retard enrobés + alerte météo + litige bordures 15%.</a:t>
            </a:r>
            <a:endParaRPr lang="en-US" sz="800" dirty="0"/>
          </a:p>
        </p:txBody>
      </p:sp>
      <p:sp>
        <p:nvSpPr>
          <p:cNvPr id="36" name="Shape 34"/>
          <p:cNvSpPr/>
          <p:nvPr/>
        </p:nvSpPr>
        <p:spPr>
          <a:xfrm>
            <a:off x="4846320" y="3200400"/>
            <a:ext cx="237744" cy="237744"/>
          </a:xfrm>
          <a:prstGeom prst="ellipse">
            <a:avLst/>
          </a:prstGeom>
          <a:solidFill>
            <a:srgbClr val="007A7F"/>
          </a:solidFill>
          <a:ln/>
        </p:spPr>
      </p:sp>
      <p:sp>
        <p:nvSpPr>
          <p:cNvPr id="37" name="Text 35"/>
          <p:cNvSpPr/>
          <p:nvPr/>
        </p:nvSpPr>
        <p:spPr>
          <a:xfrm>
            <a:off x="4846320" y="3200400"/>
            <a:ext cx="237744" cy="23774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a:t>
            </a:r>
            <a:endParaRPr lang="en-US" sz="1400" dirty="0"/>
          </a:p>
        </p:txBody>
      </p:sp>
      <p:sp>
        <p:nvSpPr>
          <p:cNvPr id="38" name="Text 36"/>
          <p:cNvSpPr/>
          <p:nvPr/>
        </p:nvSpPr>
        <p:spPr>
          <a:xfrm>
            <a:off x="5166360" y="3182112"/>
            <a:ext cx="3520440" cy="502920"/>
          </a:xfrm>
          <a:prstGeom prst="rect">
            <a:avLst/>
          </a:prstGeom>
          <a:noFill/>
          <a:ln/>
        </p:spPr>
        <p:txBody>
          <a:bodyPr wrap="square" lIns="0" tIns="0" rIns="0" bIns="0" rtlCol="0" anchor="ctr"/>
          <a:lstStyle/>
          <a:p>
            <a:pPr indent="0" marL="0">
              <a:buNone/>
            </a:pPr>
            <a:r>
              <a:rPr lang="en-US" sz="800" dirty="0">
                <a:solidFill>
                  <a:srgbClr val="333333"/>
                </a:solidFill>
                <a:latin typeface="Calibri" pitchFamily="34" charset="0"/>
                <a:ea typeface="Calibri" pitchFamily="34" charset="-122"/>
                <a:cs typeface="Calibri" pitchFamily="34" charset="-120"/>
              </a:rPr>
              <a:t>Note Directeur + OS arrêt photos + re-mesurage contradictoire.</a:t>
            </a:r>
            <a:endParaRPr lang="en-US" sz="800" dirty="0"/>
          </a:p>
        </p:txBody>
      </p:sp>
      <p:sp>
        <p:nvSpPr>
          <p:cNvPr id="39" name="Shape 37"/>
          <p:cNvSpPr/>
          <p:nvPr/>
        </p:nvSpPr>
        <p:spPr>
          <a:xfrm>
            <a:off x="4846320" y="3794760"/>
            <a:ext cx="237744" cy="237744"/>
          </a:xfrm>
          <a:prstGeom prst="ellipse">
            <a:avLst/>
          </a:prstGeom>
          <a:solidFill>
            <a:srgbClr val="007A7F"/>
          </a:solidFill>
          <a:ln/>
        </p:spPr>
      </p:sp>
      <p:sp>
        <p:nvSpPr>
          <p:cNvPr id="40" name="Text 38"/>
          <p:cNvSpPr/>
          <p:nvPr/>
        </p:nvSpPr>
        <p:spPr>
          <a:xfrm>
            <a:off x="4846320" y="3794760"/>
            <a:ext cx="237744" cy="23774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R</a:t>
            </a:r>
            <a:endParaRPr lang="en-US" sz="1400" dirty="0"/>
          </a:p>
        </p:txBody>
      </p:sp>
      <p:sp>
        <p:nvSpPr>
          <p:cNvPr id="41" name="Text 39"/>
          <p:cNvSpPr/>
          <p:nvPr/>
        </p:nvSpPr>
        <p:spPr>
          <a:xfrm>
            <a:off x="5166360" y="3776472"/>
            <a:ext cx="3520440" cy="502920"/>
          </a:xfrm>
          <a:prstGeom prst="rect">
            <a:avLst/>
          </a:prstGeom>
          <a:noFill/>
          <a:ln/>
        </p:spPr>
        <p:txBody>
          <a:bodyPr wrap="square" lIns="0" tIns="0" rIns="0" bIns="0" rtlCol="0" anchor="ctr"/>
          <a:lstStyle/>
          <a:p>
            <a:pPr indent="0" marL="0">
              <a:buNone/>
            </a:pPr>
            <a:r>
              <a:rPr lang="en-US" sz="800" dirty="0">
                <a:solidFill>
                  <a:srgbClr val="333333"/>
                </a:solidFill>
                <a:latin typeface="Calibri" pitchFamily="34" charset="0"/>
                <a:ea typeface="Calibri" pitchFamily="34" charset="-122"/>
                <a:cs typeface="Calibri" pitchFamily="34" charset="-120"/>
              </a:rPr>
              <a:t>3 crises résolues. Litige 15% → 2,3%. Modèle CR adopté.</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A7F"/>
          </a:solidFill>
          <a:ln/>
        </p:spPr>
      </p:sp>
      <p:sp>
        <p:nvSpPr>
          <p:cNvPr id="3" name="Shape 1"/>
          <p:cNvSpPr/>
          <p:nvPr/>
        </p:nvSpPr>
        <p:spPr>
          <a:xfrm>
            <a:off x="365760" y="164592"/>
            <a:ext cx="777240" cy="347472"/>
          </a:xfrm>
          <a:prstGeom prst="rect">
            <a:avLst/>
          </a:prstGeom>
          <a:solidFill>
            <a:srgbClr val="E0F4F5"/>
          </a:solidFill>
          <a:ln w="10160">
            <a:solidFill>
              <a:srgbClr val="007A7F"/>
            </a:solidFill>
            <a:prstDash val="solid"/>
          </a:ln>
        </p:spPr>
      </p:sp>
      <p:sp>
        <p:nvSpPr>
          <p:cNvPr id="4" name="Text 2"/>
          <p:cNvSpPr/>
          <p:nvPr/>
        </p:nvSpPr>
        <p:spPr>
          <a:xfrm>
            <a:off x="365760" y="164592"/>
            <a:ext cx="777240" cy="347472"/>
          </a:xfrm>
          <a:prstGeom prst="rect">
            <a:avLst/>
          </a:prstGeom>
          <a:noFill/>
          <a:ln/>
        </p:spPr>
        <p:txBody>
          <a:bodyPr wrap="square" lIns="0" tIns="0" rIns="0" bIns="0" rtlCol="0" anchor="ctr"/>
          <a:lstStyle/>
          <a:p>
            <a:pPr algn="ctr" indent="0" marL="0">
              <a:buNone/>
            </a:pPr>
            <a:r>
              <a:rPr lang="en-US" sz="900" b="1" dirty="0">
                <a:solidFill>
                  <a:srgbClr val="007A7F"/>
                </a:solidFill>
                <a:latin typeface="Calibri" pitchFamily="34" charset="0"/>
                <a:ea typeface="Calibri" pitchFamily="34" charset="-122"/>
                <a:cs typeface="Calibri" pitchFamily="34" charset="-120"/>
              </a:rPr>
              <a:t>03 – Projet 2</a:t>
            </a:r>
            <a:endParaRPr lang="en-US" sz="900" dirty="0"/>
          </a:p>
        </p:txBody>
      </p:sp>
      <p:sp>
        <p:nvSpPr>
          <p:cNvPr id="5" name="Text 3"/>
          <p:cNvSpPr/>
          <p:nvPr/>
        </p:nvSpPr>
        <p:spPr>
          <a:xfrm>
            <a:off x="365760" y="566928"/>
            <a:ext cx="8412480" cy="411480"/>
          </a:xfrm>
          <a:prstGeom prst="rect">
            <a:avLst/>
          </a:prstGeom>
          <a:noFill/>
          <a:ln/>
        </p:spPr>
        <p:txBody>
          <a:bodyPr wrap="square" lIns="0" tIns="0" rIns="0" bIns="0" rtlCol="0" anchor="ctr"/>
          <a:lstStyle/>
          <a:p>
            <a:pPr indent="0" marL="0">
              <a:buNone/>
            </a:pPr>
            <a:r>
              <a:rPr lang="en-US" sz="1800" b="1" dirty="0">
                <a:solidFill>
                  <a:srgbClr val="1E1E1E"/>
                </a:solidFill>
                <a:latin typeface="Cambria" pitchFamily="34" charset="0"/>
                <a:ea typeface="Cambria" pitchFamily="34" charset="-122"/>
                <a:cs typeface="Cambria" pitchFamily="34" charset="-120"/>
              </a:rPr>
              <a:t>ROUTE LEHRI-KERROUCHEN – 25 KM</a:t>
            </a:r>
            <a:endParaRPr lang="en-US" sz="1800" dirty="0"/>
          </a:p>
        </p:txBody>
      </p:sp>
      <p:sp>
        <p:nvSpPr>
          <p:cNvPr id="6" name="Text 4"/>
          <p:cNvSpPr/>
          <p:nvPr/>
        </p:nvSpPr>
        <p:spPr>
          <a:xfrm>
            <a:off x="365760" y="932688"/>
            <a:ext cx="8412480" cy="274320"/>
          </a:xfrm>
          <a:prstGeom prst="rect">
            <a:avLst/>
          </a:prstGeom>
          <a:noFill/>
          <a:ln/>
        </p:spPr>
        <p:txBody>
          <a:bodyPr wrap="square" lIns="0" tIns="0" rIns="0" bIns="0" rtlCol="0" anchor="ctr"/>
          <a:lstStyle/>
          <a:p>
            <a:pPr indent="0" marL="0">
              <a:buNone/>
            </a:pPr>
            <a:r>
              <a:rPr lang="en-US" sz="1000" dirty="0">
                <a:solidFill>
                  <a:srgbClr val="666666"/>
                </a:solidFill>
                <a:latin typeface="Calibri" pitchFamily="34" charset="0"/>
                <a:ea typeface="Calibri" pitchFamily="34" charset="-122"/>
                <a:cs typeface="Calibri" pitchFamily="34" charset="-120"/>
              </a:rPr>
              <a:t>Programme PRR3 – 29 M DH TTC – Zone montagneuse du Moyen Atlas</a:t>
            </a:r>
            <a:endParaRPr lang="en-US" sz="1000" dirty="0"/>
          </a:p>
        </p:txBody>
      </p:sp>
      <p:sp>
        <p:nvSpPr>
          <p:cNvPr id="7" name="Text 5"/>
          <p:cNvSpPr/>
          <p:nvPr/>
        </p:nvSpPr>
        <p:spPr>
          <a:xfrm>
            <a:off x="365760" y="4800600"/>
            <a:ext cx="8412480" cy="274320"/>
          </a:xfrm>
          <a:prstGeom prst="rect">
            <a:avLst/>
          </a:prstGeom>
          <a:noFill/>
          <a:ln/>
        </p:spPr>
        <p:txBody>
          <a:bodyPr wrap="square" rtlCol="0" anchor="ctr"/>
          <a:lstStyle/>
          <a:p>
            <a:pPr algn="r" indent="0" marL="0">
              <a:buNone/>
            </a:pPr>
            <a:r>
              <a:rPr lang="en-US" sz="700" dirty="0">
                <a:solidFill>
                  <a:srgbClr val="666666"/>
                </a:solidFill>
                <a:latin typeface="Calibri" pitchFamily="34" charset="0"/>
                <a:ea typeface="Calibri" pitchFamily="34" charset="-122"/>
                <a:cs typeface="Calibri" pitchFamily="34" charset="-120"/>
              </a:rPr>
              <a:t>BAHAFID Mohamed  ·  Rapport U62  ·  BTS MEC 2026  ·  8/15</a:t>
            </a:r>
            <a:endParaRPr lang="en-US" sz="700" dirty="0"/>
          </a:p>
        </p:txBody>
      </p:sp>
      <p:sp>
        <p:nvSpPr>
          <p:cNvPr id="8" name="Shape 6"/>
          <p:cNvSpPr/>
          <p:nvPr/>
        </p:nvSpPr>
        <p:spPr>
          <a:xfrm>
            <a:off x="365760" y="1325880"/>
            <a:ext cx="1965960" cy="868680"/>
          </a:xfrm>
          <a:prstGeom prst="rect">
            <a:avLst/>
          </a:prstGeom>
          <a:solidFill>
            <a:srgbClr val="FFFFFF"/>
          </a:solidFill>
          <a:ln/>
          <a:effectLst>
            <a:outerShdw sx="100000" sy="100000" kx="0" ky="0" algn="bl" rotWithShape="0" blurRad="50800" dist="19050" dir="8100000">
              <a:srgbClr val="000000">
                <a:alpha val="10000"/>
              </a:srgbClr>
            </a:outerShdw>
          </a:effectLst>
        </p:spPr>
      </p:sp>
      <p:sp>
        <p:nvSpPr>
          <p:cNvPr id="9" name="Text 7"/>
          <p:cNvSpPr/>
          <p:nvPr/>
        </p:nvSpPr>
        <p:spPr>
          <a:xfrm>
            <a:off x="365760" y="1371600"/>
            <a:ext cx="1965960" cy="457200"/>
          </a:xfrm>
          <a:prstGeom prst="rect">
            <a:avLst/>
          </a:prstGeom>
          <a:noFill/>
          <a:ln/>
        </p:spPr>
        <p:txBody>
          <a:bodyPr wrap="square" lIns="0" tIns="0" rIns="0" bIns="0" rtlCol="0" anchor="ctr"/>
          <a:lstStyle/>
          <a:p>
            <a:pPr algn="ctr" indent="0" marL="0">
              <a:buNone/>
            </a:pPr>
            <a:r>
              <a:rPr lang="en-US" sz="1800" b="1" dirty="0">
                <a:solidFill>
                  <a:srgbClr val="007A7F"/>
                </a:solidFill>
                <a:latin typeface="Cambria" pitchFamily="34" charset="0"/>
                <a:ea typeface="Cambria" pitchFamily="34" charset="-122"/>
                <a:cs typeface="Cambria" pitchFamily="34" charset="-120"/>
              </a:rPr>
              <a:t>29 M DH</a:t>
            </a:r>
            <a:endParaRPr lang="en-US" sz="1800" dirty="0"/>
          </a:p>
        </p:txBody>
      </p:sp>
      <p:sp>
        <p:nvSpPr>
          <p:cNvPr id="10" name="Text 8"/>
          <p:cNvSpPr/>
          <p:nvPr/>
        </p:nvSpPr>
        <p:spPr>
          <a:xfrm>
            <a:off x="365760" y="1828800"/>
            <a:ext cx="1965960" cy="274320"/>
          </a:xfrm>
          <a:prstGeom prst="rect">
            <a:avLst/>
          </a:prstGeom>
          <a:noFill/>
          <a:ln/>
        </p:spPr>
        <p:txBody>
          <a:bodyPr wrap="square" lIns="0" tIns="0" rIns="0" bIns="0" rtlCol="0" anchor="ctr"/>
          <a:lstStyle/>
          <a:p>
            <a:pPr algn="ctr" indent="0" marL="0">
              <a:buNone/>
            </a:pPr>
            <a:r>
              <a:rPr lang="en-US" sz="800" dirty="0">
                <a:solidFill>
                  <a:srgbClr val="666666"/>
                </a:solidFill>
                <a:latin typeface="Calibri" pitchFamily="34" charset="0"/>
                <a:ea typeface="Calibri" pitchFamily="34" charset="-122"/>
                <a:cs typeface="Calibri" pitchFamily="34" charset="-120"/>
              </a:rPr>
              <a:t>Budget TTC</a:t>
            </a:r>
            <a:endParaRPr lang="en-US" sz="800" dirty="0"/>
          </a:p>
        </p:txBody>
      </p:sp>
      <p:sp>
        <p:nvSpPr>
          <p:cNvPr id="11" name="Shape 9"/>
          <p:cNvSpPr/>
          <p:nvPr/>
        </p:nvSpPr>
        <p:spPr>
          <a:xfrm>
            <a:off x="2514600" y="1325880"/>
            <a:ext cx="1965960" cy="868680"/>
          </a:xfrm>
          <a:prstGeom prst="rect">
            <a:avLst/>
          </a:prstGeom>
          <a:solidFill>
            <a:srgbClr val="FFFFFF"/>
          </a:solidFill>
          <a:ln/>
          <a:effectLst>
            <a:outerShdw sx="100000" sy="100000" kx="0" ky="0" algn="bl" rotWithShape="0" blurRad="50800" dist="19050" dir="8100000">
              <a:srgbClr val="000000">
                <a:alpha val="10000"/>
              </a:srgbClr>
            </a:outerShdw>
          </a:effectLst>
        </p:spPr>
      </p:sp>
      <p:sp>
        <p:nvSpPr>
          <p:cNvPr id="12" name="Text 10"/>
          <p:cNvSpPr/>
          <p:nvPr/>
        </p:nvSpPr>
        <p:spPr>
          <a:xfrm>
            <a:off x="2514600" y="1371600"/>
            <a:ext cx="1965960" cy="457200"/>
          </a:xfrm>
          <a:prstGeom prst="rect">
            <a:avLst/>
          </a:prstGeom>
          <a:noFill/>
          <a:ln/>
        </p:spPr>
        <p:txBody>
          <a:bodyPr wrap="square" lIns="0" tIns="0" rIns="0" bIns="0" rtlCol="0" anchor="ctr"/>
          <a:lstStyle/>
          <a:p>
            <a:pPr algn="ctr" indent="0" marL="0">
              <a:buNone/>
            </a:pPr>
            <a:r>
              <a:rPr lang="en-US" sz="1800" b="1" dirty="0">
                <a:solidFill>
                  <a:srgbClr val="007A7F"/>
                </a:solidFill>
                <a:latin typeface="Cambria" pitchFamily="34" charset="0"/>
                <a:ea typeface="Cambria" pitchFamily="34" charset="-122"/>
                <a:cs typeface="Cambria" pitchFamily="34" charset="-120"/>
              </a:rPr>
              <a:t>25 km</a:t>
            </a:r>
            <a:endParaRPr lang="en-US" sz="1800" dirty="0"/>
          </a:p>
        </p:txBody>
      </p:sp>
      <p:sp>
        <p:nvSpPr>
          <p:cNvPr id="13" name="Text 11"/>
          <p:cNvSpPr/>
          <p:nvPr/>
        </p:nvSpPr>
        <p:spPr>
          <a:xfrm>
            <a:off x="2514600" y="1828800"/>
            <a:ext cx="1965960" cy="274320"/>
          </a:xfrm>
          <a:prstGeom prst="rect">
            <a:avLst/>
          </a:prstGeom>
          <a:noFill/>
          <a:ln/>
        </p:spPr>
        <p:txBody>
          <a:bodyPr wrap="square" lIns="0" tIns="0" rIns="0" bIns="0" rtlCol="0" anchor="ctr"/>
          <a:lstStyle/>
          <a:p>
            <a:pPr algn="ctr" indent="0" marL="0">
              <a:buNone/>
            </a:pPr>
            <a:r>
              <a:rPr lang="en-US" sz="800" dirty="0">
                <a:solidFill>
                  <a:srgbClr val="666666"/>
                </a:solidFill>
                <a:latin typeface="Calibri" pitchFamily="34" charset="0"/>
                <a:ea typeface="Calibri" pitchFamily="34" charset="-122"/>
                <a:cs typeface="Calibri" pitchFamily="34" charset="-120"/>
              </a:rPr>
              <a:t>Zone montagneuse</a:t>
            </a:r>
            <a:endParaRPr lang="en-US" sz="800" dirty="0"/>
          </a:p>
        </p:txBody>
      </p:sp>
      <p:sp>
        <p:nvSpPr>
          <p:cNvPr id="14" name="Shape 12"/>
          <p:cNvSpPr/>
          <p:nvPr/>
        </p:nvSpPr>
        <p:spPr>
          <a:xfrm>
            <a:off x="4663440" y="1325880"/>
            <a:ext cx="1965960" cy="868680"/>
          </a:xfrm>
          <a:prstGeom prst="rect">
            <a:avLst/>
          </a:prstGeom>
          <a:solidFill>
            <a:srgbClr val="FFFFFF"/>
          </a:solidFill>
          <a:ln/>
          <a:effectLst>
            <a:outerShdw sx="100000" sy="100000" kx="0" ky="0" algn="bl" rotWithShape="0" blurRad="50800" dist="19050" dir="8100000">
              <a:srgbClr val="000000">
                <a:alpha val="10000"/>
              </a:srgbClr>
            </a:outerShdw>
          </a:effectLst>
        </p:spPr>
      </p:sp>
      <p:sp>
        <p:nvSpPr>
          <p:cNvPr id="15" name="Text 13"/>
          <p:cNvSpPr/>
          <p:nvPr/>
        </p:nvSpPr>
        <p:spPr>
          <a:xfrm>
            <a:off x="4663440" y="1371600"/>
            <a:ext cx="1965960" cy="457200"/>
          </a:xfrm>
          <a:prstGeom prst="rect">
            <a:avLst/>
          </a:prstGeom>
          <a:noFill/>
          <a:ln/>
        </p:spPr>
        <p:txBody>
          <a:bodyPr wrap="square" lIns="0" tIns="0" rIns="0" bIns="0" rtlCol="0" anchor="ctr"/>
          <a:lstStyle/>
          <a:p>
            <a:pPr algn="ctr" indent="0" marL="0">
              <a:buNone/>
            </a:pPr>
            <a:r>
              <a:rPr lang="en-US" sz="1800" b="1" dirty="0">
                <a:solidFill>
                  <a:srgbClr val="007A7F"/>
                </a:solidFill>
                <a:latin typeface="Cambria" pitchFamily="34" charset="0"/>
                <a:ea typeface="Cambria" pitchFamily="34" charset="-122"/>
                <a:cs typeface="Cambria" pitchFamily="34" charset="-120"/>
              </a:rPr>
              <a:t>120 334 m³</a:t>
            </a:r>
            <a:endParaRPr lang="en-US" sz="1800" dirty="0"/>
          </a:p>
        </p:txBody>
      </p:sp>
      <p:sp>
        <p:nvSpPr>
          <p:cNvPr id="16" name="Text 14"/>
          <p:cNvSpPr/>
          <p:nvPr/>
        </p:nvSpPr>
        <p:spPr>
          <a:xfrm>
            <a:off x="4663440" y="1828800"/>
            <a:ext cx="1965960" cy="274320"/>
          </a:xfrm>
          <a:prstGeom prst="rect">
            <a:avLst/>
          </a:prstGeom>
          <a:noFill/>
          <a:ln/>
        </p:spPr>
        <p:txBody>
          <a:bodyPr wrap="square" lIns="0" tIns="0" rIns="0" bIns="0" rtlCol="0" anchor="ctr"/>
          <a:lstStyle/>
          <a:p>
            <a:pPr algn="ctr" indent="0" marL="0">
              <a:buNone/>
            </a:pPr>
            <a:r>
              <a:rPr lang="en-US" sz="800" dirty="0">
                <a:solidFill>
                  <a:srgbClr val="666666"/>
                </a:solidFill>
                <a:latin typeface="Calibri" pitchFamily="34" charset="0"/>
                <a:ea typeface="Calibri" pitchFamily="34" charset="-122"/>
                <a:cs typeface="Calibri" pitchFamily="34" charset="-120"/>
              </a:rPr>
              <a:t>Déblais vérifiés</a:t>
            </a:r>
            <a:endParaRPr lang="en-US" sz="800" dirty="0"/>
          </a:p>
        </p:txBody>
      </p:sp>
      <p:sp>
        <p:nvSpPr>
          <p:cNvPr id="17" name="Shape 15"/>
          <p:cNvSpPr/>
          <p:nvPr/>
        </p:nvSpPr>
        <p:spPr>
          <a:xfrm>
            <a:off x="6812280" y="1325880"/>
            <a:ext cx="1965960" cy="868680"/>
          </a:xfrm>
          <a:prstGeom prst="rect">
            <a:avLst/>
          </a:prstGeom>
          <a:solidFill>
            <a:srgbClr val="FFFFFF"/>
          </a:solidFill>
          <a:ln/>
          <a:effectLst>
            <a:outerShdw sx="100000" sy="100000" kx="0" ky="0" algn="bl" rotWithShape="0" blurRad="50800" dist="19050" dir="8100000">
              <a:srgbClr val="000000">
                <a:alpha val="10000"/>
              </a:srgbClr>
            </a:outerShdw>
          </a:effectLst>
        </p:spPr>
      </p:sp>
      <p:sp>
        <p:nvSpPr>
          <p:cNvPr id="18" name="Text 16"/>
          <p:cNvSpPr/>
          <p:nvPr/>
        </p:nvSpPr>
        <p:spPr>
          <a:xfrm>
            <a:off x="6812280" y="1371600"/>
            <a:ext cx="1965960" cy="457200"/>
          </a:xfrm>
          <a:prstGeom prst="rect">
            <a:avLst/>
          </a:prstGeom>
          <a:noFill/>
          <a:ln/>
        </p:spPr>
        <p:txBody>
          <a:bodyPr wrap="square" lIns="0" tIns="0" rIns="0" bIns="0" rtlCol="0" anchor="ctr"/>
          <a:lstStyle/>
          <a:p>
            <a:pPr algn="ctr" indent="0" marL="0">
              <a:buNone/>
            </a:pPr>
            <a:r>
              <a:rPr lang="en-US" sz="1800" b="1" dirty="0">
                <a:solidFill>
                  <a:srgbClr val="007A7F"/>
                </a:solidFill>
                <a:latin typeface="Cambria" pitchFamily="34" charset="0"/>
                <a:ea typeface="Cambria" pitchFamily="34" charset="-122"/>
                <a:cs typeface="Cambria" pitchFamily="34" charset="-120"/>
              </a:rPr>
              <a:t>53 prix</a:t>
            </a:r>
            <a:endParaRPr lang="en-US" sz="1800" dirty="0"/>
          </a:p>
        </p:txBody>
      </p:sp>
      <p:sp>
        <p:nvSpPr>
          <p:cNvPr id="19" name="Text 17"/>
          <p:cNvSpPr/>
          <p:nvPr/>
        </p:nvSpPr>
        <p:spPr>
          <a:xfrm>
            <a:off x="6812280" y="1828800"/>
            <a:ext cx="1965960" cy="274320"/>
          </a:xfrm>
          <a:prstGeom prst="rect">
            <a:avLst/>
          </a:prstGeom>
          <a:noFill/>
          <a:ln/>
        </p:spPr>
        <p:txBody>
          <a:bodyPr wrap="square" lIns="0" tIns="0" rIns="0" bIns="0" rtlCol="0" anchor="ctr"/>
          <a:lstStyle/>
          <a:p>
            <a:pPr algn="ctr" indent="0" marL="0">
              <a:buNone/>
            </a:pPr>
            <a:r>
              <a:rPr lang="en-US" sz="800" dirty="0">
                <a:solidFill>
                  <a:srgbClr val="666666"/>
                </a:solidFill>
                <a:latin typeface="Calibri" pitchFamily="34" charset="0"/>
                <a:ea typeface="Calibri" pitchFamily="34" charset="-122"/>
                <a:cs typeface="Calibri" pitchFamily="34" charset="-120"/>
              </a:rPr>
              <a:t>Au bordereau</a:t>
            </a:r>
            <a:endParaRPr lang="en-US" sz="800" dirty="0"/>
          </a:p>
        </p:txBody>
      </p:sp>
      <p:graphicFrame>
        <p:nvGraphicFramePr>
          <p:cNvPr id="20" name="Chart 0" descr=""/>
          <p:cNvGraphicFramePr/>
          <p:nvPr/>
        </p:nvGraphicFramePr>
        <p:xfrm>
          <a:off x="365760" y="2377440"/>
          <a:ext cx="8412480" cy="23774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A7F"/>
          </a:solidFill>
          <a:ln/>
        </p:spPr>
      </p:sp>
      <p:sp>
        <p:nvSpPr>
          <p:cNvPr id="3" name="Shape 1"/>
          <p:cNvSpPr/>
          <p:nvPr/>
        </p:nvSpPr>
        <p:spPr>
          <a:xfrm>
            <a:off x="365760" y="164592"/>
            <a:ext cx="777240" cy="347472"/>
          </a:xfrm>
          <a:prstGeom prst="rect">
            <a:avLst/>
          </a:prstGeom>
          <a:solidFill>
            <a:srgbClr val="E0F4F5"/>
          </a:solidFill>
          <a:ln w="10160">
            <a:solidFill>
              <a:srgbClr val="007A7F"/>
            </a:solidFill>
            <a:prstDash val="solid"/>
          </a:ln>
        </p:spPr>
      </p:sp>
      <p:sp>
        <p:nvSpPr>
          <p:cNvPr id="4" name="Text 2"/>
          <p:cNvSpPr/>
          <p:nvPr/>
        </p:nvSpPr>
        <p:spPr>
          <a:xfrm>
            <a:off x="365760" y="164592"/>
            <a:ext cx="777240" cy="347472"/>
          </a:xfrm>
          <a:prstGeom prst="rect">
            <a:avLst/>
          </a:prstGeom>
          <a:noFill/>
          <a:ln/>
        </p:spPr>
        <p:txBody>
          <a:bodyPr wrap="square" lIns="0" tIns="0" rIns="0" bIns="0" rtlCol="0" anchor="ctr"/>
          <a:lstStyle/>
          <a:p>
            <a:pPr algn="ctr" indent="0" marL="0">
              <a:buNone/>
            </a:pPr>
            <a:r>
              <a:rPr lang="en-US" sz="900" b="1" dirty="0">
                <a:solidFill>
                  <a:srgbClr val="007A7F"/>
                </a:solidFill>
                <a:latin typeface="Calibri" pitchFamily="34" charset="0"/>
                <a:ea typeface="Calibri" pitchFamily="34" charset="-122"/>
                <a:cs typeface="Calibri" pitchFamily="34" charset="-120"/>
              </a:rPr>
              <a:t>03 – Sit. 5</a:t>
            </a:r>
            <a:endParaRPr lang="en-US" sz="900" dirty="0"/>
          </a:p>
        </p:txBody>
      </p:sp>
      <p:sp>
        <p:nvSpPr>
          <p:cNvPr id="5" name="Text 3"/>
          <p:cNvSpPr/>
          <p:nvPr/>
        </p:nvSpPr>
        <p:spPr>
          <a:xfrm>
            <a:off x="365760" y="566928"/>
            <a:ext cx="8412480" cy="411480"/>
          </a:xfrm>
          <a:prstGeom prst="rect">
            <a:avLst/>
          </a:prstGeom>
          <a:noFill/>
          <a:ln/>
        </p:spPr>
        <p:txBody>
          <a:bodyPr wrap="square" lIns="0" tIns="0" rIns="0" bIns="0" rtlCol="0" anchor="ctr"/>
          <a:lstStyle/>
          <a:p>
            <a:pPr indent="0" marL="0">
              <a:buNone/>
            </a:pPr>
            <a:r>
              <a:rPr lang="en-US" sz="1800" b="1" dirty="0">
                <a:solidFill>
                  <a:srgbClr val="1E1E1E"/>
                </a:solidFill>
                <a:latin typeface="Cambria" pitchFamily="34" charset="0"/>
                <a:ea typeface="Cambria" pitchFamily="34" charset="-122"/>
                <a:cs typeface="Cambria" pitchFamily="34" charset="-120"/>
              </a:rPr>
              <a:t>CONTRÔLE DES CUBATURES DE TERRASSEMENT</a:t>
            </a:r>
            <a:endParaRPr lang="en-US" sz="1800" dirty="0"/>
          </a:p>
        </p:txBody>
      </p:sp>
      <p:sp>
        <p:nvSpPr>
          <p:cNvPr id="6" name="Text 4"/>
          <p:cNvSpPr/>
          <p:nvPr/>
        </p:nvSpPr>
        <p:spPr>
          <a:xfrm>
            <a:off x="365760" y="932688"/>
            <a:ext cx="8412480" cy="274320"/>
          </a:xfrm>
          <a:prstGeom prst="rect">
            <a:avLst/>
          </a:prstGeom>
          <a:noFill/>
          <a:ln/>
        </p:spPr>
        <p:txBody>
          <a:bodyPr wrap="square" lIns="0" tIns="0" rIns="0" bIns="0" rtlCol="0" anchor="ctr"/>
          <a:lstStyle/>
          <a:p>
            <a:pPr indent="0" marL="0">
              <a:buNone/>
            </a:pPr>
            <a:r>
              <a:rPr lang="en-US" sz="1000" dirty="0">
                <a:solidFill>
                  <a:srgbClr val="666666"/>
                </a:solidFill>
                <a:latin typeface="Calibri" pitchFamily="34" charset="0"/>
                <a:ea typeface="Calibri" pitchFamily="34" charset="-122"/>
                <a:cs typeface="Calibri" pitchFamily="34" charset="-120"/>
              </a:rPr>
              <a:t>Compétence C18 – Vérifier les quantités exécutées</a:t>
            </a:r>
            <a:endParaRPr lang="en-US" sz="1000" dirty="0"/>
          </a:p>
        </p:txBody>
      </p:sp>
      <p:sp>
        <p:nvSpPr>
          <p:cNvPr id="7" name="Text 5"/>
          <p:cNvSpPr/>
          <p:nvPr/>
        </p:nvSpPr>
        <p:spPr>
          <a:xfrm>
            <a:off x="365760" y="4800600"/>
            <a:ext cx="8412480" cy="274320"/>
          </a:xfrm>
          <a:prstGeom prst="rect">
            <a:avLst/>
          </a:prstGeom>
          <a:noFill/>
          <a:ln/>
        </p:spPr>
        <p:txBody>
          <a:bodyPr wrap="square" rtlCol="0" anchor="ctr"/>
          <a:lstStyle/>
          <a:p>
            <a:pPr algn="r" indent="0" marL="0">
              <a:buNone/>
            </a:pPr>
            <a:r>
              <a:rPr lang="en-US" sz="700" dirty="0">
                <a:solidFill>
                  <a:srgbClr val="666666"/>
                </a:solidFill>
                <a:latin typeface="Calibri" pitchFamily="34" charset="0"/>
                <a:ea typeface="Calibri" pitchFamily="34" charset="-122"/>
                <a:cs typeface="Calibri" pitchFamily="34" charset="-120"/>
              </a:rPr>
              <a:t>BAHAFID Mohamed  ·  Rapport U62  ·  BTS MEC 2026  ·  9/15</a:t>
            </a:r>
            <a:endParaRPr lang="en-US" sz="700" dirty="0"/>
          </a:p>
        </p:txBody>
      </p:sp>
      <p:sp>
        <p:nvSpPr>
          <p:cNvPr id="8" name="Text 6"/>
          <p:cNvSpPr/>
          <p:nvPr/>
        </p:nvSpPr>
        <p:spPr>
          <a:xfrm>
            <a:off x="365760" y="1325880"/>
            <a:ext cx="2286000" cy="640080"/>
          </a:xfrm>
          <a:prstGeom prst="rect">
            <a:avLst/>
          </a:prstGeom>
          <a:noFill/>
          <a:ln/>
        </p:spPr>
        <p:txBody>
          <a:bodyPr wrap="square" lIns="0" tIns="0" rIns="0" bIns="0" rtlCol="0" anchor="ctr"/>
          <a:lstStyle/>
          <a:p>
            <a:pPr indent="0" marL="0">
              <a:buNone/>
            </a:pPr>
            <a:r>
              <a:rPr lang="en-US" sz="3600" b="1" dirty="0">
                <a:solidFill>
                  <a:srgbClr val="D97706"/>
                </a:solidFill>
                <a:latin typeface="Cambria" pitchFamily="34" charset="0"/>
                <a:ea typeface="Cambria" pitchFamily="34" charset="-122"/>
                <a:cs typeface="Cambria" pitchFamily="34" charset="-120"/>
              </a:rPr>
              <a:t>+8%</a:t>
            </a:r>
            <a:endParaRPr lang="en-US" sz="3600" dirty="0"/>
          </a:p>
        </p:txBody>
      </p:sp>
      <p:sp>
        <p:nvSpPr>
          <p:cNvPr id="9" name="Text 7"/>
          <p:cNvSpPr/>
          <p:nvPr/>
        </p:nvSpPr>
        <p:spPr>
          <a:xfrm>
            <a:off x="365760" y="1920240"/>
            <a:ext cx="2286000" cy="274320"/>
          </a:xfrm>
          <a:prstGeom prst="rect">
            <a:avLst/>
          </a:prstGeom>
          <a:noFill/>
          <a:ln/>
        </p:spPr>
        <p:txBody>
          <a:bodyPr wrap="square" lIns="0" tIns="0" rIns="0" bIns="0" rtlCol="0" anchor="ctr"/>
          <a:lstStyle/>
          <a:p>
            <a:pPr indent="0" marL="0">
              <a:buNone/>
            </a:pPr>
            <a:r>
              <a:rPr lang="en-US" sz="900" dirty="0">
                <a:solidFill>
                  <a:srgbClr val="666666"/>
                </a:solidFill>
                <a:latin typeface="Calibri" pitchFamily="34" charset="0"/>
                <a:ea typeface="Calibri" pitchFamily="34" charset="-122"/>
                <a:cs typeface="Calibri" pitchFamily="34" charset="-120"/>
              </a:rPr>
              <a:t>Écart cumulé détecté et corrigé</a:t>
            </a:r>
            <a:endParaRPr lang="en-US" sz="900" dirty="0"/>
          </a:p>
        </p:txBody>
      </p:sp>
      <p:sp>
        <p:nvSpPr>
          <p:cNvPr id="10" name="Text 8"/>
          <p:cNvSpPr/>
          <p:nvPr/>
        </p:nvSpPr>
        <p:spPr>
          <a:xfrm>
            <a:off x="2926080" y="1325880"/>
            <a:ext cx="2286000" cy="640080"/>
          </a:xfrm>
          <a:prstGeom prst="rect">
            <a:avLst/>
          </a:prstGeom>
          <a:noFill/>
          <a:ln/>
        </p:spPr>
        <p:txBody>
          <a:bodyPr wrap="square" lIns="0" tIns="0" rIns="0" bIns="0" rtlCol="0" anchor="ctr"/>
          <a:lstStyle/>
          <a:p>
            <a:pPr indent="0" marL="0">
              <a:buNone/>
            </a:pPr>
            <a:r>
              <a:rPr lang="en-US" sz="2800" b="1" dirty="0">
                <a:solidFill>
                  <a:srgbClr val="007A7F"/>
                </a:solidFill>
                <a:latin typeface="Cambria" pitchFamily="34" charset="0"/>
                <a:ea typeface="Cambria" pitchFamily="34" charset="-122"/>
                <a:cs typeface="Cambria" pitchFamily="34" charset="-120"/>
              </a:rPr>
              <a:t>285 000 DH</a:t>
            </a:r>
            <a:endParaRPr lang="en-US" sz="2800" dirty="0"/>
          </a:p>
        </p:txBody>
      </p:sp>
      <p:sp>
        <p:nvSpPr>
          <p:cNvPr id="11" name="Text 9"/>
          <p:cNvSpPr/>
          <p:nvPr/>
        </p:nvSpPr>
        <p:spPr>
          <a:xfrm>
            <a:off x="2926080" y="1920240"/>
            <a:ext cx="2286000" cy="274320"/>
          </a:xfrm>
          <a:prstGeom prst="rect">
            <a:avLst/>
          </a:prstGeom>
          <a:noFill/>
          <a:ln/>
        </p:spPr>
        <p:txBody>
          <a:bodyPr wrap="square" lIns="0" tIns="0" rIns="0" bIns="0" rtlCol="0" anchor="ctr"/>
          <a:lstStyle/>
          <a:p>
            <a:pPr indent="0" marL="0">
              <a:buNone/>
            </a:pPr>
            <a:r>
              <a:rPr lang="en-US" sz="900" dirty="0">
                <a:solidFill>
                  <a:srgbClr val="666666"/>
                </a:solidFill>
                <a:latin typeface="Calibri" pitchFamily="34" charset="0"/>
                <a:ea typeface="Calibri" pitchFamily="34" charset="-122"/>
                <a:cs typeface="Calibri" pitchFamily="34" charset="-120"/>
              </a:rPr>
              <a:t>Surcoût absorbé sans avenant</a:t>
            </a:r>
            <a:endParaRPr lang="en-US" sz="900" dirty="0"/>
          </a:p>
        </p:txBody>
      </p:sp>
      <p:sp>
        <p:nvSpPr>
          <p:cNvPr id="12" name="Shape 10"/>
          <p:cNvSpPr/>
          <p:nvPr/>
        </p:nvSpPr>
        <p:spPr>
          <a:xfrm>
            <a:off x="365760" y="2377440"/>
            <a:ext cx="8412480" cy="2377440"/>
          </a:xfrm>
          <a:prstGeom prst="rect">
            <a:avLst/>
          </a:prstGeom>
          <a:solidFill>
            <a:srgbClr val="FFFFFF"/>
          </a:solidFill>
          <a:ln/>
          <a:effectLst>
            <a:outerShdw sx="100000" sy="100000" kx="0" ky="0" algn="bl" rotWithShape="0" blurRad="50800" dist="19050" dir="8100000">
              <a:srgbClr val="000000">
                <a:alpha val="10000"/>
              </a:srgbClr>
            </a:outerShdw>
          </a:effectLst>
        </p:spPr>
      </p:sp>
      <p:sp>
        <p:nvSpPr>
          <p:cNvPr id="13" name="Shape 11"/>
          <p:cNvSpPr/>
          <p:nvPr/>
        </p:nvSpPr>
        <p:spPr>
          <a:xfrm>
            <a:off x="548640" y="2514600"/>
            <a:ext cx="237744" cy="237744"/>
          </a:xfrm>
          <a:prstGeom prst="ellipse">
            <a:avLst/>
          </a:prstGeom>
          <a:solidFill>
            <a:srgbClr val="007A7F"/>
          </a:solidFill>
          <a:ln/>
        </p:spPr>
      </p:sp>
      <p:sp>
        <p:nvSpPr>
          <p:cNvPr id="14" name="Text 12"/>
          <p:cNvSpPr/>
          <p:nvPr/>
        </p:nvSpPr>
        <p:spPr>
          <a:xfrm>
            <a:off x="548640" y="2514600"/>
            <a:ext cx="237744" cy="23774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a:t>
            </a:r>
            <a:endParaRPr lang="en-US" sz="1400" dirty="0"/>
          </a:p>
        </p:txBody>
      </p:sp>
      <p:sp>
        <p:nvSpPr>
          <p:cNvPr id="15" name="Text 13"/>
          <p:cNvSpPr/>
          <p:nvPr/>
        </p:nvSpPr>
        <p:spPr>
          <a:xfrm>
            <a:off x="868680" y="2496312"/>
            <a:ext cx="7726680" cy="457200"/>
          </a:xfrm>
          <a:prstGeom prst="rect">
            <a:avLst/>
          </a:prstGeom>
          <a:noFill/>
          <a:ln/>
        </p:spPr>
        <p:txBody>
          <a:bodyPr wrap="square" lIns="0" tIns="0" rIns="0" bIns="0" rtlCol="0" anchor="ctr"/>
          <a:lstStyle/>
          <a:p>
            <a:pPr indent="0" marL="0">
              <a:buNone/>
            </a:pPr>
            <a:r>
              <a:rPr lang="en-US" sz="900" dirty="0">
                <a:solidFill>
                  <a:srgbClr val="333333"/>
                </a:solidFill>
                <a:latin typeface="Calibri" pitchFamily="34" charset="0"/>
                <a:ea typeface="Calibri" pitchFamily="34" charset="-122"/>
                <a:cs typeface="Calibri" pitchFamily="34" charset="-120"/>
              </a:rPr>
              <a:t>Vérification 120 334 m³ déblais + 76 735 m³ remblais. Dénivelé 400 m, pentes 12%.</a:t>
            </a:r>
            <a:endParaRPr lang="en-US" sz="900" dirty="0"/>
          </a:p>
        </p:txBody>
      </p:sp>
      <p:sp>
        <p:nvSpPr>
          <p:cNvPr id="16" name="Shape 14"/>
          <p:cNvSpPr/>
          <p:nvPr/>
        </p:nvSpPr>
        <p:spPr>
          <a:xfrm>
            <a:off x="548640" y="3044952"/>
            <a:ext cx="237744" cy="237744"/>
          </a:xfrm>
          <a:prstGeom prst="ellipse">
            <a:avLst/>
          </a:prstGeom>
          <a:solidFill>
            <a:srgbClr val="007A7F"/>
          </a:solidFill>
          <a:ln/>
        </p:spPr>
      </p:sp>
      <p:sp>
        <p:nvSpPr>
          <p:cNvPr id="17" name="Text 15"/>
          <p:cNvSpPr/>
          <p:nvPr/>
        </p:nvSpPr>
        <p:spPr>
          <a:xfrm>
            <a:off x="548640" y="3044952"/>
            <a:ext cx="237744" cy="23774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a:t>
            </a:r>
            <a:endParaRPr lang="en-US" sz="1400" dirty="0"/>
          </a:p>
        </p:txBody>
      </p:sp>
      <p:sp>
        <p:nvSpPr>
          <p:cNvPr id="18" name="Text 16"/>
          <p:cNvSpPr/>
          <p:nvPr/>
        </p:nvSpPr>
        <p:spPr>
          <a:xfrm>
            <a:off x="868680" y="3026664"/>
            <a:ext cx="7726680" cy="457200"/>
          </a:xfrm>
          <a:prstGeom prst="rect">
            <a:avLst/>
          </a:prstGeom>
          <a:noFill/>
          <a:ln/>
        </p:spPr>
        <p:txBody>
          <a:bodyPr wrap="square" lIns="0" tIns="0" rIns="0" bIns="0" rtlCol="0" anchor="ctr"/>
          <a:lstStyle/>
          <a:p>
            <a:pPr indent="0" marL="0">
              <a:buNone/>
            </a:pPr>
            <a:r>
              <a:rPr lang="en-US" sz="900" dirty="0">
                <a:solidFill>
                  <a:srgbClr val="333333"/>
                </a:solidFill>
                <a:latin typeface="Calibri" pitchFamily="34" charset="0"/>
                <a:ea typeface="Calibri" pitchFamily="34" charset="-122"/>
                <a:cs typeface="Calibri" pitchFamily="34" charset="-120"/>
              </a:rPr>
              <a:t>PK 12 : calcaire fracturé non détecté. 5 000 m³ à reclassifier. Écart cumulé +8%.</a:t>
            </a:r>
            <a:endParaRPr lang="en-US" sz="900" dirty="0"/>
          </a:p>
        </p:txBody>
      </p:sp>
      <p:sp>
        <p:nvSpPr>
          <p:cNvPr id="19" name="Shape 17"/>
          <p:cNvSpPr/>
          <p:nvPr/>
        </p:nvSpPr>
        <p:spPr>
          <a:xfrm>
            <a:off x="548640" y="3575304"/>
            <a:ext cx="237744" cy="237744"/>
          </a:xfrm>
          <a:prstGeom prst="ellipse">
            <a:avLst/>
          </a:prstGeom>
          <a:solidFill>
            <a:srgbClr val="007A7F"/>
          </a:solidFill>
          <a:ln/>
        </p:spPr>
      </p:sp>
      <p:sp>
        <p:nvSpPr>
          <p:cNvPr id="20" name="Text 18"/>
          <p:cNvSpPr/>
          <p:nvPr/>
        </p:nvSpPr>
        <p:spPr>
          <a:xfrm>
            <a:off x="548640" y="3575304"/>
            <a:ext cx="237744" cy="23774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a:t>
            </a:r>
            <a:endParaRPr lang="en-US" sz="1400" dirty="0"/>
          </a:p>
        </p:txBody>
      </p:sp>
      <p:sp>
        <p:nvSpPr>
          <p:cNvPr id="21" name="Text 19"/>
          <p:cNvSpPr/>
          <p:nvPr/>
        </p:nvSpPr>
        <p:spPr>
          <a:xfrm>
            <a:off x="868680" y="3557016"/>
            <a:ext cx="7726680" cy="457200"/>
          </a:xfrm>
          <a:prstGeom prst="rect">
            <a:avLst/>
          </a:prstGeom>
          <a:noFill/>
          <a:ln/>
        </p:spPr>
        <p:txBody>
          <a:bodyPr wrap="square" lIns="0" tIns="0" rIns="0" bIns="0" rtlCol="0" anchor="ctr"/>
          <a:lstStyle/>
          <a:p>
            <a:pPr indent="0" marL="0">
              <a:buNone/>
            </a:pPr>
            <a:r>
              <a:rPr lang="en-US" sz="900" dirty="0">
                <a:solidFill>
                  <a:srgbClr val="333333"/>
                </a:solidFill>
                <a:latin typeface="Calibri" pitchFamily="34" charset="0"/>
                <a:ea typeface="Calibri" pitchFamily="34" charset="-122"/>
                <a:cs typeface="Calibri" pitchFamily="34" charset="-120"/>
              </a:rPr>
              <a:t>Profils en travers /25 m. Relevés GPS contradictoires /500 ml. 3 dalots dimensionnés avec BET.</a:t>
            </a:r>
            <a:endParaRPr lang="en-US" sz="900" dirty="0"/>
          </a:p>
        </p:txBody>
      </p:sp>
      <p:sp>
        <p:nvSpPr>
          <p:cNvPr id="22" name="Shape 20"/>
          <p:cNvSpPr/>
          <p:nvPr/>
        </p:nvSpPr>
        <p:spPr>
          <a:xfrm>
            <a:off x="548640" y="4105656"/>
            <a:ext cx="237744" cy="237744"/>
          </a:xfrm>
          <a:prstGeom prst="ellipse">
            <a:avLst/>
          </a:prstGeom>
          <a:solidFill>
            <a:srgbClr val="007A7F"/>
          </a:solidFill>
          <a:ln/>
        </p:spPr>
      </p:sp>
      <p:sp>
        <p:nvSpPr>
          <p:cNvPr id="23" name="Text 21"/>
          <p:cNvSpPr/>
          <p:nvPr/>
        </p:nvSpPr>
        <p:spPr>
          <a:xfrm>
            <a:off x="548640" y="4105656"/>
            <a:ext cx="237744" cy="23774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R</a:t>
            </a:r>
            <a:endParaRPr lang="en-US" sz="1400" dirty="0"/>
          </a:p>
        </p:txBody>
      </p:sp>
      <p:sp>
        <p:nvSpPr>
          <p:cNvPr id="24" name="Text 22"/>
          <p:cNvSpPr/>
          <p:nvPr/>
        </p:nvSpPr>
        <p:spPr>
          <a:xfrm>
            <a:off x="868680" y="4087368"/>
            <a:ext cx="7726680" cy="457200"/>
          </a:xfrm>
          <a:prstGeom prst="rect">
            <a:avLst/>
          </a:prstGeom>
          <a:noFill/>
          <a:ln/>
        </p:spPr>
        <p:txBody>
          <a:bodyPr wrap="square" lIns="0" tIns="0" rIns="0" bIns="0" rtlCol="0" anchor="ctr"/>
          <a:lstStyle/>
          <a:p>
            <a:pPr indent="0" marL="0">
              <a:buNone/>
            </a:pPr>
            <a:r>
              <a:rPr lang="en-US" sz="900" dirty="0">
                <a:solidFill>
                  <a:srgbClr val="333333"/>
                </a:solidFill>
                <a:latin typeface="Calibri" pitchFamily="34" charset="0"/>
                <a:ea typeface="Calibri" pitchFamily="34" charset="-122"/>
                <a:cs typeface="Calibri" pitchFamily="34" charset="-120"/>
              </a:rPr>
              <a:t>Surcoût absorbé par compensation. Réception sans avenant. Traçabilité complète.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A7F"/>
          </a:solidFill>
          <a:ln/>
        </p:spPr>
      </p:sp>
      <p:sp>
        <p:nvSpPr>
          <p:cNvPr id="3" name="Shape 1"/>
          <p:cNvSpPr/>
          <p:nvPr/>
        </p:nvSpPr>
        <p:spPr>
          <a:xfrm>
            <a:off x="365760" y="164592"/>
            <a:ext cx="777240" cy="347472"/>
          </a:xfrm>
          <a:prstGeom prst="rect">
            <a:avLst/>
          </a:prstGeom>
          <a:solidFill>
            <a:srgbClr val="E0F4F5"/>
          </a:solidFill>
          <a:ln w="10160">
            <a:solidFill>
              <a:srgbClr val="007A7F"/>
            </a:solidFill>
            <a:prstDash val="solid"/>
          </a:ln>
        </p:spPr>
      </p:sp>
      <p:sp>
        <p:nvSpPr>
          <p:cNvPr id="4" name="Text 2"/>
          <p:cNvSpPr/>
          <p:nvPr/>
        </p:nvSpPr>
        <p:spPr>
          <a:xfrm>
            <a:off x="365760" y="164592"/>
            <a:ext cx="777240" cy="347472"/>
          </a:xfrm>
          <a:prstGeom prst="rect">
            <a:avLst/>
          </a:prstGeom>
          <a:noFill/>
          <a:ln/>
        </p:spPr>
        <p:txBody>
          <a:bodyPr wrap="square" lIns="0" tIns="0" rIns="0" bIns="0" rtlCol="0" anchor="ctr"/>
          <a:lstStyle/>
          <a:p>
            <a:pPr algn="ctr" indent="0" marL="0">
              <a:buNone/>
            </a:pPr>
            <a:r>
              <a:rPr lang="en-US" sz="900" b="1" dirty="0">
                <a:solidFill>
                  <a:srgbClr val="007A7F"/>
                </a:solidFill>
                <a:latin typeface="Calibri" pitchFamily="34" charset="0"/>
                <a:ea typeface="Calibri" pitchFamily="34" charset="-122"/>
                <a:cs typeface="Calibri" pitchFamily="34" charset="-120"/>
              </a:rPr>
              <a:t>03 – Compl.</a:t>
            </a:r>
            <a:endParaRPr lang="en-US" sz="900" dirty="0"/>
          </a:p>
        </p:txBody>
      </p:sp>
      <p:sp>
        <p:nvSpPr>
          <p:cNvPr id="5" name="Text 3"/>
          <p:cNvSpPr/>
          <p:nvPr/>
        </p:nvSpPr>
        <p:spPr>
          <a:xfrm>
            <a:off x="365760" y="566928"/>
            <a:ext cx="8412480" cy="411480"/>
          </a:xfrm>
          <a:prstGeom prst="rect">
            <a:avLst/>
          </a:prstGeom>
          <a:noFill/>
          <a:ln/>
        </p:spPr>
        <p:txBody>
          <a:bodyPr wrap="square" lIns="0" tIns="0" rIns="0" bIns="0" rtlCol="0" anchor="ctr"/>
          <a:lstStyle/>
          <a:p>
            <a:pPr indent="0" marL="0">
              <a:buNone/>
            </a:pPr>
            <a:r>
              <a:rPr lang="en-US" sz="1800" b="1" dirty="0">
                <a:solidFill>
                  <a:srgbClr val="1E1E1E"/>
                </a:solidFill>
                <a:latin typeface="Cambria" pitchFamily="34" charset="0"/>
                <a:ea typeface="Cambria" pitchFamily="34" charset="-122"/>
                <a:cs typeface="Cambria" pitchFamily="34" charset="-120"/>
              </a:rPr>
              <a:t>ACTIVITÉS COMPLÉMENTAIRES</a:t>
            </a:r>
            <a:endParaRPr lang="en-US" sz="1800" dirty="0"/>
          </a:p>
        </p:txBody>
      </p:sp>
      <p:sp>
        <p:nvSpPr>
          <p:cNvPr id="6" name="Text 4"/>
          <p:cNvSpPr/>
          <p:nvPr/>
        </p:nvSpPr>
        <p:spPr>
          <a:xfrm>
            <a:off x="365760" y="932688"/>
            <a:ext cx="8412480" cy="274320"/>
          </a:xfrm>
          <a:prstGeom prst="rect">
            <a:avLst/>
          </a:prstGeom>
          <a:noFill/>
          <a:ln/>
        </p:spPr>
        <p:txBody>
          <a:bodyPr wrap="square" lIns="0" tIns="0" rIns="0" bIns="0" rtlCol="0" anchor="ctr"/>
          <a:lstStyle/>
          <a:p>
            <a:pPr indent="0" marL="0">
              <a:buNone/>
            </a:pPr>
            <a:r>
              <a:rPr lang="en-US" sz="1000" dirty="0">
                <a:solidFill>
                  <a:srgbClr val="666666"/>
                </a:solidFill>
                <a:latin typeface="Calibri" pitchFamily="34" charset="0"/>
                <a:ea typeface="Calibri" pitchFamily="34" charset="-122"/>
                <a:cs typeface="Calibri" pitchFamily="34" charset="-120"/>
              </a:rPr>
              <a:t>5 autres marchés publics + expérience terrain en France</a:t>
            </a:r>
            <a:endParaRPr lang="en-US" sz="1000" dirty="0"/>
          </a:p>
        </p:txBody>
      </p:sp>
      <p:sp>
        <p:nvSpPr>
          <p:cNvPr id="7" name="Text 5"/>
          <p:cNvSpPr/>
          <p:nvPr/>
        </p:nvSpPr>
        <p:spPr>
          <a:xfrm>
            <a:off x="365760" y="4800600"/>
            <a:ext cx="8412480" cy="274320"/>
          </a:xfrm>
          <a:prstGeom prst="rect">
            <a:avLst/>
          </a:prstGeom>
          <a:noFill/>
          <a:ln/>
        </p:spPr>
        <p:txBody>
          <a:bodyPr wrap="square" rtlCol="0" anchor="ctr"/>
          <a:lstStyle/>
          <a:p>
            <a:pPr algn="r" indent="0" marL="0">
              <a:buNone/>
            </a:pPr>
            <a:r>
              <a:rPr lang="en-US" sz="700" dirty="0">
                <a:solidFill>
                  <a:srgbClr val="666666"/>
                </a:solidFill>
                <a:latin typeface="Calibri" pitchFamily="34" charset="0"/>
                <a:ea typeface="Calibri" pitchFamily="34" charset="-122"/>
                <a:cs typeface="Calibri" pitchFamily="34" charset="-120"/>
              </a:rPr>
              <a:t>BAHAFID Mohamed  ·  Rapport U62  ·  BTS MEC 2026  ·  10/15</a:t>
            </a:r>
            <a:endParaRPr lang="en-US" sz="700" dirty="0"/>
          </a:p>
        </p:txBody>
      </p:sp>
      <p:sp>
        <p:nvSpPr>
          <p:cNvPr id="8" name="Shape 6"/>
          <p:cNvSpPr/>
          <p:nvPr/>
        </p:nvSpPr>
        <p:spPr>
          <a:xfrm>
            <a:off x="365760" y="1325880"/>
            <a:ext cx="4754880" cy="2560320"/>
          </a:xfrm>
          <a:prstGeom prst="rect">
            <a:avLst/>
          </a:prstGeom>
          <a:solidFill>
            <a:srgbClr val="FFFFFF"/>
          </a:solidFill>
          <a:ln/>
          <a:effectLst>
            <a:outerShdw sx="100000" sy="100000" kx="0" ky="0" algn="bl" rotWithShape="0" blurRad="50800" dist="19050" dir="8100000">
              <a:srgbClr val="000000">
                <a:alpha val="10000"/>
              </a:srgbClr>
            </a:outerShdw>
          </a:effectLst>
        </p:spPr>
      </p:sp>
      <p:sp>
        <p:nvSpPr>
          <p:cNvPr id="9" name="Text 7"/>
          <p:cNvSpPr/>
          <p:nvPr/>
        </p:nvSpPr>
        <p:spPr>
          <a:xfrm>
            <a:off x="548640" y="1417320"/>
            <a:ext cx="4389120" cy="228600"/>
          </a:xfrm>
          <a:prstGeom prst="rect">
            <a:avLst/>
          </a:prstGeom>
          <a:noFill/>
          <a:ln/>
        </p:spPr>
        <p:txBody>
          <a:bodyPr wrap="square" lIns="0" tIns="0" rIns="0" bIns="0" rtlCol="0" anchor="ctr"/>
          <a:lstStyle/>
          <a:p>
            <a:pPr indent="0" marL="0">
              <a:buNone/>
            </a:pPr>
            <a:r>
              <a:rPr lang="en-US" sz="900" b="1" spc="100" kern="0" dirty="0">
                <a:solidFill>
                  <a:srgbClr val="007A7F"/>
                </a:solidFill>
                <a:latin typeface="Calibri" pitchFamily="34" charset="0"/>
                <a:ea typeface="Calibri" pitchFamily="34" charset="-122"/>
                <a:cs typeface="Calibri" pitchFamily="34" charset="-120"/>
              </a:rPr>
              <a:t>5 AUTRES MARCHÉS AU CONSEIL RÉGIONAL</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4389120" cy="914400"/>
        </p:xfrm>
        <a:graphic>
          <a:graphicData uri="http://schemas.openxmlformats.org/drawingml/2006/table">
            <a:tbl>
              <a:tblPr/>
              <a:tblGrid>
                <a:gridCol w="640080"/>
                <a:gridCol w="2834640"/>
                <a:gridCol w="914400"/>
              </a:tblGrid>
              <a:tr h="237744">
                <a:tc>
                  <a:txBody>
                    <a:bodyPr/>
                    <a:lstStyle/>
                    <a:p>
                      <a:pPr indent="0" marL="0">
                        <a:buNone/>
                      </a:pPr>
                      <a:r>
                        <a:rPr lang="en-US" sz="700" b="1" dirty="0">
                          <a:solidFill>
                            <a:srgbClr val="FFFFFF"/>
                          </a:solidFill>
                        </a:rPr>
                        <a:t>N°</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7A7F"/>
                    </a:solidFill>
                  </a:tcPr>
                </a:tc>
                <a:tc>
                  <a:txBody>
                    <a:bodyPr/>
                    <a:lstStyle/>
                    <a:p>
                      <a:pPr indent="0" marL="0">
                        <a:buNone/>
                      </a:pPr>
                      <a:r>
                        <a:rPr lang="en-US" sz="700" b="1" dirty="0">
                          <a:solidFill>
                            <a:srgbClr val="FFFFFF"/>
                          </a:solidFill>
                        </a:rPr>
                        <a:t>Objet</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7A7F"/>
                    </a:solidFill>
                  </a:tcPr>
                </a:tc>
                <a:tc>
                  <a:txBody>
                    <a:bodyPr/>
                    <a:lstStyle/>
                    <a:p>
                      <a:pPr algn="r" indent="0" marL="0">
                        <a:buNone/>
                      </a:pPr>
                      <a:r>
                        <a:rPr lang="en-US" sz="700" b="1" dirty="0">
                          <a:solidFill>
                            <a:srgbClr val="FFFFFF"/>
                          </a:solidFill>
                        </a:rPr>
                        <a:t>Montant</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7A7F"/>
                    </a:solidFill>
                  </a:tcPr>
                </a:tc>
              </a:tr>
              <a:tr h="237744">
                <a:tc>
                  <a:txBody>
                    <a:bodyPr/>
                    <a:lstStyle/>
                    <a:p>
                      <a:pPr indent="0" marL="0">
                        <a:buNone/>
                      </a:pPr>
                      <a:r>
                        <a:rPr lang="en-US" sz="700" b="1" dirty="0">
                          <a:solidFill>
                            <a:srgbClr val="007A7F"/>
                          </a:solidFill>
                        </a:rPr>
                        <a:t>27-RBK</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700" dirty="0">
                          <a:solidFill>
                            <a:srgbClr val="333333"/>
                          </a:solidFill>
                        </a:rPr>
                        <a:t>Route Sidi Bouabbad → Oued Grou (12 km)</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r" indent="0" marL="0">
                        <a:buNone/>
                      </a:pPr>
                      <a:r>
                        <a:rPr lang="en-US" sz="700" dirty="0">
                          <a:solidFill>
                            <a:srgbClr val="333333"/>
                          </a:solidFill>
                        </a:rPr>
                        <a:t>8,2 M DH</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37744">
                <a:tc>
                  <a:txBody>
                    <a:bodyPr/>
                    <a:lstStyle/>
                    <a:p>
                      <a:pPr indent="0" marL="0">
                        <a:buNone/>
                      </a:pPr>
                      <a:r>
                        <a:rPr lang="en-US" sz="700" b="1" dirty="0">
                          <a:solidFill>
                            <a:srgbClr val="007A7F"/>
                          </a:solidFill>
                        </a:rPr>
                        <a:t>28-RBK</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700" dirty="0">
                          <a:solidFill>
                            <a:srgbClr val="333333"/>
                          </a:solidFill>
                        </a:rPr>
                        <a:t>Route Ajdir-Ayoun + Piste Lijon</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r" indent="0" marL="0">
                        <a:buNone/>
                      </a:pPr>
                      <a:r>
                        <a:rPr lang="en-US" sz="700" dirty="0">
                          <a:solidFill>
                            <a:srgbClr val="333333"/>
                          </a:solidFill>
                        </a:rPr>
                        <a:t>6,5 M DH</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37744">
                <a:tc>
                  <a:txBody>
                    <a:bodyPr/>
                    <a:lstStyle/>
                    <a:p>
                      <a:pPr indent="0" marL="0">
                        <a:buNone/>
                      </a:pPr>
                      <a:r>
                        <a:rPr lang="en-US" sz="700" b="1" dirty="0">
                          <a:solidFill>
                            <a:srgbClr val="007A7F"/>
                          </a:solidFill>
                        </a:rPr>
                        <a:t>30-RBK</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700" dirty="0">
                          <a:solidFill>
                            <a:srgbClr val="333333"/>
                          </a:solidFill>
                        </a:rPr>
                        <a:t>AEP El Borj – El Hamam (18 km)</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r" indent="0" marL="0">
                        <a:buNone/>
                      </a:pPr>
                      <a:r>
                        <a:rPr lang="en-US" sz="700" dirty="0">
                          <a:solidFill>
                            <a:srgbClr val="333333"/>
                          </a:solidFill>
                        </a:rPr>
                        <a:t>4,8 M DH</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37744">
                <a:tc>
                  <a:txBody>
                    <a:bodyPr/>
                    <a:lstStyle/>
                    <a:p>
                      <a:pPr indent="0" marL="0">
                        <a:buNone/>
                      </a:pPr>
                      <a:r>
                        <a:rPr lang="en-US" sz="700" b="1" dirty="0">
                          <a:solidFill>
                            <a:srgbClr val="007A7F"/>
                          </a:solidFill>
                        </a:rPr>
                        <a:t>39-RBK</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700" dirty="0">
                          <a:solidFill>
                            <a:srgbClr val="333333"/>
                          </a:solidFill>
                        </a:rPr>
                        <a:t>Pistes Hartaf – Sebt Ait Rahou</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r" indent="0" marL="0">
                        <a:buNone/>
                      </a:pPr>
                      <a:r>
                        <a:rPr lang="en-US" sz="700" dirty="0">
                          <a:solidFill>
                            <a:srgbClr val="333333"/>
                          </a:solidFill>
                        </a:rPr>
                        <a:t>3,1 M DH</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37744">
                <a:tc>
                  <a:txBody>
                    <a:bodyPr/>
                    <a:lstStyle/>
                    <a:p>
                      <a:pPr indent="0" marL="0">
                        <a:buNone/>
                      </a:pPr>
                      <a:r>
                        <a:rPr lang="en-US" sz="700" b="1" dirty="0">
                          <a:solidFill>
                            <a:srgbClr val="007A7F"/>
                          </a:solidFill>
                        </a:rPr>
                        <a:t>49-RBK</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700" dirty="0">
                          <a:solidFill>
                            <a:srgbClr val="333333"/>
                          </a:solidFill>
                        </a:rPr>
                        <a:t>Voirie Amghass – Bouchbel</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r" indent="0" marL="0">
                        <a:buNone/>
                      </a:pPr>
                      <a:r>
                        <a:rPr lang="en-US" sz="700" dirty="0">
                          <a:solidFill>
                            <a:srgbClr val="333333"/>
                          </a:solidFill>
                        </a:rPr>
                        <a:t>5,9 M DH</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11" name="Shape 8"/>
          <p:cNvSpPr/>
          <p:nvPr/>
        </p:nvSpPr>
        <p:spPr>
          <a:xfrm>
            <a:off x="5394960" y="1325880"/>
            <a:ext cx="3383280" cy="2560320"/>
          </a:xfrm>
          <a:prstGeom prst="rect">
            <a:avLst/>
          </a:prstGeom>
          <a:solidFill>
            <a:srgbClr val="FFFFFF"/>
          </a:solidFill>
          <a:ln/>
          <a:effectLst>
            <a:outerShdw sx="100000" sy="100000" kx="0" ky="0" algn="bl" rotWithShape="0" blurRad="50800" dist="19050" dir="8100000">
              <a:srgbClr val="000000">
                <a:alpha val="10000"/>
              </a:srgbClr>
            </a:outerShdw>
          </a:effectLst>
        </p:spPr>
      </p:sp>
      <p:sp>
        <p:nvSpPr>
          <p:cNvPr id="12" name="Text 9"/>
          <p:cNvSpPr/>
          <p:nvPr/>
        </p:nvSpPr>
        <p:spPr>
          <a:xfrm>
            <a:off x="5577840" y="1417320"/>
            <a:ext cx="3017520" cy="228600"/>
          </a:xfrm>
          <a:prstGeom prst="rect">
            <a:avLst/>
          </a:prstGeom>
          <a:noFill/>
          <a:ln/>
        </p:spPr>
        <p:txBody>
          <a:bodyPr wrap="square" lIns="0" tIns="0" rIns="0" bIns="0" rtlCol="0" anchor="ctr"/>
          <a:lstStyle/>
          <a:p>
            <a:pPr indent="0" marL="0">
              <a:buNone/>
            </a:pPr>
            <a:r>
              <a:rPr lang="en-US" sz="900" b="1" spc="100" kern="0" dirty="0">
                <a:solidFill>
                  <a:srgbClr val="D97706"/>
                </a:solidFill>
                <a:latin typeface="Calibri" pitchFamily="34" charset="0"/>
                <a:ea typeface="Calibri" pitchFamily="34" charset="-122"/>
                <a:cs typeface="Calibri" pitchFamily="34" charset="-120"/>
              </a:rPr>
              <a:t>EXPÉRIENCE TERRAIN FRANCE</a:t>
            </a:r>
            <a:endParaRPr lang="en-US" sz="900" dirty="0"/>
          </a:p>
        </p:txBody>
      </p:sp>
      <p:sp>
        <p:nvSpPr>
          <p:cNvPr id="13" name="Text 10"/>
          <p:cNvSpPr/>
          <p:nvPr/>
        </p:nvSpPr>
        <p:spPr>
          <a:xfrm>
            <a:off x="5577840" y="1737360"/>
            <a:ext cx="3017520" cy="2011680"/>
          </a:xfrm>
          <a:prstGeom prst="rect">
            <a:avLst/>
          </a:prstGeom>
          <a:noFill/>
          <a:ln/>
        </p:spPr>
        <p:txBody>
          <a:bodyPr wrap="square" lIns="0" tIns="0" rIns="0" bIns="0" rtlCol="0" anchor="ctr"/>
          <a:lstStyle/>
          <a:p>
            <a:pPr indent="0" marL="0">
              <a:buNone/>
            </a:pPr>
            <a:r>
              <a:rPr lang="en-US" sz="900" b="1" dirty="0">
                <a:solidFill>
                  <a:srgbClr val="1E1E1E"/>
                </a:solidFill>
                <a:latin typeface="Calibri" pitchFamily="34" charset="0"/>
                <a:ea typeface="Calibri" pitchFamily="34" charset="-122"/>
                <a:cs typeface="Calibri" pitchFamily="34" charset="-120"/>
              </a:rPr>
              <a:t>Chef d’équipe GO – Ergalis BTP</a:t>
            </a:r>
            <a:endParaRPr lang="en-US" sz="900" dirty="0"/>
          </a:p>
          <a:p>
            <a:pPr indent="0" marL="0">
              <a:buNone/>
            </a:pPr>
            <a:r>
              <a:rPr lang="en-US" sz="800" dirty="0">
                <a:solidFill>
                  <a:srgbClr val="333333"/>
                </a:solidFill>
                <a:latin typeface="Calibri" pitchFamily="34" charset="0"/>
                <a:ea typeface="Calibri" pitchFamily="34" charset="-122"/>
                <a:cs typeface="Calibri" pitchFamily="34" charset="-120"/>
              </a:rPr>
              <a:t>Feurs (Loire) : banches, armatures HA, coulage</a:t>
            </a:r>
            <a:endParaRPr lang="en-US" sz="900" dirty="0"/>
          </a:p>
          <a:p>
            <a:pPr indent="0" marL="0">
              <a:buNone/>
            </a:pPr>
            <a:endParaRPr lang="en-US" sz="900" dirty="0"/>
          </a:p>
          <a:p>
            <a:pPr indent="0" marL="0">
              <a:buNone/>
            </a:pPr>
            <a:r>
              <a:rPr lang="en-US" sz="900" b="1" dirty="0">
                <a:solidFill>
                  <a:srgbClr val="1E1E1E"/>
                </a:solidFill>
                <a:latin typeface="Calibri" pitchFamily="34" charset="0"/>
                <a:ea typeface="Calibri" pitchFamily="34" charset="-122"/>
                <a:cs typeface="Calibri" pitchFamily="34" charset="-120"/>
              </a:rPr>
              <a:t>Chef de chantier – Minssieux &amp; Fils</a:t>
            </a:r>
            <a:endParaRPr lang="en-US" sz="900" dirty="0"/>
          </a:p>
          <a:p>
            <a:pPr indent="0" marL="0">
              <a:buNone/>
            </a:pPr>
            <a:r>
              <a:rPr lang="en-US" sz="800" dirty="0">
                <a:solidFill>
                  <a:srgbClr val="333333"/>
                </a:solidFill>
                <a:latin typeface="Calibri" pitchFamily="34" charset="0"/>
                <a:ea typeface="Calibri" pitchFamily="34" charset="-122"/>
                <a:cs typeface="Calibri" pitchFamily="34" charset="-120"/>
              </a:rPr>
              <a:t>Mornant (Rhône) : planning, contrôle qualité</a:t>
            </a:r>
            <a:endParaRPr lang="en-US" sz="900" dirty="0"/>
          </a:p>
          <a:p>
            <a:pPr indent="0" marL="0">
              <a:buNone/>
            </a:pPr>
            <a:endParaRPr lang="en-US" sz="900" dirty="0"/>
          </a:p>
          <a:p>
            <a:pPr indent="0" marL="0">
              <a:buNone/>
            </a:pPr>
            <a:r>
              <a:rPr lang="en-US" sz="800" b="1" dirty="0">
                <a:solidFill>
                  <a:srgbClr val="007A7F"/>
                </a:solidFill>
                <a:latin typeface="Calibri" pitchFamily="34" charset="0"/>
                <a:ea typeface="Calibri" pitchFamily="34" charset="-122"/>
                <a:cs typeface="Calibri" pitchFamily="34" charset="-120"/>
              </a:rPr>
              <a:t>Apport : </a:t>
            </a:r>
            <a:pPr indent="0" marL="0">
              <a:buNone/>
            </a:pPr>
            <a:r>
              <a:rPr lang="en-US" sz="800" dirty="0">
                <a:solidFill>
                  <a:srgbClr val="333333"/>
                </a:solidFill>
                <a:latin typeface="Calibri" pitchFamily="34" charset="0"/>
                <a:ea typeface="Calibri" pitchFamily="34" charset="-122"/>
                <a:cs typeface="Calibri" pitchFamily="34" charset="-120"/>
              </a:rPr>
              <a:t>coûts réels de production, contraintes d’exécution, rendements terrain</a:t>
            </a:r>
            <a:endParaRPr lang="en-US" sz="900" dirty="0"/>
          </a:p>
        </p:txBody>
      </p:sp>
      <p:sp>
        <p:nvSpPr>
          <p:cNvPr id="14" name="Shape 11"/>
          <p:cNvSpPr/>
          <p:nvPr/>
        </p:nvSpPr>
        <p:spPr>
          <a:xfrm>
            <a:off x="365760" y="4069080"/>
            <a:ext cx="8412480" cy="502920"/>
          </a:xfrm>
          <a:prstGeom prst="rect">
            <a:avLst/>
          </a:prstGeom>
          <a:solidFill>
            <a:srgbClr val="E0F4F5"/>
          </a:solidFill>
          <a:ln w="6350">
            <a:solidFill>
              <a:srgbClr val="007A7F"/>
            </a:solidFill>
            <a:prstDash val="solid"/>
          </a:ln>
        </p:spPr>
      </p:sp>
      <p:sp>
        <p:nvSpPr>
          <p:cNvPr id="15" name="Text 12"/>
          <p:cNvSpPr/>
          <p:nvPr/>
        </p:nvSpPr>
        <p:spPr>
          <a:xfrm>
            <a:off x="548640" y="4069080"/>
            <a:ext cx="8046720" cy="502920"/>
          </a:xfrm>
          <a:prstGeom prst="rect">
            <a:avLst/>
          </a:prstGeom>
          <a:noFill/>
          <a:ln/>
        </p:spPr>
        <p:txBody>
          <a:bodyPr wrap="square" lIns="0" tIns="0" rIns="0" bIns="0" rtlCol="0" anchor="ctr"/>
          <a:lstStyle/>
          <a:p>
            <a:pPr algn="ctr" indent="0" marL="0">
              <a:buNone/>
            </a:pPr>
            <a:r>
              <a:rPr lang="en-US" sz="900" i="1" dirty="0">
                <a:solidFill>
                  <a:srgbClr val="007A7F"/>
                </a:solidFill>
                <a:latin typeface="Calibri" pitchFamily="34" charset="0"/>
                <a:ea typeface="Calibri" pitchFamily="34" charset="-122"/>
                <a:cs typeface="Calibri" pitchFamily="34" charset="-120"/>
              </a:rPr>
              <a:t>4 types d’infrastructures maîtrisées : routes, VRD, adduction d’eau potable, voirie urbaine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A7F"/>
          </a:solidFill>
          <a:ln/>
        </p:spPr>
      </p:sp>
      <p:sp>
        <p:nvSpPr>
          <p:cNvPr id="3" name="Shape 1"/>
          <p:cNvSpPr/>
          <p:nvPr/>
        </p:nvSpPr>
        <p:spPr>
          <a:xfrm>
            <a:off x="365760" y="164592"/>
            <a:ext cx="777240" cy="347472"/>
          </a:xfrm>
          <a:prstGeom prst="rect">
            <a:avLst/>
          </a:prstGeom>
          <a:solidFill>
            <a:srgbClr val="E0F4F5"/>
          </a:solidFill>
          <a:ln w="10160">
            <a:solidFill>
              <a:srgbClr val="007A7F"/>
            </a:solidFill>
            <a:prstDash val="solid"/>
          </a:ln>
        </p:spPr>
      </p:sp>
      <p:sp>
        <p:nvSpPr>
          <p:cNvPr id="4" name="Text 2"/>
          <p:cNvSpPr/>
          <p:nvPr/>
        </p:nvSpPr>
        <p:spPr>
          <a:xfrm>
            <a:off x="365760" y="164592"/>
            <a:ext cx="777240" cy="347472"/>
          </a:xfrm>
          <a:prstGeom prst="rect">
            <a:avLst/>
          </a:prstGeom>
          <a:noFill/>
          <a:ln/>
        </p:spPr>
        <p:txBody>
          <a:bodyPr wrap="square" lIns="0" tIns="0" rIns="0" bIns="0" rtlCol="0" anchor="ctr"/>
          <a:lstStyle/>
          <a:p>
            <a:pPr algn="ctr" indent="0" marL="0">
              <a:buNone/>
            </a:pPr>
            <a:r>
              <a:rPr lang="en-US" sz="900" b="1" dirty="0">
                <a:solidFill>
                  <a:srgbClr val="007A7F"/>
                </a:solidFill>
                <a:latin typeface="Calibri" pitchFamily="34" charset="0"/>
                <a:ea typeface="Calibri" pitchFamily="34" charset="-122"/>
                <a:cs typeface="Calibri" pitchFamily="34" charset="-120"/>
              </a:rPr>
              <a:t>04 – Bilan</a:t>
            </a:r>
            <a:endParaRPr lang="en-US" sz="900" dirty="0"/>
          </a:p>
        </p:txBody>
      </p:sp>
      <p:sp>
        <p:nvSpPr>
          <p:cNvPr id="5" name="Text 3"/>
          <p:cNvSpPr/>
          <p:nvPr/>
        </p:nvSpPr>
        <p:spPr>
          <a:xfrm>
            <a:off x="365760" y="566928"/>
            <a:ext cx="8412480" cy="411480"/>
          </a:xfrm>
          <a:prstGeom prst="rect">
            <a:avLst/>
          </a:prstGeom>
          <a:noFill/>
          <a:ln/>
        </p:spPr>
        <p:txBody>
          <a:bodyPr wrap="square" lIns="0" tIns="0" rIns="0" bIns="0" rtlCol="0" anchor="ctr"/>
          <a:lstStyle/>
          <a:p>
            <a:pPr indent="0" marL="0">
              <a:buNone/>
            </a:pPr>
            <a:r>
              <a:rPr lang="en-US" sz="1800" b="1" dirty="0">
                <a:solidFill>
                  <a:srgbClr val="1E1E1E"/>
                </a:solidFill>
                <a:latin typeface="Cambria" pitchFamily="34" charset="0"/>
                <a:ea typeface="Cambria" pitchFamily="34" charset="-122"/>
                <a:cs typeface="Cambria" pitchFamily="34" charset="-120"/>
              </a:rPr>
              <a:t>SYNTHÈSE DES COMPÉTENCES BTS MEC</a:t>
            </a:r>
            <a:endParaRPr lang="en-US" sz="1800" dirty="0"/>
          </a:p>
        </p:txBody>
      </p:sp>
      <p:sp>
        <p:nvSpPr>
          <p:cNvPr id="6" name="Text 4"/>
          <p:cNvSpPr/>
          <p:nvPr/>
        </p:nvSpPr>
        <p:spPr>
          <a:xfrm>
            <a:off x="365760" y="932688"/>
            <a:ext cx="8412480" cy="274320"/>
          </a:xfrm>
          <a:prstGeom prst="rect">
            <a:avLst/>
          </a:prstGeom>
          <a:noFill/>
          <a:ln/>
        </p:spPr>
        <p:txBody>
          <a:bodyPr wrap="square" lIns="0" tIns="0" rIns="0" bIns="0" rtlCol="0" anchor="ctr"/>
          <a:lstStyle/>
          <a:p>
            <a:pPr indent="0" marL="0">
              <a:buNone/>
            </a:pPr>
            <a:r>
              <a:rPr lang="en-US" sz="1000" dirty="0">
                <a:solidFill>
                  <a:srgbClr val="666666"/>
                </a:solidFill>
                <a:latin typeface="Calibri" pitchFamily="34" charset="0"/>
                <a:ea typeface="Calibri" pitchFamily="34" charset="-122"/>
                <a:cs typeface="Calibri" pitchFamily="34" charset="-120"/>
              </a:rPr>
              <a:t>Compétences mobilisées sur 5 situations professionnelles</a:t>
            </a:r>
            <a:endParaRPr lang="en-US" sz="1000" dirty="0"/>
          </a:p>
        </p:txBody>
      </p:sp>
      <p:sp>
        <p:nvSpPr>
          <p:cNvPr id="7" name="Text 5"/>
          <p:cNvSpPr/>
          <p:nvPr/>
        </p:nvSpPr>
        <p:spPr>
          <a:xfrm>
            <a:off x="365760" y="4800600"/>
            <a:ext cx="8412480" cy="274320"/>
          </a:xfrm>
          <a:prstGeom prst="rect">
            <a:avLst/>
          </a:prstGeom>
          <a:noFill/>
          <a:ln/>
        </p:spPr>
        <p:txBody>
          <a:bodyPr wrap="square" rtlCol="0" anchor="ctr"/>
          <a:lstStyle/>
          <a:p>
            <a:pPr algn="r" indent="0" marL="0">
              <a:buNone/>
            </a:pPr>
            <a:r>
              <a:rPr lang="en-US" sz="700" dirty="0">
                <a:solidFill>
                  <a:srgbClr val="666666"/>
                </a:solidFill>
                <a:latin typeface="Calibri" pitchFamily="34" charset="0"/>
                <a:ea typeface="Calibri" pitchFamily="34" charset="-122"/>
                <a:cs typeface="Calibri" pitchFamily="34" charset="-120"/>
              </a:rPr>
              <a:t>BAHAFID Mohamed  ·  Rapport U62  ·  BTS MEC 2026  ·  11/15</a:t>
            </a:r>
            <a:endParaRPr lang="en-US" sz="7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8412480" cy="914400"/>
        </p:xfrm>
        <a:graphic>
          <a:graphicData uri="http://schemas.openxmlformats.org/drawingml/2006/table">
            <a:tbl>
              <a:tblPr/>
              <a:tblGrid>
                <a:gridCol w="2743200"/>
                <a:gridCol w="2560320"/>
                <a:gridCol w="548640"/>
                <a:gridCol w="822960"/>
              </a:tblGrid>
              <a:tr h="292608">
                <a:tc>
                  <a:txBody>
                    <a:bodyPr/>
                    <a:lstStyle/>
                    <a:p>
                      <a:pPr indent="0" marL="0">
                        <a:buNone/>
                      </a:pPr>
                      <a:r>
                        <a:rPr lang="en-US" sz="700" b="1" dirty="0">
                          <a:solidFill>
                            <a:srgbClr val="FFFFFF"/>
                          </a:solidFill>
                        </a:rPr>
                        <a:t>Activité</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7A7F"/>
                    </a:solidFill>
                  </a:tcPr>
                </a:tc>
                <a:tc>
                  <a:txBody>
                    <a:bodyPr/>
                    <a:lstStyle/>
                    <a:p>
                      <a:pPr indent="0" marL="0">
                        <a:buNone/>
                      </a:pPr>
                      <a:r>
                        <a:rPr lang="en-US" sz="700" b="1" dirty="0">
                          <a:solidFill>
                            <a:srgbClr val="FFFFFF"/>
                          </a:solidFill>
                        </a:rPr>
                        <a:t>Sous-compétence</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7A7F"/>
                    </a:solidFill>
                  </a:tcPr>
                </a:tc>
                <a:tc>
                  <a:txBody>
                    <a:bodyPr/>
                    <a:lstStyle/>
                    <a:p>
                      <a:pPr algn="ctr" indent="0" marL="0">
                        <a:buNone/>
                      </a:pPr>
                      <a:r>
                        <a:rPr lang="en-US" sz="700" b="1" dirty="0">
                          <a:solidFill>
                            <a:srgbClr val="FFFFFF"/>
                          </a:solidFill>
                        </a:rPr>
                        <a:t>Sit.</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7A7F"/>
                    </a:solidFill>
                  </a:tcPr>
                </a:tc>
                <a:tc>
                  <a:txBody>
                    <a:bodyPr/>
                    <a:lstStyle/>
                    <a:p>
                      <a:pPr algn="ctr" indent="0" marL="0">
                        <a:buNone/>
                      </a:pPr>
                      <a:r>
                        <a:rPr lang="en-US" sz="700" b="1" dirty="0">
                          <a:solidFill>
                            <a:srgbClr val="FFFFFF"/>
                          </a:solidFill>
                        </a:rPr>
                        <a:t>Niveau</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7A7F"/>
                    </a:solidFill>
                  </a:tcPr>
                </a:tc>
              </a:tr>
              <a:tr h="292608">
                <a:tc>
                  <a:txBody>
                    <a:bodyPr/>
                    <a:lstStyle/>
                    <a:p>
                      <a:pPr indent="0" marL="0">
                        <a:buNone/>
                      </a:pPr>
                      <a:r>
                        <a:rPr lang="en-US" sz="700" dirty="0">
                          <a:solidFill>
                            <a:srgbClr val="000000"/>
                          </a:solidFill>
                        </a:rPr>
                        <a:t>Métrés 112 prix, 4 communes</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700" dirty="0">
                          <a:solidFill>
                            <a:srgbClr val="000000"/>
                          </a:solidFill>
                        </a:rPr>
                        <a:t>Réaliser des métrés TCA</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700" dirty="0">
                          <a:solidFill>
                            <a:srgbClr val="000000"/>
                          </a:solidFill>
                        </a:rPr>
                        <a:t>1</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700" b="1" dirty="0">
                          <a:solidFill>
                            <a:srgbClr val="007A7F"/>
                          </a:solidFill>
                        </a:rPr>
                        <a:t>Maîtrise</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92608">
                <a:tc>
                  <a:txBody>
                    <a:bodyPr/>
                    <a:lstStyle/>
                    <a:p>
                      <a:pPr indent="0" marL="0">
                        <a:buNone/>
                      </a:pPr>
                      <a:r>
                        <a:rPr lang="en-US" sz="700" dirty="0">
                          <a:solidFill>
                            <a:srgbClr val="000000"/>
                          </a:solidFill>
                        </a:rPr>
                        <a:t>Estimation 15,8 M DH, 3 sources</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700" dirty="0">
                          <a:solidFill>
                            <a:srgbClr val="000000"/>
                          </a:solidFill>
                        </a:rPr>
                        <a:t>Estimer un ouvrage en AO</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700" dirty="0">
                          <a:solidFill>
                            <a:srgbClr val="000000"/>
                          </a:solidFill>
                        </a:rPr>
                        <a:t>1</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700" b="1" dirty="0">
                          <a:solidFill>
                            <a:srgbClr val="007A7F"/>
                          </a:solidFill>
                        </a:rPr>
                        <a:t>Maîtrise</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92608">
                <a:tc>
                  <a:txBody>
                    <a:bodyPr/>
                    <a:lstStyle/>
                    <a:p>
                      <a:pPr indent="0" marL="0">
                        <a:buNone/>
                      </a:pPr>
                      <a:r>
                        <a:rPr lang="en-US" sz="700" dirty="0">
                          <a:solidFill>
                            <a:srgbClr val="000000"/>
                          </a:solidFill>
                        </a:rPr>
                        <a:t>Analyse 3 offres, grille /100</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700" dirty="0">
                          <a:solidFill>
                            <a:srgbClr val="000000"/>
                          </a:solidFill>
                        </a:rPr>
                        <a:t>Analyser les offres en commission</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700" dirty="0">
                          <a:solidFill>
                            <a:srgbClr val="000000"/>
                          </a:solidFill>
                        </a:rPr>
                        <a:t>2</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700" b="1" dirty="0">
                          <a:solidFill>
                            <a:srgbClr val="007A7F"/>
                          </a:solidFill>
                        </a:rPr>
                        <a:t>Maîtrise</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92608">
                <a:tc>
                  <a:txBody>
                    <a:bodyPr/>
                    <a:lstStyle/>
                    <a:p>
                      <a:pPr indent="0" marL="0">
                        <a:buNone/>
                      </a:pPr>
                      <a:r>
                        <a:rPr lang="en-US" sz="700" dirty="0">
                          <a:solidFill>
                            <a:srgbClr val="000000"/>
                          </a:solidFill>
                        </a:rPr>
                        <a:t>TdB hebdo, compensation</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700" dirty="0">
                          <a:solidFill>
                            <a:srgbClr val="000000"/>
                          </a:solidFill>
                        </a:rPr>
                        <a:t>Suivre l’exécution financière</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700" dirty="0">
                          <a:solidFill>
                            <a:srgbClr val="000000"/>
                          </a:solidFill>
                        </a:rPr>
                        <a:t>3</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700" b="1" dirty="0">
                          <a:solidFill>
                            <a:srgbClr val="16A34A"/>
                          </a:solidFill>
                        </a:rPr>
                        <a:t>Expert</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92608">
                <a:tc>
                  <a:txBody>
                    <a:bodyPr/>
                    <a:lstStyle/>
                    <a:p>
                      <a:pPr indent="0" marL="0">
                        <a:buNone/>
                      </a:pPr>
                      <a:r>
                        <a:rPr lang="en-US" sz="700" dirty="0">
                          <a:solidFill>
                            <a:srgbClr val="000000"/>
                          </a:solidFill>
                        </a:rPr>
                        <a:t>Contrôle cubatures GPS</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700" dirty="0">
                          <a:solidFill>
                            <a:srgbClr val="000000"/>
                          </a:solidFill>
                        </a:rPr>
                        <a:t>Vérifier les quantités</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700" dirty="0">
                          <a:solidFill>
                            <a:srgbClr val="000000"/>
                          </a:solidFill>
                        </a:rPr>
                        <a:t>5</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700" b="1" dirty="0">
                          <a:solidFill>
                            <a:srgbClr val="16A34A"/>
                          </a:solidFill>
                        </a:rPr>
                        <a:t>Expert</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92608">
                <a:tc>
                  <a:txBody>
                    <a:bodyPr/>
                    <a:lstStyle/>
                    <a:p>
                      <a:pPr indent="0" marL="0">
                        <a:buNone/>
                      </a:pPr>
                      <a:r>
                        <a:rPr lang="en-US" sz="700" dirty="0">
                          <a:solidFill>
                            <a:srgbClr val="000000"/>
                          </a:solidFill>
                        </a:rPr>
                        <a:t>CR, OS, notes factuelles</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700" dirty="0">
                          <a:solidFill>
                            <a:srgbClr val="000000"/>
                          </a:solidFill>
                        </a:rPr>
                        <a:t>Communiquer par écrit</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700" dirty="0">
                          <a:solidFill>
                            <a:srgbClr val="000000"/>
                          </a:solidFill>
                        </a:rPr>
                        <a:t>4</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700" b="1" dirty="0">
                          <a:solidFill>
                            <a:srgbClr val="007A7F"/>
                          </a:solidFill>
                        </a:rPr>
                        <a:t>Maîtrise</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92608">
                <a:tc>
                  <a:txBody>
                    <a:bodyPr/>
                    <a:lstStyle/>
                    <a:p>
                      <a:pPr indent="0" marL="0">
                        <a:buNone/>
                      </a:pPr>
                      <a:r>
                        <a:rPr lang="en-US" sz="700" dirty="0">
                          <a:solidFill>
                            <a:srgbClr val="000000"/>
                          </a:solidFill>
                        </a:rPr>
                        <a:t>Réunions, points quotidiens, CAO</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700" dirty="0">
                          <a:solidFill>
                            <a:srgbClr val="000000"/>
                          </a:solidFill>
                        </a:rPr>
                        <a:t>Communiquer oralement</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700" dirty="0">
                          <a:solidFill>
                            <a:srgbClr val="000000"/>
                          </a:solidFill>
                        </a:rPr>
                        <a:t>2,4</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700" b="1" dirty="0">
                          <a:solidFill>
                            <a:srgbClr val="007A7F"/>
                          </a:solidFill>
                        </a:rPr>
                        <a:t>Maîtrise</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92608">
                <a:tc>
                  <a:txBody>
                    <a:bodyPr/>
                    <a:lstStyle/>
                    <a:p>
                      <a:pPr indent="0" marL="0">
                        <a:buNone/>
                      </a:pPr>
                      <a:r>
                        <a:rPr lang="en-US" sz="700" dirty="0">
                          <a:solidFill>
                            <a:srgbClr val="000000"/>
                          </a:solidFill>
                        </a:rPr>
                        <a:t>Convention BIM, export IFC, 78 postes</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700" dirty="0">
                          <a:solidFill>
                            <a:srgbClr val="000000"/>
                          </a:solidFill>
                        </a:rPr>
                        <a:t>Collaborer en BIM (Open BIM)</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700" dirty="0">
                          <a:solidFill>
                            <a:srgbClr val="000000"/>
                          </a:solidFill>
                        </a:rPr>
                        <a:t>BIM</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700" b="1" dirty="0">
                          <a:solidFill>
                            <a:srgbClr val="007A7F"/>
                          </a:solidFill>
                        </a:rPr>
                        <a:t>Maîtrise</a:t>
                      </a:r>
                      <a:endParaRPr lang="en-US" sz="7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graphicFrame>
        <p:nvGraphicFramePr>
          <p:cNvPr id="9" name="Chart 0" descr=""/>
          <p:cNvGraphicFramePr/>
          <p:nvPr/>
        </p:nvGraphicFramePr>
        <p:xfrm>
          <a:off x="5029200" y="3108960"/>
          <a:ext cx="3749040" cy="18288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A7F"/>
          </a:solidFill>
          <a:ln/>
        </p:spPr>
      </p:sp>
      <p:sp>
        <p:nvSpPr>
          <p:cNvPr id="3" name="Shape 1"/>
          <p:cNvSpPr/>
          <p:nvPr/>
        </p:nvSpPr>
        <p:spPr>
          <a:xfrm>
            <a:off x="365760" y="164592"/>
            <a:ext cx="777240" cy="347472"/>
          </a:xfrm>
          <a:prstGeom prst="rect">
            <a:avLst/>
          </a:prstGeom>
          <a:solidFill>
            <a:srgbClr val="E0F4F5"/>
          </a:solidFill>
          <a:ln w="10160">
            <a:solidFill>
              <a:srgbClr val="007A7F"/>
            </a:solidFill>
            <a:prstDash val="solid"/>
          </a:ln>
        </p:spPr>
      </p:sp>
      <p:sp>
        <p:nvSpPr>
          <p:cNvPr id="4" name="Text 2"/>
          <p:cNvSpPr/>
          <p:nvPr/>
        </p:nvSpPr>
        <p:spPr>
          <a:xfrm>
            <a:off x="365760" y="164592"/>
            <a:ext cx="777240" cy="347472"/>
          </a:xfrm>
          <a:prstGeom prst="rect">
            <a:avLst/>
          </a:prstGeom>
          <a:noFill/>
          <a:ln/>
        </p:spPr>
        <p:txBody>
          <a:bodyPr wrap="square" lIns="0" tIns="0" rIns="0" bIns="0" rtlCol="0" anchor="ctr"/>
          <a:lstStyle/>
          <a:p>
            <a:pPr algn="ctr" indent="0" marL="0">
              <a:buNone/>
            </a:pPr>
            <a:r>
              <a:rPr lang="en-US" sz="900" b="1" dirty="0">
                <a:solidFill>
                  <a:srgbClr val="007A7F"/>
                </a:solidFill>
                <a:latin typeface="Calibri" pitchFamily="34" charset="0"/>
                <a:ea typeface="Calibri" pitchFamily="34" charset="-122"/>
                <a:cs typeface="Calibri" pitchFamily="34" charset="-120"/>
              </a:rPr>
              <a:t>04 – Analyse</a:t>
            </a:r>
            <a:endParaRPr lang="en-US" sz="900" dirty="0"/>
          </a:p>
        </p:txBody>
      </p:sp>
      <p:sp>
        <p:nvSpPr>
          <p:cNvPr id="5" name="Text 3"/>
          <p:cNvSpPr/>
          <p:nvPr/>
        </p:nvSpPr>
        <p:spPr>
          <a:xfrm>
            <a:off x="365760" y="566928"/>
            <a:ext cx="8412480" cy="411480"/>
          </a:xfrm>
          <a:prstGeom prst="rect">
            <a:avLst/>
          </a:prstGeom>
          <a:noFill/>
          <a:ln/>
        </p:spPr>
        <p:txBody>
          <a:bodyPr wrap="square" lIns="0" tIns="0" rIns="0" bIns="0" rtlCol="0" anchor="ctr"/>
          <a:lstStyle/>
          <a:p>
            <a:pPr indent="0" marL="0">
              <a:buNone/>
            </a:pPr>
            <a:r>
              <a:rPr lang="en-US" sz="1800" b="1" dirty="0">
                <a:solidFill>
                  <a:srgbClr val="1E1E1E"/>
                </a:solidFill>
                <a:latin typeface="Cambria" pitchFamily="34" charset="0"/>
                <a:ea typeface="Cambria" pitchFamily="34" charset="-122"/>
                <a:cs typeface="Cambria" pitchFamily="34" charset="-120"/>
              </a:rPr>
              <a:t>ANALYSE COMPARATIVE MAROC / FRANCE</a:t>
            </a:r>
            <a:endParaRPr lang="en-US" sz="1800" dirty="0"/>
          </a:p>
        </p:txBody>
      </p:sp>
      <p:sp>
        <p:nvSpPr>
          <p:cNvPr id="6" name="Text 4"/>
          <p:cNvSpPr/>
          <p:nvPr/>
        </p:nvSpPr>
        <p:spPr>
          <a:xfrm>
            <a:off x="365760" y="932688"/>
            <a:ext cx="8412480" cy="274320"/>
          </a:xfrm>
          <a:prstGeom prst="rect">
            <a:avLst/>
          </a:prstGeom>
          <a:noFill/>
          <a:ln/>
        </p:spPr>
        <p:txBody>
          <a:bodyPr wrap="square" lIns="0" tIns="0" rIns="0" bIns="0" rtlCol="0" anchor="ctr"/>
          <a:lstStyle/>
          <a:p>
            <a:pPr indent="0" marL="0">
              <a:buNone/>
            </a:pPr>
            <a:r>
              <a:rPr lang="en-US" sz="1000" dirty="0">
                <a:solidFill>
                  <a:srgbClr val="666666"/>
                </a:solidFill>
                <a:latin typeface="Calibri" pitchFamily="34" charset="0"/>
                <a:ea typeface="Calibri" pitchFamily="34" charset="-122"/>
                <a:cs typeface="Calibri" pitchFamily="34" charset="-120"/>
              </a:rPr>
              <a:t>Mêmes fondamentaux – deux cadres réglementaires – une seule exigence : la rigueur</a:t>
            </a:r>
            <a:endParaRPr lang="en-US" sz="1000" dirty="0"/>
          </a:p>
        </p:txBody>
      </p:sp>
      <p:sp>
        <p:nvSpPr>
          <p:cNvPr id="7" name="Text 5"/>
          <p:cNvSpPr/>
          <p:nvPr/>
        </p:nvSpPr>
        <p:spPr>
          <a:xfrm>
            <a:off x="365760" y="4800600"/>
            <a:ext cx="8412480" cy="274320"/>
          </a:xfrm>
          <a:prstGeom prst="rect">
            <a:avLst/>
          </a:prstGeom>
          <a:noFill/>
          <a:ln/>
        </p:spPr>
        <p:txBody>
          <a:bodyPr wrap="square" rtlCol="0" anchor="ctr"/>
          <a:lstStyle/>
          <a:p>
            <a:pPr algn="r" indent="0" marL="0">
              <a:buNone/>
            </a:pPr>
            <a:r>
              <a:rPr lang="en-US" sz="700" dirty="0">
                <a:solidFill>
                  <a:srgbClr val="666666"/>
                </a:solidFill>
                <a:latin typeface="Calibri" pitchFamily="34" charset="0"/>
                <a:ea typeface="Calibri" pitchFamily="34" charset="-122"/>
                <a:cs typeface="Calibri" pitchFamily="34" charset="-120"/>
              </a:rPr>
              <a:t>BAHAFID Mohamed  ·  Rapport U62  ·  BTS MEC 2026  ·  12/15</a:t>
            </a:r>
            <a:endParaRPr lang="en-US" sz="7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8412480" cy="914400"/>
        </p:xfrm>
        <a:graphic>
          <a:graphicData uri="http://schemas.openxmlformats.org/drawingml/2006/table">
            <a:tbl>
              <a:tblPr/>
              <a:tblGrid>
                <a:gridCol w="1645920"/>
                <a:gridCol w="3383280"/>
                <a:gridCol w="3383280"/>
              </a:tblGrid>
              <a:tr h="320040">
                <a:tc>
                  <a:txBody>
                    <a:bodyPr/>
                    <a:lstStyle/>
                    <a:p>
                      <a:pPr indent="0" marL="0">
                        <a:buNone/>
                      </a:pPr>
                      <a:r>
                        <a:rPr lang="en-US" sz="800" b="1" dirty="0">
                          <a:solidFill>
                            <a:srgbClr val="FFFFFF"/>
                          </a:solidFill>
                        </a:rPr>
                        <a:t>Aspect</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7A7F"/>
                    </a:solidFill>
                  </a:tcPr>
                </a:tc>
                <a:tc>
                  <a:txBody>
                    <a:bodyPr/>
                    <a:lstStyle/>
                    <a:p>
                      <a:pPr algn="ctr" indent="0" marL="0">
                        <a:buNone/>
                      </a:pPr>
                      <a:r>
                        <a:rPr lang="en-US" sz="800" b="1" dirty="0">
                          <a:solidFill>
                            <a:srgbClr val="FFFFFF"/>
                          </a:solidFill>
                        </a:rPr>
                        <a:t>Maroc</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7A7F"/>
                    </a:solidFill>
                  </a:tcPr>
                </a:tc>
                <a:tc>
                  <a:txBody>
                    <a:bodyPr/>
                    <a:lstStyle/>
                    <a:p>
                      <a:pPr algn="ctr" indent="0" marL="0">
                        <a:buNone/>
                      </a:pPr>
                      <a:r>
                        <a:rPr lang="en-US" sz="800" b="1" dirty="0">
                          <a:solidFill>
                            <a:srgbClr val="FFFFFF"/>
                          </a:solidFill>
                        </a:rPr>
                        <a:t>France</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7A7F"/>
                    </a:solidFill>
                  </a:tcPr>
                </a:tc>
              </a:tr>
              <a:tr h="320040">
                <a:tc>
                  <a:txBody>
                    <a:bodyPr/>
                    <a:lstStyle/>
                    <a:p>
                      <a:pPr indent="0" marL="0">
                        <a:buNone/>
                      </a:pPr>
                      <a:r>
                        <a:rPr lang="en-US" sz="800" b="1" dirty="0">
                          <a:solidFill>
                            <a:srgbClr val="000000"/>
                          </a:solidFill>
                        </a:rPr>
                        <a:t>Réglementation</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00" dirty="0">
                          <a:solidFill>
                            <a:srgbClr val="000000"/>
                          </a:solidFill>
                        </a:rPr>
                        <a:t>Décret n°2-12-349</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00" dirty="0">
                          <a:solidFill>
                            <a:srgbClr val="000000"/>
                          </a:solidFill>
                        </a:rPr>
                        <a:t>Code commande publique</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20040">
                <a:tc>
                  <a:txBody>
                    <a:bodyPr/>
                    <a:lstStyle/>
                    <a:p>
                      <a:pPr indent="0" marL="0">
                        <a:buNone/>
                      </a:pPr>
                      <a:r>
                        <a:rPr lang="en-US" sz="800" b="1" dirty="0">
                          <a:solidFill>
                            <a:srgbClr val="000000"/>
                          </a:solidFill>
                        </a:rPr>
                        <a:t>Pièces marché</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00" dirty="0">
                          <a:solidFill>
                            <a:srgbClr val="000000"/>
                          </a:solidFill>
                        </a:rPr>
                        <a:t>CPS + RC + BPDE</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00" dirty="0">
                          <a:solidFill>
                            <a:srgbClr val="000000"/>
                          </a:solidFill>
                        </a:rPr>
                        <a:t>CCAP + CCTP + BPU/DQE</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20040">
                <a:tc>
                  <a:txBody>
                    <a:bodyPr/>
                    <a:lstStyle/>
                    <a:p>
                      <a:pPr indent="0" marL="0">
                        <a:buNone/>
                      </a:pPr>
                      <a:r>
                        <a:rPr lang="en-US" sz="800" b="1" dirty="0">
                          <a:solidFill>
                            <a:srgbClr val="000000"/>
                          </a:solidFill>
                        </a:rPr>
                        <a:t>Estimation</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00" dirty="0">
                          <a:solidFill>
                            <a:srgbClr val="000000"/>
                          </a:solidFill>
                        </a:rPr>
                        <a:t>Confidentielle obligatoire</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00" dirty="0">
                          <a:solidFill>
                            <a:srgbClr val="000000"/>
                          </a:solidFill>
                        </a:rPr>
                        <a:t>Estimation MOA</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20040">
                <a:tc>
                  <a:txBody>
                    <a:bodyPr/>
                    <a:lstStyle/>
                    <a:p>
                      <a:pPr indent="0" marL="0">
                        <a:buNone/>
                      </a:pPr>
                      <a:r>
                        <a:rPr lang="en-US" sz="800" b="1" dirty="0">
                          <a:solidFill>
                            <a:srgbClr val="000000"/>
                          </a:solidFill>
                        </a:rPr>
                        <a:t>Normes</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00" dirty="0">
                          <a:solidFill>
                            <a:srgbClr val="000000"/>
                          </a:solidFill>
                        </a:rPr>
                        <a:t>Normes marocaines, RPS 2000</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00" dirty="0">
                          <a:solidFill>
                            <a:srgbClr val="000000"/>
                          </a:solidFill>
                        </a:rPr>
                        <a:t>DTU, Eurocodes, RE2020</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20040">
                <a:tc>
                  <a:txBody>
                    <a:bodyPr/>
                    <a:lstStyle/>
                    <a:p>
                      <a:pPr indent="0" marL="0">
                        <a:buNone/>
                      </a:pPr>
                      <a:r>
                        <a:rPr lang="en-US" sz="800" b="1" dirty="0">
                          <a:solidFill>
                            <a:srgbClr val="000000"/>
                          </a:solidFill>
                        </a:rPr>
                        <a:t>Suivi financier</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00" dirty="0">
                          <a:solidFill>
                            <a:srgbClr val="000000"/>
                          </a:solidFill>
                        </a:rPr>
                        <a:t>Attachements contradictoires</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00" dirty="0">
                          <a:solidFill>
                            <a:srgbClr val="000000"/>
                          </a:solidFill>
                        </a:rPr>
                        <a:t>Situations mensuelles</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20040">
                <a:tc>
                  <a:txBody>
                    <a:bodyPr/>
                    <a:lstStyle/>
                    <a:p>
                      <a:pPr indent="0" marL="0">
                        <a:buNone/>
                      </a:pPr>
                      <a:r>
                        <a:rPr lang="en-US" sz="800" b="1" dirty="0">
                          <a:solidFill>
                            <a:srgbClr val="000000"/>
                          </a:solidFill>
                        </a:rPr>
                        <a:t>Commission</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00" dirty="0">
                          <a:solidFill>
                            <a:srgbClr val="000000"/>
                          </a:solidFill>
                        </a:rPr>
                        <a:t>CAO (Commission AO)</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00" dirty="0">
                          <a:solidFill>
                            <a:srgbClr val="000000"/>
                          </a:solidFill>
                        </a:rPr>
                        <a:t>Commission d’Appel d’Offres</a:t>
                      </a:r>
                      <a:endParaRPr lang="en-US" sz="8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9" name="Shape 6"/>
          <p:cNvSpPr/>
          <p:nvPr/>
        </p:nvSpPr>
        <p:spPr>
          <a:xfrm>
            <a:off x="365760" y="3611880"/>
            <a:ext cx="3931920" cy="1097280"/>
          </a:xfrm>
          <a:prstGeom prst="rect">
            <a:avLst/>
          </a:prstGeom>
          <a:solidFill>
            <a:srgbClr val="FFFFFF"/>
          </a:solidFill>
          <a:ln/>
          <a:effectLst>
            <a:outerShdw sx="100000" sy="100000" kx="0" ky="0" algn="bl" rotWithShape="0" blurRad="50800" dist="19050" dir="8100000">
              <a:srgbClr val="000000">
                <a:alpha val="10000"/>
              </a:srgbClr>
            </a:outerShdw>
          </a:effectLst>
        </p:spPr>
      </p:sp>
      <p:sp>
        <p:nvSpPr>
          <p:cNvPr id="10" name="Shape 7"/>
          <p:cNvSpPr/>
          <p:nvPr/>
        </p:nvSpPr>
        <p:spPr>
          <a:xfrm>
            <a:off x="365760" y="3611880"/>
            <a:ext cx="54864" cy="1097280"/>
          </a:xfrm>
          <a:prstGeom prst="rect">
            <a:avLst/>
          </a:prstGeom>
          <a:solidFill>
            <a:srgbClr val="007A7F"/>
          </a:solidFill>
          <a:ln/>
        </p:spPr>
      </p:sp>
      <p:sp>
        <p:nvSpPr>
          <p:cNvPr id="11" name="Text 8"/>
          <p:cNvSpPr/>
          <p:nvPr/>
        </p:nvSpPr>
        <p:spPr>
          <a:xfrm>
            <a:off x="594360" y="3657600"/>
            <a:ext cx="3520440" cy="960120"/>
          </a:xfrm>
          <a:prstGeom prst="rect">
            <a:avLst/>
          </a:prstGeom>
          <a:noFill/>
          <a:ln/>
        </p:spPr>
        <p:txBody>
          <a:bodyPr wrap="square" lIns="0" tIns="0" rIns="0" bIns="0" rtlCol="0" anchor="ctr"/>
          <a:lstStyle/>
          <a:p>
            <a:pPr indent="0" marL="0">
              <a:buNone/>
            </a:pPr>
            <a:r>
              <a:rPr lang="en-US" sz="900" b="1" dirty="0">
                <a:solidFill>
                  <a:srgbClr val="007A7F"/>
                </a:solidFill>
                <a:latin typeface="Calibri" pitchFamily="34" charset="0"/>
                <a:ea typeface="Calibri" pitchFamily="34" charset="-122"/>
                <a:cs typeface="Calibri" pitchFamily="34" charset="-120"/>
              </a:rPr>
              <a:t>Côté MOA – Maroc</a:t>
            </a:r>
            <a:endParaRPr lang="en-US" sz="900" dirty="0"/>
          </a:p>
          <a:p>
            <a:pPr indent="0" marL="0">
              <a:buNone/>
            </a:pPr>
            <a:r>
              <a:rPr lang="en-US" sz="800" dirty="0">
                <a:solidFill>
                  <a:srgbClr val="333333"/>
                </a:solidFill>
                <a:latin typeface="Calibri" pitchFamily="34" charset="0"/>
                <a:ea typeface="Calibri" pitchFamily="34" charset="-122"/>
                <a:cs typeface="Calibri" pitchFamily="34" charset="-120"/>
              </a:rPr>
              <a:t>Concevoir les marchés, rédiger CPS/RC/BPDE, piloter la CAO, analyser les offres. 7 marchés, 100 M DH.</a:t>
            </a:r>
            <a:endParaRPr lang="en-US" sz="900" dirty="0"/>
          </a:p>
        </p:txBody>
      </p:sp>
      <p:sp>
        <p:nvSpPr>
          <p:cNvPr id="12" name="Shape 9"/>
          <p:cNvSpPr/>
          <p:nvPr/>
        </p:nvSpPr>
        <p:spPr>
          <a:xfrm>
            <a:off x="4846320" y="3611880"/>
            <a:ext cx="3931920" cy="1097280"/>
          </a:xfrm>
          <a:prstGeom prst="rect">
            <a:avLst/>
          </a:prstGeom>
          <a:solidFill>
            <a:srgbClr val="FFFFFF"/>
          </a:solidFill>
          <a:ln/>
          <a:effectLst>
            <a:outerShdw sx="100000" sy="100000" kx="0" ky="0" algn="bl" rotWithShape="0" blurRad="50800" dist="19050" dir="8100000">
              <a:srgbClr val="000000">
                <a:alpha val="10000"/>
              </a:srgbClr>
            </a:outerShdw>
          </a:effectLst>
        </p:spPr>
      </p:sp>
      <p:sp>
        <p:nvSpPr>
          <p:cNvPr id="13" name="Shape 10"/>
          <p:cNvSpPr/>
          <p:nvPr/>
        </p:nvSpPr>
        <p:spPr>
          <a:xfrm>
            <a:off x="4846320" y="3611880"/>
            <a:ext cx="54864" cy="1097280"/>
          </a:xfrm>
          <a:prstGeom prst="rect">
            <a:avLst/>
          </a:prstGeom>
          <a:solidFill>
            <a:srgbClr val="D97706"/>
          </a:solidFill>
          <a:ln/>
        </p:spPr>
      </p:sp>
      <p:sp>
        <p:nvSpPr>
          <p:cNvPr id="14" name="Text 11"/>
          <p:cNvSpPr/>
          <p:nvPr/>
        </p:nvSpPr>
        <p:spPr>
          <a:xfrm>
            <a:off x="5074920" y="3657600"/>
            <a:ext cx="3520440" cy="960120"/>
          </a:xfrm>
          <a:prstGeom prst="rect">
            <a:avLst/>
          </a:prstGeom>
          <a:noFill/>
          <a:ln/>
        </p:spPr>
        <p:txBody>
          <a:bodyPr wrap="square" lIns="0" tIns="0" rIns="0" bIns="0" rtlCol="0" anchor="ctr"/>
          <a:lstStyle/>
          <a:p>
            <a:pPr indent="0" marL="0">
              <a:buNone/>
            </a:pPr>
            <a:r>
              <a:rPr lang="en-US" sz="900" b="1" dirty="0">
                <a:solidFill>
                  <a:srgbClr val="D97706"/>
                </a:solidFill>
                <a:latin typeface="Calibri" pitchFamily="34" charset="0"/>
                <a:ea typeface="Calibri" pitchFamily="34" charset="-122"/>
                <a:cs typeface="Calibri" pitchFamily="34" charset="-120"/>
              </a:rPr>
              <a:t>Côté exécution – France</a:t>
            </a:r>
            <a:endParaRPr lang="en-US" sz="900" dirty="0"/>
          </a:p>
          <a:p>
            <a:pPr indent="0" marL="0">
              <a:buNone/>
            </a:pPr>
            <a:r>
              <a:rPr lang="en-US" sz="800" dirty="0">
                <a:solidFill>
                  <a:srgbClr val="333333"/>
                </a:solidFill>
                <a:latin typeface="Calibri" pitchFamily="34" charset="0"/>
                <a:ea typeface="Calibri" pitchFamily="34" charset="-122"/>
                <a:cs typeface="Calibri" pitchFamily="34" charset="-120"/>
              </a:rPr>
              <a:t>Banches, ferraillage, planning, contrôle qualité. Coûts réels, rendements, contraintes terrain.</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A7F"/>
          </a:solidFill>
          <a:ln/>
        </p:spPr>
      </p:sp>
      <p:sp>
        <p:nvSpPr>
          <p:cNvPr id="3" name="Shape 1"/>
          <p:cNvSpPr/>
          <p:nvPr/>
        </p:nvSpPr>
        <p:spPr>
          <a:xfrm>
            <a:off x="365760" y="164592"/>
            <a:ext cx="777240" cy="347472"/>
          </a:xfrm>
          <a:prstGeom prst="rect">
            <a:avLst/>
          </a:prstGeom>
          <a:solidFill>
            <a:srgbClr val="E0F4F5"/>
          </a:solidFill>
          <a:ln w="10160">
            <a:solidFill>
              <a:srgbClr val="007A7F"/>
            </a:solidFill>
            <a:prstDash val="solid"/>
          </a:ln>
        </p:spPr>
      </p:sp>
      <p:sp>
        <p:nvSpPr>
          <p:cNvPr id="4" name="Text 2"/>
          <p:cNvSpPr/>
          <p:nvPr/>
        </p:nvSpPr>
        <p:spPr>
          <a:xfrm>
            <a:off x="365760" y="164592"/>
            <a:ext cx="777240" cy="347472"/>
          </a:xfrm>
          <a:prstGeom prst="rect">
            <a:avLst/>
          </a:prstGeom>
          <a:noFill/>
          <a:ln/>
        </p:spPr>
        <p:txBody>
          <a:bodyPr wrap="square" lIns="0" tIns="0" rIns="0" bIns="0" rtlCol="0" anchor="ctr"/>
          <a:lstStyle/>
          <a:p>
            <a:pPr algn="ctr" indent="0" marL="0">
              <a:buNone/>
            </a:pPr>
            <a:r>
              <a:rPr lang="en-US" sz="900" b="1" dirty="0">
                <a:solidFill>
                  <a:srgbClr val="007A7F"/>
                </a:solidFill>
                <a:latin typeface="Calibri" pitchFamily="34" charset="0"/>
                <a:ea typeface="Calibri" pitchFamily="34" charset="-122"/>
                <a:cs typeface="Calibri" pitchFamily="34" charset="-120"/>
              </a:rPr>
              <a:t>04 – Réflexif</a:t>
            </a:r>
            <a:endParaRPr lang="en-US" sz="900" dirty="0"/>
          </a:p>
        </p:txBody>
      </p:sp>
      <p:sp>
        <p:nvSpPr>
          <p:cNvPr id="5" name="Text 3"/>
          <p:cNvSpPr/>
          <p:nvPr/>
        </p:nvSpPr>
        <p:spPr>
          <a:xfrm>
            <a:off x="365760" y="566928"/>
            <a:ext cx="8412480" cy="411480"/>
          </a:xfrm>
          <a:prstGeom prst="rect">
            <a:avLst/>
          </a:prstGeom>
          <a:noFill/>
          <a:ln/>
        </p:spPr>
        <p:txBody>
          <a:bodyPr wrap="square" lIns="0" tIns="0" rIns="0" bIns="0" rtlCol="0" anchor="ctr"/>
          <a:lstStyle/>
          <a:p>
            <a:pPr indent="0" marL="0">
              <a:buNone/>
            </a:pPr>
            <a:r>
              <a:rPr lang="en-US" sz="1800" b="1" dirty="0">
                <a:solidFill>
                  <a:srgbClr val="1E1E1E"/>
                </a:solidFill>
                <a:latin typeface="Cambria" pitchFamily="34" charset="0"/>
                <a:ea typeface="Cambria" pitchFamily="34" charset="-122"/>
                <a:cs typeface="Cambria" pitchFamily="34" charset="-120"/>
              </a:rPr>
              <a:t>BILAN RÉFLEXIF</a:t>
            </a:r>
            <a:endParaRPr lang="en-US" sz="1800" dirty="0"/>
          </a:p>
        </p:txBody>
      </p:sp>
      <p:sp>
        <p:nvSpPr>
          <p:cNvPr id="6" name="Text 4"/>
          <p:cNvSpPr/>
          <p:nvPr/>
        </p:nvSpPr>
        <p:spPr>
          <a:xfrm>
            <a:off x="365760" y="932688"/>
            <a:ext cx="8412480" cy="274320"/>
          </a:xfrm>
          <a:prstGeom prst="rect">
            <a:avLst/>
          </a:prstGeom>
          <a:noFill/>
          <a:ln/>
        </p:spPr>
        <p:txBody>
          <a:bodyPr wrap="square" lIns="0" tIns="0" rIns="0" bIns="0" rtlCol="0" anchor="ctr"/>
          <a:lstStyle/>
          <a:p>
            <a:pPr indent="0" marL="0">
              <a:buNone/>
            </a:pPr>
            <a:r>
              <a:rPr lang="en-US" sz="1000" dirty="0">
                <a:solidFill>
                  <a:srgbClr val="666666"/>
                </a:solidFill>
                <a:latin typeface="Calibri" pitchFamily="34" charset="0"/>
                <a:ea typeface="Calibri" pitchFamily="34" charset="-122"/>
                <a:cs typeface="Calibri" pitchFamily="34" charset="-120"/>
              </a:rPr>
              <a:t>Ce que le terrain m’a appris – 8 ans de pratique</a:t>
            </a:r>
            <a:endParaRPr lang="en-US" sz="1000" dirty="0"/>
          </a:p>
        </p:txBody>
      </p:sp>
      <p:sp>
        <p:nvSpPr>
          <p:cNvPr id="7" name="Text 5"/>
          <p:cNvSpPr/>
          <p:nvPr/>
        </p:nvSpPr>
        <p:spPr>
          <a:xfrm>
            <a:off x="365760" y="4800600"/>
            <a:ext cx="8412480" cy="274320"/>
          </a:xfrm>
          <a:prstGeom prst="rect">
            <a:avLst/>
          </a:prstGeom>
          <a:noFill/>
          <a:ln/>
        </p:spPr>
        <p:txBody>
          <a:bodyPr wrap="square" rtlCol="0" anchor="ctr"/>
          <a:lstStyle/>
          <a:p>
            <a:pPr algn="r" indent="0" marL="0">
              <a:buNone/>
            </a:pPr>
            <a:r>
              <a:rPr lang="en-US" sz="700" dirty="0">
                <a:solidFill>
                  <a:srgbClr val="666666"/>
                </a:solidFill>
                <a:latin typeface="Calibri" pitchFamily="34" charset="0"/>
                <a:ea typeface="Calibri" pitchFamily="34" charset="-122"/>
                <a:cs typeface="Calibri" pitchFamily="34" charset="-120"/>
              </a:rPr>
              <a:t>BAHAFID Mohamed  ·  Rapport U62  ·  BTS MEC 2026  ·  13/15</a:t>
            </a:r>
            <a:endParaRPr lang="en-US" sz="700" dirty="0"/>
          </a:p>
        </p:txBody>
      </p:sp>
      <p:sp>
        <p:nvSpPr>
          <p:cNvPr id="8" name="Shape 6"/>
          <p:cNvSpPr/>
          <p:nvPr/>
        </p:nvSpPr>
        <p:spPr>
          <a:xfrm>
            <a:off x="365760" y="1280160"/>
            <a:ext cx="8412480" cy="1051560"/>
          </a:xfrm>
          <a:prstGeom prst="rect">
            <a:avLst/>
          </a:prstGeom>
          <a:solidFill>
            <a:srgbClr val="FFFFFF"/>
          </a:solidFill>
          <a:ln/>
          <a:effectLst>
            <a:outerShdw sx="100000" sy="100000" kx="0" ky="0" algn="bl" rotWithShape="0" blurRad="50800" dist="19050" dir="8100000">
              <a:srgbClr val="000000">
                <a:alpha val="10000"/>
              </a:srgbClr>
            </a:outerShdw>
          </a:effectLst>
        </p:spPr>
      </p:sp>
      <p:sp>
        <p:nvSpPr>
          <p:cNvPr id="9" name="Shape 7"/>
          <p:cNvSpPr/>
          <p:nvPr/>
        </p:nvSpPr>
        <p:spPr>
          <a:xfrm>
            <a:off x="502920" y="1389888"/>
            <a:ext cx="320040" cy="320040"/>
          </a:xfrm>
          <a:prstGeom prst="ellipse">
            <a:avLst/>
          </a:prstGeom>
          <a:solidFill>
            <a:srgbClr val="007A7F"/>
          </a:solidFill>
          <a:ln/>
        </p:spPr>
      </p:sp>
      <p:sp>
        <p:nvSpPr>
          <p:cNvPr id="10" name="Text 8"/>
          <p:cNvSpPr/>
          <p:nvPr/>
        </p:nvSpPr>
        <p:spPr>
          <a:xfrm>
            <a:off x="502920" y="1389888"/>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a:t>
            </a:r>
            <a:endParaRPr lang="en-US" sz="1400" dirty="0"/>
          </a:p>
        </p:txBody>
      </p:sp>
      <p:sp>
        <p:nvSpPr>
          <p:cNvPr id="11" name="Text 9"/>
          <p:cNvSpPr/>
          <p:nvPr/>
        </p:nvSpPr>
        <p:spPr>
          <a:xfrm>
            <a:off x="914400" y="1371600"/>
            <a:ext cx="7589520" cy="274320"/>
          </a:xfrm>
          <a:prstGeom prst="rect">
            <a:avLst/>
          </a:prstGeom>
          <a:noFill/>
          <a:ln/>
        </p:spPr>
        <p:txBody>
          <a:bodyPr wrap="square" lIns="0" tIns="0" rIns="0" bIns="0" rtlCol="0" anchor="ctr"/>
          <a:lstStyle/>
          <a:p>
            <a:pPr indent="0" marL="0">
              <a:buNone/>
            </a:pPr>
            <a:r>
              <a:rPr lang="en-US" sz="900" b="1" spc="100" kern="0" dirty="0">
                <a:solidFill>
                  <a:srgbClr val="007A7F"/>
                </a:solidFill>
                <a:latin typeface="Calibri" pitchFamily="34" charset="0"/>
                <a:ea typeface="Calibri" pitchFamily="34" charset="-122"/>
                <a:cs typeface="Calibri" pitchFamily="34" charset="-120"/>
              </a:rPr>
              <a:t>CE QUE J’AI APPRIS</a:t>
            </a:r>
            <a:endParaRPr lang="en-US" sz="900" dirty="0"/>
          </a:p>
        </p:txBody>
      </p:sp>
      <p:sp>
        <p:nvSpPr>
          <p:cNvPr id="12" name="Text 10"/>
          <p:cNvSpPr/>
          <p:nvPr/>
        </p:nvSpPr>
        <p:spPr>
          <a:xfrm>
            <a:off x="914400" y="1645920"/>
            <a:ext cx="7589520" cy="640080"/>
          </a:xfrm>
          <a:prstGeom prst="rect">
            <a:avLst/>
          </a:prstGeom>
          <a:noFill/>
          <a:ln/>
        </p:spPr>
        <p:txBody>
          <a:bodyPr wrap="square" lIns="0" tIns="0" rIns="0" bIns="0" rtlCol="0" anchor="ctr"/>
          <a:lstStyle/>
          <a:p>
            <a:pPr indent="0" marL="0">
              <a:buNone/>
            </a:pPr>
            <a:r>
              <a:rPr lang="en-US" sz="850" dirty="0">
                <a:solidFill>
                  <a:srgbClr val="333333"/>
                </a:solidFill>
                <a:latin typeface="Calibri" pitchFamily="34" charset="0"/>
                <a:ea typeface="Calibri" pitchFamily="34" charset="-122"/>
                <a:cs typeface="Calibri" pitchFamily="34" charset="-120"/>
              </a:rPr>
              <a:t>L’écrit systématique – OS, attachements, CR consolidés – est le seul rempart contre les litiges. Croiser 3 sources de prix donne un écart de 3,2% là où les estimations régionales dépassaient 10%. Voir le projet depuis le terrain rend les estimations plus justes.</a:t>
            </a:r>
            <a:endParaRPr lang="en-US" sz="850" dirty="0"/>
          </a:p>
        </p:txBody>
      </p:sp>
      <p:sp>
        <p:nvSpPr>
          <p:cNvPr id="13" name="Shape 11"/>
          <p:cNvSpPr/>
          <p:nvPr/>
        </p:nvSpPr>
        <p:spPr>
          <a:xfrm>
            <a:off x="365760" y="2514600"/>
            <a:ext cx="8412480" cy="1051560"/>
          </a:xfrm>
          <a:prstGeom prst="rect">
            <a:avLst/>
          </a:prstGeom>
          <a:solidFill>
            <a:srgbClr val="FFFFFF"/>
          </a:solidFill>
          <a:ln/>
          <a:effectLst>
            <a:outerShdw sx="100000" sy="100000" kx="0" ky="0" algn="bl" rotWithShape="0" blurRad="50800" dist="19050" dir="8100000">
              <a:srgbClr val="000000">
                <a:alpha val="10000"/>
              </a:srgbClr>
            </a:outerShdw>
          </a:effectLst>
        </p:spPr>
      </p:sp>
      <p:sp>
        <p:nvSpPr>
          <p:cNvPr id="14" name="Shape 12"/>
          <p:cNvSpPr/>
          <p:nvPr/>
        </p:nvSpPr>
        <p:spPr>
          <a:xfrm>
            <a:off x="502920" y="2624328"/>
            <a:ext cx="320040" cy="320040"/>
          </a:xfrm>
          <a:prstGeom prst="ellipse">
            <a:avLst/>
          </a:prstGeom>
          <a:solidFill>
            <a:srgbClr val="007A7F"/>
          </a:solidFill>
          <a:ln/>
        </p:spPr>
      </p:sp>
      <p:sp>
        <p:nvSpPr>
          <p:cNvPr id="15" name="Text 13"/>
          <p:cNvSpPr/>
          <p:nvPr/>
        </p:nvSpPr>
        <p:spPr>
          <a:xfrm>
            <a:off x="502920" y="2624328"/>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D</a:t>
            </a:r>
            <a:endParaRPr lang="en-US" sz="1400" dirty="0"/>
          </a:p>
        </p:txBody>
      </p:sp>
      <p:sp>
        <p:nvSpPr>
          <p:cNvPr id="16" name="Text 14"/>
          <p:cNvSpPr/>
          <p:nvPr/>
        </p:nvSpPr>
        <p:spPr>
          <a:xfrm>
            <a:off x="914400" y="2606040"/>
            <a:ext cx="7589520" cy="274320"/>
          </a:xfrm>
          <a:prstGeom prst="rect">
            <a:avLst/>
          </a:prstGeom>
          <a:noFill/>
          <a:ln/>
        </p:spPr>
        <p:txBody>
          <a:bodyPr wrap="square" lIns="0" tIns="0" rIns="0" bIns="0" rtlCol="0" anchor="ctr"/>
          <a:lstStyle/>
          <a:p>
            <a:pPr indent="0" marL="0">
              <a:buNone/>
            </a:pPr>
            <a:r>
              <a:rPr lang="en-US" sz="900" b="1" spc="100" kern="0" dirty="0">
                <a:solidFill>
                  <a:srgbClr val="007A7F"/>
                </a:solidFill>
                <a:latin typeface="Calibri" pitchFamily="34" charset="0"/>
                <a:ea typeface="Calibri" pitchFamily="34" charset="-122"/>
                <a:cs typeface="Calibri" pitchFamily="34" charset="-120"/>
              </a:rPr>
              <a:t>CE QUE JE FERAIS DIFFÉREMMENT</a:t>
            </a:r>
            <a:endParaRPr lang="en-US" sz="900" dirty="0"/>
          </a:p>
        </p:txBody>
      </p:sp>
      <p:sp>
        <p:nvSpPr>
          <p:cNvPr id="17" name="Text 15"/>
          <p:cNvSpPr/>
          <p:nvPr/>
        </p:nvSpPr>
        <p:spPr>
          <a:xfrm>
            <a:off x="914400" y="2880360"/>
            <a:ext cx="7589520" cy="640080"/>
          </a:xfrm>
          <a:prstGeom prst="rect">
            <a:avLst/>
          </a:prstGeom>
          <a:noFill/>
          <a:ln/>
        </p:spPr>
        <p:txBody>
          <a:bodyPr wrap="square" lIns="0" tIns="0" rIns="0" bIns="0" rtlCol="0" anchor="ctr"/>
          <a:lstStyle/>
          <a:p>
            <a:pPr indent="0" marL="0">
              <a:buNone/>
            </a:pPr>
            <a:r>
              <a:rPr lang="en-US" sz="850" dirty="0">
                <a:solidFill>
                  <a:srgbClr val="333333"/>
                </a:solidFill>
                <a:latin typeface="Calibri" pitchFamily="34" charset="0"/>
                <a:ea typeface="Calibri" pitchFamily="34" charset="-122"/>
                <a:cs typeface="Calibri" pitchFamily="34" charset="-120"/>
              </a:rPr>
              <a:t>Déployer le tableau de bord dès le 1er mois, pas au 9ème quand le signal était déjà à +4,8%. Insister pour une étude géotechnique complémentaire avant terrassements. Standardiser les CR dès le démarrage – pas dans l’urgence de la semaine 23.</a:t>
            </a:r>
            <a:endParaRPr lang="en-US" sz="850" dirty="0"/>
          </a:p>
        </p:txBody>
      </p:sp>
      <p:sp>
        <p:nvSpPr>
          <p:cNvPr id="18" name="Shape 16"/>
          <p:cNvSpPr/>
          <p:nvPr/>
        </p:nvSpPr>
        <p:spPr>
          <a:xfrm>
            <a:off x="365760" y="3749040"/>
            <a:ext cx="8412480" cy="1051560"/>
          </a:xfrm>
          <a:prstGeom prst="rect">
            <a:avLst/>
          </a:prstGeom>
          <a:solidFill>
            <a:srgbClr val="FFFFFF"/>
          </a:solidFill>
          <a:ln/>
          <a:effectLst>
            <a:outerShdw sx="100000" sy="100000" kx="0" ky="0" algn="bl" rotWithShape="0" blurRad="50800" dist="19050" dir="8100000">
              <a:srgbClr val="000000">
                <a:alpha val="10000"/>
              </a:srgbClr>
            </a:outerShdw>
          </a:effectLst>
        </p:spPr>
      </p:sp>
      <p:sp>
        <p:nvSpPr>
          <p:cNvPr id="19" name="Shape 17"/>
          <p:cNvSpPr/>
          <p:nvPr/>
        </p:nvSpPr>
        <p:spPr>
          <a:xfrm>
            <a:off x="502920" y="3858768"/>
            <a:ext cx="320040" cy="320040"/>
          </a:xfrm>
          <a:prstGeom prst="ellipse">
            <a:avLst/>
          </a:prstGeom>
          <a:solidFill>
            <a:srgbClr val="007A7F"/>
          </a:solidFill>
          <a:ln/>
        </p:spPr>
      </p:sp>
      <p:sp>
        <p:nvSpPr>
          <p:cNvPr id="20" name="Text 18"/>
          <p:cNvSpPr/>
          <p:nvPr/>
        </p:nvSpPr>
        <p:spPr>
          <a:xfrm>
            <a:off x="502920" y="3858768"/>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M</a:t>
            </a:r>
            <a:endParaRPr lang="en-US" sz="1400" dirty="0"/>
          </a:p>
        </p:txBody>
      </p:sp>
      <p:sp>
        <p:nvSpPr>
          <p:cNvPr id="21" name="Text 19"/>
          <p:cNvSpPr/>
          <p:nvPr/>
        </p:nvSpPr>
        <p:spPr>
          <a:xfrm>
            <a:off x="914400" y="3840480"/>
            <a:ext cx="7589520" cy="274320"/>
          </a:xfrm>
          <a:prstGeom prst="rect">
            <a:avLst/>
          </a:prstGeom>
          <a:noFill/>
          <a:ln/>
        </p:spPr>
        <p:txBody>
          <a:bodyPr wrap="square" lIns="0" tIns="0" rIns="0" bIns="0" rtlCol="0" anchor="ctr"/>
          <a:lstStyle/>
          <a:p>
            <a:pPr indent="0" marL="0">
              <a:buNone/>
            </a:pPr>
            <a:r>
              <a:rPr lang="en-US" sz="900" b="1" spc="100" kern="0" dirty="0">
                <a:solidFill>
                  <a:srgbClr val="007A7F"/>
                </a:solidFill>
                <a:latin typeface="Calibri" pitchFamily="34" charset="0"/>
                <a:ea typeface="Calibri" pitchFamily="34" charset="-122"/>
                <a:cs typeface="Calibri" pitchFamily="34" charset="-120"/>
              </a:rPr>
              <a:t>CE QUE J’APPORTE AU BTS MEC</a:t>
            </a:r>
            <a:endParaRPr lang="en-US" sz="900" dirty="0"/>
          </a:p>
        </p:txBody>
      </p:sp>
      <p:sp>
        <p:nvSpPr>
          <p:cNvPr id="22" name="Text 20"/>
          <p:cNvSpPr/>
          <p:nvPr/>
        </p:nvSpPr>
        <p:spPr>
          <a:xfrm>
            <a:off x="914400" y="4114800"/>
            <a:ext cx="7589520" cy="640080"/>
          </a:xfrm>
          <a:prstGeom prst="rect">
            <a:avLst/>
          </a:prstGeom>
          <a:noFill/>
          <a:ln/>
        </p:spPr>
        <p:txBody>
          <a:bodyPr wrap="square" lIns="0" tIns="0" rIns="0" bIns="0" rtlCol="0" anchor="ctr"/>
          <a:lstStyle/>
          <a:p>
            <a:pPr indent="0" marL="0">
              <a:buNone/>
            </a:pPr>
            <a:r>
              <a:rPr lang="en-US" sz="850" dirty="0">
                <a:solidFill>
                  <a:srgbClr val="333333"/>
                </a:solidFill>
                <a:latin typeface="Calibri" pitchFamily="34" charset="0"/>
                <a:ea typeface="Calibri" pitchFamily="34" charset="-122"/>
                <a:cs typeface="Calibri" pitchFamily="34" charset="-120"/>
              </a:rPr>
              <a:t>L’estimation confidentielle est l’acte fondateur de tout marché public. En France, mêmes fondamentaux avec le DQE/DPGF. Triple compétence MOA + Exécution + BIM = positionnement rare. BIMCO est né de ce parcours. Le BIM industrialise la méthode développée sur le terrain.</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A7F"/>
          </a:solidFill>
          <a:ln/>
        </p:spPr>
      </p:sp>
      <p:sp>
        <p:nvSpPr>
          <p:cNvPr id="3" name="Shape 1"/>
          <p:cNvSpPr/>
          <p:nvPr/>
        </p:nvSpPr>
        <p:spPr>
          <a:xfrm>
            <a:off x="365760" y="164592"/>
            <a:ext cx="777240" cy="347472"/>
          </a:xfrm>
          <a:prstGeom prst="rect">
            <a:avLst/>
          </a:prstGeom>
          <a:solidFill>
            <a:srgbClr val="E0F4F5"/>
          </a:solidFill>
          <a:ln w="10160">
            <a:solidFill>
              <a:srgbClr val="007A7F"/>
            </a:solidFill>
            <a:prstDash val="solid"/>
          </a:ln>
        </p:spPr>
      </p:sp>
      <p:sp>
        <p:nvSpPr>
          <p:cNvPr id="4" name="Text 2"/>
          <p:cNvSpPr/>
          <p:nvPr/>
        </p:nvSpPr>
        <p:spPr>
          <a:xfrm>
            <a:off x="365760" y="164592"/>
            <a:ext cx="777240" cy="347472"/>
          </a:xfrm>
          <a:prstGeom prst="rect">
            <a:avLst/>
          </a:prstGeom>
          <a:noFill/>
          <a:ln/>
        </p:spPr>
        <p:txBody>
          <a:bodyPr wrap="square" lIns="0" tIns="0" rIns="0" bIns="0" rtlCol="0" anchor="ctr"/>
          <a:lstStyle/>
          <a:p>
            <a:pPr algn="ctr" indent="0" marL="0">
              <a:buNone/>
            </a:pPr>
            <a:r>
              <a:rPr lang="en-US" sz="900" b="1" dirty="0">
                <a:solidFill>
                  <a:srgbClr val="007A7F"/>
                </a:solidFill>
                <a:latin typeface="Calibri" pitchFamily="34" charset="0"/>
                <a:ea typeface="Calibri" pitchFamily="34" charset="-122"/>
                <a:cs typeface="Calibri" pitchFamily="34" charset="-120"/>
              </a:rPr>
              <a:t>05 – BIM</a:t>
            </a:r>
            <a:endParaRPr lang="en-US" sz="900" dirty="0"/>
          </a:p>
        </p:txBody>
      </p:sp>
      <p:sp>
        <p:nvSpPr>
          <p:cNvPr id="5" name="Text 3"/>
          <p:cNvSpPr/>
          <p:nvPr/>
        </p:nvSpPr>
        <p:spPr>
          <a:xfrm>
            <a:off x="365760" y="566928"/>
            <a:ext cx="8412480" cy="411480"/>
          </a:xfrm>
          <a:prstGeom prst="rect">
            <a:avLst/>
          </a:prstGeom>
          <a:noFill/>
          <a:ln/>
        </p:spPr>
        <p:txBody>
          <a:bodyPr wrap="square" lIns="0" tIns="0" rIns="0" bIns="0" rtlCol="0" anchor="ctr"/>
          <a:lstStyle/>
          <a:p>
            <a:pPr indent="0" marL="0">
              <a:buNone/>
            </a:pPr>
            <a:r>
              <a:rPr lang="en-US" sz="1800" b="1" dirty="0">
                <a:solidFill>
                  <a:srgbClr val="1E1E1E"/>
                </a:solidFill>
                <a:latin typeface="Cambria" pitchFamily="34" charset="0"/>
                <a:ea typeface="Cambria" pitchFamily="34" charset="-122"/>
                <a:cs typeface="Cambria" pitchFamily="34" charset="-120"/>
              </a:rPr>
              <a:t>PROTOCOLE BIM &amp; PERSPECTIVES BIMCO</a:t>
            </a:r>
            <a:endParaRPr lang="en-US" sz="1800" dirty="0"/>
          </a:p>
        </p:txBody>
      </p:sp>
      <p:sp>
        <p:nvSpPr>
          <p:cNvPr id="6" name="Text 4"/>
          <p:cNvSpPr/>
          <p:nvPr/>
        </p:nvSpPr>
        <p:spPr>
          <a:xfrm>
            <a:off x="365760" y="932688"/>
            <a:ext cx="8412480" cy="274320"/>
          </a:xfrm>
          <a:prstGeom prst="rect">
            <a:avLst/>
          </a:prstGeom>
          <a:noFill/>
          <a:ln/>
        </p:spPr>
        <p:txBody>
          <a:bodyPr wrap="square" lIns="0" tIns="0" rIns="0" bIns="0" rtlCol="0" anchor="ctr"/>
          <a:lstStyle/>
          <a:p>
            <a:pPr indent="0" marL="0">
              <a:buNone/>
            </a:pPr>
            <a:r>
              <a:rPr lang="en-US" sz="1000" dirty="0">
                <a:solidFill>
                  <a:srgbClr val="666666"/>
                </a:solidFill>
                <a:latin typeface="Calibri" pitchFamily="34" charset="0"/>
                <a:ea typeface="Calibri" pitchFamily="34" charset="-122"/>
                <a:cs typeface="Calibri" pitchFamily="34" charset="-120"/>
              </a:rPr>
              <a:t>Formation AFPA Colmar + Projet professionnel 2026–2029</a:t>
            </a:r>
            <a:endParaRPr lang="en-US" sz="1000" dirty="0"/>
          </a:p>
        </p:txBody>
      </p:sp>
      <p:sp>
        <p:nvSpPr>
          <p:cNvPr id="7" name="Text 5"/>
          <p:cNvSpPr/>
          <p:nvPr/>
        </p:nvSpPr>
        <p:spPr>
          <a:xfrm>
            <a:off x="365760" y="4800600"/>
            <a:ext cx="8412480" cy="274320"/>
          </a:xfrm>
          <a:prstGeom prst="rect">
            <a:avLst/>
          </a:prstGeom>
          <a:noFill/>
          <a:ln/>
        </p:spPr>
        <p:txBody>
          <a:bodyPr wrap="square" rtlCol="0" anchor="ctr"/>
          <a:lstStyle/>
          <a:p>
            <a:pPr algn="r" indent="0" marL="0">
              <a:buNone/>
            </a:pPr>
            <a:r>
              <a:rPr lang="en-US" sz="700" dirty="0">
                <a:solidFill>
                  <a:srgbClr val="666666"/>
                </a:solidFill>
                <a:latin typeface="Calibri" pitchFamily="34" charset="0"/>
                <a:ea typeface="Calibri" pitchFamily="34" charset="-122"/>
                <a:cs typeface="Calibri" pitchFamily="34" charset="-120"/>
              </a:rPr>
              <a:t>BAHAFID Mohamed  ·  Rapport U62  ·  BTS MEC 2026  ·  14/15</a:t>
            </a:r>
            <a:endParaRPr lang="en-US" sz="700" dirty="0"/>
          </a:p>
        </p:txBody>
      </p:sp>
      <p:sp>
        <p:nvSpPr>
          <p:cNvPr id="8" name="Shape 6"/>
          <p:cNvSpPr/>
          <p:nvPr/>
        </p:nvSpPr>
        <p:spPr>
          <a:xfrm>
            <a:off x="365760" y="1280160"/>
            <a:ext cx="4114800" cy="3383280"/>
          </a:xfrm>
          <a:prstGeom prst="rect">
            <a:avLst/>
          </a:prstGeom>
          <a:solidFill>
            <a:srgbClr val="FFFFFF"/>
          </a:solidFill>
          <a:ln/>
          <a:effectLst>
            <a:outerShdw sx="100000" sy="100000" kx="0" ky="0" algn="bl" rotWithShape="0" blurRad="50800" dist="19050" dir="8100000">
              <a:srgbClr val="000000">
                <a:alpha val="10000"/>
              </a:srgbClr>
            </a:outerShdw>
          </a:effectLst>
        </p:spPr>
      </p:sp>
      <p:sp>
        <p:nvSpPr>
          <p:cNvPr id="9" name="Text 7"/>
          <p:cNvSpPr/>
          <p:nvPr/>
        </p:nvSpPr>
        <p:spPr>
          <a:xfrm>
            <a:off x="548640" y="1371600"/>
            <a:ext cx="3749040" cy="228600"/>
          </a:xfrm>
          <a:prstGeom prst="rect">
            <a:avLst/>
          </a:prstGeom>
          <a:noFill/>
          <a:ln/>
        </p:spPr>
        <p:txBody>
          <a:bodyPr wrap="square" lIns="0" tIns="0" rIns="0" bIns="0" rtlCol="0" anchor="ctr"/>
          <a:lstStyle/>
          <a:p>
            <a:pPr indent="0" marL="0">
              <a:buNone/>
            </a:pPr>
            <a:r>
              <a:rPr lang="en-US" sz="900" b="1" spc="100" kern="0" dirty="0">
                <a:solidFill>
                  <a:srgbClr val="007A7F"/>
                </a:solidFill>
                <a:latin typeface="Calibri" pitchFamily="34" charset="0"/>
                <a:ea typeface="Calibri" pitchFamily="34" charset="-122"/>
                <a:cs typeface="Calibri" pitchFamily="34" charset="-120"/>
              </a:rPr>
              <a:t>PROTOCOLE BIM – CAS AFPA</a:t>
            </a:r>
            <a:endParaRPr lang="en-US" sz="900" dirty="0"/>
          </a:p>
        </p:txBody>
      </p:sp>
      <p:sp>
        <p:nvSpPr>
          <p:cNvPr id="10" name="Text 8"/>
          <p:cNvSpPr/>
          <p:nvPr/>
        </p:nvSpPr>
        <p:spPr>
          <a:xfrm>
            <a:off x="548640" y="1691640"/>
            <a:ext cx="1188720" cy="411480"/>
          </a:xfrm>
          <a:prstGeom prst="rect">
            <a:avLst/>
          </a:prstGeom>
          <a:noFill/>
          <a:ln/>
        </p:spPr>
        <p:txBody>
          <a:bodyPr wrap="square" lIns="0" tIns="0" rIns="0" bIns="0" rtlCol="0" anchor="ctr"/>
          <a:lstStyle/>
          <a:p>
            <a:pPr algn="ctr" indent="0" marL="0">
              <a:buNone/>
            </a:pPr>
            <a:r>
              <a:rPr lang="en-US" sz="2000" b="1" dirty="0">
                <a:solidFill>
                  <a:srgbClr val="007A7F"/>
                </a:solidFill>
                <a:latin typeface="Cambria" pitchFamily="34" charset="0"/>
                <a:ea typeface="Cambria" pitchFamily="34" charset="-122"/>
                <a:cs typeface="Cambria" pitchFamily="34" charset="-120"/>
              </a:rPr>
              <a:t>78</a:t>
            </a:r>
            <a:endParaRPr lang="en-US" sz="2000" dirty="0"/>
          </a:p>
        </p:txBody>
      </p:sp>
      <p:sp>
        <p:nvSpPr>
          <p:cNvPr id="11" name="Text 9"/>
          <p:cNvSpPr/>
          <p:nvPr/>
        </p:nvSpPr>
        <p:spPr>
          <a:xfrm>
            <a:off x="548640" y="2103120"/>
            <a:ext cx="1188720" cy="228600"/>
          </a:xfrm>
          <a:prstGeom prst="rect">
            <a:avLst/>
          </a:prstGeom>
          <a:noFill/>
          <a:ln/>
        </p:spPr>
        <p:txBody>
          <a:bodyPr wrap="square" lIns="0" tIns="0" rIns="0" bIns="0" rtlCol="0" anchor="ctr"/>
          <a:lstStyle/>
          <a:p>
            <a:pPr algn="ctr" indent="0" marL="0">
              <a:buNone/>
            </a:pPr>
            <a:r>
              <a:rPr lang="en-US" sz="700" dirty="0">
                <a:solidFill>
                  <a:srgbClr val="666666"/>
                </a:solidFill>
                <a:latin typeface="Calibri" pitchFamily="34" charset="0"/>
                <a:ea typeface="Calibri" pitchFamily="34" charset="-122"/>
                <a:cs typeface="Calibri" pitchFamily="34" charset="-120"/>
              </a:rPr>
              <a:t>postes extraits</a:t>
            </a:r>
            <a:endParaRPr lang="en-US" sz="700" dirty="0"/>
          </a:p>
        </p:txBody>
      </p:sp>
      <p:sp>
        <p:nvSpPr>
          <p:cNvPr id="12" name="Text 10"/>
          <p:cNvSpPr/>
          <p:nvPr/>
        </p:nvSpPr>
        <p:spPr>
          <a:xfrm>
            <a:off x="1874520" y="1691640"/>
            <a:ext cx="1188720" cy="411480"/>
          </a:xfrm>
          <a:prstGeom prst="rect">
            <a:avLst/>
          </a:prstGeom>
          <a:noFill/>
          <a:ln/>
        </p:spPr>
        <p:txBody>
          <a:bodyPr wrap="square" lIns="0" tIns="0" rIns="0" bIns="0" rtlCol="0" anchor="ctr"/>
          <a:lstStyle/>
          <a:p>
            <a:pPr algn="ctr" indent="0" marL="0">
              <a:buNone/>
            </a:pPr>
            <a:r>
              <a:rPr lang="en-US" sz="2000" b="1" dirty="0">
                <a:solidFill>
                  <a:srgbClr val="007A7F"/>
                </a:solidFill>
                <a:latin typeface="Cambria" pitchFamily="34" charset="0"/>
                <a:ea typeface="Cambria" pitchFamily="34" charset="-122"/>
                <a:cs typeface="Cambria" pitchFamily="34" charset="-120"/>
              </a:rPr>
              <a:t>1,8%</a:t>
            </a:r>
            <a:endParaRPr lang="en-US" sz="2000" dirty="0"/>
          </a:p>
        </p:txBody>
      </p:sp>
      <p:sp>
        <p:nvSpPr>
          <p:cNvPr id="13" name="Text 11"/>
          <p:cNvSpPr/>
          <p:nvPr/>
        </p:nvSpPr>
        <p:spPr>
          <a:xfrm>
            <a:off x="1874520" y="2103120"/>
            <a:ext cx="1188720" cy="228600"/>
          </a:xfrm>
          <a:prstGeom prst="rect">
            <a:avLst/>
          </a:prstGeom>
          <a:noFill/>
          <a:ln/>
        </p:spPr>
        <p:txBody>
          <a:bodyPr wrap="square" lIns="0" tIns="0" rIns="0" bIns="0" rtlCol="0" anchor="ctr"/>
          <a:lstStyle/>
          <a:p>
            <a:pPr algn="ctr" indent="0" marL="0">
              <a:buNone/>
            </a:pPr>
            <a:r>
              <a:rPr lang="en-US" sz="700" dirty="0">
                <a:solidFill>
                  <a:srgbClr val="666666"/>
                </a:solidFill>
                <a:latin typeface="Calibri" pitchFamily="34" charset="0"/>
                <a:ea typeface="Calibri" pitchFamily="34" charset="-122"/>
                <a:cs typeface="Calibri" pitchFamily="34" charset="-120"/>
              </a:rPr>
              <a:t>écart vs métré manuel</a:t>
            </a:r>
            <a:endParaRPr lang="en-US" sz="700" dirty="0"/>
          </a:p>
        </p:txBody>
      </p:sp>
      <p:sp>
        <p:nvSpPr>
          <p:cNvPr id="14" name="Text 12"/>
          <p:cNvSpPr/>
          <p:nvPr/>
        </p:nvSpPr>
        <p:spPr>
          <a:xfrm>
            <a:off x="3200400" y="1691640"/>
            <a:ext cx="1188720" cy="411480"/>
          </a:xfrm>
          <a:prstGeom prst="rect">
            <a:avLst/>
          </a:prstGeom>
          <a:noFill/>
          <a:ln/>
        </p:spPr>
        <p:txBody>
          <a:bodyPr wrap="square" lIns="0" tIns="0" rIns="0" bIns="0" rtlCol="0" anchor="ctr"/>
          <a:lstStyle/>
          <a:p>
            <a:pPr algn="ctr" indent="0" marL="0">
              <a:buNone/>
            </a:pPr>
            <a:r>
              <a:rPr lang="en-US" sz="2000" b="1" dirty="0">
                <a:solidFill>
                  <a:srgbClr val="007A7F"/>
                </a:solidFill>
                <a:latin typeface="Cambria" pitchFamily="34" charset="0"/>
                <a:ea typeface="Cambria" pitchFamily="34" charset="-122"/>
                <a:cs typeface="Cambria" pitchFamily="34" charset="-120"/>
              </a:rPr>
              <a:t>12</a:t>
            </a:r>
            <a:endParaRPr lang="en-US" sz="2000" dirty="0"/>
          </a:p>
        </p:txBody>
      </p:sp>
      <p:sp>
        <p:nvSpPr>
          <p:cNvPr id="15" name="Text 13"/>
          <p:cNvSpPr/>
          <p:nvPr/>
        </p:nvSpPr>
        <p:spPr>
          <a:xfrm>
            <a:off x="3200400" y="2103120"/>
            <a:ext cx="1188720" cy="228600"/>
          </a:xfrm>
          <a:prstGeom prst="rect">
            <a:avLst/>
          </a:prstGeom>
          <a:noFill/>
          <a:ln/>
        </p:spPr>
        <p:txBody>
          <a:bodyPr wrap="square" lIns="0" tIns="0" rIns="0" bIns="0" rtlCol="0" anchor="ctr"/>
          <a:lstStyle/>
          <a:p>
            <a:pPr algn="ctr" indent="0" marL="0">
              <a:buNone/>
            </a:pPr>
            <a:r>
              <a:rPr lang="en-US" sz="700" dirty="0">
                <a:solidFill>
                  <a:srgbClr val="666666"/>
                </a:solidFill>
                <a:latin typeface="Calibri" pitchFamily="34" charset="0"/>
                <a:ea typeface="Calibri" pitchFamily="34" charset="-122"/>
                <a:cs typeface="Calibri" pitchFamily="34" charset="-120"/>
              </a:rPr>
              <a:t>clashs résolus</a:t>
            </a:r>
            <a:endParaRPr lang="en-US" sz="700" dirty="0"/>
          </a:p>
        </p:txBody>
      </p:sp>
      <p:sp>
        <p:nvSpPr>
          <p:cNvPr id="16" name="Shape 14"/>
          <p:cNvSpPr/>
          <p:nvPr/>
        </p:nvSpPr>
        <p:spPr>
          <a:xfrm>
            <a:off x="548640" y="2468880"/>
            <a:ext cx="201168" cy="201168"/>
          </a:xfrm>
          <a:prstGeom prst="ellipse">
            <a:avLst/>
          </a:prstGeom>
          <a:solidFill>
            <a:srgbClr val="007A7F"/>
          </a:solidFill>
          <a:ln/>
        </p:spPr>
      </p:sp>
      <p:sp>
        <p:nvSpPr>
          <p:cNvPr id="17" name="Text 15"/>
          <p:cNvSpPr/>
          <p:nvPr/>
        </p:nvSpPr>
        <p:spPr>
          <a:xfrm>
            <a:off x="548640" y="2468880"/>
            <a:ext cx="201168" cy="20116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8" name="Text 16"/>
          <p:cNvSpPr/>
          <p:nvPr/>
        </p:nvSpPr>
        <p:spPr>
          <a:xfrm>
            <a:off x="822960" y="2450592"/>
            <a:ext cx="3566160" cy="347472"/>
          </a:xfrm>
          <a:prstGeom prst="rect">
            <a:avLst/>
          </a:prstGeom>
          <a:noFill/>
          <a:ln/>
        </p:spPr>
        <p:txBody>
          <a:bodyPr wrap="square" lIns="0" tIns="0" rIns="0" bIns="0" rtlCol="0" anchor="ctr"/>
          <a:lstStyle/>
          <a:p>
            <a:pPr indent="0" marL="0">
              <a:buNone/>
            </a:pPr>
            <a:r>
              <a:rPr lang="en-US" sz="750" dirty="0">
                <a:solidFill>
                  <a:srgbClr val="333333"/>
                </a:solidFill>
                <a:latin typeface="Calibri" pitchFamily="34" charset="0"/>
                <a:ea typeface="Calibri" pitchFamily="34" charset="-122"/>
                <a:cs typeface="Calibri" pitchFamily="34" charset="-120"/>
              </a:rPr>
              <a:t>Modélisation Revit Architecture + Structure (LOD 300)</a:t>
            </a:r>
            <a:endParaRPr lang="en-US" sz="750" dirty="0"/>
          </a:p>
        </p:txBody>
      </p:sp>
      <p:sp>
        <p:nvSpPr>
          <p:cNvPr id="19" name="Shape 17"/>
          <p:cNvSpPr/>
          <p:nvPr/>
        </p:nvSpPr>
        <p:spPr>
          <a:xfrm>
            <a:off x="548640" y="2862072"/>
            <a:ext cx="201168" cy="201168"/>
          </a:xfrm>
          <a:prstGeom prst="ellipse">
            <a:avLst/>
          </a:prstGeom>
          <a:solidFill>
            <a:srgbClr val="007A7F"/>
          </a:solidFill>
          <a:ln/>
        </p:spPr>
      </p:sp>
      <p:sp>
        <p:nvSpPr>
          <p:cNvPr id="20" name="Text 18"/>
          <p:cNvSpPr/>
          <p:nvPr/>
        </p:nvSpPr>
        <p:spPr>
          <a:xfrm>
            <a:off x="548640" y="2862072"/>
            <a:ext cx="201168" cy="20116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1" name="Text 19"/>
          <p:cNvSpPr/>
          <p:nvPr/>
        </p:nvSpPr>
        <p:spPr>
          <a:xfrm>
            <a:off x="822960" y="2843784"/>
            <a:ext cx="3566160" cy="347472"/>
          </a:xfrm>
          <a:prstGeom prst="rect">
            <a:avLst/>
          </a:prstGeom>
          <a:noFill/>
          <a:ln/>
        </p:spPr>
        <p:txBody>
          <a:bodyPr wrap="square" lIns="0" tIns="0" rIns="0" bIns="0" rtlCol="0" anchor="ctr"/>
          <a:lstStyle/>
          <a:p>
            <a:pPr indent="0" marL="0">
              <a:buNone/>
            </a:pPr>
            <a:r>
              <a:rPr lang="en-US" sz="750" dirty="0">
                <a:solidFill>
                  <a:srgbClr val="333333"/>
                </a:solidFill>
                <a:latin typeface="Calibri" pitchFamily="34" charset="0"/>
                <a:ea typeface="Calibri" pitchFamily="34" charset="-122"/>
                <a:cs typeface="Calibri" pitchFamily="34" charset="-120"/>
              </a:rPr>
              <a:t>Export IFC 2x3 – Open BIM – MVD Coordination View</a:t>
            </a:r>
            <a:endParaRPr lang="en-US" sz="750" dirty="0"/>
          </a:p>
        </p:txBody>
      </p:sp>
      <p:sp>
        <p:nvSpPr>
          <p:cNvPr id="22" name="Shape 20"/>
          <p:cNvSpPr/>
          <p:nvPr/>
        </p:nvSpPr>
        <p:spPr>
          <a:xfrm>
            <a:off x="548640" y="3255264"/>
            <a:ext cx="201168" cy="201168"/>
          </a:xfrm>
          <a:prstGeom prst="ellipse">
            <a:avLst/>
          </a:prstGeom>
          <a:solidFill>
            <a:srgbClr val="007A7F"/>
          </a:solidFill>
          <a:ln/>
        </p:spPr>
      </p:sp>
      <p:sp>
        <p:nvSpPr>
          <p:cNvPr id="23" name="Text 21"/>
          <p:cNvSpPr/>
          <p:nvPr/>
        </p:nvSpPr>
        <p:spPr>
          <a:xfrm>
            <a:off x="548640" y="3255264"/>
            <a:ext cx="201168" cy="20116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4" name="Text 22"/>
          <p:cNvSpPr/>
          <p:nvPr/>
        </p:nvSpPr>
        <p:spPr>
          <a:xfrm>
            <a:off x="822960" y="3236976"/>
            <a:ext cx="3566160" cy="347472"/>
          </a:xfrm>
          <a:prstGeom prst="rect">
            <a:avLst/>
          </a:prstGeom>
          <a:noFill/>
          <a:ln/>
        </p:spPr>
        <p:txBody>
          <a:bodyPr wrap="square" lIns="0" tIns="0" rIns="0" bIns="0" rtlCol="0" anchor="ctr"/>
          <a:lstStyle/>
          <a:p>
            <a:pPr indent="0" marL="0">
              <a:buNone/>
            </a:pPr>
            <a:r>
              <a:rPr lang="en-US" sz="750" dirty="0">
                <a:solidFill>
                  <a:srgbClr val="333333"/>
                </a:solidFill>
                <a:latin typeface="Calibri" pitchFamily="34" charset="0"/>
                <a:ea typeface="Calibri" pitchFamily="34" charset="-122"/>
                <a:cs typeface="Calibri" pitchFamily="34" charset="-120"/>
              </a:rPr>
              <a:t>Détection clashs Navisworks (12 conflits résolus)</a:t>
            </a:r>
            <a:endParaRPr lang="en-US" sz="750" dirty="0"/>
          </a:p>
        </p:txBody>
      </p:sp>
      <p:sp>
        <p:nvSpPr>
          <p:cNvPr id="25" name="Shape 23"/>
          <p:cNvSpPr/>
          <p:nvPr/>
        </p:nvSpPr>
        <p:spPr>
          <a:xfrm>
            <a:off x="548640" y="3648456"/>
            <a:ext cx="201168" cy="201168"/>
          </a:xfrm>
          <a:prstGeom prst="ellipse">
            <a:avLst/>
          </a:prstGeom>
          <a:solidFill>
            <a:srgbClr val="007A7F"/>
          </a:solidFill>
          <a:ln/>
        </p:spPr>
      </p:sp>
      <p:sp>
        <p:nvSpPr>
          <p:cNvPr id="26" name="Text 24"/>
          <p:cNvSpPr/>
          <p:nvPr/>
        </p:nvSpPr>
        <p:spPr>
          <a:xfrm>
            <a:off x="548640" y="3648456"/>
            <a:ext cx="201168" cy="20116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7" name="Text 25"/>
          <p:cNvSpPr/>
          <p:nvPr/>
        </p:nvSpPr>
        <p:spPr>
          <a:xfrm>
            <a:off x="822960" y="3630168"/>
            <a:ext cx="3566160" cy="347472"/>
          </a:xfrm>
          <a:prstGeom prst="rect">
            <a:avLst/>
          </a:prstGeom>
          <a:noFill/>
          <a:ln/>
        </p:spPr>
        <p:txBody>
          <a:bodyPr wrap="square" lIns="0" tIns="0" rIns="0" bIns="0" rtlCol="0" anchor="ctr"/>
          <a:lstStyle/>
          <a:p>
            <a:pPr indent="0" marL="0">
              <a:buNone/>
            </a:pPr>
            <a:r>
              <a:rPr lang="en-US" sz="750" dirty="0">
                <a:solidFill>
                  <a:srgbClr val="333333"/>
                </a:solidFill>
                <a:latin typeface="Calibri" pitchFamily="34" charset="0"/>
                <a:ea typeface="Calibri" pitchFamily="34" charset="-122"/>
                <a:cs typeface="Calibri" pitchFamily="34" charset="-120"/>
              </a:rPr>
              <a:t>Extraction quantités Revit + Dynamo (2h vs 2 jours)</a:t>
            </a:r>
            <a:endParaRPr lang="en-US" sz="750" dirty="0"/>
          </a:p>
        </p:txBody>
      </p:sp>
      <p:sp>
        <p:nvSpPr>
          <p:cNvPr id="28" name="Shape 26"/>
          <p:cNvSpPr/>
          <p:nvPr/>
        </p:nvSpPr>
        <p:spPr>
          <a:xfrm>
            <a:off x="548640" y="4041648"/>
            <a:ext cx="201168" cy="201168"/>
          </a:xfrm>
          <a:prstGeom prst="ellipse">
            <a:avLst/>
          </a:prstGeom>
          <a:solidFill>
            <a:srgbClr val="007A7F"/>
          </a:solidFill>
          <a:ln/>
        </p:spPr>
      </p:sp>
      <p:sp>
        <p:nvSpPr>
          <p:cNvPr id="29" name="Text 27"/>
          <p:cNvSpPr/>
          <p:nvPr/>
        </p:nvSpPr>
        <p:spPr>
          <a:xfrm>
            <a:off x="548640" y="4041648"/>
            <a:ext cx="201168" cy="20116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30" name="Text 28"/>
          <p:cNvSpPr/>
          <p:nvPr/>
        </p:nvSpPr>
        <p:spPr>
          <a:xfrm>
            <a:off x="822960" y="4023360"/>
            <a:ext cx="3566160" cy="347472"/>
          </a:xfrm>
          <a:prstGeom prst="rect">
            <a:avLst/>
          </a:prstGeom>
          <a:noFill/>
          <a:ln/>
        </p:spPr>
        <p:txBody>
          <a:bodyPr wrap="square" lIns="0" tIns="0" rIns="0" bIns="0" rtlCol="0" anchor="ctr"/>
          <a:lstStyle/>
          <a:p>
            <a:pPr indent="0" marL="0">
              <a:buNone/>
            </a:pPr>
            <a:r>
              <a:rPr lang="en-US" sz="750" dirty="0">
                <a:solidFill>
                  <a:srgbClr val="333333"/>
                </a:solidFill>
                <a:latin typeface="Calibri" pitchFamily="34" charset="0"/>
                <a:ea typeface="Calibri" pitchFamily="34" charset="-122"/>
                <a:cs typeface="Calibri" pitchFamily="34" charset="-120"/>
              </a:rPr>
              <a:t>Chiffrage avec traçabilité maquette</a:t>
            </a:r>
            <a:endParaRPr lang="en-US" sz="750" dirty="0"/>
          </a:p>
        </p:txBody>
      </p:sp>
      <p:sp>
        <p:nvSpPr>
          <p:cNvPr id="31" name="Shape 29"/>
          <p:cNvSpPr/>
          <p:nvPr/>
        </p:nvSpPr>
        <p:spPr>
          <a:xfrm>
            <a:off x="4663440" y="1280160"/>
            <a:ext cx="4114800" cy="3383280"/>
          </a:xfrm>
          <a:prstGeom prst="rect">
            <a:avLst/>
          </a:prstGeom>
          <a:solidFill>
            <a:srgbClr val="FFFFFF"/>
          </a:solidFill>
          <a:ln/>
          <a:effectLst>
            <a:outerShdw sx="100000" sy="100000" kx="0" ky="0" algn="bl" rotWithShape="0" blurRad="50800" dist="19050" dir="8100000">
              <a:srgbClr val="000000">
                <a:alpha val="10000"/>
              </a:srgbClr>
            </a:outerShdw>
          </a:effectLst>
        </p:spPr>
      </p:sp>
      <p:sp>
        <p:nvSpPr>
          <p:cNvPr id="32" name="Text 30"/>
          <p:cNvSpPr/>
          <p:nvPr/>
        </p:nvSpPr>
        <p:spPr>
          <a:xfrm>
            <a:off x="4846320" y="1371600"/>
            <a:ext cx="3749040" cy="228600"/>
          </a:xfrm>
          <a:prstGeom prst="rect">
            <a:avLst/>
          </a:prstGeom>
          <a:noFill/>
          <a:ln/>
        </p:spPr>
        <p:txBody>
          <a:bodyPr wrap="square" lIns="0" tIns="0" rIns="0" bIns="0" rtlCol="0" anchor="ctr"/>
          <a:lstStyle/>
          <a:p>
            <a:pPr indent="0" marL="0">
              <a:buNone/>
            </a:pPr>
            <a:r>
              <a:rPr lang="en-US" sz="900" b="1" spc="100" kern="0" dirty="0">
                <a:solidFill>
                  <a:srgbClr val="D97706"/>
                </a:solidFill>
                <a:latin typeface="Calibri" pitchFamily="34" charset="0"/>
                <a:ea typeface="Calibri" pitchFamily="34" charset="-122"/>
                <a:cs typeface="Calibri" pitchFamily="34" charset="-120"/>
              </a:rPr>
              <a:t>PROJET PROFESSIONNEL</a:t>
            </a:r>
            <a:endParaRPr lang="en-US" sz="900" dirty="0"/>
          </a:p>
        </p:txBody>
      </p:sp>
      <p:sp>
        <p:nvSpPr>
          <p:cNvPr id="33" name="Shape 31"/>
          <p:cNvSpPr/>
          <p:nvPr/>
        </p:nvSpPr>
        <p:spPr>
          <a:xfrm>
            <a:off x="4846320" y="1691640"/>
            <a:ext cx="731520" cy="274320"/>
          </a:xfrm>
          <a:prstGeom prst="rect">
            <a:avLst/>
          </a:prstGeom>
          <a:solidFill>
            <a:srgbClr val="007A7F"/>
          </a:solidFill>
          <a:ln/>
        </p:spPr>
      </p:sp>
      <p:sp>
        <p:nvSpPr>
          <p:cNvPr id="34" name="Text 32"/>
          <p:cNvSpPr/>
          <p:nvPr/>
        </p:nvSpPr>
        <p:spPr>
          <a:xfrm>
            <a:off x="4846320" y="1691640"/>
            <a:ext cx="7315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2026</a:t>
            </a:r>
            <a:endParaRPr lang="en-US" sz="800" dirty="0"/>
          </a:p>
        </p:txBody>
      </p:sp>
      <p:sp>
        <p:nvSpPr>
          <p:cNvPr id="35" name="Text 33"/>
          <p:cNvSpPr/>
          <p:nvPr/>
        </p:nvSpPr>
        <p:spPr>
          <a:xfrm>
            <a:off x="5669280" y="1691640"/>
            <a:ext cx="2926080" cy="274320"/>
          </a:xfrm>
          <a:prstGeom prst="rect">
            <a:avLst/>
          </a:prstGeom>
          <a:noFill/>
          <a:ln/>
        </p:spPr>
        <p:txBody>
          <a:bodyPr wrap="square" lIns="0" tIns="0" rIns="0" bIns="0" rtlCol="0" anchor="ctr"/>
          <a:lstStyle/>
          <a:p>
            <a:pPr indent="0" marL="0">
              <a:buNone/>
            </a:pPr>
            <a:r>
              <a:rPr lang="en-US" sz="900" b="1" dirty="0">
                <a:solidFill>
                  <a:srgbClr val="1E1E1E"/>
                </a:solidFill>
                <a:latin typeface="Calibri" pitchFamily="34" charset="0"/>
                <a:ea typeface="Calibri" pitchFamily="34" charset="-122"/>
                <a:cs typeface="Calibri" pitchFamily="34" charset="-120"/>
              </a:rPr>
              <a:t>Court terme</a:t>
            </a:r>
            <a:endParaRPr lang="en-US" sz="900" dirty="0"/>
          </a:p>
        </p:txBody>
      </p:sp>
      <p:sp>
        <p:nvSpPr>
          <p:cNvPr id="36" name="Text 34"/>
          <p:cNvSpPr/>
          <p:nvPr/>
        </p:nvSpPr>
        <p:spPr>
          <a:xfrm>
            <a:off x="4846320" y="2011680"/>
            <a:ext cx="3749040" cy="731520"/>
          </a:xfrm>
          <a:prstGeom prst="rect">
            <a:avLst/>
          </a:prstGeom>
          <a:noFill/>
          <a:ln/>
        </p:spPr>
        <p:txBody>
          <a:bodyPr wrap="square" lIns="0" tIns="0" rIns="0" bIns="0" rtlCol="0" anchor="ctr"/>
          <a:lstStyle/>
          <a:p>
            <a:pPr indent="0" marL="0">
              <a:buNone/>
            </a:pPr>
            <a:r>
              <a:rPr lang="en-US" sz="750" dirty="0">
                <a:solidFill>
                  <a:srgbClr val="333333"/>
                </a:solidFill>
                <a:latin typeface="Calibri" pitchFamily="34" charset="0"/>
                <a:ea typeface="Calibri" pitchFamily="34" charset="-122"/>
                <a:cs typeface="Calibri" pitchFamily="34" charset="-120"/>
              </a:rPr>
              <a:t>BTS MEC + premières prestations BIMCO : métrés BIM, études de prix, DPGF. Premiers plugins Revit/Dynamo.</a:t>
            </a:r>
            <a:endParaRPr lang="en-US" sz="750" dirty="0"/>
          </a:p>
        </p:txBody>
      </p:sp>
      <p:sp>
        <p:nvSpPr>
          <p:cNvPr id="37" name="Shape 35"/>
          <p:cNvSpPr/>
          <p:nvPr/>
        </p:nvSpPr>
        <p:spPr>
          <a:xfrm>
            <a:off x="4846320" y="2697480"/>
            <a:ext cx="731520" cy="274320"/>
          </a:xfrm>
          <a:prstGeom prst="rect">
            <a:avLst/>
          </a:prstGeom>
          <a:solidFill>
            <a:srgbClr val="007A7F"/>
          </a:solidFill>
          <a:ln/>
        </p:spPr>
      </p:sp>
      <p:sp>
        <p:nvSpPr>
          <p:cNvPr id="38" name="Text 36"/>
          <p:cNvSpPr/>
          <p:nvPr/>
        </p:nvSpPr>
        <p:spPr>
          <a:xfrm>
            <a:off x="4846320" y="2697480"/>
            <a:ext cx="7315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2027–28</a:t>
            </a:r>
            <a:endParaRPr lang="en-US" sz="800" dirty="0"/>
          </a:p>
        </p:txBody>
      </p:sp>
      <p:sp>
        <p:nvSpPr>
          <p:cNvPr id="39" name="Text 37"/>
          <p:cNvSpPr/>
          <p:nvPr/>
        </p:nvSpPr>
        <p:spPr>
          <a:xfrm>
            <a:off x="5669280" y="2697480"/>
            <a:ext cx="2926080" cy="274320"/>
          </a:xfrm>
          <a:prstGeom prst="rect">
            <a:avLst/>
          </a:prstGeom>
          <a:noFill/>
          <a:ln/>
        </p:spPr>
        <p:txBody>
          <a:bodyPr wrap="square" lIns="0" tIns="0" rIns="0" bIns="0" rtlCol="0" anchor="ctr"/>
          <a:lstStyle/>
          <a:p>
            <a:pPr indent="0" marL="0">
              <a:buNone/>
            </a:pPr>
            <a:r>
              <a:rPr lang="en-US" sz="900" b="1" dirty="0">
                <a:solidFill>
                  <a:srgbClr val="1E1E1E"/>
                </a:solidFill>
                <a:latin typeface="Calibri" pitchFamily="34" charset="0"/>
                <a:ea typeface="Calibri" pitchFamily="34" charset="-122"/>
                <a:cs typeface="Calibri" pitchFamily="34" charset="-120"/>
              </a:rPr>
              <a:t>Moyen terme</a:t>
            </a:r>
            <a:endParaRPr lang="en-US" sz="900" dirty="0"/>
          </a:p>
        </p:txBody>
      </p:sp>
      <p:sp>
        <p:nvSpPr>
          <p:cNvPr id="40" name="Text 38"/>
          <p:cNvSpPr/>
          <p:nvPr/>
        </p:nvSpPr>
        <p:spPr>
          <a:xfrm>
            <a:off x="4846320" y="3017520"/>
            <a:ext cx="3749040" cy="731520"/>
          </a:xfrm>
          <a:prstGeom prst="rect">
            <a:avLst/>
          </a:prstGeom>
          <a:noFill/>
          <a:ln/>
        </p:spPr>
        <p:txBody>
          <a:bodyPr wrap="square" lIns="0" tIns="0" rIns="0" bIns="0" rtlCol="0" anchor="ctr"/>
          <a:lstStyle/>
          <a:p>
            <a:pPr indent="0" marL="0">
              <a:buNone/>
            </a:pPr>
            <a:r>
              <a:rPr lang="en-US" sz="750" dirty="0">
                <a:solidFill>
                  <a:srgbClr val="333333"/>
                </a:solidFill>
                <a:latin typeface="Calibri" pitchFamily="34" charset="0"/>
                <a:ea typeface="Calibri" pitchFamily="34" charset="-122"/>
                <a:cs typeface="Calibri" pitchFamily="34" charset="-120"/>
              </a:rPr>
              <a:t>Plugin Revit → DPGF automatisé. App web suivi économique. Base prix Batiprix. 3–5 clients.</a:t>
            </a:r>
            <a:endParaRPr lang="en-US" sz="750" dirty="0"/>
          </a:p>
        </p:txBody>
      </p:sp>
      <p:sp>
        <p:nvSpPr>
          <p:cNvPr id="41" name="Shape 39"/>
          <p:cNvSpPr/>
          <p:nvPr/>
        </p:nvSpPr>
        <p:spPr>
          <a:xfrm>
            <a:off x="4846320" y="3703320"/>
            <a:ext cx="731520" cy="274320"/>
          </a:xfrm>
          <a:prstGeom prst="rect">
            <a:avLst/>
          </a:prstGeom>
          <a:solidFill>
            <a:srgbClr val="007A7F"/>
          </a:solidFill>
          <a:ln/>
        </p:spPr>
      </p:sp>
      <p:sp>
        <p:nvSpPr>
          <p:cNvPr id="42" name="Text 40"/>
          <p:cNvSpPr/>
          <p:nvPr/>
        </p:nvSpPr>
        <p:spPr>
          <a:xfrm>
            <a:off x="4846320" y="3703320"/>
            <a:ext cx="7315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2029+</a:t>
            </a:r>
            <a:endParaRPr lang="en-US" sz="800" dirty="0"/>
          </a:p>
        </p:txBody>
      </p:sp>
      <p:sp>
        <p:nvSpPr>
          <p:cNvPr id="43" name="Text 41"/>
          <p:cNvSpPr/>
          <p:nvPr/>
        </p:nvSpPr>
        <p:spPr>
          <a:xfrm>
            <a:off x="5669280" y="3703320"/>
            <a:ext cx="2926080" cy="274320"/>
          </a:xfrm>
          <a:prstGeom prst="rect">
            <a:avLst/>
          </a:prstGeom>
          <a:noFill/>
          <a:ln/>
        </p:spPr>
        <p:txBody>
          <a:bodyPr wrap="square" lIns="0" tIns="0" rIns="0" bIns="0" rtlCol="0" anchor="ctr"/>
          <a:lstStyle/>
          <a:p>
            <a:pPr indent="0" marL="0">
              <a:buNone/>
            </a:pPr>
            <a:r>
              <a:rPr lang="en-US" sz="900" b="1" dirty="0">
                <a:solidFill>
                  <a:srgbClr val="1E1E1E"/>
                </a:solidFill>
                <a:latin typeface="Calibri" pitchFamily="34" charset="0"/>
                <a:ea typeface="Calibri" pitchFamily="34" charset="-122"/>
                <a:cs typeface="Calibri" pitchFamily="34" charset="-120"/>
              </a:rPr>
              <a:t>Long terme</a:t>
            </a:r>
            <a:endParaRPr lang="en-US" sz="900" dirty="0"/>
          </a:p>
        </p:txBody>
      </p:sp>
      <p:sp>
        <p:nvSpPr>
          <p:cNvPr id="44" name="Text 42"/>
          <p:cNvSpPr/>
          <p:nvPr/>
        </p:nvSpPr>
        <p:spPr>
          <a:xfrm>
            <a:off x="4846320" y="4023360"/>
            <a:ext cx="3749040" cy="731520"/>
          </a:xfrm>
          <a:prstGeom prst="rect">
            <a:avLst/>
          </a:prstGeom>
          <a:noFill/>
          <a:ln/>
        </p:spPr>
        <p:txBody>
          <a:bodyPr wrap="square" lIns="0" tIns="0" rIns="0" bIns="0" rtlCol="0" anchor="ctr"/>
          <a:lstStyle/>
          <a:p>
            <a:pPr indent="0" marL="0">
              <a:buNone/>
            </a:pPr>
            <a:r>
              <a:rPr lang="en-US" sz="750" dirty="0">
                <a:solidFill>
                  <a:srgbClr val="333333"/>
                </a:solidFill>
                <a:latin typeface="Calibri" pitchFamily="34" charset="0"/>
                <a:ea typeface="Calibri" pitchFamily="34" charset="-122"/>
                <a:cs typeface="Calibri" pitchFamily="34" charset="-120"/>
              </a:rPr>
              <a:t>Cabinet ingénierie BIM + éco construction. SaaS MEC. Équipe 3–5 personnes. CA 200–300 k€/an.</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7A7F"/>
        </a:solidFill>
      </p:bgPr>
    </p:bg>
    <p:spTree>
      <p:nvGrpSpPr>
        <p:cNvPr id="1" name=""/>
        <p:cNvGrpSpPr/>
        <p:nvPr/>
      </p:nvGrpSpPr>
      <p:grpSpPr>
        <a:xfrm>
          <a:off x="0" y="0"/>
          <a:ext cx="0" cy="0"/>
          <a:chOff x="0" y="0"/>
          <a:chExt cx="0" cy="0"/>
        </a:xfrm>
      </p:grpSpPr>
      <p:sp>
        <p:nvSpPr>
          <p:cNvPr id="2" name="Text 0"/>
          <p:cNvSpPr/>
          <p:nvPr/>
        </p:nvSpPr>
        <p:spPr>
          <a:xfrm>
            <a:off x="457200" y="731520"/>
            <a:ext cx="5029200" cy="16459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Merci de votre</a:t>
            </a:r>
            <a:endParaRPr lang="en-US" sz="3200" dirty="0"/>
          </a:p>
          <a:p>
            <a:pPr indent="0" marL="0">
              <a:buNone/>
            </a:pPr>
            <a:r>
              <a:rPr lang="en-US" sz="3200" b="1" dirty="0">
                <a:solidFill>
                  <a:srgbClr val="FFFFFF"/>
                </a:solidFill>
                <a:latin typeface="Cambria" pitchFamily="34" charset="0"/>
                <a:ea typeface="Cambria" pitchFamily="34" charset="-122"/>
                <a:cs typeface="Cambria" pitchFamily="34" charset="-120"/>
              </a:rPr>
              <a:t>attention</a:t>
            </a:r>
            <a:endParaRPr lang="en-US" sz="3200" dirty="0"/>
          </a:p>
        </p:txBody>
      </p:sp>
      <p:sp>
        <p:nvSpPr>
          <p:cNvPr id="3" name="Text 1"/>
          <p:cNvSpPr/>
          <p:nvPr/>
        </p:nvSpPr>
        <p:spPr>
          <a:xfrm>
            <a:off x="457200" y="365760"/>
            <a:ext cx="4572000" cy="274320"/>
          </a:xfrm>
          <a:prstGeom prst="rect">
            <a:avLst/>
          </a:prstGeom>
          <a:noFill/>
          <a:ln/>
        </p:spPr>
        <p:txBody>
          <a:bodyPr wrap="square" lIns="0" tIns="0" rIns="0" bIns="0" rtlCol="0" anchor="ctr"/>
          <a:lstStyle/>
          <a:p>
            <a:pPr indent="0" marL="0">
              <a:buNone/>
            </a:pPr>
            <a:r>
              <a:rPr lang="en-US" sz="900" spc="200" kern="0" dirty="0">
                <a:solidFill>
                  <a:srgbClr val="E0F4F5"/>
                </a:solidFill>
                <a:latin typeface="Calibri" pitchFamily="34" charset="0"/>
                <a:ea typeface="Calibri" pitchFamily="34" charset="-122"/>
                <a:cs typeface="Calibri" pitchFamily="34" charset="-120"/>
              </a:rPr>
              <a:t>Soutenance BTS MEC U62 · Session 2026</a:t>
            </a:r>
            <a:endParaRPr lang="en-US" sz="900" dirty="0"/>
          </a:p>
        </p:txBody>
      </p:sp>
      <p:sp>
        <p:nvSpPr>
          <p:cNvPr id="4" name="Shape 2"/>
          <p:cNvSpPr/>
          <p:nvPr/>
        </p:nvSpPr>
        <p:spPr>
          <a:xfrm>
            <a:off x="5486400" y="731520"/>
            <a:ext cx="3291840" cy="822960"/>
          </a:xfrm>
          <a:prstGeom prst="rect">
            <a:avLst/>
          </a:prstGeom>
          <a:solidFill>
            <a:srgbClr val="FFFFFF"/>
          </a:solidFill>
          <a:ln/>
          <a:effectLst>
            <a:outerShdw sx="100000" sy="100000" kx="0" ky="0" algn="bl" rotWithShape="0" blurRad="50800" dist="19050" dir="8100000">
              <a:srgbClr val="000000">
                <a:alpha val="10000"/>
              </a:srgbClr>
            </a:outerShdw>
          </a:effectLst>
        </p:spPr>
      </p:sp>
      <p:sp>
        <p:nvSpPr>
          <p:cNvPr id="5" name="Shape 3"/>
          <p:cNvSpPr/>
          <p:nvPr/>
        </p:nvSpPr>
        <p:spPr>
          <a:xfrm>
            <a:off x="5623560" y="804672"/>
            <a:ext cx="274320" cy="274320"/>
          </a:xfrm>
          <a:prstGeom prst="ellipse">
            <a:avLst/>
          </a:prstGeom>
          <a:solidFill>
            <a:srgbClr val="007A7F"/>
          </a:solidFill>
          <a:ln/>
        </p:spPr>
      </p:sp>
      <p:sp>
        <p:nvSpPr>
          <p:cNvPr id="6" name="Text 4"/>
          <p:cNvSpPr/>
          <p:nvPr/>
        </p:nvSpPr>
        <p:spPr>
          <a:xfrm>
            <a:off x="5623560" y="804672"/>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p:nvPr/>
        </p:nvSpPr>
        <p:spPr>
          <a:xfrm>
            <a:off x="5989320" y="804672"/>
            <a:ext cx="2651760" cy="685800"/>
          </a:xfrm>
          <a:prstGeom prst="rect">
            <a:avLst/>
          </a:prstGeom>
          <a:noFill/>
          <a:ln/>
        </p:spPr>
        <p:txBody>
          <a:bodyPr wrap="square" lIns="0" tIns="0" rIns="0" bIns="0" rtlCol="0" anchor="ctr"/>
          <a:lstStyle/>
          <a:p>
            <a:pPr indent="0" marL="0">
              <a:buNone/>
            </a:pPr>
            <a:r>
              <a:rPr lang="en-US" sz="1000" b="1" dirty="0">
                <a:solidFill>
                  <a:srgbClr val="007A7F"/>
                </a:solidFill>
                <a:latin typeface="Calibri" pitchFamily="34" charset="0"/>
                <a:ea typeface="Calibri" pitchFamily="34" charset="-122"/>
                <a:cs typeface="Calibri" pitchFamily="34" charset="-120"/>
              </a:rPr>
              <a:t>5 compétences terrain</a:t>
            </a:r>
            <a:endParaRPr lang="en-US" sz="1000" dirty="0"/>
          </a:p>
          <a:p>
            <a:pPr indent="0" marL="0">
              <a:buNone/>
            </a:pPr>
            <a:r>
              <a:rPr lang="en-US" sz="800" dirty="0">
                <a:solidFill>
                  <a:srgbClr val="333333"/>
                </a:solidFill>
                <a:latin typeface="Calibri" pitchFamily="34" charset="0"/>
                <a:ea typeface="Calibri" pitchFamily="34" charset="-122"/>
                <a:cs typeface="Calibri" pitchFamily="34" charset="-120"/>
              </a:rPr>
              <a:t>Estimer, analyser, suivre, coordonner, contrôler</a:t>
            </a:r>
            <a:endParaRPr lang="en-US" sz="1000" dirty="0"/>
          </a:p>
        </p:txBody>
      </p:sp>
      <p:sp>
        <p:nvSpPr>
          <p:cNvPr id="8" name="Shape 6"/>
          <p:cNvSpPr/>
          <p:nvPr/>
        </p:nvSpPr>
        <p:spPr>
          <a:xfrm>
            <a:off x="5486400" y="1691640"/>
            <a:ext cx="3291840" cy="822960"/>
          </a:xfrm>
          <a:prstGeom prst="rect">
            <a:avLst/>
          </a:prstGeom>
          <a:solidFill>
            <a:srgbClr val="FFFFFF"/>
          </a:solidFill>
          <a:ln/>
          <a:effectLst>
            <a:outerShdw sx="100000" sy="100000" kx="0" ky="0" algn="bl" rotWithShape="0" blurRad="50800" dist="19050" dir="8100000">
              <a:srgbClr val="000000">
                <a:alpha val="10000"/>
              </a:srgbClr>
            </a:outerShdw>
          </a:effectLst>
        </p:spPr>
      </p:sp>
      <p:sp>
        <p:nvSpPr>
          <p:cNvPr id="9" name="Shape 7"/>
          <p:cNvSpPr/>
          <p:nvPr/>
        </p:nvSpPr>
        <p:spPr>
          <a:xfrm>
            <a:off x="5623560" y="1764792"/>
            <a:ext cx="274320" cy="274320"/>
          </a:xfrm>
          <a:prstGeom prst="ellipse">
            <a:avLst/>
          </a:prstGeom>
          <a:solidFill>
            <a:srgbClr val="007A7F"/>
          </a:solidFill>
          <a:ln/>
        </p:spPr>
      </p:sp>
      <p:sp>
        <p:nvSpPr>
          <p:cNvPr id="10" name="Text 8"/>
          <p:cNvSpPr/>
          <p:nvPr/>
        </p:nvSpPr>
        <p:spPr>
          <a:xfrm>
            <a:off x="5623560" y="1764792"/>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p:nvPr/>
        </p:nvSpPr>
        <p:spPr>
          <a:xfrm>
            <a:off x="5989320" y="1764792"/>
            <a:ext cx="2651760" cy="685800"/>
          </a:xfrm>
          <a:prstGeom prst="rect">
            <a:avLst/>
          </a:prstGeom>
          <a:noFill/>
          <a:ln/>
        </p:spPr>
        <p:txBody>
          <a:bodyPr wrap="square" lIns="0" tIns="0" rIns="0" bIns="0" rtlCol="0" anchor="ctr"/>
          <a:lstStyle/>
          <a:p>
            <a:pPr indent="0" marL="0">
              <a:buNone/>
            </a:pPr>
            <a:r>
              <a:rPr lang="en-US" sz="1000" b="1" dirty="0">
                <a:solidFill>
                  <a:srgbClr val="007A7F"/>
                </a:solidFill>
                <a:latin typeface="Calibri" pitchFamily="34" charset="0"/>
                <a:ea typeface="Calibri" pitchFamily="34" charset="-122"/>
                <a:cs typeface="Calibri" pitchFamily="34" charset="-120"/>
              </a:rPr>
              <a:t>Double lecture</a:t>
            </a:r>
            <a:endParaRPr lang="en-US" sz="1000" dirty="0"/>
          </a:p>
          <a:p>
            <a:pPr indent="0" marL="0">
              <a:buNone/>
            </a:pPr>
            <a:r>
              <a:rPr lang="en-US" sz="800" dirty="0">
                <a:solidFill>
                  <a:srgbClr val="333333"/>
                </a:solidFill>
                <a:latin typeface="Calibri" pitchFamily="34" charset="0"/>
                <a:ea typeface="Calibri" pitchFamily="34" charset="-122"/>
                <a:cs typeface="Calibri" pitchFamily="34" charset="-120"/>
              </a:rPr>
              <a:t>MOA Maroc + exécution France</a:t>
            </a:r>
            <a:endParaRPr lang="en-US" sz="1000" dirty="0"/>
          </a:p>
        </p:txBody>
      </p:sp>
      <p:sp>
        <p:nvSpPr>
          <p:cNvPr id="12" name="Shape 10"/>
          <p:cNvSpPr/>
          <p:nvPr/>
        </p:nvSpPr>
        <p:spPr>
          <a:xfrm>
            <a:off x="5486400" y="2651760"/>
            <a:ext cx="3291840" cy="822960"/>
          </a:xfrm>
          <a:prstGeom prst="rect">
            <a:avLst/>
          </a:prstGeom>
          <a:solidFill>
            <a:srgbClr val="FFFFFF"/>
          </a:solidFill>
          <a:ln/>
          <a:effectLst>
            <a:outerShdw sx="100000" sy="100000" kx="0" ky="0" algn="bl" rotWithShape="0" blurRad="50800" dist="19050" dir="8100000">
              <a:srgbClr val="000000">
                <a:alpha val="10000"/>
              </a:srgbClr>
            </a:outerShdw>
          </a:effectLst>
        </p:spPr>
      </p:sp>
      <p:sp>
        <p:nvSpPr>
          <p:cNvPr id="13" name="Shape 11"/>
          <p:cNvSpPr/>
          <p:nvPr/>
        </p:nvSpPr>
        <p:spPr>
          <a:xfrm>
            <a:off x="5623560" y="2724912"/>
            <a:ext cx="274320" cy="274320"/>
          </a:xfrm>
          <a:prstGeom prst="ellipse">
            <a:avLst/>
          </a:prstGeom>
          <a:solidFill>
            <a:srgbClr val="007A7F"/>
          </a:solidFill>
          <a:ln/>
        </p:spPr>
      </p:sp>
      <p:sp>
        <p:nvSpPr>
          <p:cNvPr id="14" name="Text 12"/>
          <p:cNvSpPr/>
          <p:nvPr/>
        </p:nvSpPr>
        <p:spPr>
          <a:xfrm>
            <a:off x="5623560" y="2724912"/>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5" name="Text 13"/>
          <p:cNvSpPr/>
          <p:nvPr/>
        </p:nvSpPr>
        <p:spPr>
          <a:xfrm>
            <a:off x="5989320" y="2724912"/>
            <a:ext cx="2651760" cy="685800"/>
          </a:xfrm>
          <a:prstGeom prst="rect">
            <a:avLst/>
          </a:prstGeom>
          <a:noFill/>
          <a:ln/>
        </p:spPr>
        <p:txBody>
          <a:bodyPr wrap="square" lIns="0" tIns="0" rIns="0" bIns="0" rtlCol="0" anchor="ctr"/>
          <a:lstStyle/>
          <a:p>
            <a:pPr indent="0" marL="0">
              <a:buNone/>
            </a:pPr>
            <a:r>
              <a:rPr lang="en-US" sz="1000" b="1" dirty="0">
                <a:solidFill>
                  <a:srgbClr val="007A7F"/>
                </a:solidFill>
                <a:latin typeface="Calibri" pitchFamily="34" charset="0"/>
                <a:ea typeface="Calibri" pitchFamily="34" charset="-122"/>
                <a:cs typeface="Calibri" pitchFamily="34" charset="-120"/>
              </a:rPr>
              <a:t>Rigueur de l’écrit</a:t>
            </a:r>
            <a:endParaRPr lang="en-US" sz="1000" dirty="0"/>
          </a:p>
          <a:p>
            <a:pPr indent="0" marL="0">
              <a:buNone/>
            </a:pPr>
            <a:r>
              <a:rPr lang="en-US" sz="800" dirty="0">
                <a:solidFill>
                  <a:srgbClr val="333333"/>
                </a:solidFill>
                <a:latin typeface="Calibri" pitchFamily="34" charset="0"/>
                <a:ea typeface="Calibri" pitchFamily="34" charset="-122"/>
                <a:cs typeface="Calibri" pitchFamily="34" charset="-120"/>
              </a:rPr>
              <a:t>OS, attachements, CR – le rempart contre les litiges</a:t>
            </a:r>
            <a:endParaRPr lang="en-US" sz="1000" dirty="0"/>
          </a:p>
        </p:txBody>
      </p:sp>
      <p:sp>
        <p:nvSpPr>
          <p:cNvPr id="16" name="Shape 14"/>
          <p:cNvSpPr/>
          <p:nvPr/>
        </p:nvSpPr>
        <p:spPr>
          <a:xfrm>
            <a:off x="5486400" y="3611880"/>
            <a:ext cx="3291840" cy="822960"/>
          </a:xfrm>
          <a:prstGeom prst="rect">
            <a:avLst/>
          </a:prstGeom>
          <a:solidFill>
            <a:srgbClr val="FFFFFF"/>
          </a:solidFill>
          <a:ln/>
          <a:effectLst>
            <a:outerShdw sx="100000" sy="100000" kx="0" ky="0" algn="bl" rotWithShape="0" blurRad="50800" dist="19050" dir="8100000">
              <a:srgbClr val="000000">
                <a:alpha val="10000"/>
              </a:srgbClr>
            </a:outerShdw>
          </a:effectLst>
        </p:spPr>
      </p:sp>
      <p:sp>
        <p:nvSpPr>
          <p:cNvPr id="17" name="Shape 15"/>
          <p:cNvSpPr/>
          <p:nvPr/>
        </p:nvSpPr>
        <p:spPr>
          <a:xfrm>
            <a:off x="5623560" y="3685032"/>
            <a:ext cx="274320" cy="274320"/>
          </a:xfrm>
          <a:prstGeom prst="ellipse">
            <a:avLst/>
          </a:prstGeom>
          <a:solidFill>
            <a:srgbClr val="007A7F"/>
          </a:solidFill>
          <a:ln/>
        </p:spPr>
      </p:sp>
      <p:sp>
        <p:nvSpPr>
          <p:cNvPr id="18" name="Text 16"/>
          <p:cNvSpPr/>
          <p:nvPr/>
        </p:nvSpPr>
        <p:spPr>
          <a:xfrm>
            <a:off x="5623560" y="3685032"/>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9" name="Text 17"/>
          <p:cNvSpPr/>
          <p:nvPr/>
        </p:nvSpPr>
        <p:spPr>
          <a:xfrm>
            <a:off x="5989320" y="3685032"/>
            <a:ext cx="2651760" cy="685800"/>
          </a:xfrm>
          <a:prstGeom prst="rect">
            <a:avLst/>
          </a:prstGeom>
          <a:noFill/>
          <a:ln/>
        </p:spPr>
        <p:txBody>
          <a:bodyPr wrap="square" lIns="0" tIns="0" rIns="0" bIns="0" rtlCol="0" anchor="ctr"/>
          <a:lstStyle/>
          <a:p>
            <a:pPr indent="0" marL="0">
              <a:buNone/>
            </a:pPr>
            <a:r>
              <a:rPr lang="en-US" sz="1000" b="1" dirty="0">
                <a:solidFill>
                  <a:srgbClr val="007A7F"/>
                </a:solidFill>
                <a:latin typeface="Calibri" pitchFamily="34" charset="0"/>
                <a:ea typeface="Calibri" pitchFamily="34" charset="-122"/>
                <a:cs typeface="Calibri" pitchFamily="34" charset="-120"/>
              </a:rPr>
              <a:t>BIMCO</a:t>
            </a:r>
            <a:endParaRPr lang="en-US" sz="1000" dirty="0"/>
          </a:p>
          <a:p>
            <a:pPr indent="0" marL="0">
              <a:buNone/>
            </a:pPr>
            <a:r>
              <a:rPr lang="en-US" sz="800" dirty="0">
                <a:solidFill>
                  <a:srgbClr val="333333"/>
                </a:solidFill>
                <a:latin typeface="Calibri" pitchFamily="34" charset="0"/>
                <a:ea typeface="Calibri" pitchFamily="34" charset="-122"/>
                <a:cs typeface="Calibri" pitchFamily="34" charset="-120"/>
              </a:rPr>
              <a:t>La rigueur terrain + les outils numériques</a:t>
            </a:r>
            <a:endParaRPr lang="en-US" sz="1000" dirty="0"/>
          </a:p>
        </p:txBody>
      </p:sp>
      <p:sp>
        <p:nvSpPr>
          <p:cNvPr id="20" name="Text 18"/>
          <p:cNvSpPr/>
          <p:nvPr/>
        </p:nvSpPr>
        <p:spPr>
          <a:xfrm>
            <a:off x="457200" y="4206240"/>
            <a:ext cx="5486400" cy="731520"/>
          </a:xfrm>
          <a:prstGeom prst="rect">
            <a:avLst/>
          </a:prstGeom>
          <a:noFill/>
          <a:ln/>
        </p:spPr>
        <p:txBody>
          <a:bodyPr wrap="square" lIns="0" tIns="0" rIns="0" bIns="0" rtlCol="0" anchor="ctr"/>
          <a:lstStyle/>
          <a:p>
            <a:pPr indent="0" marL="0">
              <a:buNone/>
            </a:pPr>
            <a:r>
              <a:rPr lang="en-US" sz="900" dirty="0">
                <a:solidFill>
                  <a:srgbClr val="E0F4F5"/>
                </a:solidFill>
                <a:latin typeface="Calibri" pitchFamily="34" charset="0"/>
                <a:ea typeface="Calibri" pitchFamily="34" charset="-122"/>
                <a:cs typeface="Calibri" pitchFamily="34" charset="-120"/>
              </a:rPr>
              <a:t>BAHAFID Mohamed · N° 02537399911 · Académie de Lyon</a:t>
            </a:r>
            <a:endParaRPr lang="en-US" sz="900" dirty="0"/>
          </a:p>
          <a:p>
            <a:pPr indent="0" marL="0">
              <a:buNone/>
            </a:pPr>
            <a:r>
              <a:rPr lang="en-US" sz="900" dirty="0">
                <a:solidFill>
                  <a:srgbClr val="E0F4F5"/>
                </a:solidFill>
                <a:latin typeface="Calibri" pitchFamily="34" charset="0"/>
                <a:ea typeface="Calibri" pitchFamily="34" charset="-122"/>
                <a:cs typeface="Calibri" pitchFamily="34" charset="-120"/>
              </a:rPr>
              <a:t>BIMCO | gestion.bimco-consulting.fr | Bussières, Loire 42510</a:t>
            </a:r>
            <a:endParaRPr lang="en-US" sz="900" dirty="0"/>
          </a:p>
        </p:txBody>
      </p:sp>
      <p:sp>
        <p:nvSpPr>
          <p:cNvPr id="21" name="Text 19"/>
          <p:cNvSpPr/>
          <p:nvPr/>
        </p:nvSpPr>
        <p:spPr>
          <a:xfrm>
            <a:off x="457200" y="2834640"/>
            <a:ext cx="4572000" cy="365760"/>
          </a:xfrm>
          <a:prstGeom prst="rect">
            <a:avLst/>
          </a:prstGeom>
          <a:noFill/>
          <a:ln/>
        </p:spPr>
        <p:txBody>
          <a:bodyPr wrap="square" lIns="0" tIns="0" rIns="0" bIns="0" rtlCol="0" anchor="ctr"/>
          <a:lstStyle/>
          <a:p>
            <a:pPr indent="0" marL="0">
              <a:buNone/>
            </a:pPr>
            <a:r>
              <a:rPr lang="en-US" sz="800" dirty="0">
                <a:solidFill>
                  <a:srgbClr val="E0F4F5"/>
                </a:solidFill>
                <a:latin typeface="Calibri" pitchFamily="34" charset="0"/>
                <a:ea typeface="Calibri" pitchFamily="34" charset="-122"/>
                <a:cs typeface="Calibri" pitchFamily="34" charset="-120"/>
              </a:rPr>
              <a:t>8 ans BTP · 2 pays · 7 marchés publics · 82,5 M DH gérés · Triple compétence MOA + Exécution + BIM</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Rapport d’Activités Professionnelles – BTS MEC U62 – Session 2026</dc:title>
  <dc:subject>PptxGenJS Presentation</dc:subject>
  <dc:creator>BAHAFID Mohamed</dc:creator>
  <cp:lastModifiedBy>BAHAFID Mohamed</cp:lastModifiedBy>
  <cp:revision>1</cp:revision>
  <dcterms:created xsi:type="dcterms:W3CDTF">2026-03-23T12:23:38Z</dcterms:created>
  <dcterms:modified xsi:type="dcterms:W3CDTF">2026-03-23T12:23:38Z</dcterms:modified>
</cp:coreProperties>
</file>