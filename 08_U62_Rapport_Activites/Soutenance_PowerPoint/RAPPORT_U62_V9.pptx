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18"/>
  </p:notesMasterIdLst>
  <p:sldIdLst>
    <p:sldId id="392" r:id="rId2"/>
    <p:sldId id="473" r:id="rId3"/>
    <p:sldId id="461" r:id="rId4"/>
    <p:sldId id="436" r:id="rId5"/>
    <p:sldId id="438" r:id="rId6"/>
    <p:sldId id="421" r:id="rId7"/>
    <p:sldId id="423" r:id="rId8"/>
    <p:sldId id="398" r:id="rId9"/>
    <p:sldId id="432" r:id="rId10"/>
    <p:sldId id="453" r:id="rId11"/>
    <p:sldId id="433" r:id="rId12"/>
    <p:sldId id="434" r:id="rId13"/>
    <p:sldId id="403" r:id="rId14"/>
    <p:sldId id="404" r:id="rId15"/>
    <p:sldId id="405" r:id="rId16"/>
    <p:sldId id="45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6" autoAdjust="0"/>
    <p:restoredTop sz="94610"/>
  </p:normalViewPr>
  <p:slideViewPr>
    <p:cSldViewPr snapToGrid="0" snapToObjects="1">
      <p:cViewPr varScale="1">
        <p:scale>
          <a:sx n="177" d="100"/>
          <a:sy n="177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 algn="l">
              <a:defRPr sz="1400" b="1">
                <a:solidFill>
                  <a:srgbClr val="2D3436"/>
                </a:solidFill>
                <a:latin typeface="Poppins"/>
              </a:defRPr>
            </a:pPr>
            <a:r>
              <a:rPr lang="fr-FR" sz="1400" b="1" dirty="0">
                <a:solidFill>
                  <a:srgbClr val="00B894"/>
                </a:solidFill>
                <a:latin typeface="Poppins"/>
              </a:rPr>
              <a:t>Répartition budgétaire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Budget (M DH)</c:v>
          </c:tx>
          <c:dPt>
            <c:idx val="0"/>
            <c:bubble3D val="0"/>
            <c:spPr>
              <a:solidFill>
                <a:srgbClr val="00B894"/>
              </a:solidFill>
            </c:spPr>
            <c:extLst>
              <c:ext xmlns:c16="http://schemas.microsoft.com/office/drawing/2014/chart" uri="{C3380CC4-5D6E-409C-BE32-E72D297353CC}">
                <c16:uniqueId val="{00000001-4803-44E7-97EC-D4FC243D06AC}"/>
              </c:ext>
            </c:extLst>
          </c:dPt>
          <c:dPt>
            <c:idx val="1"/>
            <c:bubble3D val="0"/>
            <c:spPr>
              <a:solidFill>
                <a:srgbClr val="00CEC9"/>
              </a:solidFill>
            </c:spPr>
            <c:extLst>
              <c:ext xmlns:c16="http://schemas.microsoft.com/office/drawing/2014/chart" uri="{C3380CC4-5D6E-409C-BE32-E72D297353CC}">
                <c16:uniqueId val="{00000003-4803-44E7-97EC-D4FC243D06AC}"/>
              </c:ext>
            </c:extLst>
          </c:dPt>
          <c:dPt>
            <c:idx val="2"/>
            <c:bubble3D val="0"/>
            <c:spPr>
              <a:solidFill>
                <a:srgbClr val="0984E3"/>
              </a:solidFill>
            </c:spPr>
            <c:extLst>
              <c:ext xmlns:c16="http://schemas.microsoft.com/office/drawing/2014/chart" uri="{C3380CC4-5D6E-409C-BE32-E72D297353CC}">
                <c16:uniqueId val="{00000005-4803-44E7-97EC-D4FC243D06AC}"/>
              </c:ext>
            </c:extLst>
          </c:dPt>
          <c:dPt>
            <c:idx val="3"/>
            <c:bubble3D val="0"/>
            <c:spPr>
              <a:solidFill>
                <a:srgbClr val="636E72"/>
              </a:solidFill>
            </c:spPr>
            <c:extLst>
              <c:ext xmlns:c16="http://schemas.microsoft.com/office/drawing/2014/chart" uri="{C3380CC4-5D6E-409C-BE32-E72D297353CC}">
                <c16:uniqueId val="{00000007-4803-44E7-97EC-D4FC243D06AC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Open San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4"/>
              <c:pt idx="0">
                <c:v>Ouaoumana</c:v>
              </c:pt>
              <c:pt idx="1">
                <c:v>Sebt Ait Rahou</c:v>
              </c:pt>
              <c:pt idx="2">
                <c:v>Kerrouchen</c:v>
              </c:pt>
              <c:pt idx="3">
                <c:v>El Hammam</c:v>
              </c:pt>
            </c:strLit>
          </c:cat>
          <c:val>
            <c:numLit>
              <c:formatCode>General</c:formatCode>
              <c:ptCount val="4"/>
              <c:pt idx="0">
                <c:v>15.83</c:v>
              </c:pt>
              <c:pt idx="1">
                <c:v>14.8</c:v>
              </c:pt>
              <c:pt idx="2">
                <c:v>7.34</c:v>
              </c:pt>
              <c:pt idx="3">
                <c:v>6.63</c:v>
              </c:pt>
            </c:numLit>
          </c:val>
          <c:extLst>
            <c:ext xmlns:c16="http://schemas.microsoft.com/office/drawing/2014/chart" uri="{C3380CC4-5D6E-409C-BE32-E72D297353CC}">
              <c16:uniqueId val="{00000008-4803-44E7-97EC-D4FC243D06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636E72"/>
              </a:solidFill>
              <a:latin typeface="Open Sans"/>
            </a:defRPr>
          </a:pPr>
          <a:endParaRPr lang="fr-FR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 algn="l">
              <a:defRPr sz="1400" b="1">
                <a:solidFill>
                  <a:srgbClr val="2D3436"/>
                </a:solidFill>
                <a:latin typeface="Poppins"/>
              </a:defRPr>
            </a:pPr>
            <a:r>
              <a:rPr lang="fr-FR" sz="1400" b="1" dirty="0">
                <a:solidFill>
                  <a:srgbClr val="00B894"/>
                </a:solidFill>
                <a:latin typeface="Poppins"/>
              </a:rPr>
              <a:t>Budget par commune (M DH)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Budget (M DH)</c:v>
          </c:tx>
          <c:invertIfNegative val="1"/>
          <c:dPt>
            <c:idx val="0"/>
            <c:invertIfNegative val="1"/>
            <c:bubble3D val="0"/>
            <c:spPr>
              <a:solidFill>
                <a:srgbClr val="00B89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8DE-48A9-806D-C867857D0193}"/>
              </c:ext>
            </c:extLst>
          </c:dPt>
          <c:dPt>
            <c:idx val="1"/>
            <c:invertIfNegative val="1"/>
            <c:bubble3D val="0"/>
            <c:spPr>
              <a:solidFill>
                <a:srgbClr val="00CE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8DE-48A9-806D-C867857D0193}"/>
              </c:ext>
            </c:extLst>
          </c:dPt>
          <c:dPt>
            <c:idx val="2"/>
            <c:invertIfNegative val="1"/>
            <c:bubble3D val="0"/>
            <c:spPr>
              <a:solidFill>
                <a:srgbClr val="0984E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8DE-48A9-806D-C867857D0193}"/>
              </c:ext>
            </c:extLst>
          </c:dPt>
          <c:dPt>
            <c:idx val="3"/>
            <c:invertIfNegative val="1"/>
            <c:bubble3D val="0"/>
            <c:spPr>
              <a:solidFill>
                <a:srgbClr val="636E7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8DE-48A9-806D-C867857D019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2D3436"/>
                    </a:solidFill>
                    <a:latin typeface="Open San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Ouaoumana</c:v>
              </c:pt>
              <c:pt idx="1">
                <c:v>Sebt Ait Rahou</c:v>
              </c:pt>
              <c:pt idx="2">
                <c:v>Kerrouchen</c:v>
              </c:pt>
              <c:pt idx="3">
                <c:v>El Hammam</c:v>
              </c:pt>
            </c:strLit>
          </c:cat>
          <c:val>
            <c:numLit>
              <c:formatCode>General</c:formatCode>
              <c:ptCount val="4"/>
              <c:pt idx="0">
                <c:v>15.83</c:v>
              </c:pt>
              <c:pt idx="1">
                <c:v>14.8</c:v>
              </c:pt>
              <c:pt idx="2">
                <c:v>7.34</c:v>
              </c:pt>
              <c:pt idx="3">
                <c:v>6.63</c:v>
              </c:pt>
            </c:numLit>
          </c:val>
          <c:extLst>
            <c:ext xmlns:c16="http://schemas.microsoft.com/office/drawing/2014/chart" uri="{C3380CC4-5D6E-409C-BE32-E72D297353CC}">
              <c16:uniqueId val="{00000008-98DE-48A9-806D-C867857D01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2D3436"/>
                </a:solidFill>
                <a:latin typeface="Open Sans"/>
              </a:defRPr>
            </a:pPr>
            <a:endParaRPr lang="fr-F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2D3436"/>
                </a:solidFill>
                <a:latin typeface="Poppins"/>
              </a:defRPr>
            </a:pPr>
            <a:r>
              <a:rPr lang="fr-FR" sz="1400" b="1" dirty="0">
                <a:solidFill>
                  <a:srgbClr val="2D3436"/>
                </a:solidFill>
                <a:latin typeface="Poppins"/>
              </a:rPr>
              <a:t>Répartition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v>Budget HT</c:v>
          </c:tx>
          <c:dPt>
            <c:idx val="0"/>
            <c:bubble3D val="0"/>
            <c:spPr>
              <a:solidFill>
                <a:srgbClr val="00B894"/>
              </a:solidFill>
            </c:spPr>
            <c:extLst>
              <c:ext xmlns:c16="http://schemas.microsoft.com/office/drawing/2014/chart" uri="{C3380CC4-5D6E-409C-BE32-E72D297353CC}">
                <c16:uniqueId val="{00000001-1F20-4FFC-A177-BB29196E0AB1}"/>
              </c:ext>
            </c:extLst>
          </c:dPt>
          <c:dPt>
            <c:idx val="1"/>
            <c:bubble3D val="0"/>
            <c:spPr>
              <a:solidFill>
                <a:srgbClr val="00CEC9"/>
              </a:solidFill>
            </c:spPr>
            <c:extLst>
              <c:ext xmlns:c16="http://schemas.microsoft.com/office/drawing/2014/chart" uri="{C3380CC4-5D6E-409C-BE32-E72D297353CC}">
                <c16:uniqueId val="{00000003-1F20-4FFC-A177-BB29196E0AB1}"/>
              </c:ext>
            </c:extLst>
          </c:dPt>
          <c:dPt>
            <c:idx val="2"/>
            <c:bubble3D val="0"/>
            <c:spPr>
              <a:solidFill>
                <a:srgbClr val="0984E3"/>
              </a:solidFill>
            </c:spPr>
            <c:extLst>
              <c:ext xmlns:c16="http://schemas.microsoft.com/office/drawing/2014/chart" uri="{C3380CC4-5D6E-409C-BE32-E72D297353CC}">
                <c16:uniqueId val="{00000005-1F20-4FFC-A177-BB29196E0AB1}"/>
              </c:ext>
            </c:extLst>
          </c:dPt>
          <c:dPt>
            <c:idx val="3"/>
            <c:bubble3D val="0"/>
            <c:spPr>
              <a:solidFill>
                <a:srgbClr val="636E72"/>
              </a:solidFill>
            </c:spPr>
            <c:extLst>
              <c:ext xmlns:c16="http://schemas.microsoft.com/office/drawing/2014/chart" uri="{C3380CC4-5D6E-409C-BE32-E72D297353CC}">
                <c16:uniqueId val="{00000007-1F20-4FFC-A177-BB29196E0AB1}"/>
              </c:ext>
            </c:extLst>
          </c:dPt>
          <c:dPt>
            <c:idx val="4"/>
            <c:bubble3D val="0"/>
            <c:spPr>
              <a:solidFill>
                <a:srgbClr val="2D3436"/>
              </a:solidFill>
            </c:spPr>
            <c:extLst>
              <c:ext xmlns:c16="http://schemas.microsoft.com/office/drawing/2014/chart" uri="{C3380CC4-5D6E-409C-BE32-E72D297353CC}">
                <c16:uniqueId val="{00000009-1F20-4FFC-A177-BB29196E0AB1}"/>
              </c:ext>
            </c:extLst>
          </c:dPt>
          <c:dPt>
            <c:idx val="5"/>
            <c:bubble3D val="0"/>
            <c:spPr>
              <a:solidFill>
                <a:srgbClr val="74B9FF"/>
              </a:solidFill>
            </c:spPr>
            <c:extLst>
              <c:ext xmlns:c16="http://schemas.microsoft.com/office/drawing/2014/chart" uri="{C3380CC4-5D6E-409C-BE32-E72D297353CC}">
                <c16:uniqueId val="{0000000B-1F20-4FFC-A177-BB29196E0AB1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  <a:latin typeface="Open San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6"/>
              <c:pt idx="0">
                <c:v>Terrassement</c:v>
              </c:pt>
              <c:pt idx="1">
                <c:v>Corps de chaussée</c:v>
              </c:pt>
              <c:pt idx="2">
                <c:v>Revêtement</c:v>
              </c:pt>
              <c:pt idx="3">
                <c:v>Ouvrages hydrauliques</c:v>
              </c:pt>
              <c:pt idx="4">
                <c:v>Soutènement</c:v>
              </c:pt>
              <c:pt idx="5">
                <c:v>Bretelles</c:v>
              </c:pt>
            </c:strLit>
          </c:cat>
          <c:val>
            <c:numLit>
              <c:formatCode>General</c:formatCode>
              <c:ptCount val="6"/>
              <c:pt idx="0">
                <c:v>4325057</c:v>
              </c:pt>
              <c:pt idx="1">
                <c:v>7280884</c:v>
              </c:pt>
              <c:pt idx="2">
                <c:v>2588570</c:v>
              </c:pt>
              <c:pt idx="3">
                <c:v>6793920</c:v>
              </c:pt>
              <c:pt idx="4">
                <c:v>458220</c:v>
              </c:pt>
              <c:pt idx="5">
                <c:v>2722720</c:v>
              </c:pt>
            </c:numLit>
          </c:val>
          <c:extLst>
            <c:ext xmlns:c16="http://schemas.microsoft.com/office/drawing/2014/chart" uri="{C3380CC4-5D6E-409C-BE32-E72D297353CC}">
              <c16:uniqueId val="{0000000C-1F20-4FFC-A177-BB29196E0A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</c:plotArea>
    <c:legend>
      <c:legendPos val="b"/>
      <c:overlay val="0"/>
      <c:txPr>
        <a:bodyPr/>
        <a:lstStyle/>
        <a:p>
          <a:pPr>
            <a:defRPr sz="900">
              <a:solidFill>
                <a:srgbClr val="636E72"/>
              </a:solidFill>
              <a:latin typeface="Open Sans"/>
            </a:defRPr>
          </a:pPr>
          <a:endParaRPr lang="fr-FR"/>
        </a:p>
      </c:txPr>
    </c:legend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2D3436"/>
                </a:solidFill>
                <a:latin typeface="Poppins"/>
              </a:defRPr>
            </a:pPr>
            <a:r>
              <a:rPr lang="fr-FR" sz="1400" b="1" dirty="0">
                <a:solidFill>
                  <a:srgbClr val="2D3436"/>
                </a:solidFill>
                <a:latin typeface="Poppins"/>
              </a:rPr>
              <a:t>Montant par poste (DH)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Montant HT (DH)</c:v>
          </c:tx>
          <c:spPr>
            <a:solidFill>
              <a:srgbClr val="00CEC9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00B894"/>
              </a:solidFill>
            </c:spPr>
            <c:extLst>
              <c:ext xmlns:c16="http://schemas.microsoft.com/office/drawing/2014/chart" uri="{C3380CC4-5D6E-409C-BE32-E72D297353CC}">
                <c16:uniqueId val="{00000001-DE55-4691-B96F-813CD4514450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DE55-4691-B96F-813CD4514450}"/>
              </c:ext>
            </c:extLst>
          </c:dPt>
          <c:dPt>
            <c:idx val="2"/>
            <c:invertIfNegative val="1"/>
            <c:bubble3D val="0"/>
            <c:spPr>
              <a:solidFill>
                <a:srgbClr val="0984E3"/>
              </a:solidFill>
            </c:spPr>
            <c:extLst>
              <c:ext xmlns:c16="http://schemas.microsoft.com/office/drawing/2014/chart" uri="{C3380CC4-5D6E-409C-BE32-E72D297353CC}">
                <c16:uniqueId val="{00000005-DE55-4691-B96F-813CD4514450}"/>
              </c:ext>
            </c:extLst>
          </c:dPt>
          <c:dPt>
            <c:idx val="3"/>
            <c:invertIfNegative val="1"/>
            <c:bubble3D val="0"/>
            <c:spPr>
              <a:solidFill>
                <a:srgbClr val="636E72"/>
              </a:solidFill>
            </c:spPr>
            <c:extLst>
              <c:ext xmlns:c16="http://schemas.microsoft.com/office/drawing/2014/chart" uri="{C3380CC4-5D6E-409C-BE32-E72D297353CC}">
                <c16:uniqueId val="{00000007-DE55-4691-B96F-813CD4514450}"/>
              </c:ext>
            </c:extLst>
          </c:dPt>
          <c:dPt>
            <c:idx val="4"/>
            <c:invertIfNegative val="1"/>
            <c:bubble3D val="0"/>
            <c:spPr>
              <a:solidFill>
                <a:srgbClr val="2D3436"/>
              </a:solidFill>
            </c:spPr>
            <c:extLst>
              <c:ext xmlns:c16="http://schemas.microsoft.com/office/drawing/2014/chart" uri="{C3380CC4-5D6E-409C-BE32-E72D297353CC}">
                <c16:uniqueId val="{00000009-DE55-4691-B96F-813CD4514450}"/>
              </c:ext>
            </c:extLst>
          </c:dPt>
          <c:dPt>
            <c:idx val="5"/>
            <c:invertIfNegative val="1"/>
            <c:bubble3D val="0"/>
            <c:spPr>
              <a:solidFill>
                <a:srgbClr val="74B9FF"/>
              </a:solidFill>
            </c:spPr>
            <c:extLst>
              <c:ext xmlns:c16="http://schemas.microsoft.com/office/drawing/2014/chart" uri="{C3380CC4-5D6E-409C-BE32-E72D297353CC}">
                <c16:uniqueId val="{0000000B-DE55-4691-B96F-813CD45144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D3436"/>
                    </a:solidFill>
                    <a:latin typeface="Open San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Terrassement</c:v>
              </c:pt>
              <c:pt idx="1">
                <c:v>Corps de chaussée</c:v>
              </c:pt>
              <c:pt idx="2">
                <c:v>Revêtement</c:v>
              </c:pt>
              <c:pt idx="3">
                <c:v>Ouvrages hydrauliques</c:v>
              </c:pt>
              <c:pt idx="4">
                <c:v>Soutènement</c:v>
              </c:pt>
              <c:pt idx="5">
                <c:v>Bretelles</c:v>
              </c:pt>
            </c:strLit>
          </c:cat>
          <c:val>
            <c:numLit>
              <c:formatCode>General</c:formatCode>
              <c:ptCount val="6"/>
              <c:pt idx="0">
                <c:v>4325057</c:v>
              </c:pt>
              <c:pt idx="1">
                <c:v>7280884</c:v>
              </c:pt>
              <c:pt idx="2">
                <c:v>2588570</c:v>
              </c:pt>
              <c:pt idx="3">
                <c:v>6793920</c:v>
              </c:pt>
              <c:pt idx="4">
                <c:v>458220</c:v>
              </c:pt>
              <c:pt idx="5">
                <c:v>2722720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DE55-4691-B96F-813CD4514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36E72"/>
                </a:solidFill>
                <a:latin typeface="Open Sans"/>
              </a:defRPr>
            </a:pPr>
            <a:endParaRPr lang="fr-F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87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Bar"/>
          <p:cNvSpPr/>
          <p:nvPr userDrawn="1"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B5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1" name="GoldLine"/>
          <p:cNvSpPr/>
          <p:nvPr userDrawn="1"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1" name="Top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B894"/>
          </a:solidFill>
          <a:ln>
            <a:noFill/>
          </a:ln>
        </p:spPr>
      </p:sp>
      <p:sp>
        <p:nvSpPr>
          <p:cNvPr id="902" name="BotLine"/>
          <p:cNvSpPr/>
          <p:nvPr/>
        </p:nvSpPr>
        <p:spPr>
          <a:xfrm>
            <a:off x="457200" y="6400800"/>
            <a:ext cx="11277600" cy="0"/>
          </a:xfrm>
          <a:prstGeom prst="line">
            <a:avLst/>
          </a:prstGeom>
          <a:ln w="6350">
            <a:solidFill>
              <a:srgbClr val="DFE6E9"/>
            </a:solidFill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2D343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636E7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636E7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636E7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636E7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636E7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636E7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636E7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636E7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636E7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3556000" cy="51435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381000" y="635000"/>
            <a:ext cx="292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000" spc="300" dirty="0">
                <a:solidFill>
                  <a:srgbClr val="FFFFFF"/>
                </a:solidFill>
                <a:latin typeface="Open Sans"/>
              </a:rPr>
              <a:t>CANDIDAT</a:t>
            </a:r>
          </a:p>
        </p:txBody>
      </p:sp>
      <p:sp>
        <p:nvSpPr>
          <p:cNvPr id="4" name="s4"/>
          <p:cNvSpPr/>
          <p:nvPr/>
        </p:nvSpPr>
        <p:spPr>
          <a:xfrm>
            <a:off x="381000" y="914400"/>
            <a:ext cx="292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2200" b="1" dirty="0">
                <a:solidFill>
                  <a:srgbClr val="FFFFFF"/>
                </a:solidFill>
                <a:latin typeface="Poppins"/>
              </a:rPr>
              <a:t>BAHAFID</a:t>
            </a:r>
          </a:p>
          <a:p>
            <a:pPr>
              <a:buNone/>
            </a:pPr>
            <a:r>
              <a:rPr lang="fr-FR" sz="2200" b="1" dirty="0">
                <a:solidFill>
                  <a:srgbClr val="FFFFFF"/>
                </a:solidFill>
                <a:latin typeface="Poppins"/>
              </a:rPr>
              <a:t>Mohamed</a:t>
            </a:r>
          </a:p>
        </p:txBody>
      </p:sp>
      <p:sp>
        <p:nvSpPr>
          <p:cNvPr id="5" name="s5"/>
          <p:cNvSpPr/>
          <p:nvPr/>
        </p:nvSpPr>
        <p:spPr>
          <a:xfrm>
            <a:off x="381000" y="1905000"/>
            <a:ext cx="762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381000" y="2057400"/>
            <a:ext cx="292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000" dirty="0">
                <a:solidFill>
                  <a:srgbClr val="E8F8F5"/>
                </a:solidFill>
                <a:latin typeface="Open Sans"/>
              </a:rPr>
              <a:t>Épreuve U62  •  Session 2026</a:t>
            </a:r>
          </a:p>
          <a:p>
            <a:pPr>
              <a:spcBef>
                <a:spcPts val="400"/>
              </a:spcBef>
              <a:buNone/>
            </a:pPr>
            <a:r>
              <a:rPr lang="fr-FR" sz="1000" dirty="0">
                <a:solidFill>
                  <a:srgbClr val="E8F8F5"/>
                </a:solidFill>
                <a:latin typeface="Open Sans"/>
              </a:rPr>
              <a:t>Conseil Régional</a:t>
            </a:r>
          </a:p>
          <a:p>
            <a:pPr>
              <a:buNone/>
            </a:pPr>
            <a:r>
              <a:rPr lang="fr-FR" sz="1000" dirty="0">
                <a:solidFill>
                  <a:srgbClr val="E8F8F5"/>
                </a:solidFill>
                <a:latin typeface="Open Sans"/>
              </a:rPr>
              <a:t>Béni Mellal-Khénifra</a:t>
            </a:r>
          </a:p>
        </p:txBody>
      </p:sp>
      <p:sp>
        <p:nvSpPr>
          <p:cNvPr id="10" name="s10"/>
          <p:cNvSpPr/>
          <p:nvPr/>
        </p:nvSpPr>
        <p:spPr>
          <a:xfrm>
            <a:off x="381000" y="3683000"/>
            <a:ext cx="9525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600" b="1" dirty="0">
                <a:solidFill>
                  <a:srgbClr val="FFFFFF"/>
                </a:solidFill>
                <a:latin typeface="Poppins"/>
              </a:rPr>
              <a:t>82,5M</a:t>
            </a:r>
          </a:p>
          <a:p>
            <a:pPr algn="ctr">
              <a:buNone/>
            </a:pPr>
            <a:r>
              <a:rPr lang="fr-FR" sz="800" dirty="0">
                <a:solidFill>
                  <a:srgbClr val="E8F8F5"/>
                </a:solidFill>
                <a:latin typeface="Open Sans"/>
              </a:rPr>
              <a:t>DH gérés</a:t>
            </a:r>
          </a:p>
        </p:txBody>
      </p:sp>
      <p:sp>
        <p:nvSpPr>
          <p:cNvPr id="11" name="s11"/>
          <p:cNvSpPr/>
          <p:nvPr/>
        </p:nvSpPr>
        <p:spPr>
          <a:xfrm>
            <a:off x="1422400" y="3683000"/>
            <a:ext cx="9525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600" b="1" dirty="0">
                <a:solidFill>
                  <a:srgbClr val="FFFFFF"/>
                </a:solidFill>
                <a:latin typeface="Poppins"/>
              </a:rPr>
              <a:t>8 ans</a:t>
            </a:r>
          </a:p>
          <a:p>
            <a:pPr algn="ctr">
              <a:buNone/>
            </a:pPr>
            <a:r>
              <a:rPr lang="fr-FR" sz="800" dirty="0">
                <a:solidFill>
                  <a:srgbClr val="E8F8F5"/>
                </a:solidFill>
                <a:latin typeface="Open Sans"/>
              </a:rPr>
              <a:t>Terrain</a:t>
            </a:r>
          </a:p>
        </p:txBody>
      </p:sp>
      <p:sp>
        <p:nvSpPr>
          <p:cNvPr id="12" name="s12"/>
          <p:cNvSpPr/>
          <p:nvPr/>
        </p:nvSpPr>
        <p:spPr>
          <a:xfrm>
            <a:off x="2463800" y="3683000"/>
            <a:ext cx="9525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600" b="1" dirty="0">
                <a:solidFill>
                  <a:srgbClr val="FFFFFF"/>
                </a:solidFill>
                <a:latin typeface="Poppins"/>
              </a:rPr>
              <a:t>0</a:t>
            </a:r>
          </a:p>
          <a:p>
            <a:pPr algn="ctr">
              <a:buNone/>
            </a:pPr>
            <a:r>
              <a:rPr lang="fr-FR" sz="800" dirty="0">
                <a:solidFill>
                  <a:srgbClr val="E8F8F5"/>
                </a:solidFill>
                <a:latin typeface="Open Sans"/>
              </a:rPr>
              <a:t>Avenant</a:t>
            </a:r>
          </a:p>
        </p:txBody>
      </p:sp>
      <p:sp>
        <p:nvSpPr>
          <p:cNvPr id="20" name="s20"/>
          <p:cNvSpPr/>
          <p:nvPr/>
        </p:nvSpPr>
        <p:spPr>
          <a:xfrm>
            <a:off x="3937000" y="1016000"/>
            <a:ext cx="4699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/>
          <a:lstStyle/>
          <a:p>
            <a:pPr>
              <a:buNone/>
            </a:pPr>
            <a:r>
              <a:rPr lang="fr-FR" sz="1000" spc="300" dirty="0">
                <a:solidFill>
                  <a:srgbClr val="00B894"/>
                </a:solidFill>
                <a:latin typeface="Open Sans"/>
              </a:rPr>
              <a:t>BTS MEC — ÉPREUVE U62</a:t>
            </a:r>
          </a:p>
        </p:txBody>
      </p:sp>
      <p:sp>
        <p:nvSpPr>
          <p:cNvPr id="21" name="s21"/>
          <p:cNvSpPr/>
          <p:nvPr/>
        </p:nvSpPr>
        <p:spPr>
          <a:xfrm>
            <a:off x="3937000" y="1397000"/>
            <a:ext cx="482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3200" b="1" dirty="0">
                <a:solidFill>
                  <a:srgbClr val="2D3436"/>
                </a:solidFill>
                <a:latin typeface="Poppins"/>
              </a:rPr>
              <a:t>Rapport</a:t>
            </a:r>
          </a:p>
          <a:p>
            <a:pPr>
              <a:buNone/>
            </a:pPr>
            <a:r>
              <a:rPr lang="fr-FR" sz="3200" b="1" dirty="0">
                <a:solidFill>
                  <a:srgbClr val="2D3436"/>
                </a:solidFill>
                <a:latin typeface="Poppins"/>
              </a:rPr>
              <a:t>d'Activités</a:t>
            </a:r>
          </a:p>
          <a:p>
            <a:pPr>
              <a:buNone/>
            </a:pPr>
            <a:r>
              <a:rPr lang="fr-FR" sz="3200" b="1" dirty="0">
                <a:solidFill>
                  <a:srgbClr val="00B894"/>
                </a:solidFill>
                <a:latin typeface="Poppins"/>
              </a:rPr>
              <a:t>Professionnelles</a:t>
            </a:r>
          </a:p>
        </p:txBody>
      </p:sp>
      <p:sp>
        <p:nvSpPr>
          <p:cNvPr id="22" name="s22"/>
          <p:cNvSpPr/>
          <p:nvPr/>
        </p:nvSpPr>
        <p:spPr>
          <a:xfrm>
            <a:off x="3937000" y="33020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100" dirty="0">
                <a:solidFill>
                  <a:srgbClr val="636E72"/>
                </a:solidFill>
                <a:latin typeface="Open Sans"/>
              </a:rPr>
              <a:t>Deux projets d'infrastructure majeurs,</a:t>
            </a:r>
          </a:p>
          <a:p>
            <a:pPr>
              <a:buNone/>
            </a:pPr>
            <a:r>
              <a:rPr lang="fr-FR" sz="1100" dirty="0">
                <a:solidFill>
                  <a:srgbClr val="636E72"/>
                </a:solidFill>
                <a:latin typeface="Open Sans"/>
              </a:rPr>
              <a:t>huit années de terrain, une conviction :</a:t>
            </a:r>
          </a:p>
          <a:p>
            <a:pPr>
              <a:buNone/>
            </a:pPr>
            <a:r>
              <a:rPr lang="fr-FR" sz="1100" i="1" dirty="0">
                <a:solidFill>
                  <a:srgbClr val="00B894"/>
                </a:solidFill>
                <a:latin typeface="Open Sans"/>
              </a:rPr>
              <a:t>la rigueur protège le projet.</a:t>
            </a:r>
          </a:p>
        </p:txBody>
      </p:sp>
    </p:spTree>
    <p:extLst>
      <p:ext uri="{BB962C8B-B14F-4D97-AF65-F5344CB8AC3E}">
        <p14:creationId xmlns:p14="http://schemas.microsoft.com/office/powerpoint/2010/main" val="231958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000" spc="300" dirty="0">
                <a:solidFill>
                  <a:srgbClr val="00B894"/>
                </a:solidFill>
                <a:latin typeface="Open Sans"/>
              </a:rPr>
              <a:t>SOMMAIRE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5080000" cy="444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2400" b="1" dirty="0">
                <a:solidFill>
                  <a:srgbClr val="2D3436"/>
                </a:solidFill>
                <a:latin typeface="Poppins"/>
              </a:rPr>
              <a:t>Plan de la présentation</a:t>
            </a:r>
          </a:p>
        </p:txBody>
      </p:sp>
      <p:sp>
        <p:nvSpPr>
          <p:cNvPr id="10" name="s10"/>
          <p:cNvSpPr/>
          <p:nvPr/>
        </p:nvSpPr>
        <p:spPr>
          <a:xfrm>
            <a:off x="508000" y="1308100"/>
            <a:ext cx="381000" cy="3810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100" b="1" dirty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1" name="s11"/>
          <p:cNvSpPr/>
          <p:nvPr/>
        </p:nvSpPr>
        <p:spPr>
          <a:xfrm>
            <a:off x="1016000" y="1270000"/>
            <a:ext cx="736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400" b="1" dirty="0">
                <a:solidFill>
                  <a:srgbClr val="2D3436"/>
                </a:solidFill>
                <a:latin typeface="Poppins"/>
              </a:rPr>
              <a:t>Parcours &amp; BIMCO</a:t>
            </a:r>
            <a:r>
              <a:rPr lang="fr-FR" sz="1100" dirty="0">
                <a:solidFill>
                  <a:srgbClr val="B2BEC3"/>
                </a:solidFill>
                <a:latin typeface="Open Sans"/>
              </a:rPr>
              <a:t>   p. 3–5</a:t>
            </a:r>
          </a:p>
          <a:p>
            <a:pPr>
              <a:buNone/>
            </a:pPr>
            <a:r>
              <a:rPr lang="fr-FR" sz="1000" dirty="0">
                <a:solidFill>
                  <a:srgbClr val="636E72"/>
                </a:solidFill>
                <a:latin typeface="Open Sans"/>
              </a:rPr>
              <a:t>Parcours, cadre professionnel, BIMCO</a:t>
            </a:r>
          </a:p>
        </p:txBody>
      </p:sp>
      <p:sp>
        <p:nvSpPr>
          <p:cNvPr id="50" name="s50"/>
          <p:cNvSpPr/>
          <p:nvPr/>
        </p:nvSpPr>
        <p:spPr>
          <a:xfrm>
            <a:off x="1016000" y="1752600"/>
            <a:ext cx="7366000" cy="12700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2" name="s12"/>
          <p:cNvSpPr/>
          <p:nvPr/>
        </p:nvSpPr>
        <p:spPr>
          <a:xfrm>
            <a:off x="508000" y="1841500"/>
            <a:ext cx="381000" cy="3810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100" b="1" dirty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13" name="s13"/>
          <p:cNvSpPr/>
          <p:nvPr/>
        </p:nvSpPr>
        <p:spPr>
          <a:xfrm>
            <a:off x="1016000" y="1803400"/>
            <a:ext cx="736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400" b="1" dirty="0">
                <a:solidFill>
                  <a:srgbClr val="2D3436"/>
                </a:solidFill>
                <a:latin typeface="Poppins"/>
              </a:rPr>
              <a:t>Projet 1</a:t>
            </a:r>
            <a:r>
              <a:rPr lang="fr-FR" sz="1100" dirty="0">
                <a:solidFill>
                  <a:srgbClr val="B2BEC3"/>
                </a:solidFill>
                <a:latin typeface="Open Sans"/>
              </a:rPr>
              <a:t>   p. 6–8</a:t>
            </a:r>
          </a:p>
          <a:p>
            <a:pPr>
              <a:buNone/>
            </a:pPr>
            <a:r>
              <a:rPr lang="fr-FR" sz="1000" dirty="0">
                <a:solidFill>
                  <a:srgbClr val="636E72"/>
                </a:solidFill>
                <a:latin typeface="Open Sans"/>
              </a:rPr>
              <a:t>Mise à niveau 4 communes — 44,6M DH</a:t>
            </a:r>
          </a:p>
        </p:txBody>
      </p:sp>
      <p:sp>
        <p:nvSpPr>
          <p:cNvPr id="51" name="s51"/>
          <p:cNvSpPr/>
          <p:nvPr/>
        </p:nvSpPr>
        <p:spPr>
          <a:xfrm>
            <a:off x="1016000" y="2286000"/>
            <a:ext cx="7366000" cy="12700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4" name="s14"/>
          <p:cNvSpPr/>
          <p:nvPr/>
        </p:nvSpPr>
        <p:spPr>
          <a:xfrm>
            <a:off x="508000" y="2374900"/>
            <a:ext cx="381000" cy="3810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100" b="1" dirty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15" name="s15"/>
          <p:cNvSpPr/>
          <p:nvPr/>
        </p:nvSpPr>
        <p:spPr>
          <a:xfrm>
            <a:off x="1016000" y="2336800"/>
            <a:ext cx="736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400" b="1" dirty="0">
                <a:solidFill>
                  <a:srgbClr val="2D3436"/>
                </a:solidFill>
                <a:latin typeface="Poppins"/>
              </a:rPr>
              <a:t>Projet 2</a:t>
            </a:r>
            <a:r>
              <a:rPr lang="fr-FR" sz="1100" dirty="0">
                <a:solidFill>
                  <a:srgbClr val="B2BEC3"/>
                </a:solidFill>
                <a:latin typeface="Open Sans"/>
              </a:rPr>
              <a:t>   p. 9–10</a:t>
            </a:r>
          </a:p>
          <a:p>
            <a:pPr>
              <a:buNone/>
            </a:pPr>
            <a:r>
              <a:rPr lang="fr-FR" sz="1000" dirty="0">
                <a:solidFill>
                  <a:srgbClr val="636E72"/>
                </a:solidFill>
                <a:latin typeface="Open Sans"/>
              </a:rPr>
              <a:t>Route Lehri-Kerrouchen — 24,2M DH</a:t>
            </a:r>
          </a:p>
        </p:txBody>
      </p:sp>
      <p:sp>
        <p:nvSpPr>
          <p:cNvPr id="52" name="s52"/>
          <p:cNvSpPr/>
          <p:nvPr/>
        </p:nvSpPr>
        <p:spPr>
          <a:xfrm>
            <a:off x="1016000" y="2819400"/>
            <a:ext cx="7366000" cy="12700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6" name="s16"/>
          <p:cNvSpPr/>
          <p:nvPr/>
        </p:nvSpPr>
        <p:spPr>
          <a:xfrm>
            <a:off x="508000" y="2908300"/>
            <a:ext cx="381000" cy="3810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100" b="1" dirty="0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17" name="s17"/>
          <p:cNvSpPr/>
          <p:nvPr/>
        </p:nvSpPr>
        <p:spPr>
          <a:xfrm>
            <a:off x="1016000" y="2870200"/>
            <a:ext cx="736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400" b="1" dirty="0">
                <a:solidFill>
                  <a:srgbClr val="2D3436"/>
                </a:solidFill>
                <a:latin typeface="Poppins"/>
              </a:rPr>
              <a:t>Situations CPAR</a:t>
            </a:r>
            <a:r>
              <a:rPr lang="fr-FR" sz="1100" dirty="0">
                <a:solidFill>
                  <a:srgbClr val="B2BEC3"/>
                </a:solidFill>
                <a:latin typeface="Open Sans"/>
              </a:rPr>
              <a:t>   p. 11–12</a:t>
            </a:r>
          </a:p>
          <a:p>
            <a:pPr>
              <a:buNone/>
            </a:pPr>
            <a:r>
              <a:rPr lang="fr-FR" sz="1000" dirty="0">
                <a:solidFill>
                  <a:srgbClr val="636E72"/>
                </a:solidFill>
                <a:latin typeface="Open Sans"/>
              </a:rPr>
              <a:t>Analyse des offres et suivi financier</a:t>
            </a:r>
          </a:p>
        </p:txBody>
      </p:sp>
      <p:sp>
        <p:nvSpPr>
          <p:cNvPr id="53" name="s53"/>
          <p:cNvSpPr/>
          <p:nvPr/>
        </p:nvSpPr>
        <p:spPr>
          <a:xfrm>
            <a:off x="1016000" y="3352800"/>
            <a:ext cx="7366000" cy="12700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8" name="s18"/>
          <p:cNvSpPr/>
          <p:nvPr/>
        </p:nvSpPr>
        <p:spPr>
          <a:xfrm>
            <a:off x="508000" y="3441700"/>
            <a:ext cx="381000" cy="3810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100" b="1" dirty="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19" name="s19"/>
          <p:cNvSpPr/>
          <p:nvPr/>
        </p:nvSpPr>
        <p:spPr>
          <a:xfrm>
            <a:off x="1016000" y="3403600"/>
            <a:ext cx="736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400" b="1" dirty="0">
                <a:solidFill>
                  <a:srgbClr val="2D3436"/>
                </a:solidFill>
                <a:latin typeface="Poppins"/>
              </a:rPr>
              <a:t>Compétences &amp; Bilan</a:t>
            </a:r>
            <a:r>
              <a:rPr lang="fr-FR" sz="1100" dirty="0">
                <a:solidFill>
                  <a:srgbClr val="B2BEC3"/>
                </a:solidFill>
                <a:latin typeface="Open Sans"/>
              </a:rPr>
              <a:t>   p. 13–15</a:t>
            </a:r>
          </a:p>
          <a:p>
            <a:pPr>
              <a:buNone/>
            </a:pPr>
            <a:r>
              <a:rPr lang="fr-FR" sz="1000" dirty="0">
                <a:solidFill>
                  <a:srgbClr val="636E72"/>
                </a:solidFill>
                <a:latin typeface="Open Sans"/>
              </a:rPr>
              <a:t>Méthodologie, compétences BTS MEC, bilan</a:t>
            </a:r>
          </a:p>
        </p:txBody>
      </p:sp>
      <p:sp>
        <p:nvSpPr>
          <p:cNvPr id="54" name="s54"/>
          <p:cNvSpPr/>
          <p:nvPr/>
        </p:nvSpPr>
        <p:spPr>
          <a:xfrm>
            <a:off x="1016000" y="3886200"/>
            <a:ext cx="7366000" cy="12700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20" name="s20"/>
          <p:cNvSpPr/>
          <p:nvPr/>
        </p:nvSpPr>
        <p:spPr>
          <a:xfrm>
            <a:off x="508000" y="3975100"/>
            <a:ext cx="381000" cy="3810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100" b="1" dirty="0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21" name="s21"/>
          <p:cNvSpPr/>
          <p:nvPr/>
        </p:nvSpPr>
        <p:spPr>
          <a:xfrm>
            <a:off x="1016000" y="3937000"/>
            <a:ext cx="736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fr-FR" sz="1400" b="1" dirty="0">
                <a:solidFill>
                  <a:srgbClr val="2D3436"/>
                </a:solidFill>
                <a:latin typeface="Poppins"/>
              </a:rPr>
              <a:t>Conclusion</a:t>
            </a:r>
            <a:r>
              <a:rPr lang="fr-FR" sz="1100" dirty="0">
                <a:solidFill>
                  <a:srgbClr val="B2BEC3"/>
                </a:solidFill>
                <a:latin typeface="Open Sans"/>
              </a:rPr>
              <a:t>   p. 16</a:t>
            </a:r>
          </a:p>
          <a:p>
            <a:pPr>
              <a:buNone/>
            </a:pPr>
            <a:r>
              <a:rPr lang="fr-FR" sz="1000" dirty="0">
                <a:solidFill>
                  <a:srgbClr val="636E72"/>
                </a:solidFill>
                <a:latin typeface="Open Sans"/>
              </a:rPr>
              <a:t>Résultats clés et avenir</a:t>
            </a:r>
          </a:p>
        </p:txBody>
      </p:sp>
      <p:sp>
        <p:nvSpPr>
          <p:cNvPr id="60" name="s6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2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7527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spc="300" dirty="0">
                <a:solidFill>
                  <a:srgbClr val="00B894"/>
                </a:solidFill>
                <a:latin typeface="Open Sans"/>
              </a:rPr>
              <a:t>01 — PARCOURS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6350000" cy="444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2200" b="1" dirty="0">
                <a:solidFill>
                  <a:srgbClr val="2D3436"/>
                </a:solidFill>
                <a:latin typeface="Poppins"/>
              </a:rPr>
              <a:t>Mon parcours professionnel</a:t>
            </a:r>
          </a:p>
        </p:txBody>
      </p:sp>
      <p:sp>
        <p:nvSpPr>
          <p:cNvPr id="5" name="s5"/>
          <p:cNvSpPr/>
          <p:nvPr/>
        </p:nvSpPr>
        <p:spPr>
          <a:xfrm>
            <a:off x="1016000" y="2057400"/>
            <a:ext cx="7112000" cy="25400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10" name="s10"/>
          <p:cNvSpPr/>
          <p:nvPr/>
        </p:nvSpPr>
        <p:spPr>
          <a:xfrm>
            <a:off x="1117600" y="1981200"/>
            <a:ext cx="177800" cy="1778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20" name="s20"/>
          <p:cNvSpPr/>
          <p:nvPr/>
        </p:nvSpPr>
        <p:spPr>
          <a:xfrm>
            <a:off x="762000" y="1587500"/>
            <a:ext cx="939800" cy="355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b"/>
          <a:lstStyle/>
          <a:p>
            <a:pPr algn="ctr">
              <a:buNone/>
            </a:pPr>
            <a:r>
              <a:rPr lang="fr-FR" sz="1400" b="1" dirty="0">
                <a:solidFill>
                  <a:srgbClr val="00B894"/>
                </a:solidFill>
                <a:latin typeface="Poppins"/>
              </a:rPr>
              <a:t>2017</a:t>
            </a:r>
          </a:p>
        </p:txBody>
      </p:sp>
      <p:sp>
        <p:nvSpPr>
          <p:cNvPr id="30" name="s30"/>
          <p:cNvSpPr/>
          <p:nvPr/>
        </p:nvSpPr>
        <p:spPr>
          <a:xfrm>
            <a:off x="698500" y="2286000"/>
            <a:ext cx="1079500" cy="698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ctr">
              <a:buNone/>
            </a:pPr>
            <a:r>
              <a:rPr lang="fr-FR" sz="1000" b="1" dirty="0">
                <a:solidFill>
                  <a:srgbClr val="2D3436"/>
                </a:solidFill>
                <a:latin typeface="Poppins"/>
              </a:rPr>
              <a:t>Début de carrière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Intégration collectivité</a:t>
            </a:r>
          </a:p>
        </p:txBody>
      </p:sp>
      <p:sp>
        <p:nvSpPr>
          <p:cNvPr id="11" name="s11"/>
          <p:cNvSpPr/>
          <p:nvPr/>
        </p:nvSpPr>
        <p:spPr>
          <a:xfrm>
            <a:off x="3086100" y="1981200"/>
            <a:ext cx="177800" cy="1778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21" name="s21"/>
          <p:cNvSpPr/>
          <p:nvPr/>
        </p:nvSpPr>
        <p:spPr>
          <a:xfrm>
            <a:off x="2730500" y="1587500"/>
            <a:ext cx="939800" cy="355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b"/>
          <a:lstStyle/>
          <a:p>
            <a:pPr algn="ctr">
              <a:buNone/>
            </a:pPr>
            <a:r>
              <a:rPr lang="fr-FR" sz="1400" b="1" dirty="0">
                <a:solidFill>
                  <a:srgbClr val="00B894"/>
                </a:solidFill>
                <a:latin typeface="Poppins"/>
              </a:rPr>
              <a:t>2019</a:t>
            </a:r>
          </a:p>
        </p:txBody>
      </p:sp>
      <p:sp>
        <p:nvSpPr>
          <p:cNvPr id="31" name="s31"/>
          <p:cNvSpPr/>
          <p:nvPr/>
        </p:nvSpPr>
        <p:spPr>
          <a:xfrm>
            <a:off x="2667000" y="2286000"/>
            <a:ext cx="1079500" cy="698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ctr">
              <a:buNone/>
            </a:pPr>
            <a:r>
              <a:rPr lang="fr-FR" sz="1000" b="1" dirty="0">
                <a:solidFill>
                  <a:srgbClr val="2D3436"/>
                </a:solidFill>
                <a:latin typeface="Poppins"/>
              </a:rPr>
              <a:t>Technicien VRD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Suivi d'exécution travaux</a:t>
            </a:r>
          </a:p>
        </p:txBody>
      </p:sp>
      <p:sp>
        <p:nvSpPr>
          <p:cNvPr id="12" name="s12"/>
          <p:cNvSpPr/>
          <p:nvPr/>
        </p:nvSpPr>
        <p:spPr>
          <a:xfrm>
            <a:off x="5054600" y="1981200"/>
            <a:ext cx="177800" cy="1778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22" name="s22"/>
          <p:cNvSpPr/>
          <p:nvPr/>
        </p:nvSpPr>
        <p:spPr>
          <a:xfrm>
            <a:off x="4699000" y="1587500"/>
            <a:ext cx="939800" cy="355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b"/>
          <a:lstStyle/>
          <a:p>
            <a:pPr algn="ctr">
              <a:buNone/>
            </a:pPr>
            <a:r>
              <a:rPr lang="fr-FR" sz="1400" b="1" dirty="0">
                <a:solidFill>
                  <a:srgbClr val="00B894"/>
                </a:solidFill>
                <a:latin typeface="Poppins"/>
              </a:rPr>
              <a:t>2022</a:t>
            </a:r>
          </a:p>
        </p:txBody>
      </p:sp>
      <p:sp>
        <p:nvSpPr>
          <p:cNvPr id="32" name="s32"/>
          <p:cNvSpPr/>
          <p:nvPr/>
        </p:nvSpPr>
        <p:spPr>
          <a:xfrm>
            <a:off x="4635500" y="2286000"/>
            <a:ext cx="1079500" cy="698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ctr">
              <a:buNone/>
            </a:pPr>
            <a:r>
              <a:rPr lang="fr-FR" sz="1000" b="1" dirty="0">
                <a:solidFill>
                  <a:srgbClr val="2D3436"/>
                </a:solidFill>
                <a:latin typeface="Poppins"/>
              </a:rPr>
              <a:t>Chef de projet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Pilotage multi-projets</a:t>
            </a:r>
          </a:p>
        </p:txBody>
      </p:sp>
      <p:sp>
        <p:nvSpPr>
          <p:cNvPr id="13" name="s13"/>
          <p:cNvSpPr/>
          <p:nvPr/>
        </p:nvSpPr>
        <p:spPr>
          <a:xfrm>
            <a:off x="7023100" y="1981200"/>
            <a:ext cx="177800" cy="1778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23" name="s23"/>
          <p:cNvSpPr/>
          <p:nvPr/>
        </p:nvSpPr>
        <p:spPr>
          <a:xfrm>
            <a:off x="6667500" y="1587500"/>
            <a:ext cx="939800" cy="355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b"/>
          <a:lstStyle/>
          <a:p>
            <a:pPr algn="ctr">
              <a:buNone/>
            </a:pPr>
            <a:r>
              <a:rPr lang="fr-FR" sz="1400" b="1" dirty="0">
                <a:solidFill>
                  <a:srgbClr val="00B894"/>
                </a:solidFill>
                <a:latin typeface="Poppins"/>
              </a:rPr>
              <a:t>2025</a:t>
            </a:r>
          </a:p>
        </p:txBody>
      </p:sp>
      <p:sp>
        <p:nvSpPr>
          <p:cNvPr id="33" name="s33"/>
          <p:cNvSpPr/>
          <p:nvPr/>
        </p:nvSpPr>
        <p:spPr>
          <a:xfrm>
            <a:off x="6604000" y="2286000"/>
            <a:ext cx="1079500" cy="698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ctr">
              <a:buNone/>
            </a:pPr>
            <a:r>
              <a:rPr lang="fr-FR" sz="1000" b="1" dirty="0">
                <a:solidFill>
                  <a:srgbClr val="2D3436"/>
                </a:solidFill>
                <a:latin typeface="Poppins"/>
              </a:rPr>
              <a:t>BTS MEC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Validation des acquis</a:t>
            </a:r>
          </a:p>
        </p:txBody>
      </p:sp>
      <p:sp>
        <p:nvSpPr>
          <p:cNvPr id="50" name="s50"/>
          <p:cNvSpPr/>
          <p:nvPr/>
        </p:nvSpPr>
        <p:spPr>
          <a:xfrm>
            <a:off x="508000" y="3556000"/>
            <a:ext cx="1968500" cy="825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800" b="1" dirty="0">
                <a:solidFill>
                  <a:srgbClr val="00B894"/>
                </a:solidFill>
                <a:latin typeface="Poppins"/>
              </a:rPr>
              <a:t>8 ans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d'expérience</a:t>
            </a:r>
          </a:p>
        </p:txBody>
      </p:sp>
      <p:sp>
        <p:nvSpPr>
          <p:cNvPr id="51" name="s51"/>
          <p:cNvSpPr/>
          <p:nvPr/>
        </p:nvSpPr>
        <p:spPr>
          <a:xfrm>
            <a:off x="2641600" y="3556000"/>
            <a:ext cx="1968500" cy="825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800" b="1" dirty="0">
                <a:solidFill>
                  <a:srgbClr val="00B894"/>
                </a:solidFill>
                <a:latin typeface="Poppins"/>
              </a:rPr>
              <a:t>68,8M DH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budget géré</a:t>
            </a:r>
          </a:p>
        </p:txBody>
      </p:sp>
      <p:sp>
        <p:nvSpPr>
          <p:cNvPr id="52" name="s52"/>
          <p:cNvSpPr/>
          <p:nvPr/>
        </p:nvSpPr>
        <p:spPr>
          <a:xfrm>
            <a:off x="4775200" y="3556000"/>
            <a:ext cx="1968500" cy="825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800" b="1" dirty="0">
                <a:solidFill>
                  <a:srgbClr val="00B894"/>
                </a:solidFill>
                <a:latin typeface="Poppins"/>
              </a:rPr>
              <a:t>2 projets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majeurs</a:t>
            </a:r>
          </a:p>
        </p:txBody>
      </p:sp>
      <p:sp>
        <p:nvSpPr>
          <p:cNvPr id="53" name="s53"/>
          <p:cNvSpPr/>
          <p:nvPr/>
        </p:nvSpPr>
        <p:spPr>
          <a:xfrm>
            <a:off x="6908800" y="3556000"/>
            <a:ext cx="1968500" cy="825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800" b="1" dirty="0">
                <a:solidFill>
                  <a:srgbClr val="00B894"/>
                </a:solidFill>
                <a:latin typeface="Poppins"/>
              </a:rPr>
              <a:t>8 parties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techniques P1</a:t>
            </a:r>
          </a:p>
        </p:txBody>
      </p:sp>
      <p:sp>
        <p:nvSpPr>
          <p:cNvPr id="60" name="s6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3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003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9A83A-09C4-4C01-8997-C30ADC460648}"/>
              </a:ext>
            </a:extLst>
          </p:cNvPr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984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E2A8A15-D4CB-4519-84CE-C8E77DFB04E8}"/>
              </a:ext>
            </a:extLst>
          </p:cNvPr>
          <p:cNvSpPr txBox="1"/>
          <p:nvPr/>
        </p:nvSpPr>
        <p:spPr>
          <a:xfrm>
            <a:off x="508000" y="3810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000">
                <a:solidFill>
                  <a:srgbClr val="0984E3"/>
                </a:solidFill>
                <a:latin typeface="Open Sans"/>
                <a:ea typeface="Open Sans"/>
                <a:cs typeface="Open Sans"/>
              </a:rPr>
              <a:t>01 — PRÉSENTATION • BIMCO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EC22AF5-B025-4A4B-8B7C-F2DDEEB0F7FC}"/>
              </a:ext>
            </a:extLst>
          </p:cNvPr>
          <p:cNvSpPr txBox="1"/>
          <p:nvPr/>
        </p:nvSpPr>
        <p:spPr>
          <a:xfrm>
            <a:off x="508000" y="635000"/>
            <a:ext cx="7620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200" b="1">
                <a:solidFill>
                  <a:srgbClr val="2D3436"/>
                </a:solidFill>
                <a:latin typeface="Poppins"/>
                <a:cs typeface="Poppins"/>
              </a:rPr>
              <a:t>BIMCO — Activité indépendante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D4ED38F-859A-44EE-8DDD-DAB62AFB12AB}"/>
              </a:ext>
            </a:extLst>
          </p:cNvPr>
          <p:cNvSpPr/>
          <p:nvPr/>
        </p:nvSpPr>
        <p:spPr>
          <a:xfrm>
            <a:off x="508000" y="1206500"/>
            <a:ext cx="3937000" cy="355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62D4C8D-14E1-487F-AFD9-E92414DEF3B4}"/>
              </a:ext>
            </a:extLst>
          </p:cNvPr>
          <p:cNvSpPr/>
          <p:nvPr/>
        </p:nvSpPr>
        <p:spPr>
          <a:xfrm>
            <a:off x="4699000" y="1206500"/>
            <a:ext cx="4191000" cy="355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A4779E-BC67-48FE-9CD4-0916025C6B84}"/>
              </a:ext>
            </a:extLst>
          </p:cNvPr>
          <p:cNvSpPr txBox="1"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4 / 16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6A982FC-5D74-4C70-9D81-0E0B3D89131F}"/>
              </a:ext>
            </a:extLst>
          </p:cNvPr>
          <p:cNvSpPr txBox="1"/>
          <p:nvPr/>
        </p:nvSpPr>
        <p:spPr>
          <a:xfrm>
            <a:off x="698500" y="1270000"/>
            <a:ext cx="3556000" cy="336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fr-FR" sz="1200" b="1" dirty="0">
                <a:solidFill>
                  <a:srgbClr val="0984E3"/>
                </a:solidFill>
                <a:latin typeface="Poppins"/>
              </a:rPr>
              <a:t>Fiche d’identité</a:t>
            </a:r>
          </a:p>
          <a:p>
            <a:pPr>
              <a:spcBef>
                <a:spcPts val="200"/>
              </a:spcBef>
              <a:buNone/>
            </a:pPr>
            <a:r>
              <a:rPr lang="fr-FR" sz="900" b="1" dirty="0">
                <a:solidFill>
                  <a:srgbClr val="2D3436"/>
                </a:solidFill>
                <a:latin typeface="Open Sans"/>
              </a:rPr>
              <a:t>Dénomination</a:t>
            </a:r>
            <a:r>
              <a:rPr lang="fr-FR" sz="900" dirty="0">
                <a:solidFill>
                  <a:srgbClr val="636E72"/>
                </a:solidFill>
                <a:latin typeface="Open Sans"/>
              </a:rPr>
              <a:t>  BIMCO</a:t>
            </a:r>
          </a:p>
          <a:p>
            <a:pPr>
              <a:spcBef>
                <a:spcPts val="200"/>
              </a:spcBef>
              <a:buNone/>
            </a:pPr>
            <a:r>
              <a:rPr lang="fr-FR" sz="900" b="1" dirty="0">
                <a:solidFill>
                  <a:srgbClr val="2D3436"/>
                </a:solidFill>
                <a:latin typeface="Open Sans"/>
              </a:rPr>
              <a:t>Forme</a:t>
            </a:r>
            <a:r>
              <a:rPr lang="fr-FR" sz="900" dirty="0">
                <a:solidFill>
                  <a:srgbClr val="636E72"/>
                </a:solidFill>
                <a:latin typeface="Open Sans"/>
              </a:rPr>
              <a:t>  Micro-entreprise (EI)</a:t>
            </a:r>
          </a:p>
          <a:p>
            <a:pPr>
              <a:spcBef>
                <a:spcPts val="200"/>
              </a:spcBef>
              <a:buNone/>
            </a:pPr>
            <a:r>
              <a:rPr lang="fr-FR" sz="900" b="1" dirty="0">
                <a:solidFill>
                  <a:srgbClr val="2D3436"/>
                </a:solidFill>
                <a:latin typeface="Open Sans"/>
              </a:rPr>
              <a:t>SIREN</a:t>
            </a:r>
            <a:r>
              <a:rPr lang="fr-FR" sz="900" dirty="0">
                <a:solidFill>
                  <a:srgbClr val="636E72"/>
                </a:solidFill>
                <a:latin typeface="Open Sans"/>
              </a:rPr>
              <a:t>  999 580 053</a:t>
            </a:r>
          </a:p>
          <a:p>
            <a:pPr>
              <a:spcBef>
                <a:spcPts val="200"/>
              </a:spcBef>
              <a:buNone/>
            </a:pPr>
            <a:r>
              <a:rPr lang="fr-FR" sz="900" b="1" dirty="0">
                <a:solidFill>
                  <a:srgbClr val="2D3436"/>
                </a:solidFill>
                <a:latin typeface="Open Sans"/>
              </a:rPr>
              <a:t>SIRET</a:t>
            </a:r>
            <a:r>
              <a:rPr lang="fr-FR" sz="900" dirty="0">
                <a:solidFill>
                  <a:srgbClr val="636E72"/>
                </a:solidFill>
                <a:latin typeface="Open Sans"/>
              </a:rPr>
              <a:t>  999 580 053 00018</a:t>
            </a:r>
          </a:p>
          <a:p>
            <a:pPr>
              <a:spcBef>
                <a:spcPts val="200"/>
              </a:spcBef>
              <a:buNone/>
            </a:pPr>
            <a:r>
              <a:rPr lang="fr-FR" sz="900" b="1" dirty="0">
                <a:solidFill>
                  <a:srgbClr val="2D3436"/>
                </a:solidFill>
                <a:latin typeface="Open Sans"/>
              </a:rPr>
              <a:t>Code APE</a:t>
            </a:r>
            <a:r>
              <a:rPr lang="fr-FR" sz="900" dirty="0">
                <a:solidFill>
                  <a:srgbClr val="636E72"/>
                </a:solidFill>
                <a:latin typeface="Open Sans"/>
              </a:rPr>
              <a:t>  7112B — Ingénierie</a:t>
            </a:r>
          </a:p>
          <a:p>
            <a:pPr>
              <a:spcBef>
                <a:spcPts val="200"/>
              </a:spcBef>
              <a:buNone/>
            </a:pPr>
            <a:r>
              <a:rPr lang="fr-FR" sz="900" b="1" dirty="0">
                <a:solidFill>
                  <a:srgbClr val="2D3436"/>
                </a:solidFill>
                <a:latin typeface="Open Sans"/>
              </a:rPr>
              <a:t>Création</a:t>
            </a:r>
            <a:r>
              <a:rPr lang="fr-FR" sz="900" dirty="0">
                <a:solidFill>
                  <a:srgbClr val="636E72"/>
                </a:solidFill>
                <a:latin typeface="Open Sans"/>
              </a:rPr>
              <a:t>  09/01/2026</a:t>
            </a:r>
          </a:p>
          <a:p>
            <a:pPr>
              <a:spcBef>
                <a:spcPts val="200"/>
              </a:spcBef>
              <a:buNone/>
            </a:pPr>
            <a:r>
              <a:rPr lang="fr-FR" sz="900" b="1" dirty="0">
                <a:solidFill>
                  <a:srgbClr val="2D3436"/>
                </a:solidFill>
                <a:latin typeface="Open Sans"/>
              </a:rPr>
              <a:t>Siège</a:t>
            </a:r>
            <a:r>
              <a:rPr lang="fr-FR" sz="900" dirty="0">
                <a:solidFill>
                  <a:srgbClr val="636E72"/>
                </a:solidFill>
                <a:latin typeface="Open Sans"/>
              </a:rPr>
              <a:t>  44 rue de la République, 42510 Bussières</a:t>
            </a:r>
          </a:p>
          <a:p>
            <a:pPr>
              <a:spcBef>
                <a:spcPts val="400"/>
              </a:spcBef>
              <a:buNone/>
            </a:pPr>
            <a:r>
              <a:rPr lang="fr-FR" sz="800" i="1" dirty="0">
                <a:solidFill>
                  <a:srgbClr val="0984E3"/>
                </a:solidFill>
                <a:latin typeface="Open Sans"/>
              </a:rPr>
              <a:t>BIM + éConomie de la construction = BIMCO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09C91CB-BAE4-4A8E-BDDC-85376FB8DB98}"/>
              </a:ext>
            </a:extLst>
          </p:cNvPr>
          <p:cNvSpPr txBox="1"/>
          <p:nvPr/>
        </p:nvSpPr>
        <p:spPr>
          <a:xfrm>
            <a:off x="4889500" y="1270000"/>
            <a:ext cx="3810000" cy="336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fr-FR" sz="1200" b="1" dirty="0">
                <a:solidFill>
                  <a:srgbClr val="0984E3"/>
                </a:solidFill>
                <a:latin typeface="Poppins"/>
              </a:rPr>
              <a:t>Domaines d’intervention</a:t>
            </a:r>
          </a:p>
          <a:p>
            <a:pPr marL="171450" indent="-171450">
              <a:spcBef>
                <a:spcPts val="300"/>
              </a:spcBef>
              <a:buFont typeface="Open Sans"/>
              <a:buChar char="▸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Projeteur BIM et dessinateur technique</a:t>
            </a:r>
          </a:p>
          <a:p>
            <a:pPr marL="171450" indent="-171450">
              <a:spcBef>
                <a:spcPts val="150"/>
              </a:spcBef>
              <a:buFont typeface="Open Sans"/>
              <a:buChar char="▸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Modélisation 3D et coordination de maquettes</a:t>
            </a:r>
          </a:p>
          <a:p>
            <a:pPr marL="171450" indent="-171450">
              <a:spcBef>
                <a:spcPts val="150"/>
              </a:spcBef>
              <a:buFont typeface="Open Sans"/>
              <a:buChar char="▸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Métrés et quantitatifs TCE (BIM + traditionnel)</a:t>
            </a:r>
          </a:p>
          <a:p>
            <a:pPr marL="171450" indent="-171450">
              <a:spcBef>
                <a:spcPts val="150"/>
              </a:spcBef>
              <a:buFont typeface="Open Sans"/>
              <a:buChar char="▸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Études de prix et estimations</a:t>
            </a:r>
          </a:p>
          <a:p>
            <a:pPr marL="171450" indent="-171450">
              <a:spcBef>
                <a:spcPts val="150"/>
              </a:spcBef>
              <a:buFont typeface="Open Sans"/>
              <a:buChar char="▸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Études de méthodes construction bâtiment</a:t>
            </a:r>
          </a:p>
          <a:p>
            <a:pPr marL="171450" indent="-171450">
              <a:spcBef>
                <a:spcPts val="150"/>
              </a:spcBef>
              <a:buFont typeface="Open Sans"/>
              <a:buChar char="▸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Phasage et planification de chantier</a:t>
            </a:r>
          </a:p>
          <a:p>
            <a:pPr marL="171450" indent="-171450">
              <a:spcBef>
                <a:spcPts val="150"/>
              </a:spcBef>
              <a:buFont typeface="Open Sans"/>
              <a:buChar char="▸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Développement d’outils et scripts BTP</a:t>
            </a:r>
          </a:p>
          <a:p>
            <a:pPr marL="171450" indent="-171450">
              <a:spcBef>
                <a:spcPts val="150"/>
              </a:spcBef>
              <a:buFont typeface="Open Sans"/>
              <a:buChar char="▸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Vérification de devis et situations de travaux</a:t>
            </a:r>
          </a:p>
          <a:p>
            <a:pPr marL="171450" indent="-171450">
              <a:spcBef>
                <a:spcPts val="150"/>
              </a:spcBef>
              <a:buFont typeface="Open Sans"/>
              <a:buChar char="▸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Suivi économique de projets</a:t>
            </a:r>
          </a:p>
        </p:txBody>
      </p:sp>
    </p:spTree>
    <p:extLst>
      <p:ext uri="{BB962C8B-B14F-4D97-AF65-F5344CB8AC3E}">
        <p14:creationId xmlns:p14="http://schemas.microsoft.com/office/powerpoint/2010/main" val="297772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DAF2A3-D056-4CAE-A910-EACBEA4B066F}"/>
              </a:ext>
            </a:extLst>
          </p:cNvPr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984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2F5EADA-1ADF-45ED-9D8D-C4441958E5E0}"/>
              </a:ext>
            </a:extLst>
          </p:cNvPr>
          <p:cNvSpPr txBox="1"/>
          <p:nvPr/>
        </p:nvSpPr>
        <p:spPr>
          <a:xfrm>
            <a:off x="508000" y="3810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000">
                <a:solidFill>
                  <a:srgbClr val="0984E3"/>
                </a:solidFill>
                <a:latin typeface="Open Sans"/>
                <a:ea typeface="Open Sans"/>
                <a:cs typeface="Open Sans"/>
              </a:rPr>
              <a:t>01 — PRÉSENTATION • BIMCO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BEE212D-E5ED-44EB-925C-E14FBBED69D1}"/>
              </a:ext>
            </a:extLst>
          </p:cNvPr>
          <p:cNvSpPr txBox="1"/>
          <p:nvPr/>
        </p:nvSpPr>
        <p:spPr>
          <a:xfrm>
            <a:off x="508000" y="635000"/>
            <a:ext cx="8128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200" b="1">
                <a:solidFill>
                  <a:srgbClr val="2D3436"/>
                </a:solidFill>
                <a:latin typeface="Poppins"/>
                <a:cs typeface="Poppins"/>
              </a:rPr>
              <a:t>Outils techniques &amp; Application BIMCO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1E53D39-CD4B-4468-B8F8-B585A4D7F2BA}"/>
              </a:ext>
            </a:extLst>
          </p:cNvPr>
          <p:cNvSpPr/>
          <p:nvPr/>
        </p:nvSpPr>
        <p:spPr>
          <a:xfrm>
            <a:off x="508000" y="1206500"/>
            <a:ext cx="3937000" cy="355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94DB750-2600-43FC-9E6B-FF2C267158DA}"/>
              </a:ext>
            </a:extLst>
          </p:cNvPr>
          <p:cNvSpPr/>
          <p:nvPr/>
        </p:nvSpPr>
        <p:spPr>
          <a:xfrm>
            <a:off x="4699000" y="1206500"/>
            <a:ext cx="4191000" cy="355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9E41EE4-8A4F-4816-84CC-9B236B5C65D7}"/>
              </a:ext>
            </a:extLst>
          </p:cNvPr>
          <p:cNvSpPr txBox="1"/>
          <p:nvPr/>
        </p:nvSpPr>
        <p:spPr>
          <a:xfrm>
            <a:off x="698500" y="1270000"/>
            <a:ext cx="3556000" cy="336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fr-FR" sz="1200" b="1" dirty="0">
                <a:solidFill>
                  <a:srgbClr val="0984E3"/>
                </a:solidFill>
                <a:latin typeface="Poppins"/>
              </a:rPr>
              <a:t>Outils techniques</a:t>
            </a:r>
          </a:p>
          <a:p>
            <a:pPr>
              <a:spcBef>
                <a:spcPts val="250"/>
              </a:spcBef>
              <a:buNone/>
            </a:pPr>
            <a:r>
              <a:rPr lang="fr-FR" sz="900" b="1" dirty="0">
                <a:solidFill>
                  <a:srgbClr val="00B894"/>
                </a:solidFill>
                <a:latin typeface="Poppins"/>
              </a:rPr>
              <a:t>Modélisation BIM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Revit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Modélisation, extraction quantités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Navisworks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Coordination, clashs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AutoCAD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Plans, métrés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IFC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Interopérabilité maquettes</a:t>
            </a:r>
          </a:p>
          <a:p>
            <a:pPr>
              <a:spcBef>
                <a:spcPts val="250"/>
              </a:spcBef>
              <a:buNone/>
            </a:pPr>
            <a:r>
              <a:rPr lang="fr-FR" sz="900" b="1" dirty="0">
                <a:solidFill>
                  <a:srgbClr val="00B894"/>
                </a:solidFill>
                <a:latin typeface="Poppins"/>
              </a:rPr>
              <a:t>Développement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Dynamo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Scripts visuels Revit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Python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Automatisation BTP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C# / API Revit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Plugins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React / Node.js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App web BTP</a:t>
            </a:r>
          </a:p>
          <a:p>
            <a:pPr>
              <a:spcBef>
                <a:spcPts val="250"/>
              </a:spcBef>
              <a:buNone/>
            </a:pPr>
            <a:r>
              <a:rPr lang="fr-FR" sz="900" b="1" dirty="0">
                <a:solidFill>
                  <a:srgbClr val="00B894"/>
                </a:solidFill>
                <a:latin typeface="Poppins"/>
              </a:rPr>
              <a:t>Gestion de projet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Excel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Métrés, estimations (Expert)</a:t>
            </a:r>
          </a:p>
          <a:p>
            <a:pPr marL="171450" indent="-171450">
              <a:spcBef>
                <a:spcPts val="100"/>
              </a:spcBef>
              <a:buFont typeface="Open Sans"/>
              <a:buChar char="▸"/>
            </a:pPr>
            <a:r>
              <a:rPr lang="fr-FR" sz="800" b="1" dirty="0">
                <a:solidFill>
                  <a:srgbClr val="2D3436"/>
                </a:solidFill>
                <a:latin typeface="Open Sans"/>
              </a:rPr>
              <a:t>MS Project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Planification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2572A87-FFD4-44CD-90F5-8524B21CB401}"/>
              </a:ext>
            </a:extLst>
          </p:cNvPr>
          <p:cNvSpPr txBox="1"/>
          <p:nvPr/>
        </p:nvSpPr>
        <p:spPr>
          <a:xfrm>
            <a:off x="4889500" y="1270000"/>
            <a:ext cx="3810000" cy="336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fr-FR" sz="1200" b="1" dirty="0">
                <a:solidFill>
                  <a:srgbClr val="0984E3"/>
                </a:solidFill>
                <a:latin typeface="Poppins"/>
              </a:rPr>
              <a:t>App « Gestion Chantiers »</a:t>
            </a:r>
          </a:p>
          <a:p>
            <a:pPr>
              <a:spcBef>
                <a:spcPts val="150"/>
              </a:spcBef>
              <a:buNone/>
            </a:pPr>
            <a:r>
              <a:rPr lang="fr-FR" sz="800" i="1" dirty="0">
                <a:solidFill>
                  <a:srgbClr val="636E72"/>
                </a:solidFill>
                <a:latin typeface="Open Sans"/>
              </a:rPr>
              <a:t>gestion.bimco-consulting.fr | Desktop Windows</a:t>
            </a:r>
          </a:p>
          <a:p>
            <a:pPr>
              <a:spcBef>
                <a:spcPts val="250"/>
              </a:spcBef>
              <a:buNone/>
            </a:pPr>
            <a:r>
              <a:rPr lang="fr-FR" sz="800" b="1" dirty="0">
                <a:solidFill>
                  <a:srgbClr val="0984E3"/>
                </a:solidFill>
                <a:latin typeface="Open Sans"/>
              </a:rPr>
              <a:t>Devis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Bibliothèque d’ouvrages, import Excel</a:t>
            </a:r>
          </a:p>
          <a:p>
            <a:pPr>
              <a:spcBef>
                <a:spcPts val="100"/>
              </a:spcBef>
              <a:buNone/>
            </a:pPr>
            <a:r>
              <a:rPr lang="fr-FR" sz="800" b="1" dirty="0">
                <a:solidFill>
                  <a:srgbClr val="0984E3"/>
                </a:solidFill>
                <a:latin typeface="Open Sans"/>
              </a:rPr>
              <a:t>Chantiers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Multi-projets, Kanban, géolocalisation</a:t>
            </a:r>
          </a:p>
          <a:p>
            <a:pPr>
              <a:spcBef>
                <a:spcPts val="100"/>
              </a:spcBef>
              <a:buNone/>
            </a:pPr>
            <a:r>
              <a:rPr lang="fr-FR" sz="800" b="1" dirty="0">
                <a:solidFill>
                  <a:srgbClr val="0984E3"/>
                </a:solidFill>
                <a:latin typeface="Open Sans"/>
              </a:rPr>
              <a:t>Facturation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Situations de travaux, relances, OCR</a:t>
            </a:r>
          </a:p>
          <a:p>
            <a:pPr>
              <a:spcBef>
                <a:spcPts val="100"/>
              </a:spcBef>
              <a:buNone/>
            </a:pPr>
            <a:r>
              <a:rPr lang="fr-FR" sz="800" b="1" dirty="0">
                <a:solidFill>
                  <a:srgbClr val="0984E3"/>
                </a:solidFill>
                <a:latin typeface="Open Sans"/>
              </a:rPr>
              <a:t>Équipes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Planning, compétences, taux d’occupation</a:t>
            </a:r>
          </a:p>
          <a:p>
            <a:pPr>
              <a:spcBef>
                <a:spcPts val="100"/>
              </a:spcBef>
              <a:buNone/>
            </a:pPr>
            <a:r>
              <a:rPr lang="fr-FR" sz="800" b="1" dirty="0">
                <a:solidFill>
                  <a:srgbClr val="0984E3"/>
                </a:solidFill>
                <a:latin typeface="Open Sans"/>
              </a:rPr>
              <a:t>Finances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30+ indicateurs, rentabilité temps réel</a:t>
            </a:r>
          </a:p>
          <a:p>
            <a:pPr>
              <a:spcBef>
                <a:spcPts val="100"/>
              </a:spcBef>
              <a:buNone/>
            </a:pPr>
            <a:r>
              <a:rPr lang="fr-FR" sz="800" b="1" dirty="0">
                <a:solidFill>
                  <a:srgbClr val="0984E3"/>
                </a:solidFill>
                <a:latin typeface="Open Sans"/>
              </a:rPr>
              <a:t>Documents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GED, fiches d’intervention photo/signature</a:t>
            </a:r>
          </a:p>
          <a:p>
            <a:pPr>
              <a:spcBef>
                <a:spcPts val="100"/>
              </a:spcBef>
              <a:buNone/>
            </a:pPr>
            <a:r>
              <a:rPr lang="fr-FR" sz="800" b="1" dirty="0">
                <a:solidFill>
                  <a:srgbClr val="0984E3"/>
                </a:solidFill>
                <a:latin typeface="Open Sans"/>
              </a:rPr>
              <a:t>Approvisionnements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Fournisseurs, stocks, commandes</a:t>
            </a:r>
          </a:p>
          <a:p>
            <a:pPr>
              <a:spcBef>
                <a:spcPts val="100"/>
              </a:spcBef>
              <a:buNone/>
            </a:pPr>
            <a:r>
              <a:rPr lang="fr-FR" sz="800" b="1" dirty="0">
                <a:solidFill>
                  <a:srgbClr val="0984E3"/>
                </a:solidFill>
                <a:latin typeface="Open Sans"/>
              </a:rPr>
              <a:t>Main d’œuvre</a:t>
            </a:r>
            <a:r>
              <a:rPr lang="fr-FR" sz="800" dirty="0">
                <a:solidFill>
                  <a:srgbClr val="636E72"/>
                </a:solidFill>
                <a:latin typeface="Open Sans"/>
              </a:rPr>
              <a:t> — Pointage, planification, variables paie</a:t>
            </a:r>
          </a:p>
          <a:p>
            <a:pPr>
              <a:spcBef>
                <a:spcPts val="350"/>
              </a:spcBef>
              <a:buNone/>
            </a:pPr>
            <a:r>
              <a:rPr lang="fr-FR" sz="900" b="1" dirty="0">
                <a:solidFill>
                  <a:srgbClr val="00B894"/>
                </a:solidFill>
                <a:latin typeface="Poppins"/>
              </a:rPr>
              <a:t>Stack technique</a:t>
            </a:r>
          </a:p>
          <a:p>
            <a:pPr>
              <a:spcBef>
                <a:spcPts val="100"/>
              </a:spcBef>
              <a:buNone/>
            </a:pPr>
            <a:r>
              <a:rPr lang="fr-FR" sz="800" dirty="0">
                <a:solidFill>
                  <a:srgbClr val="2D3436"/>
                </a:solidFill>
                <a:latin typeface="Open Sans"/>
              </a:rPr>
              <a:t>React/TypeScript | Node.js/Express | PostgreSQL | Electron | Docker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88874A-B135-4688-A145-03BEDAC4F42B}"/>
              </a:ext>
            </a:extLst>
          </p:cNvPr>
          <p:cNvSpPr txBox="1"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410031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spc="300" dirty="0">
                <a:solidFill>
                  <a:srgbClr val="00B894"/>
                </a:solidFill>
                <a:latin typeface="Open Sans"/>
              </a:rPr>
              <a:t>02 — PROJET 1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7620000" cy="444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2200" b="1" dirty="0">
                <a:solidFill>
                  <a:srgbClr val="2D3436"/>
                </a:solidFill>
                <a:latin typeface="Poppins"/>
              </a:rPr>
              <a:t>Mise à niveau urbaine — 4 communes</a:t>
            </a:r>
          </a:p>
        </p:txBody>
      </p:sp>
      <p:sp>
        <p:nvSpPr>
          <p:cNvPr id="10" name="s10"/>
          <p:cNvSpPr/>
          <p:nvPr/>
        </p:nvSpPr>
        <p:spPr>
          <a:xfrm>
            <a:off x="508000" y="1206500"/>
            <a:ext cx="1930400" cy="6096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600" b="1" dirty="0">
                <a:solidFill>
                  <a:srgbClr val="00B894"/>
                </a:solidFill>
                <a:latin typeface="Poppins"/>
              </a:rPr>
              <a:t>44,6M DH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Budget HT</a:t>
            </a:r>
          </a:p>
        </p:txBody>
      </p:sp>
      <p:sp>
        <p:nvSpPr>
          <p:cNvPr id="11" name="s11"/>
          <p:cNvSpPr/>
          <p:nvPr/>
        </p:nvSpPr>
        <p:spPr>
          <a:xfrm>
            <a:off x="2603500" y="1206500"/>
            <a:ext cx="1930400" cy="6096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600" b="1" dirty="0">
                <a:solidFill>
                  <a:srgbClr val="00B894"/>
                </a:solidFill>
                <a:latin typeface="Poppins"/>
              </a:rPr>
              <a:t>4 communes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Périmètre</a:t>
            </a:r>
          </a:p>
        </p:txBody>
      </p:sp>
      <p:sp>
        <p:nvSpPr>
          <p:cNvPr id="12" name="s12"/>
          <p:cNvSpPr/>
          <p:nvPr/>
        </p:nvSpPr>
        <p:spPr>
          <a:xfrm>
            <a:off x="4699000" y="1206500"/>
            <a:ext cx="1930400" cy="6096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600" b="1" dirty="0">
                <a:solidFill>
                  <a:srgbClr val="00B894"/>
                </a:solidFill>
                <a:latin typeface="Poppins"/>
              </a:rPr>
              <a:t>8 corps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d'état</a:t>
            </a:r>
          </a:p>
        </p:txBody>
      </p:sp>
      <p:sp>
        <p:nvSpPr>
          <p:cNvPr id="13" name="s13"/>
          <p:cNvSpPr/>
          <p:nvPr/>
        </p:nvSpPr>
        <p:spPr>
          <a:xfrm>
            <a:off x="6794500" y="1206500"/>
            <a:ext cx="1930400" cy="6096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600" b="1" dirty="0">
                <a:solidFill>
                  <a:srgbClr val="00B894"/>
                </a:solidFill>
                <a:latin typeface="Poppins"/>
              </a:rPr>
              <a:t>5 ans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Durée</a:t>
            </a:r>
          </a:p>
        </p:txBody>
      </p:sp>
      <p:sp>
        <p:nvSpPr>
          <p:cNvPr id="20" name="s20"/>
          <p:cNvSpPr/>
          <p:nvPr/>
        </p:nvSpPr>
        <p:spPr>
          <a:xfrm>
            <a:off x="508000" y="2006600"/>
            <a:ext cx="4064000" cy="2413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200" b="1" dirty="0">
                <a:solidFill>
                  <a:srgbClr val="00B894"/>
                </a:solidFill>
                <a:latin typeface="Poppins"/>
              </a:rPr>
              <a:t>Périmètre du projet</a:t>
            </a:r>
          </a:p>
          <a:p>
            <a:pPr marL="171450" indent="-171450">
              <a:spcBef>
                <a:spcPts val="300"/>
              </a:spcBef>
              <a:buFont typeface="Open Sans"/>
              <a:buChar char="•"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VRD : voiries, assainissement, AEP</a:t>
            </a:r>
          </a:p>
          <a:p>
            <a:pPr marL="171450" indent="-171450">
              <a:buFont typeface="Open Sans"/>
              <a:buChar char="•"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Électrification et éclairage public</a:t>
            </a:r>
          </a:p>
          <a:p>
            <a:pPr marL="171450" indent="-171450">
              <a:buFont typeface="Open Sans"/>
              <a:buChar char="•"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Espaces verts et aménagement</a:t>
            </a:r>
          </a:p>
          <a:p>
            <a:pPr marL="171450" indent="-171450">
              <a:buFont typeface="Open Sans"/>
              <a:buChar char="•"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Gestion 4 chantiers simultanés</a:t>
            </a:r>
          </a:p>
        </p:txBody>
      </p:sp>
      <p:sp>
        <p:nvSpPr>
          <p:cNvPr id="21" name="s21"/>
          <p:cNvSpPr/>
          <p:nvPr/>
        </p:nvSpPr>
        <p:spPr>
          <a:xfrm>
            <a:off x="4762500" y="2006600"/>
            <a:ext cx="4064000" cy="2413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200" b="1" dirty="0">
                <a:solidFill>
                  <a:srgbClr val="00B894"/>
                </a:solidFill>
                <a:latin typeface="Poppins"/>
              </a:rPr>
              <a:t>Répartition par commune</a:t>
            </a:r>
          </a:p>
          <a:p>
            <a:pPr marL="171450" indent="-171450">
              <a:spcBef>
                <a:spcPts val="300"/>
              </a:spcBef>
              <a:buFont typeface="Open Sans"/>
              <a:buChar char="▪"/>
            </a:pPr>
            <a:r>
              <a:rPr lang="fr-FR" sz="1000" b="1" dirty="0">
                <a:solidFill>
                  <a:srgbClr val="0984E3"/>
                </a:solidFill>
                <a:latin typeface="Open Sans"/>
              </a:rPr>
              <a:t>Ouaoumana</a:t>
            </a:r>
            <a:r>
              <a:rPr lang="fr-FR" sz="1000" dirty="0">
                <a:solidFill>
                  <a:srgbClr val="2D3436"/>
                </a:solidFill>
                <a:latin typeface="Open Sans"/>
              </a:rPr>
              <a:t> — 15,8M DH (35,5%)</a:t>
            </a:r>
          </a:p>
          <a:p>
            <a:pPr marL="171450" indent="-171450">
              <a:buFont typeface="Open Sans"/>
              <a:buChar char="▪"/>
            </a:pPr>
            <a:r>
              <a:rPr lang="fr-FR" sz="1000" b="1" dirty="0">
                <a:solidFill>
                  <a:srgbClr val="636E72"/>
                </a:solidFill>
                <a:latin typeface="Open Sans"/>
              </a:rPr>
              <a:t>Sebt Ait Rahou</a:t>
            </a:r>
            <a:r>
              <a:rPr lang="fr-FR" sz="1000" dirty="0">
                <a:solidFill>
                  <a:srgbClr val="2D3436"/>
                </a:solidFill>
                <a:latin typeface="Open Sans"/>
              </a:rPr>
              <a:t> — 14,8M DH (33,2%)</a:t>
            </a:r>
          </a:p>
          <a:p>
            <a:pPr marL="171450" indent="-171450">
              <a:buFont typeface="Open Sans"/>
              <a:buChar char="▪"/>
            </a:pPr>
            <a:r>
              <a:rPr lang="fr-FR" sz="1000" b="1" dirty="0">
                <a:solidFill>
                  <a:srgbClr val="00CEC9"/>
                </a:solidFill>
                <a:latin typeface="Open Sans"/>
              </a:rPr>
              <a:t>Kerrouchen</a:t>
            </a:r>
            <a:r>
              <a:rPr lang="fr-FR" sz="1000" dirty="0">
                <a:solidFill>
                  <a:srgbClr val="2D3436"/>
                </a:solidFill>
                <a:latin typeface="Open Sans"/>
              </a:rPr>
              <a:t> — 7,3M DH (16,5%)</a:t>
            </a:r>
          </a:p>
          <a:p>
            <a:pPr marL="171450" indent="-171450">
              <a:buFont typeface="Open Sans"/>
              <a:buChar char="▪"/>
            </a:pPr>
            <a:r>
              <a:rPr lang="fr-FR" sz="1000" b="1" dirty="0">
                <a:solidFill>
                  <a:srgbClr val="00B894"/>
                </a:solidFill>
                <a:latin typeface="Open Sans"/>
              </a:rPr>
              <a:t>El Hammam</a:t>
            </a:r>
            <a:r>
              <a:rPr lang="fr-FR" sz="1000" dirty="0">
                <a:solidFill>
                  <a:srgbClr val="2D3436"/>
                </a:solidFill>
                <a:latin typeface="Open Sans"/>
              </a:rPr>
              <a:t> — 6,6M DH (14,9%)</a:t>
            </a:r>
          </a:p>
        </p:txBody>
      </p:sp>
      <p:sp>
        <p:nvSpPr>
          <p:cNvPr id="30" name="s3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6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1722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B91D42-3C37-4984-9805-69029982DE2F}"/>
              </a:ext>
            </a:extLst>
          </p:cNvPr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B89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E6C0200-2F74-4EE5-8299-BCB654FC1AE9}"/>
              </a:ext>
            </a:extLst>
          </p:cNvPr>
          <p:cNvSpPr txBox="1"/>
          <p:nvPr/>
        </p:nvSpPr>
        <p:spPr>
          <a:xfrm>
            <a:off x="508000" y="381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00B894"/>
                </a:solidFill>
                <a:latin typeface="Open Sans"/>
                <a:ea typeface="Open Sans"/>
                <a:cs typeface="Open Sans"/>
              </a:rPr>
              <a:t>02 — PROJET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61F97BF-D12F-450E-9DDD-7FE7AFABEF5D}"/>
              </a:ext>
            </a:extLst>
          </p:cNvPr>
          <p:cNvSpPr txBox="1"/>
          <p:nvPr/>
        </p:nvSpPr>
        <p:spPr>
          <a:xfrm>
            <a:off x="508000" y="635000"/>
            <a:ext cx="762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2D3436"/>
                </a:solidFill>
                <a:latin typeface="Poppins"/>
                <a:cs typeface="Poppins"/>
              </a:rPr>
              <a:t>Répartition budgétaire — Visualisation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85D19CD-BF0F-4C87-8010-5D3712035D36}"/>
              </a:ext>
            </a:extLst>
          </p:cNvPr>
          <p:cNvSpPr txBox="1"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7 / 16</a:t>
            </a:r>
          </a:p>
        </p:txBody>
      </p:sp>
      <p:graphicFrame>
        <p:nvGraphicFramePr>
          <p:cNvPr id="201" name="Pie Chart"/>
          <p:cNvGraphicFramePr/>
          <p:nvPr/>
        </p:nvGraphicFramePr>
        <p:xfrm>
          <a:off x="508000" y="1270000"/>
          <a:ext cx="4064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2" name="Bar Chart"/>
          <p:cNvGraphicFramePr/>
          <p:nvPr/>
        </p:nvGraphicFramePr>
        <p:xfrm>
          <a:off x="4762500" y="1270000"/>
          <a:ext cx="4064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8575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spc="300" dirty="0">
                <a:solidFill>
                  <a:srgbClr val="00B894"/>
                </a:solidFill>
                <a:latin typeface="Open Sans"/>
              </a:rPr>
              <a:t>02 — DIFFICULTÉS PROJET 1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7620000" cy="444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2200" b="1" dirty="0">
                <a:solidFill>
                  <a:srgbClr val="2D3436"/>
                </a:solidFill>
                <a:latin typeface="Poppins"/>
              </a:rPr>
              <a:t>Problèmes rencontrés &amp; solutions</a:t>
            </a:r>
          </a:p>
        </p:txBody>
      </p:sp>
      <p:sp>
        <p:nvSpPr>
          <p:cNvPr id="10" name="s10"/>
          <p:cNvSpPr/>
          <p:nvPr/>
        </p:nvSpPr>
        <p:spPr>
          <a:xfrm>
            <a:off x="508000" y="1270000"/>
            <a:ext cx="3937000" cy="635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8 parties techniques par commune</a:t>
            </a:r>
          </a:p>
        </p:txBody>
      </p:sp>
      <p:sp>
        <p:nvSpPr>
          <p:cNvPr id="20" name="s20"/>
          <p:cNvSpPr/>
          <p:nvPr/>
        </p:nvSpPr>
        <p:spPr>
          <a:xfrm>
            <a:off x="4508500" y="14605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400" dirty="0">
                <a:solidFill>
                  <a:srgbClr val="00B894"/>
                </a:solidFill>
                <a:latin typeface="Open Sans"/>
              </a:rPr>
              <a:t>→</a:t>
            </a:r>
          </a:p>
        </p:txBody>
      </p:sp>
      <p:sp>
        <p:nvSpPr>
          <p:cNvPr id="30" name="s30"/>
          <p:cNvSpPr/>
          <p:nvPr/>
        </p:nvSpPr>
        <p:spPr>
          <a:xfrm>
            <a:off x="4826000" y="1270000"/>
            <a:ext cx="3937000" cy="6350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Tableaux comparatifs multi-lots</a:t>
            </a:r>
          </a:p>
        </p:txBody>
      </p:sp>
      <p:sp>
        <p:nvSpPr>
          <p:cNvPr id="11" name="s11"/>
          <p:cNvSpPr/>
          <p:nvPr/>
        </p:nvSpPr>
        <p:spPr>
          <a:xfrm>
            <a:off x="508000" y="2032000"/>
            <a:ext cx="3937000" cy="635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Terrain rocheux imprévu</a:t>
            </a:r>
          </a:p>
        </p:txBody>
      </p:sp>
      <p:sp>
        <p:nvSpPr>
          <p:cNvPr id="21" name="s21"/>
          <p:cNvSpPr/>
          <p:nvPr/>
        </p:nvSpPr>
        <p:spPr>
          <a:xfrm>
            <a:off x="4508500" y="22225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400" dirty="0">
                <a:solidFill>
                  <a:srgbClr val="00B894"/>
                </a:solidFill>
                <a:latin typeface="Open Sans"/>
              </a:rPr>
              <a:t>→</a:t>
            </a:r>
          </a:p>
        </p:txBody>
      </p:sp>
      <p:sp>
        <p:nvSpPr>
          <p:cNvPr id="31" name="s31"/>
          <p:cNvSpPr/>
          <p:nvPr/>
        </p:nvSpPr>
        <p:spPr>
          <a:xfrm>
            <a:off x="4826000" y="2032000"/>
            <a:ext cx="3937000" cy="6350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Études géotechniques complémentaires</a:t>
            </a:r>
          </a:p>
        </p:txBody>
      </p:sp>
      <p:sp>
        <p:nvSpPr>
          <p:cNvPr id="12" name="s12"/>
          <p:cNvSpPr/>
          <p:nvPr/>
        </p:nvSpPr>
        <p:spPr>
          <a:xfrm>
            <a:off x="508000" y="2794000"/>
            <a:ext cx="3937000" cy="635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4 chantiers parallèles</a:t>
            </a:r>
          </a:p>
        </p:txBody>
      </p:sp>
      <p:sp>
        <p:nvSpPr>
          <p:cNvPr id="22" name="s22"/>
          <p:cNvSpPr/>
          <p:nvPr/>
        </p:nvSpPr>
        <p:spPr>
          <a:xfrm>
            <a:off x="4508500" y="29845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400" dirty="0">
                <a:solidFill>
                  <a:srgbClr val="00B894"/>
                </a:solidFill>
                <a:latin typeface="Open Sans"/>
              </a:rPr>
              <a:t>→</a:t>
            </a:r>
          </a:p>
        </p:txBody>
      </p:sp>
      <p:sp>
        <p:nvSpPr>
          <p:cNvPr id="32" name="s32"/>
          <p:cNvSpPr/>
          <p:nvPr/>
        </p:nvSpPr>
        <p:spPr>
          <a:xfrm>
            <a:off x="4826000" y="2794000"/>
            <a:ext cx="3937000" cy="6350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Planning Gantt centralisé</a:t>
            </a:r>
          </a:p>
        </p:txBody>
      </p:sp>
      <p:sp>
        <p:nvSpPr>
          <p:cNvPr id="13" name="s13"/>
          <p:cNvSpPr/>
          <p:nvPr/>
        </p:nvSpPr>
        <p:spPr>
          <a:xfrm>
            <a:off x="508000" y="3556000"/>
            <a:ext cx="3937000" cy="635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Écarts de quantités</a:t>
            </a:r>
          </a:p>
        </p:txBody>
      </p:sp>
      <p:sp>
        <p:nvSpPr>
          <p:cNvPr id="23" name="s23"/>
          <p:cNvSpPr/>
          <p:nvPr/>
        </p:nvSpPr>
        <p:spPr>
          <a:xfrm>
            <a:off x="4508500" y="37465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400" dirty="0">
                <a:solidFill>
                  <a:srgbClr val="00B894"/>
                </a:solidFill>
                <a:latin typeface="Open Sans"/>
              </a:rPr>
              <a:t>→</a:t>
            </a:r>
          </a:p>
        </p:txBody>
      </p:sp>
      <p:sp>
        <p:nvSpPr>
          <p:cNvPr id="33" name="s33"/>
          <p:cNvSpPr/>
          <p:nvPr/>
        </p:nvSpPr>
        <p:spPr>
          <a:xfrm>
            <a:off x="4826000" y="3556000"/>
            <a:ext cx="3937000" cy="6350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Métrés contradictoires systématiques</a:t>
            </a:r>
          </a:p>
        </p:txBody>
      </p:sp>
      <p:sp>
        <p:nvSpPr>
          <p:cNvPr id="40" name="s4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8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861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spc="300" dirty="0">
                <a:solidFill>
                  <a:srgbClr val="00CEC9"/>
                </a:solidFill>
                <a:latin typeface="Open Sans"/>
              </a:rPr>
              <a:t>03 — PROJET 2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7620000" cy="444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2200" b="1" dirty="0">
                <a:solidFill>
                  <a:srgbClr val="2D3436"/>
                </a:solidFill>
                <a:latin typeface="Poppins"/>
              </a:rPr>
              <a:t>Route Lehri-Kerrouchen</a:t>
            </a:r>
          </a:p>
        </p:txBody>
      </p:sp>
      <p:sp>
        <p:nvSpPr>
          <p:cNvPr id="10" name="s10"/>
          <p:cNvSpPr/>
          <p:nvPr/>
        </p:nvSpPr>
        <p:spPr>
          <a:xfrm>
            <a:off x="508000" y="1206500"/>
            <a:ext cx="1930400" cy="6096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600" b="1" dirty="0">
                <a:solidFill>
                  <a:srgbClr val="00CEC9"/>
                </a:solidFill>
                <a:latin typeface="Poppins"/>
              </a:rPr>
              <a:t>24,2M DH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Budget HT</a:t>
            </a:r>
          </a:p>
        </p:txBody>
      </p:sp>
      <p:sp>
        <p:nvSpPr>
          <p:cNvPr id="11" name="s11"/>
          <p:cNvSpPr/>
          <p:nvPr/>
        </p:nvSpPr>
        <p:spPr>
          <a:xfrm>
            <a:off x="2603500" y="1206500"/>
            <a:ext cx="1930400" cy="6096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600" b="1" dirty="0">
                <a:solidFill>
                  <a:srgbClr val="00CEC9"/>
                </a:solidFill>
                <a:latin typeface="Poppins"/>
              </a:rPr>
              <a:t>25,1 km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Linéaire</a:t>
            </a:r>
          </a:p>
        </p:txBody>
      </p:sp>
      <p:sp>
        <p:nvSpPr>
          <p:cNvPr id="12" name="s12"/>
          <p:cNvSpPr/>
          <p:nvPr/>
        </p:nvSpPr>
        <p:spPr>
          <a:xfrm>
            <a:off x="4699000" y="1206500"/>
            <a:ext cx="1930400" cy="6096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600" b="1" dirty="0">
                <a:solidFill>
                  <a:srgbClr val="00CEC9"/>
                </a:solidFill>
                <a:latin typeface="Poppins"/>
              </a:rPr>
              <a:t>6 postes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Natures de travaux</a:t>
            </a:r>
          </a:p>
        </p:txBody>
      </p:sp>
      <p:sp>
        <p:nvSpPr>
          <p:cNvPr id="13" name="s13"/>
          <p:cNvSpPr/>
          <p:nvPr/>
        </p:nvSpPr>
        <p:spPr>
          <a:xfrm>
            <a:off x="6794500" y="1206500"/>
            <a:ext cx="1930400" cy="6096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600" b="1" dirty="0">
                <a:solidFill>
                  <a:srgbClr val="00CEC9"/>
                </a:solidFill>
                <a:latin typeface="Poppins"/>
              </a:rPr>
              <a:t>PRR3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Programme national</a:t>
            </a:r>
          </a:p>
        </p:txBody>
      </p:sp>
      <p:sp>
        <p:nvSpPr>
          <p:cNvPr id="20" name="s20"/>
          <p:cNvSpPr/>
          <p:nvPr/>
        </p:nvSpPr>
        <p:spPr>
          <a:xfrm>
            <a:off x="508000" y="2006600"/>
            <a:ext cx="4064000" cy="2413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200" b="1" dirty="0">
                <a:solidFill>
                  <a:srgbClr val="00CEC9"/>
                </a:solidFill>
                <a:latin typeface="Poppins"/>
              </a:rPr>
              <a:t>Contexte du projet</a:t>
            </a:r>
          </a:p>
          <a:p>
            <a:pPr marL="171450" indent="-171450">
              <a:spcBef>
                <a:spcPts val="300"/>
              </a:spcBef>
              <a:buFont typeface="Open Sans"/>
              <a:buChar char="•"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Route provinciale en montagne</a:t>
            </a:r>
          </a:p>
          <a:p>
            <a:pPr marL="171450" indent="-171450">
              <a:buFont typeface="Open Sans"/>
              <a:buChar char="•"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Désenclavement de douars isolés</a:t>
            </a:r>
          </a:p>
          <a:p>
            <a:pPr marL="171450" indent="-171450">
              <a:buFont typeface="Open Sans"/>
              <a:buChar char="•"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Géologie montagneuse complexe</a:t>
            </a:r>
          </a:p>
          <a:p>
            <a:pPr marL="171450" indent="-171450">
              <a:buFont typeface="Open Sans"/>
              <a:buChar char="•"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Contrainte gel hivernal (nov-mars)</a:t>
            </a:r>
          </a:p>
        </p:txBody>
      </p:sp>
      <p:sp>
        <p:nvSpPr>
          <p:cNvPr id="21" name="s21"/>
          <p:cNvSpPr/>
          <p:nvPr/>
        </p:nvSpPr>
        <p:spPr>
          <a:xfrm>
            <a:off x="4762500" y="2006600"/>
            <a:ext cx="4064000" cy="2413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200" b="1" dirty="0">
                <a:solidFill>
                  <a:srgbClr val="00CEC9"/>
                </a:solidFill>
                <a:latin typeface="Poppins"/>
              </a:rPr>
              <a:t>Principaux postes de travaux</a:t>
            </a:r>
          </a:p>
          <a:p>
            <a:pPr marL="171450" indent="-171450">
              <a:spcBef>
                <a:spcPts val="400"/>
              </a:spcBef>
              <a:buFont typeface="Open Sans"/>
              <a:buChar char="▪"/>
            </a:pPr>
            <a:r>
              <a:rPr lang="fr-FR" sz="1000" b="1" dirty="0">
                <a:solidFill>
                  <a:srgbClr val="00B894"/>
                </a:solidFill>
                <a:latin typeface="Open Sans"/>
              </a:rPr>
              <a:t>Corps de chaussée</a:t>
            </a:r>
            <a:r>
              <a:rPr lang="fr-FR" sz="1000" dirty="0">
                <a:solidFill>
                  <a:srgbClr val="2D3436"/>
                </a:solidFill>
                <a:latin typeface="Open Sans"/>
              </a:rPr>
              <a:t> — 7,28M DH (30,1%)</a:t>
            </a:r>
          </a:p>
          <a:p>
            <a:pPr marL="171450" indent="-171450">
              <a:spcBef>
                <a:spcPts val="300"/>
              </a:spcBef>
              <a:buFont typeface="Open Sans"/>
              <a:buChar char="▪"/>
            </a:pPr>
            <a:r>
              <a:rPr lang="fr-FR" sz="1000" b="1" dirty="0">
                <a:solidFill>
                  <a:srgbClr val="00CEC9"/>
                </a:solidFill>
                <a:latin typeface="Open Sans"/>
              </a:rPr>
              <a:t>Ouvrages hydrauliques</a:t>
            </a:r>
            <a:r>
              <a:rPr lang="fr-FR" sz="1000" dirty="0">
                <a:solidFill>
                  <a:srgbClr val="2D3436"/>
                </a:solidFill>
                <a:latin typeface="Open Sans"/>
              </a:rPr>
              <a:t> — 6,79M DH (28,1%)</a:t>
            </a:r>
          </a:p>
          <a:p>
            <a:pPr marL="171450" indent="-171450">
              <a:spcBef>
                <a:spcPts val="300"/>
              </a:spcBef>
              <a:buFont typeface="Open Sans"/>
              <a:buChar char="▪"/>
            </a:pPr>
            <a:r>
              <a:rPr lang="fr-FR" sz="1000" b="1" dirty="0">
                <a:solidFill>
                  <a:srgbClr val="0984E3"/>
                </a:solidFill>
                <a:latin typeface="Open Sans"/>
              </a:rPr>
              <a:t>Terrassement</a:t>
            </a:r>
            <a:r>
              <a:rPr lang="fr-FR" sz="1000" dirty="0">
                <a:solidFill>
                  <a:srgbClr val="2D3436"/>
                </a:solidFill>
                <a:latin typeface="Open Sans"/>
              </a:rPr>
              <a:t> — 4,33M DH (17,9%)</a:t>
            </a:r>
          </a:p>
        </p:txBody>
      </p:sp>
      <p:sp>
        <p:nvSpPr>
          <p:cNvPr id="30" name="s3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9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9645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0998B2-17D9-437C-AE93-E560B4519448}"/>
              </a:ext>
            </a:extLst>
          </p:cNvPr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CEC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07E1DF-506D-4A2B-B0F9-02CCB67204E6}"/>
              </a:ext>
            </a:extLst>
          </p:cNvPr>
          <p:cNvSpPr txBox="1"/>
          <p:nvPr/>
        </p:nvSpPr>
        <p:spPr>
          <a:xfrm>
            <a:off x="508000" y="3810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00CEC9"/>
                </a:solidFill>
                <a:latin typeface="Open Sans"/>
                <a:ea typeface="Open Sans"/>
                <a:cs typeface="Open Sans"/>
              </a:rPr>
              <a:t>03 — BUDGET PROJET 2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3178FAA-72BA-4998-9A52-821379595B7E}"/>
              </a:ext>
            </a:extLst>
          </p:cNvPr>
          <p:cNvSpPr txBox="1"/>
          <p:nvPr/>
        </p:nvSpPr>
        <p:spPr>
          <a:xfrm>
            <a:off x="508000" y="635000"/>
            <a:ext cx="762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2D3436"/>
                </a:solidFill>
                <a:latin typeface="Poppins"/>
                <a:cs typeface="Poppins"/>
              </a:rPr>
              <a:t>Répartition budgétaire — Postes de travaux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A3BE0D3-9C60-4DC3-BAB6-7FCD1B1EE8CA}"/>
              </a:ext>
            </a:extLst>
          </p:cNvPr>
          <p:cNvSpPr txBox="1"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10 / 16</a:t>
            </a:r>
          </a:p>
        </p:txBody>
      </p:sp>
      <p:graphicFrame>
        <p:nvGraphicFramePr>
          <p:cNvPr id="201" name="PieP2"/>
          <p:cNvGraphicFramePr/>
          <p:nvPr/>
        </p:nvGraphicFramePr>
        <p:xfrm>
          <a:off x="508000" y="1270000"/>
          <a:ext cx="4064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2" name="BarP2"/>
          <p:cNvGraphicFramePr/>
          <p:nvPr/>
        </p:nvGraphicFramePr>
        <p:xfrm>
          <a:off x="4762500" y="1270000"/>
          <a:ext cx="4191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2180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spc="300" dirty="0">
                <a:solidFill>
                  <a:srgbClr val="0984E3"/>
                </a:solidFill>
                <a:latin typeface="Open Sans"/>
              </a:rPr>
              <a:t>04 — CPAR • SITUATION 1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698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2200" b="1" dirty="0">
                <a:solidFill>
                  <a:srgbClr val="2D3436"/>
                </a:solidFill>
                <a:latin typeface="Poppins"/>
              </a:rPr>
              <a:t>Analyse des offres — Projet 1</a:t>
            </a:r>
          </a:p>
        </p:txBody>
      </p:sp>
      <p:sp>
        <p:nvSpPr>
          <p:cNvPr id="5" name="s5"/>
          <p:cNvSpPr/>
          <p:nvPr/>
        </p:nvSpPr>
        <p:spPr>
          <a:xfrm>
            <a:off x="7874000" y="444500"/>
            <a:ext cx="1016000" cy="50800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  <a:latin typeface="Poppins"/>
              </a:rPr>
              <a:t>CAO</a:t>
            </a:r>
          </a:p>
        </p:txBody>
      </p:sp>
      <p:sp>
        <p:nvSpPr>
          <p:cNvPr id="10" name="s10"/>
          <p:cNvSpPr/>
          <p:nvPr/>
        </p:nvSpPr>
        <p:spPr>
          <a:xfrm>
            <a:off x="508000" y="1270000"/>
            <a:ext cx="4064000" cy="1397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b="1" spc="200" dirty="0">
                <a:solidFill>
                  <a:srgbClr val="00B894"/>
                </a:solidFill>
                <a:latin typeface="Poppins"/>
              </a:rPr>
              <a:t>CONTEXTE</a:t>
            </a:r>
          </a:p>
          <a:p>
            <a:pPr>
              <a:spcBef>
                <a:spcPts val="300"/>
              </a:spcBef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Commission d’Appel d’Offres : évaluation des soumissions pour le marché n°38-RBK-2017 (4 communes)</a:t>
            </a:r>
          </a:p>
        </p:txBody>
      </p:sp>
      <p:sp>
        <p:nvSpPr>
          <p:cNvPr id="11" name="s11"/>
          <p:cNvSpPr/>
          <p:nvPr/>
        </p:nvSpPr>
        <p:spPr>
          <a:xfrm>
            <a:off x="4826000" y="1270000"/>
            <a:ext cx="4064000" cy="1397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b="1" spc="200" dirty="0">
                <a:solidFill>
                  <a:srgbClr val="00B894"/>
                </a:solidFill>
                <a:latin typeface="Poppins"/>
              </a:rPr>
              <a:t>ANALYSE</a:t>
            </a:r>
          </a:p>
          <a:p>
            <a:pPr>
              <a:spcBef>
                <a:spcPts val="300"/>
              </a:spcBef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Grille multi-critères pondérée : conformité administrative, capacité technique, offre financière. Contrôle arithmétique des bordereaux</a:t>
            </a:r>
          </a:p>
        </p:txBody>
      </p:sp>
      <p:sp>
        <p:nvSpPr>
          <p:cNvPr id="12" name="s12"/>
          <p:cNvSpPr/>
          <p:nvPr/>
        </p:nvSpPr>
        <p:spPr>
          <a:xfrm>
            <a:off x="508000" y="2794000"/>
            <a:ext cx="4064000" cy="1397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b="1" spc="200" dirty="0">
                <a:solidFill>
                  <a:srgbClr val="00B894"/>
                </a:solidFill>
                <a:latin typeface="Poppins"/>
              </a:rPr>
              <a:t>ACTIONS</a:t>
            </a:r>
          </a:p>
          <a:p>
            <a:pPr>
              <a:spcBef>
                <a:spcPts val="300"/>
              </a:spcBef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Rapport d’analyse comparatif, vérification des références, contrôle des BPDE, recommandation motivée</a:t>
            </a:r>
          </a:p>
        </p:txBody>
      </p:sp>
      <p:sp>
        <p:nvSpPr>
          <p:cNvPr id="13" name="s13"/>
          <p:cNvSpPr/>
          <p:nvPr/>
        </p:nvSpPr>
        <p:spPr>
          <a:xfrm>
            <a:off x="4826000" y="2794000"/>
            <a:ext cx="4064000" cy="1397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b="1" spc="200" dirty="0">
                <a:solidFill>
                  <a:srgbClr val="00B894"/>
                </a:solidFill>
                <a:latin typeface="Poppins"/>
              </a:rPr>
              <a:t>RÉSULTAT</a:t>
            </a:r>
          </a:p>
          <a:p>
            <a:pPr>
              <a:spcBef>
                <a:spcPts val="300"/>
              </a:spcBef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Attribution conforme au Décret n°2-12-349. Procédure validée par la CAO. Marché notifié dans les délais réglementaires</a:t>
            </a:r>
          </a:p>
        </p:txBody>
      </p:sp>
      <p:sp>
        <p:nvSpPr>
          <p:cNvPr id="30" name="s3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11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985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spc="300" dirty="0">
                <a:solidFill>
                  <a:srgbClr val="0984E3"/>
                </a:solidFill>
                <a:latin typeface="Open Sans"/>
              </a:rPr>
              <a:t>04 — CPAR • SITUATION 2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698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2200" b="1" dirty="0">
                <a:solidFill>
                  <a:srgbClr val="2D3436"/>
                </a:solidFill>
                <a:latin typeface="Poppins"/>
              </a:rPr>
              <a:t>Suivi financier — Projet 2</a:t>
            </a:r>
          </a:p>
        </p:txBody>
      </p:sp>
      <p:sp>
        <p:nvSpPr>
          <p:cNvPr id="5" name="s5"/>
          <p:cNvSpPr/>
          <p:nvPr/>
        </p:nvSpPr>
        <p:spPr>
          <a:xfrm>
            <a:off x="7874000" y="444500"/>
            <a:ext cx="1016000" cy="508000"/>
          </a:xfrm>
          <a:prstGeom prst="roundRect">
            <a:avLst/>
          </a:prstGeom>
          <a:solidFill>
            <a:srgbClr val="00CEC9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  <a:latin typeface="Poppins"/>
              </a:rPr>
              <a:t>SUIVI</a:t>
            </a:r>
          </a:p>
        </p:txBody>
      </p:sp>
      <p:sp>
        <p:nvSpPr>
          <p:cNvPr id="10" name="s10"/>
          <p:cNvSpPr/>
          <p:nvPr/>
        </p:nvSpPr>
        <p:spPr>
          <a:xfrm>
            <a:off x="508000" y="1270000"/>
            <a:ext cx="4064000" cy="1397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b="1" spc="200" dirty="0">
                <a:solidFill>
                  <a:srgbClr val="00CEC9"/>
                </a:solidFill>
                <a:latin typeface="Poppins"/>
              </a:rPr>
              <a:t>CONTEXTE</a:t>
            </a:r>
          </a:p>
          <a:p>
            <a:pPr>
              <a:spcBef>
                <a:spcPts val="300"/>
              </a:spcBef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Suivi des situations de paiement — marché n°46-RBK-2017, route Lehri-Kerrouchen (25 km)</a:t>
            </a:r>
          </a:p>
        </p:txBody>
      </p:sp>
      <p:sp>
        <p:nvSpPr>
          <p:cNvPr id="11" name="s11"/>
          <p:cNvSpPr/>
          <p:nvPr/>
        </p:nvSpPr>
        <p:spPr>
          <a:xfrm>
            <a:off x="4826000" y="1270000"/>
            <a:ext cx="4064000" cy="1397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b="1" spc="200" dirty="0">
                <a:solidFill>
                  <a:srgbClr val="00CEC9"/>
                </a:solidFill>
                <a:latin typeface="Poppins"/>
              </a:rPr>
              <a:t>ANALYSE</a:t>
            </a:r>
          </a:p>
          <a:p>
            <a:pPr>
              <a:spcBef>
                <a:spcPts val="300"/>
              </a:spcBef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Vérification croisée : métrés terrain vs attachements contradictoires, contrôle des prix unitaires du bordereau</a:t>
            </a:r>
          </a:p>
        </p:txBody>
      </p:sp>
      <p:sp>
        <p:nvSpPr>
          <p:cNvPr id="12" name="s12"/>
          <p:cNvSpPr/>
          <p:nvPr/>
        </p:nvSpPr>
        <p:spPr>
          <a:xfrm>
            <a:off x="508000" y="2794000"/>
            <a:ext cx="4064000" cy="1397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b="1" spc="200" dirty="0">
                <a:solidFill>
                  <a:srgbClr val="00CEC9"/>
                </a:solidFill>
                <a:latin typeface="Poppins"/>
              </a:rPr>
              <a:t>ACTIONS</a:t>
            </a:r>
          </a:p>
          <a:p>
            <a:pPr>
              <a:spcBef>
                <a:spcPts val="300"/>
              </a:spcBef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Métrés contradictoires sur site, décomptes provisoires, alertes écarts, tableau de bord selon formule de révision contractuelle</a:t>
            </a:r>
          </a:p>
        </p:txBody>
      </p:sp>
      <p:sp>
        <p:nvSpPr>
          <p:cNvPr id="13" name="s13"/>
          <p:cNvSpPr/>
          <p:nvPr/>
        </p:nvSpPr>
        <p:spPr>
          <a:xfrm>
            <a:off x="4826000" y="2794000"/>
            <a:ext cx="4064000" cy="1397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b="1" spc="200" dirty="0">
                <a:solidFill>
                  <a:srgbClr val="00CEC9"/>
                </a:solidFill>
                <a:latin typeface="Poppins"/>
              </a:rPr>
              <a:t>RÉSULTAT</a:t>
            </a:r>
          </a:p>
          <a:p>
            <a:pPr>
              <a:spcBef>
                <a:spcPts val="300"/>
              </a:spcBef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Écarts budget/réalisé maîtrisés. Suivi conforme aux procédures d’attachements du décret n°2-12-349</a:t>
            </a:r>
          </a:p>
        </p:txBody>
      </p:sp>
      <p:sp>
        <p:nvSpPr>
          <p:cNvPr id="30" name="s3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12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6545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spc="300" dirty="0">
                <a:solidFill>
                  <a:srgbClr val="00B894"/>
                </a:solidFill>
                <a:latin typeface="Open Sans"/>
              </a:rPr>
              <a:t>05 — MÉTHODOLOGIE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7620000" cy="444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2200" b="1" dirty="0">
                <a:solidFill>
                  <a:srgbClr val="2D3436"/>
                </a:solidFill>
                <a:latin typeface="Poppins"/>
              </a:rPr>
              <a:t>Méthodologie de chiffrage</a:t>
            </a:r>
          </a:p>
        </p:txBody>
      </p:sp>
      <p:sp>
        <p:nvSpPr>
          <p:cNvPr id="10" name="s10"/>
          <p:cNvSpPr/>
          <p:nvPr/>
        </p:nvSpPr>
        <p:spPr>
          <a:xfrm>
            <a:off x="508000" y="1270000"/>
            <a:ext cx="2667000" cy="1206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800" b="1" dirty="0">
                <a:solidFill>
                  <a:srgbClr val="00B894"/>
                </a:solidFill>
                <a:latin typeface="Poppins"/>
              </a:rPr>
              <a:t>01</a:t>
            </a:r>
          </a:p>
          <a:p>
            <a:pPr>
              <a:buNone/>
            </a:pPr>
            <a:r>
              <a:rPr lang="fr-FR" sz="1100" b="1" dirty="0">
                <a:solidFill>
                  <a:srgbClr val="2D3436"/>
                </a:solidFill>
                <a:latin typeface="Poppins"/>
              </a:rPr>
              <a:t>Bordereau officiel</a:t>
            </a:r>
          </a:p>
          <a:p>
            <a:pPr>
              <a:spcBef>
                <a:spcPts val="200"/>
              </a:spcBef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Prix unitaires Direction des Routes, actualisés annuellement</a:t>
            </a:r>
          </a:p>
        </p:txBody>
      </p:sp>
      <p:sp>
        <p:nvSpPr>
          <p:cNvPr id="11" name="s11"/>
          <p:cNvSpPr/>
          <p:nvPr/>
        </p:nvSpPr>
        <p:spPr>
          <a:xfrm>
            <a:off x="3340100" y="1270000"/>
            <a:ext cx="2667000" cy="1206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800" b="1" dirty="0">
                <a:solidFill>
                  <a:srgbClr val="00B894"/>
                </a:solidFill>
                <a:latin typeface="Poppins"/>
              </a:rPr>
              <a:t>02</a:t>
            </a:r>
          </a:p>
          <a:p>
            <a:pPr>
              <a:buNone/>
            </a:pPr>
            <a:r>
              <a:rPr lang="fr-FR" sz="1100" b="1" dirty="0">
                <a:solidFill>
                  <a:srgbClr val="2D3436"/>
                </a:solidFill>
                <a:latin typeface="Poppins"/>
              </a:rPr>
              <a:t>Mercuriale régionale</a:t>
            </a:r>
          </a:p>
          <a:p>
            <a:pPr>
              <a:spcBef>
                <a:spcPts val="200"/>
              </a:spcBef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Référentiel des prix pratiqués région BMK</a:t>
            </a:r>
          </a:p>
        </p:txBody>
      </p:sp>
      <p:sp>
        <p:nvSpPr>
          <p:cNvPr id="12" name="s12"/>
          <p:cNvSpPr/>
          <p:nvPr/>
        </p:nvSpPr>
        <p:spPr>
          <a:xfrm>
            <a:off x="6172200" y="1270000"/>
            <a:ext cx="2667000" cy="1206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800" b="1" dirty="0">
                <a:solidFill>
                  <a:srgbClr val="00B894"/>
                </a:solidFill>
                <a:latin typeface="Poppins"/>
              </a:rPr>
              <a:t>03</a:t>
            </a:r>
          </a:p>
          <a:p>
            <a:pPr>
              <a:buNone/>
            </a:pPr>
            <a:r>
              <a:rPr lang="fr-FR" sz="1100" b="1" dirty="0">
                <a:solidFill>
                  <a:srgbClr val="2D3436"/>
                </a:solidFill>
                <a:latin typeface="Poppins"/>
              </a:rPr>
              <a:t>Retour chantier</a:t>
            </a:r>
          </a:p>
          <a:p>
            <a:pPr>
              <a:spcBef>
                <a:spcPts val="200"/>
              </a:spcBef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Prix constatés sur marchés similaires (3 ans)</a:t>
            </a:r>
          </a:p>
        </p:txBody>
      </p:sp>
      <p:sp>
        <p:nvSpPr>
          <p:cNvPr id="20" name="s20"/>
          <p:cNvSpPr/>
          <p:nvPr/>
        </p:nvSpPr>
        <p:spPr>
          <a:xfrm>
            <a:off x="508000" y="2667000"/>
            <a:ext cx="8382000" cy="571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200" b="1" dirty="0">
                <a:solidFill>
                  <a:srgbClr val="2D3436"/>
                </a:solidFill>
                <a:latin typeface="Poppins"/>
              </a:rPr>
              <a:t>Résultat : moyenne pondérée → estimation confidentielle</a:t>
            </a:r>
          </a:p>
          <a:p>
            <a:pPr algn="ctr">
              <a:buNone/>
            </a:pPr>
            <a:r>
              <a:rPr lang="fr-FR" sz="1000" dirty="0">
                <a:solidFill>
                  <a:srgbClr val="00B894"/>
                </a:solidFill>
                <a:latin typeface="Open Sans"/>
              </a:rPr>
              <a:t>Écart : 3,2% sur P1 • 0,8% sur P2 → aucun avenant</a:t>
            </a:r>
          </a:p>
        </p:txBody>
      </p:sp>
      <p:sp>
        <p:nvSpPr>
          <p:cNvPr id="21" name="s21"/>
          <p:cNvSpPr/>
          <p:nvPr/>
        </p:nvSpPr>
        <p:spPr>
          <a:xfrm>
            <a:off x="508000" y="3429000"/>
            <a:ext cx="4064000" cy="825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b="1" dirty="0">
                <a:solidFill>
                  <a:srgbClr val="00B894"/>
                </a:solidFill>
                <a:latin typeface="Poppins"/>
              </a:rPr>
              <a:t>Impact Projet 1</a:t>
            </a:r>
          </a:p>
          <a:p>
            <a:pPr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8 corps d'état × 4 communes = 32 sous-détails calibrés</a:t>
            </a:r>
          </a:p>
        </p:txBody>
      </p:sp>
      <p:sp>
        <p:nvSpPr>
          <p:cNvPr id="22" name="s22"/>
          <p:cNvSpPr/>
          <p:nvPr/>
        </p:nvSpPr>
        <p:spPr>
          <a:xfrm>
            <a:off x="4826000" y="3429000"/>
            <a:ext cx="4064000" cy="825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>
              <a:buNone/>
            </a:pPr>
            <a:r>
              <a:rPr lang="fr-FR" sz="1000" b="1" dirty="0">
                <a:solidFill>
                  <a:srgbClr val="00CEC9"/>
                </a:solidFill>
                <a:latin typeface="Poppins"/>
              </a:rPr>
              <a:t>Impact Projet 2</a:t>
            </a:r>
          </a:p>
          <a:p>
            <a:pPr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3 sections × déblais rocheux → recalcul en cours</a:t>
            </a:r>
          </a:p>
        </p:txBody>
      </p:sp>
      <p:sp>
        <p:nvSpPr>
          <p:cNvPr id="30" name="s3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13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0733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36000" tIns="18000" rIns="36000" bIns="1800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>
              <a:buNone/>
            </a:pPr>
            <a:r>
              <a:rPr lang="fr-FR" sz="1000" spc="300" dirty="0">
                <a:solidFill>
                  <a:srgbClr val="00B894"/>
                </a:solidFill>
                <a:latin typeface="Open Sans"/>
              </a:rPr>
              <a:t>05 — COMPÉTENCES BTS MEC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>
              <a:buNone/>
            </a:pPr>
            <a:r>
              <a:rPr lang="fr-FR" sz="2000" b="1" dirty="0">
                <a:solidFill>
                  <a:srgbClr val="2D3436"/>
                </a:solidFill>
                <a:latin typeface="Poppins"/>
              </a:rPr>
              <a:t>Matrice des compétences</a:t>
            </a:r>
          </a:p>
        </p:txBody>
      </p:sp>
      <p:sp>
        <p:nvSpPr>
          <p:cNvPr id="10" name="s10"/>
          <p:cNvSpPr/>
          <p:nvPr/>
        </p:nvSpPr>
        <p:spPr>
          <a:xfrm>
            <a:off x="508000" y="1143000"/>
            <a:ext cx="3175000" cy="381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dirty="0">
                <a:solidFill>
                  <a:srgbClr val="FFFFFF"/>
                </a:solidFill>
                <a:latin typeface="Poppins"/>
              </a:rPr>
              <a:t>Compétence</a:t>
            </a:r>
          </a:p>
        </p:txBody>
      </p:sp>
      <p:sp>
        <p:nvSpPr>
          <p:cNvPr id="11" name="s11"/>
          <p:cNvSpPr/>
          <p:nvPr/>
        </p:nvSpPr>
        <p:spPr>
          <a:xfrm>
            <a:off x="3683000" y="1143000"/>
            <a:ext cx="3175000" cy="381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dirty="0">
                <a:solidFill>
                  <a:srgbClr val="FFFFFF"/>
                </a:solidFill>
                <a:latin typeface="Poppins"/>
              </a:rPr>
              <a:t>Projet / Situation</a:t>
            </a:r>
          </a:p>
        </p:txBody>
      </p:sp>
      <p:sp>
        <p:nvSpPr>
          <p:cNvPr id="12" name="s12"/>
          <p:cNvSpPr/>
          <p:nvPr/>
        </p:nvSpPr>
        <p:spPr>
          <a:xfrm>
            <a:off x="6858000" y="1143000"/>
            <a:ext cx="1778000" cy="381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dirty="0">
                <a:solidFill>
                  <a:srgbClr val="FFFFFF"/>
                </a:solidFill>
                <a:latin typeface="Poppins"/>
              </a:rPr>
              <a:t>Validée</a:t>
            </a:r>
          </a:p>
        </p:txBody>
      </p:sp>
      <p:sp>
        <p:nvSpPr>
          <p:cNvPr id="20" name="s20"/>
          <p:cNvSpPr/>
          <p:nvPr/>
        </p:nvSpPr>
        <p:spPr>
          <a:xfrm>
            <a:off x="508000" y="1524000"/>
            <a:ext cx="3175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>
              <a:buNone/>
            </a:pPr>
            <a:r>
              <a:rPr lang="fr-FR" sz="900" b="1" dirty="0">
                <a:solidFill>
                  <a:srgbClr val="2D3436"/>
                </a:solidFill>
                <a:latin typeface="Poppins"/>
              </a:rPr>
              <a:t>C1 — Chiffrage</a:t>
            </a:r>
          </a:p>
        </p:txBody>
      </p:sp>
      <p:sp>
        <p:nvSpPr>
          <p:cNvPr id="21" name="s21"/>
          <p:cNvSpPr/>
          <p:nvPr/>
        </p:nvSpPr>
        <p:spPr>
          <a:xfrm>
            <a:off x="3683000" y="1524000"/>
            <a:ext cx="3175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P1 + P2</a:t>
            </a:r>
          </a:p>
        </p:txBody>
      </p:sp>
      <p:sp>
        <p:nvSpPr>
          <p:cNvPr id="22" name="s22"/>
          <p:cNvSpPr/>
          <p:nvPr/>
        </p:nvSpPr>
        <p:spPr>
          <a:xfrm>
            <a:off x="6858000" y="1524000"/>
            <a:ext cx="1778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100" b="1" dirty="0">
                <a:solidFill>
                  <a:srgbClr val="00B894"/>
                </a:solidFill>
                <a:latin typeface="Poppins"/>
              </a:rPr>
              <a:t>✓</a:t>
            </a:r>
          </a:p>
        </p:txBody>
      </p:sp>
      <p:sp>
        <p:nvSpPr>
          <p:cNvPr id="23" name="s23"/>
          <p:cNvSpPr/>
          <p:nvPr/>
        </p:nvSpPr>
        <p:spPr>
          <a:xfrm>
            <a:off x="508000" y="1905000"/>
            <a:ext cx="31750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>
              <a:buNone/>
            </a:pPr>
            <a:r>
              <a:rPr lang="fr-FR" sz="900" b="1" dirty="0">
                <a:solidFill>
                  <a:srgbClr val="2D3436"/>
                </a:solidFill>
                <a:latin typeface="Poppins"/>
              </a:rPr>
              <a:t>C2 — Analyse d'offres</a:t>
            </a:r>
          </a:p>
        </p:txBody>
      </p:sp>
      <p:sp>
        <p:nvSpPr>
          <p:cNvPr id="24" name="s24"/>
          <p:cNvSpPr/>
          <p:nvPr/>
        </p:nvSpPr>
        <p:spPr>
          <a:xfrm>
            <a:off x="3683000" y="1905000"/>
            <a:ext cx="31750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P1 (CAO)</a:t>
            </a:r>
          </a:p>
        </p:txBody>
      </p:sp>
      <p:sp>
        <p:nvSpPr>
          <p:cNvPr id="25" name="s25"/>
          <p:cNvSpPr/>
          <p:nvPr/>
        </p:nvSpPr>
        <p:spPr>
          <a:xfrm>
            <a:off x="6858000" y="1905000"/>
            <a:ext cx="17780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100" b="1" dirty="0">
                <a:solidFill>
                  <a:srgbClr val="00B894"/>
                </a:solidFill>
                <a:latin typeface="Poppins"/>
              </a:rPr>
              <a:t>✓</a:t>
            </a:r>
          </a:p>
        </p:txBody>
      </p:sp>
      <p:sp>
        <p:nvSpPr>
          <p:cNvPr id="26" name="s26"/>
          <p:cNvSpPr/>
          <p:nvPr/>
        </p:nvSpPr>
        <p:spPr>
          <a:xfrm>
            <a:off x="508000" y="2286000"/>
            <a:ext cx="3175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>
              <a:buNone/>
            </a:pPr>
            <a:r>
              <a:rPr lang="fr-FR" sz="900" b="1" dirty="0">
                <a:solidFill>
                  <a:srgbClr val="2D3436"/>
                </a:solidFill>
                <a:latin typeface="Poppins"/>
              </a:rPr>
              <a:t>C3 — Suivi financier</a:t>
            </a:r>
          </a:p>
        </p:txBody>
      </p:sp>
      <p:sp>
        <p:nvSpPr>
          <p:cNvPr id="27" name="s27"/>
          <p:cNvSpPr/>
          <p:nvPr/>
        </p:nvSpPr>
        <p:spPr>
          <a:xfrm>
            <a:off x="3683000" y="2286000"/>
            <a:ext cx="3175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P2 (Situations)</a:t>
            </a:r>
          </a:p>
        </p:txBody>
      </p:sp>
      <p:sp>
        <p:nvSpPr>
          <p:cNvPr id="28" name="s28"/>
          <p:cNvSpPr/>
          <p:nvPr/>
        </p:nvSpPr>
        <p:spPr>
          <a:xfrm>
            <a:off x="6858000" y="2286000"/>
            <a:ext cx="1778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100" b="1" dirty="0">
                <a:solidFill>
                  <a:srgbClr val="00B894"/>
                </a:solidFill>
                <a:latin typeface="Poppins"/>
              </a:rPr>
              <a:t>✓</a:t>
            </a:r>
          </a:p>
        </p:txBody>
      </p:sp>
      <p:sp>
        <p:nvSpPr>
          <p:cNvPr id="29" name="s29"/>
          <p:cNvSpPr/>
          <p:nvPr/>
        </p:nvSpPr>
        <p:spPr>
          <a:xfrm>
            <a:off x="508000" y="2667000"/>
            <a:ext cx="31750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>
              <a:buNone/>
            </a:pPr>
            <a:r>
              <a:rPr lang="fr-FR" sz="900" b="1" dirty="0">
                <a:solidFill>
                  <a:srgbClr val="2D3436"/>
                </a:solidFill>
                <a:latin typeface="Poppins"/>
              </a:rPr>
              <a:t>C4 — Planification</a:t>
            </a:r>
          </a:p>
        </p:txBody>
      </p:sp>
      <p:sp>
        <p:nvSpPr>
          <p:cNvPr id="30" name="s30"/>
          <p:cNvSpPr/>
          <p:nvPr/>
        </p:nvSpPr>
        <p:spPr>
          <a:xfrm>
            <a:off x="3683000" y="2667000"/>
            <a:ext cx="31750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P1 (4 chantiers)</a:t>
            </a:r>
          </a:p>
        </p:txBody>
      </p:sp>
      <p:sp>
        <p:nvSpPr>
          <p:cNvPr id="31" name="s31"/>
          <p:cNvSpPr/>
          <p:nvPr/>
        </p:nvSpPr>
        <p:spPr>
          <a:xfrm>
            <a:off x="6858000" y="2667000"/>
            <a:ext cx="17780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100" b="1" dirty="0">
                <a:solidFill>
                  <a:srgbClr val="00B894"/>
                </a:solidFill>
                <a:latin typeface="Poppins"/>
              </a:rPr>
              <a:t>✓</a:t>
            </a:r>
          </a:p>
        </p:txBody>
      </p:sp>
      <p:sp>
        <p:nvSpPr>
          <p:cNvPr id="32" name="s32"/>
          <p:cNvSpPr/>
          <p:nvPr/>
        </p:nvSpPr>
        <p:spPr>
          <a:xfrm>
            <a:off x="508000" y="3048000"/>
            <a:ext cx="3175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>
              <a:buNone/>
            </a:pPr>
            <a:r>
              <a:rPr lang="fr-FR" sz="900" b="1" dirty="0">
                <a:solidFill>
                  <a:srgbClr val="2D3436"/>
                </a:solidFill>
                <a:latin typeface="Poppins"/>
              </a:rPr>
              <a:t>C5 — Métrés</a:t>
            </a:r>
          </a:p>
        </p:txBody>
      </p:sp>
      <p:sp>
        <p:nvSpPr>
          <p:cNvPr id="33" name="s33"/>
          <p:cNvSpPr/>
          <p:nvPr/>
        </p:nvSpPr>
        <p:spPr>
          <a:xfrm>
            <a:off x="3683000" y="3048000"/>
            <a:ext cx="3175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P1 + P2</a:t>
            </a:r>
          </a:p>
        </p:txBody>
      </p:sp>
      <p:sp>
        <p:nvSpPr>
          <p:cNvPr id="34" name="s34"/>
          <p:cNvSpPr/>
          <p:nvPr/>
        </p:nvSpPr>
        <p:spPr>
          <a:xfrm>
            <a:off x="6858000" y="3048000"/>
            <a:ext cx="1778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100" b="1" dirty="0">
                <a:solidFill>
                  <a:srgbClr val="00B894"/>
                </a:solidFill>
                <a:latin typeface="Poppins"/>
              </a:rPr>
              <a:t>✓</a:t>
            </a:r>
          </a:p>
        </p:txBody>
      </p:sp>
      <p:sp>
        <p:nvSpPr>
          <p:cNvPr id="35" name="s35"/>
          <p:cNvSpPr/>
          <p:nvPr/>
        </p:nvSpPr>
        <p:spPr>
          <a:xfrm>
            <a:off x="508000" y="3429000"/>
            <a:ext cx="31750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>
              <a:buNone/>
            </a:pPr>
            <a:r>
              <a:rPr lang="fr-FR" sz="900" b="1" dirty="0">
                <a:solidFill>
                  <a:srgbClr val="2D3436"/>
                </a:solidFill>
                <a:latin typeface="Poppins"/>
              </a:rPr>
              <a:t>C6 — Rédaction technique</a:t>
            </a:r>
          </a:p>
        </p:txBody>
      </p:sp>
      <p:sp>
        <p:nvSpPr>
          <p:cNvPr id="36" name="s36"/>
          <p:cNvSpPr/>
          <p:nvPr/>
        </p:nvSpPr>
        <p:spPr>
          <a:xfrm>
            <a:off x="3683000" y="3429000"/>
            <a:ext cx="31750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CPAR 1 + 2</a:t>
            </a:r>
          </a:p>
        </p:txBody>
      </p:sp>
      <p:sp>
        <p:nvSpPr>
          <p:cNvPr id="37" name="s37"/>
          <p:cNvSpPr/>
          <p:nvPr/>
        </p:nvSpPr>
        <p:spPr>
          <a:xfrm>
            <a:off x="6858000" y="3429000"/>
            <a:ext cx="17780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100" b="1" dirty="0">
                <a:solidFill>
                  <a:srgbClr val="00B894"/>
                </a:solidFill>
                <a:latin typeface="Poppins"/>
              </a:rPr>
              <a:t>✓</a:t>
            </a:r>
          </a:p>
        </p:txBody>
      </p:sp>
      <p:sp>
        <p:nvSpPr>
          <p:cNvPr id="38" name="s38"/>
          <p:cNvSpPr/>
          <p:nvPr/>
        </p:nvSpPr>
        <p:spPr>
          <a:xfrm>
            <a:off x="508000" y="3810000"/>
            <a:ext cx="3175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>
              <a:buNone/>
            </a:pPr>
            <a:r>
              <a:rPr lang="fr-FR" sz="900" b="1" dirty="0">
                <a:solidFill>
                  <a:srgbClr val="2D3436"/>
                </a:solidFill>
                <a:latin typeface="Poppins"/>
              </a:rPr>
              <a:t>C7 — Communication</a:t>
            </a:r>
          </a:p>
        </p:txBody>
      </p:sp>
      <p:sp>
        <p:nvSpPr>
          <p:cNvPr id="39" name="s39"/>
          <p:cNvSpPr/>
          <p:nvPr/>
        </p:nvSpPr>
        <p:spPr>
          <a:xfrm>
            <a:off x="3683000" y="3810000"/>
            <a:ext cx="3175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CAO + réunions</a:t>
            </a:r>
          </a:p>
        </p:txBody>
      </p:sp>
      <p:sp>
        <p:nvSpPr>
          <p:cNvPr id="40" name="s40"/>
          <p:cNvSpPr/>
          <p:nvPr/>
        </p:nvSpPr>
        <p:spPr>
          <a:xfrm>
            <a:off x="6858000" y="3810000"/>
            <a:ext cx="1778000" cy="381000"/>
          </a:xfrm>
          <a:prstGeom prst="rect">
            <a:avLst/>
          </a:prstGeom>
          <a:solidFill>
            <a:srgbClr val="F5F6FA"/>
          </a:solidFill>
          <a:ln>
            <a:solidFill>
              <a:srgbClr val="DFE6E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100" b="1" dirty="0">
                <a:solidFill>
                  <a:srgbClr val="00B894"/>
                </a:solidFill>
                <a:latin typeface="Poppins"/>
              </a:rPr>
              <a:t>✓</a:t>
            </a:r>
          </a:p>
        </p:txBody>
      </p:sp>
      <p:sp>
        <p:nvSpPr>
          <p:cNvPr id="50" name="s5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14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6822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254000"/>
            <a:ext cx="76200" cy="46355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508000" y="381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000" spc="300" dirty="0">
                <a:solidFill>
                  <a:srgbClr val="00B894"/>
                </a:solidFill>
                <a:latin typeface="Open Sans"/>
              </a:rPr>
              <a:t>05 — BILAN</a:t>
            </a:r>
          </a:p>
        </p:txBody>
      </p:sp>
      <p:sp>
        <p:nvSpPr>
          <p:cNvPr id="4" name="s4"/>
          <p:cNvSpPr/>
          <p:nvPr/>
        </p:nvSpPr>
        <p:spPr>
          <a:xfrm>
            <a:off x="508000" y="635000"/>
            <a:ext cx="7620000" cy="444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2200" b="1" dirty="0">
                <a:solidFill>
                  <a:srgbClr val="2D3436"/>
                </a:solidFill>
                <a:latin typeface="Poppins"/>
              </a:rPr>
              <a:t>Bilan réflexif</a:t>
            </a:r>
          </a:p>
        </p:txBody>
      </p:sp>
      <p:sp>
        <p:nvSpPr>
          <p:cNvPr id="10" name="s10"/>
          <p:cNvSpPr/>
          <p:nvPr/>
        </p:nvSpPr>
        <p:spPr>
          <a:xfrm>
            <a:off x="508000" y="1270000"/>
            <a:ext cx="2667000" cy="3175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200" b="1" dirty="0">
                <a:solidFill>
                  <a:srgbClr val="00B894"/>
                </a:solidFill>
                <a:latin typeface="Poppins"/>
              </a:rPr>
              <a:t>Ce que j'ai appris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Rigueur du chiffrage multi-sources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Gestion complexité multi-lots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Métrés contradictoires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Pilotage financier en temps réel</a:t>
            </a:r>
          </a:p>
        </p:txBody>
      </p:sp>
      <p:sp>
        <p:nvSpPr>
          <p:cNvPr id="11" name="s11"/>
          <p:cNvSpPr/>
          <p:nvPr/>
        </p:nvSpPr>
        <p:spPr>
          <a:xfrm>
            <a:off x="3327400" y="1270000"/>
            <a:ext cx="2667000" cy="3175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200" b="1" dirty="0">
                <a:solidFill>
                  <a:srgbClr val="00CEC9"/>
                </a:solidFill>
                <a:latin typeface="Poppins"/>
              </a:rPr>
              <a:t>Ce que je ferais autrement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Géotechnique plus en amont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Digitalisation suivi chantier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Reporting automatisé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Formation continue BIM</a:t>
            </a:r>
          </a:p>
        </p:txBody>
      </p:sp>
      <p:sp>
        <p:nvSpPr>
          <p:cNvPr id="12" name="s12"/>
          <p:cNvSpPr/>
          <p:nvPr/>
        </p:nvSpPr>
        <p:spPr>
          <a:xfrm>
            <a:off x="6146800" y="1270000"/>
            <a:ext cx="2667000" cy="31750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t"/>
          <a:lstStyle/>
          <a:p>
            <a:pPr>
              <a:buNone/>
            </a:pPr>
            <a:r>
              <a:rPr lang="fr-FR" sz="1200" b="1" dirty="0">
                <a:solidFill>
                  <a:srgbClr val="0984E3"/>
                </a:solidFill>
                <a:latin typeface="Poppins"/>
              </a:rPr>
              <a:t>Ce que j'apporte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8 ans d'expérience validée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Vision transversale du projet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Adaptation aux imprévus</a:t>
            </a:r>
          </a:p>
          <a:p>
            <a:pPr marL="171450" indent="-171450">
              <a:spcBef>
                <a:spcPts val="200"/>
              </a:spcBef>
              <a:buFont typeface="Open Sans"/>
              <a:buChar char="→"/>
            </a:pPr>
            <a:r>
              <a:rPr lang="fr-FR" sz="900" dirty="0">
                <a:solidFill>
                  <a:srgbClr val="2D3436"/>
                </a:solidFill>
                <a:latin typeface="Open Sans"/>
              </a:rPr>
              <a:t>Culture du résultat mesurable</a:t>
            </a:r>
          </a:p>
        </p:txBody>
      </p:sp>
      <p:sp>
        <p:nvSpPr>
          <p:cNvPr id="30" name="s3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15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6804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08000" y="635000"/>
            <a:ext cx="825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3000" b="1" dirty="0">
                <a:solidFill>
                  <a:srgbClr val="2D3436"/>
                </a:solidFill>
                <a:latin typeface="Poppins"/>
              </a:rPr>
              <a:t>Merci de votre attention</a:t>
            </a:r>
          </a:p>
        </p:txBody>
      </p:sp>
      <p:sp>
        <p:nvSpPr>
          <p:cNvPr id="3" name="s3"/>
          <p:cNvSpPr/>
          <p:nvPr/>
        </p:nvSpPr>
        <p:spPr>
          <a:xfrm>
            <a:off x="1270000" y="1270000"/>
            <a:ext cx="6604000" cy="317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100" dirty="0">
                <a:solidFill>
                  <a:srgbClr val="636E72"/>
                </a:solidFill>
                <a:latin typeface="Open Sans"/>
              </a:rPr>
              <a:t>BAHAFID Mohamed  •  BTS MEC  •  Session 2026</a:t>
            </a:r>
          </a:p>
        </p:txBody>
      </p:sp>
      <p:sp>
        <p:nvSpPr>
          <p:cNvPr id="4" name="s4"/>
          <p:cNvSpPr/>
          <p:nvPr/>
        </p:nvSpPr>
        <p:spPr>
          <a:xfrm>
            <a:off x="3683000" y="1651000"/>
            <a:ext cx="1524000" cy="381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10" name="s10"/>
          <p:cNvSpPr/>
          <p:nvPr/>
        </p:nvSpPr>
        <p:spPr>
          <a:xfrm>
            <a:off x="635000" y="1879600"/>
            <a:ext cx="2667000" cy="698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2200" b="1" dirty="0">
                <a:solidFill>
                  <a:srgbClr val="00B894"/>
                </a:solidFill>
                <a:latin typeface="Poppins"/>
              </a:rPr>
              <a:t>7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Marchés suivis</a:t>
            </a:r>
          </a:p>
        </p:txBody>
      </p:sp>
      <p:sp>
        <p:nvSpPr>
          <p:cNvPr id="11" name="s11"/>
          <p:cNvSpPr/>
          <p:nvPr/>
        </p:nvSpPr>
        <p:spPr>
          <a:xfrm>
            <a:off x="3454400" y="1879600"/>
            <a:ext cx="2667000" cy="698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2200" b="1" dirty="0">
                <a:solidFill>
                  <a:srgbClr val="00B894"/>
                </a:solidFill>
                <a:latin typeface="Poppins"/>
              </a:rPr>
              <a:t>8 ans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Expérience BTP</a:t>
            </a:r>
          </a:p>
        </p:txBody>
      </p:sp>
      <p:sp>
        <p:nvSpPr>
          <p:cNvPr id="12" name="s12"/>
          <p:cNvSpPr/>
          <p:nvPr/>
        </p:nvSpPr>
        <p:spPr>
          <a:xfrm>
            <a:off x="6273800" y="1879600"/>
            <a:ext cx="2667000" cy="698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2200" b="1" dirty="0">
                <a:solidFill>
                  <a:srgbClr val="00B894"/>
                </a:solidFill>
                <a:latin typeface="Poppins"/>
              </a:rPr>
              <a:t>10</a:t>
            </a:r>
          </a:p>
          <a:p>
            <a:pPr algn="ctr">
              <a:buNone/>
            </a:pPr>
            <a:r>
              <a:rPr lang="fr-FR" sz="900" dirty="0">
                <a:solidFill>
                  <a:srgbClr val="636E72"/>
                </a:solidFill>
                <a:latin typeface="Open Sans"/>
              </a:rPr>
              <a:t>Compétences BTS</a:t>
            </a:r>
          </a:p>
        </p:txBody>
      </p:sp>
      <p:sp>
        <p:nvSpPr>
          <p:cNvPr id="20" name="s20"/>
          <p:cNvSpPr/>
          <p:nvPr/>
        </p:nvSpPr>
        <p:spPr>
          <a:xfrm>
            <a:off x="1016000" y="2794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100" i="1" dirty="0">
                <a:solidFill>
                  <a:srgbClr val="636E72"/>
                </a:solidFill>
                <a:latin typeface="Open Sans"/>
              </a:rPr>
              <a:t>« La rigueur du chiffrage protège le projet,</a:t>
            </a:r>
          </a:p>
          <a:p>
            <a:pPr algn="ctr">
              <a:buNone/>
            </a:pPr>
            <a:r>
              <a:rPr lang="fr-FR" sz="1100" i="1" dirty="0">
                <a:solidFill>
                  <a:srgbClr val="636E72"/>
                </a:solidFill>
                <a:latin typeface="Open Sans"/>
              </a:rPr>
              <a:t>et le BTS MEC donne un cadre à cette exigence. »</a:t>
            </a:r>
          </a:p>
        </p:txBody>
      </p:sp>
      <p:sp>
        <p:nvSpPr>
          <p:cNvPr id="21" name="s21"/>
          <p:cNvSpPr/>
          <p:nvPr/>
        </p:nvSpPr>
        <p:spPr>
          <a:xfrm>
            <a:off x="508000" y="3581400"/>
            <a:ext cx="8382000" cy="4445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000" dirty="0">
                <a:solidFill>
                  <a:srgbClr val="2D3436"/>
                </a:solidFill>
                <a:latin typeface="Open Sans"/>
              </a:rPr>
              <a:t>10 compétences BTS MEC  •  68,8M DH de marchés suivis  •  8 ans d'expérience terrain</a:t>
            </a:r>
          </a:p>
        </p:txBody>
      </p:sp>
      <p:sp>
        <p:nvSpPr>
          <p:cNvPr id="22" name="s22"/>
          <p:cNvSpPr/>
          <p:nvPr/>
        </p:nvSpPr>
        <p:spPr>
          <a:xfrm>
            <a:off x="3048000" y="4191000"/>
            <a:ext cx="3048000" cy="44450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  <a:latin typeface="Poppins"/>
              </a:rPr>
              <a:t>Vos questions ?</a:t>
            </a:r>
          </a:p>
        </p:txBody>
      </p:sp>
      <p:sp>
        <p:nvSpPr>
          <p:cNvPr id="30" name="s30"/>
          <p:cNvSpPr/>
          <p:nvPr/>
        </p:nvSpPr>
        <p:spPr>
          <a:xfrm>
            <a:off x="7874000" y="4826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>
              <a:buNone/>
            </a:pPr>
            <a:r>
              <a:rPr lang="fr-FR" sz="800">
                <a:solidFill>
                  <a:srgbClr val="B2BEC3"/>
                </a:solidFill>
                <a:latin typeface="Open Sans"/>
                <a:ea typeface="Open Sans"/>
                <a:cs typeface="Open Sans"/>
              </a:rPr>
              <a:t>16 / 16</a:t>
            </a:r>
            <a:endParaRPr lang="fr-FR" sz="800" dirty="0">
              <a:solidFill>
                <a:srgbClr val="B2BEC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75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urquoise Clair">
      <a:dk1>
        <a:srgbClr val="2D3436"/>
      </a:dk1>
      <a:lt1>
        <a:srgbClr val="FFFFFF"/>
      </a:lt1>
      <a:dk2>
        <a:srgbClr val="636E72"/>
      </a:dk2>
      <a:lt2>
        <a:srgbClr val="F5F6FA"/>
      </a:lt2>
      <a:accent1>
        <a:srgbClr val="00B894"/>
      </a:accent1>
      <a:accent2>
        <a:srgbClr val="00CEC9"/>
      </a:accent2>
      <a:accent3>
        <a:srgbClr val="81ECEC"/>
      </a:accent3>
      <a:accent4>
        <a:srgbClr val="B2BEC3"/>
      </a:accent4>
      <a:accent5>
        <a:srgbClr val="DFE6E9"/>
      </a:accent5>
      <a:accent6>
        <a:srgbClr val="0984E3"/>
      </a:accent6>
      <a:hlink>
        <a:srgbClr val="0563C1"/>
      </a:hlink>
      <a:folHlink>
        <a:srgbClr val="954F72"/>
      </a:folHlink>
    </a:clrScheme>
    <a:fontScheme name="Turquoise Clair">
      <a:majorFont>
        <a:latin typeface="Poppi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49D0BCF-E593-43F6-8C2B-F84EAE7C7917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1153</Words>
  <Application>Microsoft Office PowerPoint</Application>
  <PresentationFormat>Affichage à l'écran (16:9)</PresentationFormat>
  <Paragraphs>280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Open Sans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U62 – BTS MEC 2026</dc:title>
  <dc:subject>PptxGenJS Presentation</dc:subject>
  <dc:creator>BAHAFID Mohamed</dc:creator>
  <cp:lastModifiedBy>amandine grizonnet</cp:lastModifiedBy>
  <cp:revision>4</cp:revision>
  <dcterms:created xsi:type="dcterms:W3CDTF">2026-03-04T20:09:34Z</dcterms:created>
  <dcterms:modified xsi:type="dcterms:W3CDTF">2026-03-22T16:37:22Z</dcterms:modified>
</cp:coreProperties>
</file>