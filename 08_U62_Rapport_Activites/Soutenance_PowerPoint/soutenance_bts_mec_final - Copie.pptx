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ppt/charts/chart9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4" d="100"/>
          <a:sy n="184" d="100"/>
        </p:scale>
        <p:origin x="17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4D-4FDE-ABEA-6F9B7386DAB5}"/>
              </c:ext>
            </c:extLst>
          </c:dPt>
          <c:dPt>
            <c:idx val="1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4D-4FDE-ABEA-6F9B7386DAB5}"/>
              </c:ext>
            </c:extLst>
          </c:dPt>
          <c:dPt>
            <c:idx val="2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4D-4FDE-ABEA-6F9B7386DAB5}"/>
              </c:ext>
            </c:extLst>
          </c:dPt>
          <c:dPt>
            <c:idx val="3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4D-4FDE-ABEA-6F9B7386DAB5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4D-4FDE-ABEA-6F9B7386DAB5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4D-4FDE-ABEA-6F9B7386DAB5}"/>
              </c:ext>
            </c:extLst>
          </c:dPt>
          <c:dPt>
            <c:idx val="6"/>
            <c:bubble3D val="0"/>
            <c:spPr>
              <a:solidFill>
                <a:srgbClr val="4AAC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04D-4FDE-ABEA-6F9B7386DAB5}"/>
              </c:ext>
            </c:extLst>
          </c:dPt>
          <c:dPt>
            <c:idx val="7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04D-4FDE-ABEA-6F9B7386DAB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4D-4FDE-ABEA-6F9B7386DAB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4D-4FDE-ABEA-6F9B7386DAB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4D-4FDE-ABEA-6F9B7386DAB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4D-4FDE-ABEA-6F9B7386DAB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4D-4FDE-ABEA-6F9B7386DAB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4D-4FDE-ABEA-6F9B7386DAB5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04D-4FDE-ABEA-6F9B7386DAB5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04D-4FDE-ABEA-6F9B7386DAB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 &amp; ouvrages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B04D-4FDE-ABEA-6F9B7386DA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Poids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Assainissement</c:v>
                </c:pt>
                <c:pt idx="1">
                  <c:v>Chaussée</c:v>
                </c:pt>
                <c:pt idx="2">
                  <c:v>Éclairage</c:v>
                </c:pt>
                <c:pt idx="3">
                  <c:v>Trottoirs</c:v>
                </c:pt>
                <c:pt idx="4">
                  <c:v>Murs</c:v>
                </c:pt>
                <c:pt idx="5">
                  <c:v>Signalisation</c:v>
                </c:pt>
                <c:pt idx="6">
                  <c:v>Paysager</c:v>
                </c:pt>
                <c:pt idx="7">
                  <c:v>Mobilier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</c:v>
                </c:pt>
                <c:pt idx="1">
                  <c:v>19</c:v>
                </c:pt>
                <c:pt idx="2">
                  <c:v>16</c:v>
                </c:pt>
                <c:pt idx="3">
                  <c:v>14</c:v>
                </c:pt>
                <c:pt idx="4">
                  <c:v>14</c:v>
                </c:pt>
                <c:pt idx="5">
                  <c:v>6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B-4FC6-9CE4-2E12C35277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Écart %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89F-411D-AF7F-D7E2FFCB8A55}"/>
              </c:ext>
            </c:extLst>
          </c:dPt>
          <c:dPt>
            <c:idx val="1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89F-411D-AF7F-D7E2FFCB8A55}"/>
              </c:ext>
            </c:extLst>
          </c:dPt>
          <c:dPt>
            <c:idx val="2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9F-411D-AF7F-D7E2FFCB8A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 écart</c:v>
                </c:pt>
                <c:pt idx="1">
                  <c:v>Norme min</c:v>
                </c:pt>
                <c:pt idx="2">
                  <c:v>Norme max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5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9F-411D-AF7F-D7E2FFCB8A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16-427A-B91F-8E9EDF732210}"/>
              </c:ext>
            </c:extLst>
          </c:dPt>
          <c:dPt>
            <c:idx val="1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16-427A-B91F-8E9EDF732210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16-427A-B91F-8E9EDF73221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Technique (60 pts)</c:v>
                </c:pt>
                <c:pt idx="1">
                  <c:v>Financier (40 pts)</c:v>
                </c:pt>
                <c:pt idx="2">
                  <c:v>Total obtenu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</c:v>
                </c:pt>
                <c:pt idx="1">
                  <c:v>37</c:v>
                </c:pt>
                <c:pt idx="2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E16-427A-B91F-8E9EDF7322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Dépassement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098-4F1D-837F-9976DB045807}"/>
              </c:ext>
            </c:extLst>
          </c:dPt>
          <c:dPt>
            <c:idx val="1"/>
            <c:invertIfNegative val="0"/>
            <c:bubble3D val="0"/>
            <c:spPr>
              <a:solidFill>
                <a:srgbClr val="E24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098-4F1D-837F-9976DB045807}"/>
              </c:ext>
            </c:extLst>
          </c:dPt>
          <c:dPt>
            <c:idx val="2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098-4F1D-837F-9976DB04580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70C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Dérive mi-parcours</c:v>
                </c:pt>
                <c:pt idx="1">
                  <c:v>Seuil avenant</c:v>
                </c:pt>
                <c:pt idx="2">
                  <c:v>Résultat final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4.8</c:v>
                </c:pt>
                <c:pt idx="1">
                  <c:v>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098-4F1D-837F-9976DB04580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P2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47-44B6-9E61-FEBEC67C65D2}"/>
              </c:ext>
            </c:extLst>
          </c:dPt>
          <c:dPt>
            <c:idx val="1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47-44B6-9E61-FEBEC67C65D2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47-44B6-9E61-FEBEC67C65D2}"/>
              </c:ext>
            </c:extLst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747-44B6-9E61-FEBEC67C65D2}"/>
              </c:ext>
            </c:extLst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747-44B6-9E61-FEBEC67C65D2}"/>
              </c:ext>
            </c:extLst>
          </c:dPt>
          <c:dPt>
            <c:idx val="5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747-44B6-9E61-FEBEC67C65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47-44B6-9E61-FEBEC67C65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47-44B6-9E61-FEBEC67C65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47-44B6-9E61-FEBEC67C65D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747-44B6-9E61-FEBEC67C65D2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747-44B6-9E61-FEBEC67C65D2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747-44B6-9E61-FEBEC67C65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Corps chaussée</c:v>
                </c:pt>
                <c:pt idx="1">
                  <c:v>Ouvrages hydrauliques</c:v>
                </c:pt>
                <c:pt idx="2">
                  <c:v>Terrassement</c:v>
                </c:pt>
                <c:pt idx="3">
                  <c:v>Revêtement</c:v>
                </c:pt>
                <c:pt idx="4">
                  <c:v>Bretelles/carrefour</c:v>
                </c:pt>
                <c:pt idx="5">
                  <c:v>Soutènement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28</c:v>
                </c:pt>
                <c:pt idx="2">
                  <c:v>18</c:v>
                </c:pt>
                <c:pt idx="3">
                  <c:v>11</c:v>
                </c:pt>
                <c:pt idx="4">
                  <c:v>11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747-44B6-9E61-FEBEC67C65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m³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423-4352-AAE5-F8DAAF923620}"/>
              </c:ext>
            </c:extLst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23-4352-AAE5-F8DAAF923620}"/>
              </c:ext>
            </c:extLst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23-4352-AAE5-F8DAAF923620}"/>
              </c:ext>
            </c:extLst>
          </c:dPt>
          <c:dPt>
            <c:idx val="3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23-4352-AAE5-F8DAAF92362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Déblais prévus</c:v>
                </c:pt>
                <c:pt idx="1">
                  <c:v>Dont rocheux
reclassifiés</c:v>
                </c:pt>
                <c:pt idx="2">
                  <c:v>Remblais
prévus</c:v>
                </c:pt>
                <c:pt idx="3">
                  <c:v>Remblais
réels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120334</c:v>
                </c:pt>
                <c:pt idx="1">
                  <c:v>5000</c:v>
                </c:pt>
                <c:pt idx="2">
                  <c:v>76735</c:v>
                </c:pt>
                <c:pt idx="3">
                  <c:v>68000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23-4352-AAE5-F8DAAF9236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Maîtrise (%)</c:v>
                </c:pt>
              </c:strCache>
            </c:strRef>
          </c:tx>
          <c:spPr>
            <a:ln w="25400" cap="flat">
              <a:solidFill>
                <a:srgbClr val="007A7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A7F"/>
              </a:solidFill>
              <a:ln w="9525" cap="flat">
                <a:solidFill>
                  <a:srgbClr val="007A7F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Métrés TCA</c:v>
                </c:pt>
                <c:pt idx="1">
                  <c:v>Estimation</c:v>
                </c:pt>
                <c:pt idx="2">
                  <c:v>Analyse CAO</c:v>
                </c:pt>
                <c:pt idx="3">
                  <c:v>Suivi financier</c:v>
                </c:pt>
                <c:pt idx="4">
                  <c:v>Coordination</c:v>
                </c:pt>
                <c:pt idx="5">
                  <c:v>Cubatures</c:v>
                </c:pt>
                <c:pt idx="6">
                  <c:v>Rédaction marchés</c:v>
                </c:pt>
                <c:pt idx="7">
                  <c:v>BIM Open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</c:v>
                </c:pt>
                <c:pt idx="1">
                  <c:v>90</c:v>
                </c:pt>
                <c:pt idx="2">
                  <c:v>85</c:v>
                </c:pt>
                <c:pt idx="3">
                  <c:v>95</c:v>
                </c:pt>
                <c:pt idx="4">
                  <c:v>88</c:v>
                </c:pt>
                <c:pt idx="5">
                  <c:v>92</c:v>
                </c:pt>
                <c:pt idx="6">
                  <c:v>88</c:v>
                </c:pt>
                <c:pt idx="7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45-40EB-9954-0EABC369C0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Années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2AD-4D7F-8C62-97B694F7B766}"/>
              </c:ext>
            </c:extLst>
          </c:dPt>
          <c:dPt>
            <c:idx val="1"/>
            <c:invertIfNegative val="0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2AD-4D7F-8C62-97B694F7B766}"/>
              </c:ext>
            </c:extLst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2AD-4D7F-8C62-97B694F7B766}"/>
              </c:ext>
            </c:extLst>
          </c:dPt>
          <c:dPt>
            <c:idx val="3"/>
            <c:invertIfNegative val="0"/>
            <c:bubble3D val="0"/>
            <c:spPr>
              <a:solidFill>
                <a:srgbClr val="007A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2AD-4D7F-8C62-97B694F7B76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MOA publique
(Maroc)</c:v>
                </c:pt>
                <c:pt idx="1">
                  <c:v>Exécution GO
(France)</c:v>
                </c:pt>
                <c:pt idx="2">
                  <c:v>BIM + Formation</c:v>
                </c:pt>
                <c:pt idx="3">
                  <c:v>BIMCO
indépendant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2AD-4D7F-8C62-97B694F7B7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6F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AACB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30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25-4B97-B5E5-04E13DE963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2027-28</c:v>
                </c:pt>
              </c:strCache>
            </c:strRef>
          </c:tx>
          <c:spPr>
            <a:solidFill>
              <a:srgbClr val="007A7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70</c:v>
                </c:pt>
                <c:pt idx="3">
                  <c:v>30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25-4B97-B5E5-04E13DE963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2029+</c:v>
                </c:pt>
              </c:strCache>
            </c:strRef>
          </c:tx>
          <c:spPr>
            <a:solidFill>
              <a:srgbClr val="005A5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Métrés BIM</c:v>
                </c:pt>
                <c:pt idx="1">
                  <c:v>Plugins Revit</c:v>
                </c:pt>
                <c:pt idx="2">
                  <c:v>DPGF auto.</c:v>
                </c:pt>
                <c:pt idx="3">
                  <c:v>SaaS MEC</c:v>
                </c:pt>
                <c:pt idx="4">
                  <c:v>Cabinet ingé.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E25-4B97-B5E5-04E13DE96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88888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5151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94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50992" y="0"/>
            <a:ext cx="36576" cy="5143500"/>
          </a:xfrm>
          <a:prstGeom prst="rect">
            <a:avLst/>
          </a:prstGeom>
          <a:solidFill>
            <a:srgbClr val="007A7F">
              <a:alpha val="50000"/>
            </a:srgbClr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87568" y="0"/>
            <a:ext cx="3456432" cy="514350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2194560" cy="274320"/>
          </a:xfrm>
          <a:prstGeom prst="rect">
            <a:avLst/>
          </a:prstGeom>
          <a:solidFill>
            <a:srgbClr val="1A1A1A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7A7F"/>
                </a:solidFill>
              </a:rPr>
              <a:t>BTS MEC — SESSION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
d'Activités
</a:t>
            </a:r>
            <a:r>
              <a:rPr lang="en-US" sz="4200" b="1" i="1" dirty="0">
                <a:solidFill>
                  <a:srgbClr val="4AA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Professionnelles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37490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AAAAAA"/>
                </a:solidFill>
              </a:rPr>
              <a:t>Candidat : </a:t>
            </a:r>
            <a:r>
              <a:rPr lang="en-US" sz="1100" dirty="0">
                <a:solidFill>
                  <a:srgbClr val="AAAAAA"/>
                </a:solidFill>
              </a:rPr>
              <a:t>BAHAFID Mohamed
</a:t>
            </a:r>
            <a:r>
              <a:rPr lang="en-US" sz="1100" b="1" dirty="0">
                <a:solidFill>
                  <a:srgbClr val="AAAAAA"/>
                </a:solidFill>
              </a:rPr>
              <a:t>N° : </a:t>
            </a:r>
            <a:r>
              <a:rPr lang="en-US" sz="1100" dirty="0">
                <a:solidFill>
                  <a:srgbClr val="AAAAAA"/>
                </a:solidFill>
              </a:rPr>
              <a:t>02537399911 — Académie de Lyon
</a:t>
            </a:r>
            <a:r>
              <a:rPr lang="en-US" sz="1100" b="1" dirty="0">
                <a:solidFill>
                  <a:srgbClr val="AAAAAA"/>
                </a:solidFill>
              </a:rPr>
              <a:t>Structure : </a:t>
            </a:r>
            <a:r>
              <a:rPr lang="en-US" sz="1100" dirty="0">
                <a:solidFill>
                  <a:srgbClr val="AAAAAA"/>
                </a:solidFill>
              </a:rPr>
              <a:t>BIMCO | SIREN 999 580 053
</a:t>
            </a:r>
            <a:r>
              <a:rPr lang="en-US" sz="1100" b="1" dirty="0">
                <a:solidFill>
                  <a:srgbClr val="AAAAAA"/>
                </a:solidFill>
              </a:rPr>
              <a:t>Siège : </a:t>
            </a:r>
            <a:r>
              <a:rPr lang="en-US" sz="1100" dirty="0">
                <a:solidFill>
                  <a:srgbClr val="AAAAAA"/>
                </a:solidFill>
              </a:rPr>
              <a:t>44 rue de la République, 42510 Bussières (Loire)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457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U62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594360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Expérience BTP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pays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Maroc + France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82,5 M DH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Investissements gérés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0" y="2834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9808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Marchés publics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Sommaire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soutenance — 20 minutes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600200" cy="220370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Cadre professionnel &amp; BIMCO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Mon parcours 8 ans BTP — double culture Maroc / France — création de BIMCO en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39112" y="685800"/>
            <a:ext cx="1600200" cy="2203701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39112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39112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30552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Projet 1 — 4 communes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30552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53,5 M DH TTC — 5 situations CPAR — Province de Khénifra — 18 mois de suivi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58184" y="685800"/>
            <a:ext cx="1600200" cy="22037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49624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Projet 2 — Route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Lehri-Kerrouchen — 29 M DH — 25 km Moyen Atlas — contrôle cubatures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77256" y="685800"/>
            <a:ext cx="1600200" cy="2203699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77256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68696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Bilan &amp; BIM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68696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Compétences mobilisées — protocole BIM LOD 300 — analyse Maroc / France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96328" y="685800"/>
            <a:ext cx="1600200" cy="2212835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96328" y="685800"/>
            <a:ext cx="1600200" cy="45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74980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87768" y="13533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Perspectives BIMCO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87768" y="2029968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</a:rPr>
              <a:t>Projet professionnel 2026–2029 — outils numériques — cabinet d'ingénierie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" y="360024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7A7F"/>
                </a:solidFill>
              </a:rPr>
              <a:t>PARCOURS CHRONOLOGIQUE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" y="3956858"/>
            <a:ext cx="8503920" cy="0"/>
          </a:xfrm>
          <a:prstGeom prst="line">
            <a:avLst/>
          </a:prstGeom>
          <a:noFill/>
          <a:ln w="12700">
            <a:solidFill>
              <a:srgbClr val="E8E6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2017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Conseil Régional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Béni Mellal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048256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54480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2019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554480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7 marchés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publics MOA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64408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0632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70632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Chef GO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Ergalis, Feurs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480560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86784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86784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Chef chantier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Minssieux, Mornant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696712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02936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02936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Titre BIM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AFPA Colmar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912864" y="3892850"/>
            <a:ext cx="128016" cy="128016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19088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19088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Fondateur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BIMCO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8129016" y="3892850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7A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405744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A7F"/>
                </a:solidFill>
              </a:rPr>
              <a:t>2026 ★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35240" y="425861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BTS MEC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Candidature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01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Cadre professionnel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BIMCO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Mon parcours m'a conduit du Maroc à la France. Voir le projet d'un autre angle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change profondément la façon d'estimer.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01 — Cadre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— Mon activité indépendante &amp; Profil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7A7F"/>
                </a:solidFill>
              </a:rPr>
              <a:t>BIMCO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11480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45720" cy="132588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051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Créée en janvier 2026, BIMCO occupe un créneau précis : appliquer le BIM aux métiers de l'économiste de la construction. La plupart des outils BIM sont conçus pour les architectes — pas pour le professionnel du chiffrage. BIMCO corrige ce manque : métrés par extraction de maquette numérique, études de prix ancrées dans les coûts réels, développement de plugins Revit/Dynamo pour automatiser la chaîne mètre → DPGF.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450592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4505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Revit API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09928" y="2450592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24505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C# .NET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99816" y="2450592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245059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Dynamo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61488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148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Python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09928" y="2761488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09928" y="276148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IFC / BIM360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099816" y="2761488"/>
            <a:ext cx="1298448" cy="237744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9816" y="276148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React / Node.js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4114800" cy="685800"/>
          </a:xfrm>
          <a:prstGeom prst="rect">
            <a:avLst/>
          </a:prstGeom>
          <a:solidFill>
            <a:srgbClr val="E0F4F5"/>
          </a:solidFill>
          <a:ln w="12700">
            <a:solidFill>
              <a:srgbClr val="E0F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12724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5A5E"/>
                </a:solidFill>
              </a:rPr>
              <a:t>Il est le prolongement direct de 8 ans d'experience MOA + execution + BIM.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7A7F"/>
                </a:solidFill>
              </a:rPr>
              <a:t>MON PARCOURS — 8 ANS BTP — 2 PAYS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051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10912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MOA publique — Maroc (2017–2022)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10912" y="131673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Technicien études &amp; suivi — Conseil Régional de Béni Mellal-Khénifra. Métrés, estimation confidentielle, rédaction DCE (CPS/RC/BPDE), analyse CAO, suivi financier. 7 marchés publics, +100 M DH.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01168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10912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Exécution terrain — France (2022–2024)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10912" y="22768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Chef d'équipe GO — Ergalis BTP, Feurs (Loire) : montage banches, armatures HA, coulage. Chef de chantier — Minssieux &amp; Fils, Mornant (Rhône) : planning, contrôle qualité.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97180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10912" y="2944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Formation BIM — AFPA Colmar (2024)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10912" y="32369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Titre Professionnel Modeleur BIM — 8 mois. Bâtiment R+2 modélisé, 78 postes extraits, écart 1,8% vs mètré traditionnel.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931920"/>
            <a:ext cx="256032" cy="256032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10912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2026 — BIMCO &amp; BTS MEC candidat libre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10912" y="419709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Cette double expérience MOA / exécution offre une vision complète du projet. Triple compétence rare sur le marché.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02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1 — Mise à niveau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 communes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Marché n°38-RBK-2017 — 53,5 M DH TTC — Province de Khénifra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5 situations professionnelles analysées selon la méthode CPAR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Projet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niveau 4 communes — Budget &amp; structure des 8 corps d'état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53,5 M DH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 TTC (~4,86 M€)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communes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El Hammam, Kerrouchen,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Ouaoumana, Sebt Ait Rahou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6824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corps d'état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6824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Assainissement → mobilier urbain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mois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Durée du suivi mensuel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1536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BUDGÉTAIRE — 44,6 M DH HT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17830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70916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POIDS DE CHAQUE CORPS D'ÉTAT (%)</a:t>
            </a:r>
            <a:endParaRPr lang="en-US" sz="9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78308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Situations 1 &amp;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confidentielle &amp; Analyse des offres en CAO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1 — ESTIMATION CONFIDENTIELLE — OUAOUMANA : 15,8 M DH HT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987552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Prix plafond avant AO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Fixe le prix plafond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avant l'appel d'offres.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Livraison en 3 semaines.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1005840"/>
            <a:ext cx="987552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8176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Plans incohérents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Mercuriale 2014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dérive 15–22% sur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enrobés et acier.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1005840"/>
            <a:ext cx="987552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3 sources croisées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112 lignes AutoCAD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+ 4 visites terrain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mercuriale + marchés.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005840"/>
            <a:ext cx="987552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Écart 3,2%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38144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Norme : 5–10%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Méthode adoptée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comme standard Agence.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COMPARAISON ÉCART ESTIMATION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2505456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2 — ANALYSE DES OFFRES — COMMISSION CAO — 3 OFFRES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1005840"/>
            <a:ext cx="100584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Membre technique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conformité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administrative, cohérence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des prix proposés.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96712" y="1005840"/>
            <a:ext cx="10058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769864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Prix anormaux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69864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7 erreurs arithmétiques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prix bas sur 42%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du montant (25–33%).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9984" y="1005840"/>
            <a:ext cx="100584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03136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Grille /100 pts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03136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Technique 60 pts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Financier 40 pts.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Justification écrite.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3256" y="1005840"/>
            <a:ext cx="100584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36408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94/100 — Zéro recours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36408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Attribution en 15 jours.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Zéro recours déposé.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Analyse solide.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663440" y="2286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NOTATION CAO — GRILLE /100 POINTS</a:t>
            </a:r>
            <a:endParaRPr lang="en-US" sz="800" dirty="0"/>
          </a:p>
        </p:txBody>
      </p:sp>
      <p:graphicFrame>
        <p:nvGraphicFramePr>
          <p:cNvPr id="54" name="Chart 1"/>
          <p:cNvGraphicFramePr/>
          <p:nvPr/>
        </p:nvGraphicFramePr>
        <p:xfrm>
          <a:off x="4663440" y="2505456"/>
          <a:ext cx="416052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02 — Situations 3 &amp;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financier Kerrouchen &amp; Coordination de 4 chantiers simultanés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685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3 — SUIVI FINANCIER KERROUCHEN — 7,3 M DH — 18 MOIS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987552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Suivi mensuel complet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situations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et contrôle quantités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réellement exécutées.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35024" y="1005840"/>
            <a:ext cx="987552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5024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08176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Terrain rocheux imprêvu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08176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Chaussée +12% + murs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+15%. Dérive +4,8%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(seuil avenant = 5%).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50008" y="1005840"/>
            <a:ext cx="987552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0008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TdB + compensation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TdB hebdo 3 indicateurs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réduction paysager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(44k DH) + mobilier (12k).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64992" y="1005840"/>
            <a:ext cx="987552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1005840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38144" y="126187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Dépassement +0,8%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38144" y="1481328"/>
            <a:ext cx="841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Aucun avenant.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TdB répliqué sur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les 3 autres communes.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2286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MAÎTRISE DU DÉPASSEMENT FINANCIER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>
            <p:extLst>
              <p:ext uri="{D42A27DB-BD31-4B8C-83A1-F6EECF244321}">
                <p14:modId xmlns:p14="http://schemas.microsoft.com/office/powerpoint/2010/main" val="334612464"/>
              </p:ext>
            </p:extLst>
          </p:nvPr>
        </p:nvGraphicFramePr>
        <p:xfrm>
          <a:off x="320040" y="2505456"/>
          <a:ext cx="41148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Shape 28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3440" y="685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SITUATION 4 — COORDINATION MULTI-SITES — 4 CHANTIERS — 3 CRISES EN 48H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63440" y="1005840"/>
            <a:ext cx="100584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63440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CONTEXTE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36592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Relais unique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36592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4 chantiers VRD de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20 à 80 km. Interface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entreprise/BET/labo.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696712" y="1005840"/>
            <a:ext cx="100584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96712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PROBLÈME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769864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3 crises S23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69864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Retard enrobés (Ouaou.)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alerte météo (Kerr.)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+ litige bordures 15%.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29984" y="1005840"/>
            <a:ext cx="100584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729984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ACTION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803136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3 fronts en 48h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803136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Note factuelle + 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photosdatées + re-mesurage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contradictoire sur place.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7763256" y="1005840"/>
            <a:ext cx="100584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763256" y="1005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RÉSULTAT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36408" y="126187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Écart 15% → 2,3%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836408" y="1481328"/>
            <a:ext cx="859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Paiement débloqué.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Modèle CR adopté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pour tous les marchés.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4663440" y="228600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DISPOSITIF DE COORDINATION MIS EN PLACE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66344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Point quotidien 8h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766560" y="253288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Rotation 1 site/jour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663440" y="2880360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66344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CR consolidé &lt; 24h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6766560" y="2880360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766560" y="288036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OS tracés systém.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4663440" y="3227832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6344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Attachements contradict.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766560" y="3227832"/>
            <a:ext cx="1965960" cy="2743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766560" y="32278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5A5E"/>
                </a:solidFill>
              </a:rPr>
              <a:t>Photos datées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4663440" y="3611880"/>
            <a:ext cx="4160520" cy="128016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754880" y="3657600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5A5E"/>
                </a:solidFill>
              </a:rPr>
              <a:t>Ce que j'ai appris : l'écrit systématique — ordres de service, attachements contradictoires, CR consolidés — est le seul rempart réel contre les litiges. Sans la trace écrite signée à Kerrouchen, le dépassement de 0,8% aurait pu être contesté par l'entreprise.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03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2 — Route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Lehri-Kerrouchen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29 M DH TTC — 25 km en zone montagneuse du Moyen Atlas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Programme PRR3 — Situation 5 : contrôle des cubatures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03 — Projet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Lehri-Kerrouchen 25 km — Budget &amp; Situation 5 cubatures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M DH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Budget TTC — Programme PRR3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13432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13432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km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13432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Zone montagneuse, dénivelé 400m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06824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06824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120 334 m³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06824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Déblais vérifiés (+ 76 735 remblais)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00216" y="685800"/>
            <a:ext cx="19202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7223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285 000 DH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11064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</a:rPr>
              <a:t>Surcôut absorbé sans avenant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1536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BUDGÉTAIRE — 24,2 M DH HT</a:t>
            </a:r>
            <a:endParaRPr lang="en-US" sz="9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320040" y="1783080"/>
          <a:ext cx="42062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4709160" y="1536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SITUATION 5 — CONTRÔLE DES CUBATURES (m³)</a:t>
            </a:r>
            <a:endParaRPr lang="en-US" sz="900" dirty="0"/>
          </a:p>
        </p:txBody>
      </p:sp>
      <p:graphicFrame>
        <p:nvGraphicFramePr>
          <p:cNvPr id="22" name="Chart 1"/>
          <p:cNvGraphicFramePr/>
          <p:nvPr/>
        </p:nvGraphicFramePr>
        <p:xfrm>
          <a:off x="4709160" y="178308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" name="Shape 19"/>
          <p:cNvSpPr/>
          <p:nvPr/>
        </p:nvSpPr>
        <p:spPr>
          <a:xfrm>
            <a:off x="4709160" y="3858768"/>
            <a:ext cx="96012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709160" y="3858768"/>
            <a:ext cx="960120" cy="2377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09160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782312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Contexte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782312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Vérification des 120 334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déblais + 76 735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remblais du BET.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733288" y="3858768"/>
            <a:ext cx="960120" cy="12070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733288" y="3858768"/>
            <a:ext cx="960120" cy="23774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733288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P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5806440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</a:rPr>
              <a:t>Problème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06440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PK 12+000 : calcaire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fracturé. 5 000 m³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à reclassifier. +8%.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6757416" y="3858768"/>
            <a:ext cx="96012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57416" y="3858768"/>
            <a:ext cx="960120" cy="2377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57416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6830568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Action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830568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GPS contradictoire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/500m + attachements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signés + compensation.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7781544" y="3858768"/>
            <a:ext cx="960120" cy="1207008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7781544" y="3858768"/>
            <a:ext cx="960120" cy="237744"/>
          </a:xfrm>
          <a:prstGeom prst="rect">
            <a:avLst/>
          </a:prstGeom>
          <a:solidFill>
            <a:srgbClr val="4527A0"/>
          </a:solidFill>
          <a:ln w="12700">
            <a:solidFill>
              <a:srgbClr val="4527A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781544" y="385876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7854696" y="411480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4527A0"/>
                </a:solidFill>
              </a:rPr>
              <a:t>Résultat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7854696" y="4334256"/>
            <a:ext cx="8138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285 kDH absorbés.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3 dalots intégrés.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</a:rPr>
              <a:t>Réception sans avenant.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04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Bilan, Compétences BIM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Analyse réflexive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Ce que j'ai appris, ce que je ferais différemment, et la valeur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de la triple compétence MOA + Exécution + BIM.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04 — Bilan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mobilisées BTS MEC &amp; Protocole BIM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MATRICE DE COMPÉTENCES BTS MEC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32688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709160" y="685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PROTOCOLE BIM — FORMATION AFPA COLMAR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09160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09160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postes extraits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126480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écart vs mètré manuel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525512" y="960120"/>
            <a:ext cx="1298448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D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525512" y="9601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7525512" y="13624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</a:rPr>
              <a:t>clashs résolus en amont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709160" y="1773936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09160" y="1773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0" y="17373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Modélisation Revit Architecture + Structure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029200" y="20116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Bâtiment R+2 — 850 m² SHAB — LOD 300 (géométrie précise pour chiffrage) / LOI 3 (données matériaux)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2432304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9160" y="2432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029200" y="239572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Export IFC et vérification de conformité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0" y="26700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IFC 2x3 — Open BIM — MVD Coordination View 2.0 — Serveur BIM360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3090672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0906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0" y="30540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Détection de clashs — Navisworks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029200" y="332841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12 conflits structure/réseaux résolus en amont du chantier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09160" y="3749040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09160" y="3749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029200" y="37124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Extraction automatique des quantités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029200" y="3986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Revit + Dynamo — 78 postes en 2h vs 2 jours en mètré traditionnel — écart 1,8%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09160" y="4407408"/>
            <a:ext cx="237744" cy="237744"/>
          </a:xfrm>
          <a:prstGeom prst="ellipse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09160" y="44074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29200" y="43708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</a:rPr>
              <a:t>Chiffrage avec traçabilité maquette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0" y="464515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</a:rPr>
              <a:t>Chaque quantité liée à un objet BIM — mise à jour instantanée à chaque modification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A7F"/>
                </a:solidFill>
              </a:rPr>
              <a:t>04 — Analyse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61872" y="16459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réflexif &amp; Comparaison Maroc / France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594360"/>
            <a:ext cx="8412480" cy="0"/>
          </a:xfrm>
          <a:prstGeom prst="line">
            <a:avLst/>
          </a:prstGeom>
          <a:noFill/>
          <a:ln w="10160">
            <a:solidFill>
              <a:srgbClr val="E8E6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RÉPARTITION 8 ANS D'EXPÉRIENCE BTP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20040" y="932688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18688"/>
            <a:ext cx="457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8912" y="32186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</a:rPr>
              <a:t>Ce que j'ai appris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38912" y="34564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</a:rPr>
              <a:t>L'ecrit systematique - OS, attachements, CR consolides - est le seul rempart reel contre les litiges. Sans la trace ecrite signee a Kerrouchen, le depassement de 0,8% aurait pu etre conteste.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4133088"/>
            <a:ext cx="457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" y="413308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Ce que je ferais différemment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8912" y="437083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3333"/>
                </a:solidFill>
              </a:rPr>
              <a:t>J'aurais deploye le tableau de bord des le 1er mois - signal +4,8% au 9eme mois. Etude geotechnique obligatoire avant terrassements.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09160" y="685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7A7F"/>
                </a:solidFill>
              </a:rPr>
              <a:t>COMPARAISON MAROC / FRANCE — CADRES RÉGLEMENTAIRES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4114800" cy="26517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Maroc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France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Pièces du marché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CPS + RC + BPDE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CCAP + CCTP + BPU/DQE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Estimation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Confidentielle obligatoire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Estimation maître d'ouvrage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Normes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Normes marocaines + RPS 2000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DTU + Eurocodes + RE2020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Suivi financier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Attachements contradictoires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Situations mensuelles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</a:rPr>
                        <a:t>Commission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CAO (Commission AO)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</a:rPr>
                        <a:t>Commission d'Appel d'Offres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4709160" y="3730752"/>
            <a:ext cx="4114800" cy="1188720"/>
          </a:xfrm>
          <a:prstGeom prst="rect">
            <a:avLst/>
          </a:prstGeom>
          <a:solidFill>
            <a:srgbClr val="E0F4F5"/>
          </a:solidFill>
          <a:ln w="6350">
            <a:solidFill>
              <a:srgbClr val="007A7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846320" y="376732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5A5E"/>
                </a:solidFill>
              </a:rPr>
              <a:t>Mêmes fondamentaux de la commande publique — deux cadres réglementaires distincts — une seule exigence : la rigueur.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000000"/>
                </a:solidFill>
              </a:rPr>
              <a:t>SECTION 05 /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Projet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professionnel BIMCO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6118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Ce rapport est avant tout une démonstration. Non pas de ce que je sais,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mais de comment je résous un problème sous contrainte.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0" y="731520"/>
            <a:ext cx="2377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7A7F"/>
                </a:solidFill>
              </a:rPr>
              <a:t>05 — PERSPECTIVES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164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BIMCO — Projet professionnel 2026 → 2029+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BTS MEC + premiers plugins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6888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2027–28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DPGF automatisé + SaaS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1772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Cabinet ingénierie BIM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766560" y="530352"/>
            <a:ext cx="2011680" cy="658368"/>
          </a:xfrm>
          <a:prstGeom prst="rect">
            <a:avLst/>
          </a:prstGeom>
          <a:solidFill>
            <a:srgbClr val="1A1A1A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66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A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200–300 k€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888"/>
                </a:solidFill>
              </a:rPr>
              <a:t>CA visé long terme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1298448"/>
            <a:ext cx="2788920" cy="233172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Obtenir le BTS MEC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Métrés BIM et traditionnels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Études de prix, DPGF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Suivi financier de marchés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Premiers plugins Revit/Dynamo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1298448"/>
            <a:ext cx="2788920" cy="2331720"/>
          </a:xfrm>
          <a:prstGeom prst="rect">
            <a:avLst/>
          </a:prstGeom>
          <a:solidFill>
            <a:srgbClr val="005A5E"/>
          </a:solidFill>
          <a:ln w="12700">
            <a:solidFill>
              <a:srgbClr val="00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Moyen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2027–28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01568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Plugin Revit → DPGF automatisé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App web suivi économique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Base prix connectée (Batiprix)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Génération automatique CCTP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3 à 5 clients récurrents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08776" y="1298448"/>
            <a:ext cx="2788920" cy="2331720"/>
          </a:xfrm>
          <a:prstGeom prst="rect">
            <a:avLst/>
          </a:prstGeom>
          <a:solidFill>
            <a:srgbClr val="003C3E"/>
          </a:solidFill>
          <a:ln w="12700">
            <a:solidFill>
              <a:srgbClr val="003C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12984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Long terme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2029+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45936" y="1755648"/>
            <a:ext cx="251460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810512"/>
            <a:ext cx="2514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BIMCO = cabinet BIM + éco construction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SaaS pour économistes MEC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Plugins Revit distribués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Équipe 3–5 personnes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</a:rPr>
              <a:t>CA 200–300 k€/an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" y="373075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7A7F"/>
                </a:solidFill>
              </a:rPr>
              <a:t>PROGRESSION DES ACTIVITÉS BIMCO PAR HORIZON</a:t>
            </a:r>
            <a:endParaRPr lang="en-US" sz="8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3950208"/>
          <a:ext cx="850392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731520"/>
            <a:ext cx="4572000" cy="4572000"/>
          </a:xfrm>
          <a:prstGeom prst="rect">
            <a:avLst/>
          </a:prstGeom>
          <a:solidFill>
            <a:srgbClr val="007A7F">
              <a:alpha val="8000"/>
            </a:srgbClr>
          </a:solidFill>
          <a:ln w="12700">
            <a:solidFill>
              <a:srgbClr val="007A7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000000"/>
                </a:solidFill>
              </a:rPr>
              <a:t>Soutenance BTS MEC U62 — Session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BAHAFID Mohamed — N° 02537399911 — Académie de Lyon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AAAA"/>
                </a:solidFill>
              </a:rPr>
              <a:t>BIMCO | gestion.bimco-consulting.fr | Bussières, Loire 42510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45720" cy="822960"/>
          </a:xfrm>
          <a:prstGeom prst="rect">
            <a:avLst/>
          </a:prstGeom>
          <a:solidFill>
            <a:srgbClr val="007A7F"/>
          </a:solidFill>
          <a:ln w="12700">
            <a:solidFill>
              <a:srgbClr val="007A7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DDD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j'ai construit en huit ans, c'est une methode. Le BTS MEC lui donne un cadre formel. BIMCO lui donne une continuation.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</a:rPr>
              <a:t>8 ans BTP  ·  2 pays  ·  7 marchés publics  ·  82,5 M DH gérés  ·  Triple compétence MOA + Exécution + BIM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1811</Words>
  <Application>Microsoft Office PowerPoint</Application>
  <PresentationFormat>Affichage à l'écran (16:9)</PresentationFormat>
  <Paragraphs>370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9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BTS MEC U62 - BIMCO</dc:title>
  <dc:subject>PptxGenJS Presentation</dc:subject>
  <dc:creator>BAHAFID Mohamed</dc:creator>
  <cp:lastModifiedBy>amandine grizonnet</cp:lastModifiedBy>
  <cp:revision>3</cp:revision>
  <dcterms:created xsi:type="dcterms:W3CDTF">2026-03-21T10:05:46Z</dcterms:created>
  <dcterms:modified xsi:type="dcterms:W3CDTF">2026-03-22T21:32:58Z</dcterms:modified>
</cp:coreProperties>
</file>