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3" r:id="rId2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23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74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4D-4FDE-ABEA-6F9B7386DAB5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4D-4FDE-ABEA-6F9B7386DAB5}"/>
              </c:ext>
            </c:extLst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4D-4FDE-ABEA-6F9B7386DAB5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4D-4FDE-ABEA-6F9B7386DAB5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4D-4FDE-ABEA-6F9B7386DAB5}"/>
              </c:ext>
            </c:extLst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4D-4FDE-ABEA-6F9B7386DAB5}"/>
              </c:ext>
            </c:extLst>
          </c:dPt>
          <c:dPt>
            <c:idx val="6"/>
            <c:bubble3D val="0"/>
            <c:spPr>
              <a:solidFill>
                <a:srgbClr val="4AA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04D-4FDE-ABEA-6F9B7386DAB5}"/>
              </c:ext>
            </c:extLst>
          </c:dPt>
          <c:dPt>
            <c:idx val="7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04D-4FDE-ABEA-6F9B7386DAB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4D-4FDE-ABEA-6F9B7386DAB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4D-4FDE-ABEA-6F9B7386DAB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4D-4FDE-ABEA-6F9B7386DAB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4D-4FDE-ABEA-6F9B7386DAB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4D-4FDE-ABEA-6F9B7386DAB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4D-4FDE-ABEA-6F9B7386DAB5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04D-4FDE-ABEA-6F9B7386DAB5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04D-4FDE-ABEA-6F9B7386DAB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Assainissement</c:v>
                </c:pt>
                <c:pt idx="1">
                  <c:v>Chaussée</c:v>
                </c:pt>
                <c:pt idx="2">
                  <c:v>Éclairage</c:v>
                </c:pt>
                <c:pt idx="3">
                  <c:v>Trottoirs</c:v>
                </c:pt>
                <c:pt idx="4">
                  <c:v>Murs &amp; ouvrages</c:v>
                </c:pt>
                <c:pt idx="5">
                  <c:v>Signalisation</c:v>
                </c:pt>
                <c:pt idx="6">
                  <c:v>Paysager</c:v>
                </c:pt>
                <c:pt idx="7">
                  <c:v>Mobilier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19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04D-4FDE-ABEA-6F9B7386DA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Poids %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Assainissement</c:v>
                </c:pt>
                <c:pt idx="1">
                  <c:v>Chaussée</c:v>
                </c:pt>
                <c:pt idx="2">
                  <c:v>Éclairage</c:v>
                </c:pt>
                <c:pt idx="3">
                  <c:v>Trottoirs</c:v>
                </c:pt>
                <c:pt idx="4">
                  <c:v>Murs</c:v>
                </c:pt>
                <c:pt idx="5">
                  <c:v>Signalisation</c:v>
                </c:pt>
                <c:pt idx="6">
                  <c:v>Paysager</c:v>
                </c:pt>
                <c:pt idx="7">
                  <c:v>Mobilier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19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B-4FC6-9CE4-2E12C35277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Écart %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9F-411D-AF7F-D7E2FFCB8A55}"/>
              </c:ext>
            </c:extLst>
          </c:dPt>
          <c:dPt>
            <c:idx val="1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9F-411D-AF7F-D7E2FFCB8A55}"/>
              </c:ext>
            </c:extLst>
          </c:dPt>
          <c:dPt>
            <c:idx val="2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9F-411D-AF7F-D7E2FFCB8A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 écart</c:v>
                </c:pt>
                <c:pt idx="1">
                  <c:v>Norme min</c:v>
                </c:pt>
                <c:pt idx="2">
                  <c:v>Norme max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</c:v>
                </c:pt>
                <c:pt idx="1">
                  <c:v>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9F-411D-AF7F-D7E2FFCB8A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16-427A-B91F-8E9EDF732210}"/>
              </c:ext>
            </c:extLst>
          </c:dPt>
          <c:dPt>
            <c:idx val="1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16-427A-B91F-8E9EDF732210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16-427A-B91F-8E9EDF7322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Technique (60 pts)</c:v>
                </c:pt>
                <c:pt idx="1">
                  <c:v>Financier (40 pts)</c:v>
                </c:pt>
                <c:pt idx="2">
                  <c:v>Total obtenu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37</c:v>
                </c:pt>
                <c:pt idx="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16-427A-B91F-8E9EDF7322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Dépassement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98-4F1D-837F-9976DB045807}"/>
              </c:ext>
            </c:extLst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98-4F1D-837F-9976DB045807}"/>
              </c:ext>
            </c:extLst>
          </c:dPt>
          <c:dPt>
            <c:idx val="2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98-4F1D-837F-9976DB0458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70C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Dérive mi-parcours</c:v>
                </c:pt>
                <c:pt idx="1">
                  <c:v>Seuil avenant</c:v>
                </c:pt>
                <c:pt idx="2">
                  <c:v>Résultat final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98-4F1D-837F-9976DB0458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P2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47-44B6-9E61-FEBEC67C65D2}"/>
              </c:ext>
            </c:extLst>
          </c:dPt>
          <c:dPt>
            <c:idx val="1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47-44B6-9E61-FEBEC67C65D2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47-44B6-9E61-FEBEC67C65D2}"/>
              </c:ext>
            </c:extLst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47-44B6-9E61-FEBEC67C65D2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47-44B6-9E61-FEBEC67C65D2}"/>
              </c:ext>
            </c:extLst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747-44B6-9E61-FEBEC67C65D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47-44B6-9E61-FEBEC67C65D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47-44B6-9E61-FEBEC67C65D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47-44B6-9E61-FEBEC67C65D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47-44B6-9E61-FEBEC67C65D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47-44B6-9E61-FEBEC67C65D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747-44B6-9E61-FEBEC67C65D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Corps chaussée</c:v>
                </c:pt>
                <c:pt idx="1">
                  <c:v>Ouvrages hydrauliques</c:v>
                </c:pt>
                <c:pt idx="2">
                  <c:v>Terrassement</c:v>
                </c:pt>
                <c:pt idx="3">
                  <c:v>Revêtement</c:v>
                </c:pt>
                <c:pt idx="4">
                  <c:v>Bretelles/carrefour</c:v>
                </c:pt>
                <c:pt idx="5">
                  <c:v>Soutènement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28</c:v>
                </c:pt>
                <c:pt idx="2">
                  <c:v>18</c:v>
                </c:pt>
                <c:pt idx="3">
                  <c:v>11</c:v>
                </c:pt>
                <c:pt idx="4">
                  <c:v>11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747-44B6-9E61-FEBEC67C6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m³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23-4352-AAE5-F8DAAF923620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23-4352-AAE5-F8DAAF923620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23-4352-AAE5-F8DAAF923620}"/>
              </c:ext>
            </c:extLst>
          </c:dPt>
          <c:dPt>
            <c:idx val="3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423-4352-AAE5-F8DAAF9236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Déblais prévus</c:v>
                </c:pt>
                <c:pt idx="1">
                  <c:v>Dont rocheux
reclassifiés</c:v>
                </c:pt>
                <c:pt idx="2">
                  <c:v>Remblais
prévus</c:v>
                </c:pt>
                <c:pt idx="3">
                  <c:v>Remblais
réels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120334</c:v>
                </c:pt>
                <c:pt idx="1">
                  <c:v>5000</c:v>
                </c:pt>
                <c:pt idx="2">
                  <c:v>76735</c:v>
                </c:pt>
                <c:pt idx="3">
                  <c:v>68000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23-4352-AAE5-F8DAAF9236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Maîtrise (%)</c:v>
                </c:pt>
              </c:strCache>
            </c:strRef>
          </c:tx>
          <c:spPr>
            <a:ln w="25400" cap="flat">
              <a:solidFill>
                <a:srgbClr val="007A7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A7F"/>
              </a:solidFill>
              <a:ln w="9525" cap="flat">
                <a:solidFill>
                  <a:srgbClr val="007A7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Métrés TCA</c:v>
                </c:pt>
                <c:pt idx="1">
                  <c:v>Estimation</c:v>
                </c:pt>
                <c:pt idx="2">
                  <c:v>Analyse CAO</c:v>
                </c:pt>
                <c:pt idx="3">
                  <c:v>Suivi financier</c:v>
                </c:pt>
                <c:pt idx="4">
                  <c:v>Coordination</c:v>
                </c:pt>
                <c:pt idx="5">
                  <c:v>Cubatures</c:v>
                </c:pt>
                <c:pt idx="6">
                  <c:v>Rédaction marchés</c:v>
                </c:pt>
                <c:pt idx="7">
                  <c:v>BIM Open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</c:v>
                </c:pt>
                <c:pt idx="1">
                  <c:v>90</c:v>
                </c:pt>
                <c:pt idx="2">
                  <c:v>85</c:v>
                </c:pt>
                <c:pt idx="3">
                  <c:v>95</c:v>
                </c:pt>
                <c:pt idx="4">
                  <c:v>88</c:v>
                </c:pt>
                <c:pt idx="5">
                  <c:v>92</c:v>
                </c:pt>
                <c:pt idx="6">
                  <c:v>88</c:v>
                </c:pt>
                <c:pt idx="7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45-40EB-9954-0EABC369C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Années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AD-4D7F-8C62-97B694F7B766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AD-4D7F-8C62-97B694F7B766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AD-4D7F-8C62-97B694F7B766}"/>
              </c:ext>
            </c:extLst>
          </c:dPt>
          <c:dPt>
            <c:idx val="3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AD-4D7F-8C62-97B694F7B7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MOA publique
(Maroc)</c:v>
                </c:pt>
                <c:pt idx="1">
                  <c:v>Exécution GO
(France)</c:v>
                </c:pt>
                <c:pt idx="2">
                  <c:v>BIM + Formation</c:v>
                </c:pt>
                <c:pt idx="3">
                  <c:v>BIMCO
indépendant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AD-4D7F-8C62-97B694F7B7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AACB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Métrés BIM</c:v>
                </c:pt>
                <c:pt idx="1">
                  <c:v>Plugins Revit</c:v>
                </c:pt>
                <c:pt idx="2">
                  <c:v>DPGF auto.</c:v>
                </c:pt>
                <c:pt idx="3">
                  <c:v>SaaS MEC</c:v>
                </c:pt>
                <c:pt idx="4">
                  <c:v>Cabinet ingé.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30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25-4B97-B5E5-04E13DE963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2027-28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Métrés BIM</c:v>
                </c:pt>
                <c:pt idx="1">
                  <c:v>Plugins Revit</c:v>
                </c:pt>
                <c:pt idx="2">
                  <c:v>DPGF auto.</c:v>
                </c:pt>
                <c:pt idx="3">
                  <c:v>SaaS MEC</c:v>
                </c:pt>
                <c:pt idx="4">
                  <c:v>Cabinet ingé.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70</c:v>
                </c:pt>
                <c:pt idx="3">
                  <c:v>30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25-4B97-B5E5-04E13DE963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2029+</c:v>
                </c:pt>
              </c:strCache>
            </c:strRef>
          </c:tx>
          <c:spPr>
            <a:solidFill>
              <a:srgbClr val="005A5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Métrés BIM</c:v>
                </c:pt>
                <c:pt idx="1">
                  <c:v>Plugins Revit</c:v>
                </c:pt>
                <c:pt idx="2">
                  <c:v>DPGF auto.</c:v>
                </c:pt>
                <c:pt idx="3">
                  <c:v>SaaS MEC</c:v>
                </c:pt>
                <c:pt idx="4">
                  <c:v>Cabinet ingé.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80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25-4B97-B5E5-04E13DE96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5151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94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50992" y="0"/>
            <a:ext cx="36576" cy="5143500"/>
          </a:xfrm>
          <a:prstGeom prst="rect">
            <a:avLst/>
          </a:prstGeom>
          <a:solidFill>
            <a:srgbClr val="007A7F">
              <a:alpha val="50000"/>
            </a:srgbClr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7568" y="0"/>
            <a:ext cx="3456432" cy="514350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19456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007A7F"/>
                </a:solidFill>
              </a:rPr>
              <a:t>BTS MEC — SESSION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
d'Activités
</a:t>
            </a:r>
            <a:r>
              <a:rPr lang="en-US" sz="4200" b="1" i="1" dirty="0">
                <a:solidFill>
                  <a:srgbClr val="4AA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Professionnelles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</a:rPr>
              <a:t xml:space="preserve">Candidat : </a:t>
            </a:r>
            <a:r>
              <a:rPr lang="en-US" sz="1100" dirty="0">
                <a:solidFill>
                  <a:srgbClr val="AAAAAA"/>
                </a:solidFill>
              </a:rPr>
              <a:t>BAHAFID Mohamed
</a:t>
            </a:r>
            <a:r>
              <a:rPr lang="en-US" sz="1100" b="1" dirty="0">
                <a:solidFill>
                  <a:srgbClr val="AAAAAA"/>
                </a:solidFill>
              </a:rPr>
              <a:t xml:space="preserve">N° : </a:t>
            </a:r>
            <a:r>
              <a:rPr lang="en-US" sz="1100" dirty="0">
                <a:solidFill>
                  <a:srgbClr val="AAAAAA"/>
                </a:solidFill>
              </a:rPr>
              <a:t>02537399911 — Académie de Lyon
</a:t>
            </a:r>
            <a:r>
              <a:rPr lang="en-US" sz="1100" b="1" dirty="0">
                <a:solidFill>
                  <a:srgbClr val="AAAAAA"/>
                </a:solidFill>
              </a:rPr>
              <a:t xml:space="preserve">Structure : </a:t>
            </a:r>
            <a:r>
              <a:rPr lang="en-US" sz="1100" dirty="0">
                <a:solidFill>
                  <a:srgbClr val="AAAAAA"/>
                </a:solidFill>
              </a:rPr>
              <a:t>BIMCO | SIREN 999 580 053
</a:t>
            </a:r>
            <a:r>
              <a:rPr lang="en-US" sz="1100" b="1" dirty="0">
                <a:solidFill>
                  <a:srgbClr val="AAAAAA"/>
                </a:solidFill>
              </a:rPr>
              <a:t xml:space="preserve">Siège : </a:t>
            </a:r>
            <a:r>
              <a:rPr lang="en-US" sz="1100" dirty="0">
                <a:solidFill>
                  <a:srgbClr val="AAAAAA"/>
                </a:solidFill>
              </a:rPr>
              <a:t>44 rue de la République, 42510 Bussières (Loire)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457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U62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594360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Expérience BTP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pays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Maroc + France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82,5 M DH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Investissements gérés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Marchés publics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Sommaire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soutenance — 20 minutes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1600200" cy="220370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Cadre professionnel &amp; BIMCO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Mon parcours 8 ans BTP — double culture Maroc / France — création de BIMCO en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39112" y="685800"/>
            <a:ext cx="1600200" cy="2203701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30552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Projet 1 — 4 communes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30552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53,5 M DH TTC — 5 situations CPAR — Province de Khénifra — 18 mois de suivi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58184" y="685800"/>
            <a:ext cx="1600200" cy="220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49624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Projet 2 — Route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9624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Lehri-Kerrouchen — 29 M DH — 25 km Moyen Atlas — contrôle cubatures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77256" y="685800"/>
            <a:ext cx="1600200" cy="2203699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7256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68696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Bilan &amp; BIM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68696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Compétences mobilisées — protocole BIM LOD 300 — analyse Maroc / France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96328" y="685800"/>
            <a:ext cx="1600200" cy="2212835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96328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287768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Perspectives BIMCO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87768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Projet professionnel 2026–2029 — outils numériques — cabinet d'ingénierie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" y="360024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7A7F"/>
                </a:solidFill>
              </a:rPr>
              <a:t>PARCOURS CHRONOLOGIQUE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8328" y="3956858"/>
            <a:ext cx="8503920" cy="0"/>
          </a:xfrm>
          <a:prstGeom prst="line">
            <a:avLst/>
          </a:prstGeom>
          <a:noFill/>
          <a:ln w="12700">
            <a:solidFill>
              <a:srgbClr val="E8E6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2017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Conseil Régional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Béni Mellal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048256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2019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54480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7 marchés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publics MOA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64408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70632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70632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Chef GO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Ergalis, Feurs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80560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86784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86784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Chef chantier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Minssieux, Mornant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96712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02936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02936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Titre BIM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AFPA Colmar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12864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19088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Fondateur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BIMCO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129016" y="3892850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A7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35240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2026 ★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35240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BTS MEC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Candidature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01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professionnel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BIMCO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Mon parcours m'a conduit du Maroc à la France. Voir le projet d'un autre angle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change profondément la façon d'estimer.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Badge"/>
          <p:cNvSpPr/>
          <p:nvPr/>
        </p:nvSpPr>
        <p:spPr>
          <a:xfrm>
            <a:off x="365760" y="164592"/>
            <a:ext cx="777240" cy="347472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12700">
            <a:solidFill>
              <a:srgbClr val="007A7F"/>
            </a:solidFill>
          </a:ln>
        </p:spPr>
        <p:txBody>
          <a:bodyPr anchor="ctr" anchorCtr="1"/>
          <a:lstStyle/>
          <a:p>
            <a:pPr algn="ctr"/>
            <a:r>
              <a:rPr lang="fr-FR" sz="900" b="1" dirty="0">
                <a:solidFill>
                  <a:srgbClr val="007A7F"/>
                </a:solidFill>
                <a:latin typeface="Cambria"/>
              </a:rPr>
              <a:t>01 – Cadre</a:t>
            </a:r>
          </a:p>
        </p:txBody>
      </p:sp>
      <p:sp>
        <p:nvSpPr>
          <p:cNvPr id="4" name="Title"/>
          <p:cNvSpPr/>
          <p:nvPr/>
        </p:nvSpPr>
        <p:spPr>
          <a:xfrm>
            <a:off x="1280160" y="16459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1800" b="1" dirty="0">
                <a:solidFill>
                  <a:srgbClr val="2D2D2D"/>
                </a:solidFill>
                <a:latin typeface="Cambria"/>
              </a:rPr>
              <a:t>STRUCTURE D’ACCUEIL &amp; PARCOURS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594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1200" i="1" dirty="0">
                <a:solidFill>
                  <a:srgbClr val="666666"/>
                </a:solidFill>
                <a:latin typeface="Cambria"/>
              </a:rPr>
              <a:t>8 ans BTP – Double culture Maroc / France</a:t>
            </a:r>
          </a:p>
        </p:txBody>
      </p:sp>
      <p:sp>
        <p:nvSpPr>
          <p:cNvPr id="10" name="Circle1"/>
          <p:cNvSpPr/>
          <p:nvPr/>
        </p:nvSpPr>
        <p:spPr>
          <a:xfrm>
            <a:off x="365760" y="1143000"/>
            <a:ext cx="320040" cy="32004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Block1Title"/>
          <p:cNvSpPr/>
          <p:nvPr/>
        </p:nvSpPr>
        <p:spPr>
          <a:xfrm>
            <a:off x="777240" y="11430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1200" b="1" dirty="0">
                <a:solidFill>
                  <a:srgbClr val="007A7F"/>
                </a:solidFill>
                <a:latin typeface="Cambria"/>
              </a:rPr>
              <a:t>MOA publique – Maroc (2017–2022)</a:t>
            </a:r>
          </a:p>
        </p:txBody>
      </p:sp>
      <p:sp>
        <p:nvSpPr>
          <p:cNvPr id="12" name="Block1Body"/>
          <p:cNvSpPr/>
          <p:nvPr/>
        </p:nvSpPr>
        <p:spPr>
          <a:xfrm>
            <a:off x="777240" y="146304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>
              <a:lnSpc>
                <a:spcPct val="120000"/>
              </a:lnSpc>
            </a:pPr>
            <a:r>
              <a:rPr lang="fr-FR" sz="900" dirty="0">
                <a:solidFill>
                  <a:srgbClr val="333333"/>
                </a:solidFill>
              </a:rPr>
              <a:t>Technicien études &amp; suivi – Conseil Régional de Béni Mellal-Khénifra. Métrés, estimation confidentielle, rédaction DCE (CPS/RC/BPDE), analyse CAO, suivi financier. 7 marchés publics, +100 M DH.</a:t>
            </a:r>
          </a:p>
        </p:txBody>
      </p:sp>
      <p:sp>
        <p:nvSpPr>
          <p:cNvPr id="20" name="Circle2"/>
          <p:cNvSpPr/>
          <p:nvPr/>
        </p:nvSpPr>
        <p:spPr>
          <a:xfrm>
            <a:off x="365760" y="2194560"/>
            <a:ext cx="320040" cy="32004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Block2Title"/>
          <p:cNvSpPr/>
          <p:nvPr/>
        </p:nvSpPr>
        <p:spPr>
          <a:xfrm>
            <a:off x="777240" y="2194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1200" b="1" dirty="0">
                <a:solidFill>
                  <a:srgbClr val="007A7F"/>
                </a:solidFill>
                <a:latin typeface="Cambria"/>
              </a:rPr>
              <a:t>Exécution terrain – France (2022–2024)</a:t>
            </a:r>
          </a:p>
        </p:txBody>
      </p:sp>
      <p:sp>
        <p:nvSpPr>
          <p:cNvPr id="22" name="Block2Body"/>
          <p:cNvSpPr/>
          <p:nvPr/>
        </p:nvSpPr>
        <p:spPr>
          <a:xfrm>
            <a:off x="777240" y="251460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>
              <a:lnSpc>
                <a:spcPct val="120000"/>
              </a:lnSpc>
            </a:pPr>
            <a:r>
              <a:rPr lang="fr-FR" sz="900" dirty="0">
                <a:solidFill>
                  <a:srgbClr val="333333"/>
                </a:solidFill>
              </a:rPr>
              <a:t>Chef d’équipe GO – Ergalis BTP, Feurs (Loire). Chef de chantier – Minssieux &amp; Fils, Mornant (Rhône) : planning, contrôle qualité.</a:t>
            </a:r>
          </a:p>
        </p:txBody>
      </p:sp>
      <p:sp>
        <p:nvSpPr>
          <p:cNvPr id="30" name="Circle3"/>
          <p:cNvSpPr/>
          <p:nvPr/>
        </p:nvSpPr>
        <p:spPr>
          <a:xfrm>
            <a:off x="365760" y="3246120"/>
            <a:ext cx="320040" cy="32004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Block3Title"/>
          <p:cNvSpPr/>
          <p:nvPr/>
        </p:nvSpPr>
        <p:spPr>
          <a:xfrm>
            <a:off x="777240" y="3246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1200" b="1" dirty="0">
                <a:solidFill>
                  <a:srgbClr val="007A7F"/>
                </a:solidFill>
                <a:latin typeface="Cambria"/>
              </a:rPr>
              <a:t>Formation BIM – AFPA Colmar (2024)</a:t>
            </a:r>
          </a:p>
        </p:txBody>
      </p:sp>
      <p:sp>
        <p:nvSpPr>
          <p:cNvPr id="32" name="Block3Body"/>
          <p:cNvSpPr/>
          <p:nvPr/>
        </p:nvSpPr>
        <p:spPr>
          <a:xfrm>
            <a:off x="777240" y="356616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>
              <a:lnSpc>
                <a:spcPct val="120000"/>
              </a:lnSpc>
            </a:pPr>
            <a:r>
              <a:rPr lang="fr-FR" sz="900" dirty="0">
                <a:solidFill>
                  <a:srgbClr val="333333"/>
                </a:solidFill>
              </a:rPr>
              <a:t>Titre Professionnel Modeleur BIM – 8 mois. Bâtiment R+2 modélisé, 78 postes extraits, écart 1,8% vs métré traditionnel.</a:t>
            </a:r>
          </a:p>
        </p:txBody>
      </p:sp>
      <p:sp>
        <p:nvSpPr>
          <p:cNvPr id="40" name="PhotoPlaceholder"/>
          <p:cNvSpPr/>
          <p:nvPr/>
        </p:nvSpPr>
        <p:spPr>
          <a:xfrm>
            <a:off x="5486400" y="1143000"/>
            <a:ext cx="3200400" cy="3200400"/>
          </a:xfrm>
          <a:prstGeom prst="rect">
            <a:avLst/>
          </a:prstGeom>
          <a:solidFill>
            <a:srgbClr val="E8E8E8"/>
          </a:solidFill>
          <a:ln w="12700" cmpd="sng">
            <a:solidFill>
              <a:srgbClr val="CCCCCC"/>
            </a:solidFill>
            <a:prstDash val="dash"/>
          </a:ln>
        </p:spPr>
        <p:txBody>
          <a:bodyPr anchor="ctr" anchorCtr="1"/>
          <a:lstStyle/>
          <a:p>
            <a:pPr algn="ctr"/>
            <a:r>
              <a:rPr lang="fr-FR" sz="1200" dirty="0">
                <a:solidFill>
                  <a:srgbClr val="999999"/>
                </a:solidFill>
              </a:rPr>
              <a:t>Photo chantier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02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1 — Mise à niveau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 communes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Marché n°38-RBK-2017 — 53,5 M DH TTC — Province de Khénifra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5 situations professionnelles analysées selon la méthode CPAR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02 — Projet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niveau 4 communes — Budget &amp; structure des 8 corps d'état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53,5 M DH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Budget TTC (~4,86 M€)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13432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13432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communes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13432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El Hammam, Kerrouchen,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Ouaoumana, Sebt Ait Rahou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06824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06824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corps d'état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06824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Assainissement → mobilier urbain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0216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mois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0216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Durée du suivi mensuel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1536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RÉPARTITION BUDGÉTAIRE — 44,6 M DH HT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17830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709160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POIDS DE CHAQUE CORPS D'ÉTAT (%)</a:t>
            </a:r>
            <a:endParaRPr lang="en-US" sz="9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709160" y="178308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02 — Situations 1 &amp;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confidentielle &amp; Analyse des offres en CAO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1 — ESTIMATION CONFIDENTIELLE — OUAOUMANA : 15,8 M DH HT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987552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Prix plafond avant AO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Fixe le prix plafond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avant l'appel d'offres.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Livraison en 3 semaines.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35024" y="1005840"/>
            <a:ext cx="987552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08176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Plans incohérents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8176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Mercuriale 2014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dérive 15–22% sur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enrobés et acier.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50008" y="1005840"/>
            <a:ext cx="987552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3 sources croisées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112 lignes AutoCAD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+ 4 visites terrain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mercuriale + marchés.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1005840"/>
            <a:ext cx="987552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38144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Écart 3,2%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38144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Norme : 5–10%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Méthode adoptée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comme standard Agence.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COMPARAISON ÉCART ESTIMATION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320040" y="2505456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2 — ANALYSE DES OFFRES — COMMISSION CAO — 3 OFFRES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63440" y="1005840"/>
            <a:ext cx="100584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36592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Membre technique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36592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Vérification conformité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administrative, cohérence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des prix proposés.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696712" y="1005840"/>
            <a:ext cx="100584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769864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Prix anormaux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769864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7 erreurs arithmétiques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prix bas sur 42%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du montant (25–33%).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29984" y="1005840"/>
            <a:ext cx="100584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03136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Grille /100 pts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03136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Technique 60 pts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Financier 40 pts.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Justification écrite.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763256" y="1005840"/>
            <a:ext cx="1005840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36408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94/100 — Zéro recours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836408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Attribution en 15 jours.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Zéro recours déposé.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Analyse solide.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663440" y="22860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NOTATION CAO — GRILLE /100 POINTS</a:t>
            </a:r>
            <a:endParaRPr lang="en-US" sz="800" dirty="0"/>
          </a:p>
        </p:txBody>
      </p:sp>
      <p:graphicFrame>
        <p:nvGraphicFramePr>
          <p:cNvPr id="54" name="Chart 1"/>
          <p:cNvGraphicFramePr/>
          <p:nvPr/>
        </p:nvGraphicFramePr>
        <p:xfrm>
          <a:off x="4663440" y="2505456"/>
          <a:ext cx="4160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02 — Situations 3 &amp;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financier Kerrouchen &amp; Coordination de 4 chantiers simultanés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3 — SUIVI FINANCIER KERROUCHEN — 7,3 M DH — 18 MOIS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987552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Suivi mensuel complet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Vérification situations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et contrôle quantités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réellement exécutées.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35024" y="1005840"/>
            <a:ext cx="987552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08176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Terrain rocheux imprêvu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8176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Chaussée +12% + murs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+15%. Dérive +4,8%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(seuil avenant = 5%).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50008" y="1005840"/>
            <a:ext cx="987552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TdB + compensation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TdB hebdo 3 indicateurs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réduction paysager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(44k DH) + mobilier (12k).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1005840"/>
            <a:ext cx="987552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38144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Dépassement +0,8%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38144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Aucun avenant.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TdB répliqué sur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les 3 autres communes.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MAÎTRISE DU DÉPASSEMENT FINANCIER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>
            <p:extLst>
              <p:ext uri="{D42A27DB-BD31-4B8C-83A1-F6EECF244321}">
                <p14:modId xmlns:p14="http://schemas.microsoft.com/office/powerpoint/2010/main" val="334612464"/>
              </p:ext>
            </p:extLst>
          </p:nvPr>
        </p:nvGraphicFramePr>
        <p:xfrm>
          <a:off x="320040" y="2505456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4 — COORDINATION MULTI-SITES — 4 CHANTIERS — 3 CRISES EN 48H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63440" y="1005840"/>
            <a:ext cx="100584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36592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Relais unique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36592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4 chantiers VRD 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20 à 80 km. Interface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entreprise/BET/labo.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696712" y="1005840"/>
            <a:ext cx="100584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769864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3 crises S23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769864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Retard enrobés (Ouaou.)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alerte météo (Kerr.)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litige bordures 15%.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29984" y="1005840"/>
            <a:ext cx="100584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03136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3 fronts en 48h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03136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Note factuelle + 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photosdatées + re-mesurage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contradictoire sur place.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763256" y="1005840"/>
            <a:ext cx="1005840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36408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Écart 15% → 2,3%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836408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Paiement débloqué.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Modèle CR adopté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pour tous les marchés.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663440" y="22860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DISPOSITIF DE COORDINATION MIS EN PLACE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Point quotidien 8h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Rotation 1 site/jour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4663440" y="2880360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663440" y="2880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CR consolidé &lt; 24h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766560" y="2880360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766560" y="2880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OS tracés systém.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663440" y="3227832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63440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Attachements contradict.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6766560" y="3227832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766560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Photos datées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4663440" y="3611880"/>
            <a:ext cx="4160520" cy="128016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754880" y="3657600"/>
            <a:ext cx="3977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5A5E"/>
                </a:solidFill>
              </a:rPr>
              <a:t>Ce que j'ai appris : l'écrit systématique — ordres de service, attachements contradictoires, CR consolidés — est le seul rempart réel contre les litiges. Sans la trace écrite signée à Kerrouchen, le dépassement de 0,8% aurait pu être contesté par l'entreprise.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03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2 — Route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Lehri-Kerrouchen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29 M DH TTC — 25 km en zone montagneuse du Moyen Atlas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Programme PRR3 — Situation 5 : contrôle des cubatures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03 — Projet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Lehri-Kerrouchen 25 km — Budget &amp; Situation 5 cubatures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M DH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Budget TTC — Programme PRR3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13432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13432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km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13432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Zone montagneuse, dénivelé 400m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06824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06824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120 334 m³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06824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Déblais vérifiés (+ 76 735 remblais)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0216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285 000 DH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0216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Surcôut absorbé sans avenant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1536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RÉPARTITION BUDGÉTAIRE — 24,2 M DH HT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17830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709160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SITUATION 5 — CONTRÔLE DES CUBATURES (m³)</a:t>
            </a:r>
            <a:endParaRPr lang="en-US" sz="9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709160" y="178308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9"/>
          <p:cNvSpPr/>
          <p:nvPr/>
        </p:nvSpPr>
        <p:spPr>
          <a:xfrm>
            <a:off x="4709160" y="3858768"/>
            <a:ext cx="96012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709160" y="3858768"/>
            <a:ext cx="96012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09160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782312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Contexte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82312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Vérification des 120 334 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déblais + 76 735 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remblais du BET.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733288" y="3858768"/>
            <a:ext cx="96012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733288" y="3858768"/>
            <a:ext cx="96012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733288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806440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Problème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806440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PK 12+000 : calcaire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fracturé. 5 000 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à reclassifier. +8%.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757416" y="3858768"/>
            <a:ext cx="96012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757416" y="3858768"/>
            <a:ext cx="96012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57416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830568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Action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830568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GPS contradictoire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/500m + attachements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signés + compensation.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7781544" y="3858768"/>
            <a:ext cx="960120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781544" y="3858768"/>
            <a:ext cx="96012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781544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7854696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Résultat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854696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285 kDH absorbés.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3 dalots intégrés.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Réception sans avenant.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04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Bilan, Compétences BIM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Analyse réflexive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Ce que j'ai appris, ce que je ferais différemment, et la valeur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de la triple compétence MOA + Exécution + BIM.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04 — Bilan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mobilisées BTS MEC &amp; Protocole BIM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MATRICE DE COMPÉTENCES BTS MEC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932688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09160" y="685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PROTOCOLE BIM — FORMATION AFPA COLMAR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12984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09160" y="13624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postes extraits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960120"/>
            <a:ext cx="12984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126480" y="13624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écart vs mètré manuel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525512" y="960120"/>
            <a:ext cx="12984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25512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525512" y="13624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clashs résolus en amont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709160" y="1773936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0" y="17373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Modélisation Revit Architecture + Structure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0" y="2011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Bâtiment R+2 — 850 m² SHAB — LOD 300 (géométrie précise pour chiffrage) / LOI 3 (données matériaux)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09160" y="2432304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24323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0" y="23957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Export IFC et vérification de conformité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0" y="26700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IFC 2x3 — Open BIM — MVD Coordination View 2.0 — Serveur BIM360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09160" y="3090672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0" y="30540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Détection de clashs — Navisworks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29200" y="3328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12 conflits structure/réseaux résolus en amont du chantier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09160" y="3749040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3749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29200" y="37124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Extraction automatique des quantités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29200" y="39867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Revit + Dynamo — 78 postes en 2h vs 2 jours en mètré traditionnel — écart 1,8%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09160" y="4407408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09160" y="4407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9200" y="43708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Chiffrage avec traçabilité maquette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29200" y="46451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Chaque quantité liée à un objet BIM — mise à jour instantanée à chaque modification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04 — Analyse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réflexif &amp; Comparaison Maroc / France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RÉPARTITION 8 ANS D'EXPÉRIENCE BTP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932688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218688"/>
            <a:ext cx="4572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32186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Ce que j'ai appris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34564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</a:rPr>
              <a:t>L'ecrit systematique - OS, attachements, CR consolides - est le seul rempart reel contre les litiges. Sans la trace ecrite signee a Kerrouchen, le depassement de 0,8% aurait pu etre conteste.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4133088"/>
            <a:ext cx="457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4133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Ce que je ferais différemment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43708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</a:rPr>
              <a:t>J'aurais deploye le tableau de bord des le 1er mois - signal +4,8% au 9eme mois. Etude geotechnique obligatoire avant terrassements.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09160" y="685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COMPARAISON MAROC / FRANCE — CADRES RÉGLEMENTAIRES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60120"/>
          <a:ext cx="4114800" cy="2651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Maroc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France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Pièces du marché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CPS + RC + BPDE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CCAP + CCTP + BPU/DQE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Estimation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Confidentielle obligatoire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Estimation maître d'ouvrage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Normes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Normes marocaines + RPS 2000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DTU + Eurocodes + RE2020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Suivi financier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Attachements contradictoires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Situations mensuelles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Commission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CAO (Commission AO)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Commission d'Appel d'Offres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709160" y="3730752"/>
            <a:ext cx="4114800" cy="11887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46320" y="37673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5A5E"/>
                </a:solidFill>
              </a:rPr>
              <a:t>Mêmes fondamentaux de la commande publique — deux cadres réglementaires distincts — une seule exigence : la rigueur.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05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Projet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 BIMCO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Ce rapport est avant tout une démonstration. Non pas de ce que je sais,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mais de comment je résous un problème sous contrainte.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7A7F"/>
                </a:solidFill>
              </a:rPr>
              <a:t>05 — PERSPECTIVES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164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BIMCO — Projet professionnel 2026 → 2029+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BTS MEC + premiers plugins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2027–28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DPGF automatisé + SaaS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Cabinet ingénierie BIM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200–300 k€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CA visé long terme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1298448"/>
            <a:ext cx="2788920" cy="2331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298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Court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755648"/>
            <a:ext cx="2514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1051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Obtenir le BTS MEC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Métrés BIM et traditionnels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Études de prix, DPGF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Suivi financier de marchés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Premiers plugins Revit/Dynamo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1298448"/>
            <a:ext cx="2788920" cy="2331720"/>
          </a:xfrm>
          <a:prstGeom prst="rect">
            <a:avLst/>
          </a:prstGeom>
          <a:solidFill>
            <a:srgbClr val="005A5E"/>
          </a:solidFill>
          <a:ln w="12700">
            <a:solidFill>
              <a:srgbClr val="005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298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Moyen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2027–28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1755648"/>
            <a:ext cx="2514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181051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Plugin Revit → DPGF automatisé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App web suivi économique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Base prix connectée (Batiprix)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Génération automatique CCTP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3 à 5 clients récurrents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08776" y="1298448"/>
            <a:ext cx="2788920" cy="2331720"/>
          </a:xfrm>
          <a:prstGeom prst="rect">
            <a:avLst/>
          </a:prstGeom>
          <a:solidFill>
            <a:srgbClr val="003C3E"/>
          </a:solidFill>
          <a:ln w="12700">
            <a:solidFill>
              <a:srgbClr val="003C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1298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2029+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45936" y="1755648"/>
            <a:ext cx="2514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181051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BIMCO = cabinet BIM + éco construction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SaaS pour économistes MEC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Plugins Revit distribués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Équipe 3–5 personnes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CA 200–300 k€/an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373075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PROGRESSION DES ACTIVITÉS BIMCO PAR HORIZON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320040" y="3950208"/>
          <a:ext cx="850392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31520"/>
            <a:ext cx="4572000" cy="4572000"/>
          </a:xfrm>
          <a:prstGeom prst="rect">
            <a:avLst/>
          </a:prstGeom>
          <a:solidFill>
            <a:srgbClr val="007A7F">
              <a:alpha val="8000"/>
            </a:srgbClr>
          </a:solidFill>
          <a:ln w="12700">
            <a:solidFill>
              <a:srgbClr val="007A7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000000"/>
                </a:solidFill>
              </a:rPr>
              <a:t>Soutenance BTS MEC U62 — Session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BAHAFID Mohamed — N° 02537399911 — Académie de Lyon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BIMCO | gestion.bimco-consulting.fr | Bussières, Loire 42510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3657600"/>
            <a:ext cx="45720" cy="82296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3657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D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j'ai construit en huit ans, c'est une methode. Le BTS MEC lui donne un cadre formel. BIMCO lui donne une continuation.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8 ans BTP  ·  2 pays  ·  7 marchés publics  ·  82,5 M DH gérés  ·  Triple compétence MOA + Exécution + BIM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Badge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Badge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007A7F"/>
                </a:solidFill>
              </a:rPr>
              <a:t>04 – Analyse</a:t>
            </a:r>
          </a:p>
        </p:txBody>
      </p:sp>
      <p:sp>
        <p:nvSpPr>
          <p:cNvPr id="5" name="Text Title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2000" b="1" dirty="0">
                <a:solidFill>
                  <a:srgbClr val="2D2D2D"/>
                </a:solidFill>
                <a:latin typeface="Cambria" pitchFamily="34" charset="0"/>
              </a:rPr>
              <a:t>BILAN RÉFLEXIF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666666"/>
                </a:solidFill>
              </a:rPr>
              <a:t>Ce que le terrain m’a appris – Méthode CAMP</a:t>
            </a:r>
          </a:p>
        </p:txBody>
      </p:sp>
      <p:sp>
        <p:nvSpPr>
          <p:cNvPr id="10" name="Circle C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mbria" pitchFamily="34" charset="0"/>
              </a:rPr>
              <a:t>C</a:t>
            </a:r>
          </a:p>
        </p:txBody>
      </p:sp>
      <p:sp>
        <p:nvSpPr>
          <p:cNvPr id="11" name="Text C"/>
          <p:cNvSpPr/>
          <p:nvPr/>
        </p:nvSpPr>
        <p:spPr>
          <a:xfrm>
            <a:off x="914400" y="114300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07A7F"/>
                </a:solidFill>
              </a:rPr>
              <a:t>CE QUE J’AI APPRIS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333333"/>
                </a:solidFill>
              </a:rPr>
              <a:t>Semaine 23 : gérer 3 crises simultanées à 80 km d’écart m’a obligé à prioriser, formaliser et communiquer avec clarté. L’urgence structure la rigueur.</a:t>
            </a:r>
          </a:p>
        </p:txBody>
      </p:sp>
      <p:sp>
        <p:nvSpPr>
          <p:cNvPr id="20" name="Circle A"/>
          <p:cNvSpPr/>
          <p:nvPr/>
        </p:nvSpPr>
        <p:spPr>
          <a:xfrm>
            <a:off x="4846320" y="1188720"/>
            <a:ext cx="365760" cy="36576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mbria" pitchFamily="34" charset="0"/>
              </a:rPr>
              <a:t>A</a:t>
            </a:r>
          </a:p>
        </p:txBody>
      </p:sp>
      <p:sp>
        <p:nvSpPr>
          <p:cNvPr id="21" name="Text A"/>
          <p:cNvSpPr/>
          <p:nvPr/>
        </p:nvSpPr>
        <p:spPr>
          <a:xfrm>
            <a:off x="5303520" y="114300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07A7F"/>
                </a:solidFill>
              </a:rPr>
              <a:t>CE QUE J’AURAIS FAIT AUTREMENT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333333"/>
                </a:solidFill>
              </a:rPr>
              <a:t>Déployer le tableau de bord dès le 1er mois, pas à mi-parcours. Anticiper les dérives avant qu’elles deviennent critiques. Étude géotechnique obligatoire avant terrassements.</a:t>
            </a:r>
          </a:p>
        </p:txBody>
      </p:sp>
      <p:sp>
        <p:nvSpPr>
          <p:cNvPr id="30" name="Line Sep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ln w="6350">
            <a:solidFill>
              <a:srgbClr val="CCCCCC"/>
            </a:solidFill>
            <a:prstDash val="dash"/>
          </a:ln>
        </p:spPr>
      </p:sp>
      <p:sp>
        <p:nvSpPr>
          <p:cNvPr id="31" name="Line VSep"/>
          <p:cNvSpPr/>
          <p:nvPr/>
        </p:nvSpPr>
        <p:spPr>
          <a:xfrm>
            <a:off x="4572000" y="1143000"/>
            <a:ext cx="0" cy="1828800"/>
          </a:xfrm>
          <a:prstGeom prst="line">
            <a:avLst/>
          </a:prstGeom>
          <a:ln w="6350">
            <a:solidFill>
              <a:srgbClr val="CCCCCC"/>
            </a:solidFill>
            <a:prstDash val="dash"/>
          </a:ln>
        </p:spPr>
      </p:sp>
      <p:sp>
        <p:nvSpPr>
          <p:cNvPr id="40" name="Circle M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mbria" pitchFamily="34" charset="0"/>
              </a:rPr>
              <a:t>M</a:t>
            </a:r>
          </a:p>
        </p:txBody>
      </p:sp>
      <p:sp>
        <p:nvSpPr>
          <p:cNvPr id="41" name="Text M"/>
          <p:cNvSpPr/>
          <p:nvPr/>
        </p:nvSpPr>
        <p:spPr>
          <a:xfrm>
            <a:off x="914400" y="224028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07A7F"/>
                </a:solidFill>
              </a:rPr>
              <a:t>CE QUE JE MAÎTRISE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333333"/>
                </a:solidFill>
              </a:rPr>
              <a:t>Le lien technique / financier : métrés, situations de travaux, quantités réelles. Passage du terrain au document contractuel.</a:t>
            </a:r>
          </a:p>
        </p:txBody>
      </p:sp>
      <p:sp>
        <p:nvSpPr>
          <p:cNvPr id="50" name="Circle P"/>
          <p:cNvSpPr/>
          <p:nvPr/>
        </p:nvSpPr>
        <p:spPr>
          <a:xfrm>
            <a:off x="4846320" y="2286000"/>
            <a:ext cx="365760" cy="36576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mbria" pitchFamily="34" charset="0"/>
              </a:rPr>
              <a:t>P</a:t>
            </a:r>
          </a:p>
        </p:txBody>
      </p:sp>
      <p:sp>
        <p:nvSpPr>
          <p:cNvPr id="51" name="Text P"/>
          <p:cNvSpPr/>
          <p:nvPr/>
        </p:nvSpPr>
        <p:spPr>
          <a:xfrm>
            <a:off x="5303520" y="224028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07A7F"/>
                </a:solidFill>
              </a:rPr>
              <a:t>CE QUE ÇA M’A APPORTÉ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333333"/>
                </a:solidFill>
              </a:rPr>
              <a:t>BIMCO est né de ce parcours. Le BIM est l’outil qui manquait pour industrialiser la méthode métrés + estimation développée sur le terrain.</a:t>
            </a:r>
          </a:p>
        </p:txBody>
      </p:sp>
      <p:sp>
        <p:nvSpPr>
          <p:cNvPr id="60" name="Text Quote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  <p:txBody>
          <a:bodyPr wrap="square" lIns="137160" tIns="68580" rIns="137160" bIns="68580" rtlCol="0" anchor="ctr"/>
          <a:lstStyle/>
          <a:p>
            <a:pPr marL="0" indent="0" algn="ctr">
              <a:buNone/>
            </a:pPr>
            <a:r>
              <a:rPr lang="fr-FR" sz="1000" i="1" dirty="0">
                <a:solidFill>
                  <a:srgbClr val="007A7F"/>
                </a:solidFill>
              </a:rPr>
              <a:t>L’écrit systématique – OS, attachements, CR consolidés – est le seul rempart réel contre les litiges.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Badge"/>
          <p:cNvSpPr/>
          <p:nvPr/>
        </p:nvSpPr>
        <p:spPr>
          <a:xfrm>
            <a:off x="365760" y="164592"/>
            <a:ext cx="777240" cy="347472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12700">
            <a:solidFill>
              <a:srgbClr val="007A7F"/>
            </a:solidFill>
          </a:ln>
        </p:spPr>
        <p:txBody>
          <a:bodyPr anchor="ctr" anchorCtr="1"/>
          <a:lstStyle/>
          <a:p>
            <a:pPr algn="ctr"/>
            <a:r>
              <a:rPr lang="fr-FR" sz="900" b="1" dirty="0">
                <a:solidFill>
                  <a:srgbClr val="007A7F"/>
                </a:solidFill>
                <a:latin typeface="Cambria"/>
              </a:rPr>
              <a:t>01 – BIMCO</a:t>
            </a:r>
          </a:p>
        </p:txBody>
      </p:sp>
      <p:sp>
        <p:nvSpPr>
          <p:cNvPr id="4" name="Title"/>
          <p:cNvSpPr/>
          <p:nvPr/>
        </p:nvSpPr>
        <p:spPr>
          <a:xfrm>
            <a:off x="1280160" y="164592"/>
            <a:ext cx="7497760" cy="34747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1600" b="1" dirty="0">
                <a:solidFill>
                  <a:srgbClr val="2D2D2D"/>
                </a:solidFill>
                <a:latin typeface="Cambria"/>
              </a:rPr>
              <a:t>BIMCO – MON ACTIVITÉ INDÉPENDANTE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fr-FR" sz="1000" dirty="0">
                <a:solidFill>
                  <a:srgbClr val="666666"/>
                </a:solidFill>
                <a:latin typeface="Cambria"/>
              </a:rPr>
              <a:t>Créée en janvier 2026 – BIM au service de l’économiste de la construction</a:t>
            </a:r>
          </a:p>
        </p:txBody>
      </p:sp>
      <p:sp>
        <p:nvSpPr>
          <p:cNvPr id="6" name="MissionTitle"/>
          <p:cNvSpPr/>
          <p:nvPr/>
        </p:nvSpPr>
        <p:spPr>
          <a:xfrm>
            <a:off x="365760" y="9144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fr-FR" sz="1100" b="1" dirty="0">
                <a:solidFill>
                  <a:srgbClr val="007A7F"/>
                </a:solidFill>
                <a:latin typeface="Cambria"/>
              </a:rPr>
              <a:t>MISSION</a:t>
            </a:r>
          </a:p>
        </p:txBody>
      </p:sp>
      <p:sp>
        <p:nvSpPr>
          <p:cNvPr id="7" name="MissionBody"/>
          <p:cNvSpPr/>
          <p:nvPr/>
        </p:nvSpPr>
        <p:spPr>
          <a:xfrm>
            <a:off x="365760" y="1143000"/>
            <a:ext cx="4114800" cy="1143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tIns="0" rIns="0" bIns="0"/>
          <a:lstStyle/>
          <a:p>
            <a:pPr algn="l">
              <a:lnSpc>
                <a:spcPct val="120000"/>
              </a:lnSpc>
            </a:pPr>
            <a:r>
              <a:rPr lang="fr-FR" sz="900" dirty="0">
                <a:solidFill>
                  <a:srgbClr val="333333"/>
                </a:solidFill>
                <a:latin typeface="Cambria"/>
              </a:rPr>
              <a:t>Appliquer le BIM aux métiers de l’économiste de la construction. Métrés par extraction de maquette numérique, études de prix ancrées dans les coûts réels, plugins Revit/Dynamo pour automatiser la chaîne mètre → DPGF.</a:t>
            </a:r>
          </a:p>
        </p:txBody>
      </p:sp>
      <p:sp>
        <p:nvSpPr>
          <p:cNvPr id="8" name="StackTitle"/>
          <p:cNvSpPr/>
          <p:nvPr/>
        </p:nvSpPr>
        <p:spPr>
          <a:xfrm>
            <a:off x="365760" y="22860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fr-FR" sz="1100" b="1" dirty="0">
                <a:solidFill>
                  <a:srgbClr val="007A7F"/>
                </a:solidFill>
                <a:latin typeface="Cambria"/>
              </a:rPr>
              <a:t>STACK TECHNIQUE</a:t>
            </a:r>
          </a:p>
        </p:txBody>
      </p:sp>
      <p:sp>
        <p:nvSpPr>
          <p:cNvPr id="10" name="Pill1"/>
          <p:cNvSpPr/>
          <p:nvPr/>
        </p:nvSpPr>
        <p:spPr>
          <a:xfrm>
            <a:off x="365760" y="2560320"/>
            <a:ext cx="1280160" cy="228600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9525">
            <a:solidFill>
              <a:srgbClr val="007A7F"/>
            </a:solidFill>
          </a:ln>
        </p:spPr>
        <p:txBody>
          <a:bodyPr anchor="ctr" anchorCtr="1"/>
          <a:lstStyle/>
          <a:p>
            <a:pPr algn="ctr"/>
            <a:r>
              <a:rPr lang="fr-FR" sz="900" b="1" dirty="0">
                <a:solidFill>
                  <a:srgbClr val="007A7F"/>
                </a:solidFill>
                <a:latin typeface="Cambria"/>
              </a:rPr>
              <a:t>Revit API</a:t>
            </a:r>
          </a:p>
        </p:txBody>
      </p:sp>
      <p:sp>
        <p:nvSpPr>
          <p:cNvPr id="11" name="Pill2"/>
          <p:cNvSpPr/>
          <p:nvPr/>
        </p:nvSpPr>
        <p:spPr>
          <a:xfrm>
            <a:off x="1737360" y="2560320"/>
            <a:ext cx="1280160" cy="228600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9525">
            <a:solidFill>
              <a:srgbClr val="007A7F"/>
            </a:solidFill>
          </a:ln>
        </p:spPr>
        <p:txBody>
          <a:bodyPr anchor="ctr" anchorCtr="1"/>
          <a:lstStyle/>
          <a:p>
            <a:pPr algn="ctr"/>
            <a:r>
              <a:rPr lang="fr-FR" sz="900" b="1" dirty="0">
                <a:solidFill>
                  <a:srgbClr val="007A7F"/>
                </a:solidFill>
                <a:latin typeface="Cambria"/>
              </a:rPr>
              <a:t>C# .NET</a:t>
            </a:r>
          </a:p>
        </p:txBody>
      </p:sp>
      <p:sp>
        <p:nvSpPr>
          <p:cNvPr id="12" name="Pill3"/>
          <p:cNvSpPr/>
          <p:nvPr/>
        </p:nvSpPr>
        <p:spPr>
          <a:xfrm>
            <a:off x="3108960" y="2560320"/>
            <a:ext cx="1280160" cy="228600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9525">
            <a:solidFill>
              <a:srgbClr val="007A7F"/>
            </a:solidFill>
          </a:ln>
        </p:spPr>
        <p:txBody>
          <a:bodyPr anchor="ctr" anchorCtr="1"/>
          <a:lstStyle/>
          <a:p>
            <a:pPr algn="ctr"/>
            <a:r>
              <a:rPr lang="fr-FR" sz="900" b="1" dirty="0">
                <a:solidFill>
                  <a:srgbClr val="007A7F"/>
                </a:solidFill>
                <a:latin typeface="Cambria"/>
              </a:rPr>
              <a:t>Dynamo</a:t>
            </a:r>
          </a:p>
        </p:txBody>
      </p:sp>
      <p:sp>
        <p:nvSpPr>
          <p:cNvPr id="13" name="Pill4"/>
          <p:cNvSpPr/>
          <p:nvPr/>
        </p:nvSpPr>
        <p:spPr>
          <a:xfrm>
            <a:off x="365760" y="2834640"/>
            <a:ext cx="1280160" cy="228600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9525">
            <a:solidFill>
              <a:srgbClr val="007A7F"/>
            </a:solidFill>
          </a:ln>
        </p:spPr>
        <p:txBody>
          <a:bodyPr anchor="ctr" anchorCtr="1"/>
          <a:lstStyle/>
          <a:p>
            <a:pPr algn="ctr"/>
            <a:r>
              <a:rPr lang="fr-FR" sz="900" b="1" dirty="0">
                <a:solidFill>
                  <a:srgbClr val="007A7F"/>
                </a:solidFill>
                <a:latin typeface="Cambria"/>
              </a:rPr>
              <a:t>Python</a:t>
            </a:r>
          </a:p>
        </p:txBody>
      </p:sp>
      <p:sp>
        <p:nvSpPr>
          <p:cNvPr id="14" name="Pill5"/>
          <p:cNvSpPr/>
          <p:nvPr/>
        </p:nvSpPr>
        <p:spPr>
          <a:xfrm>
            <a:off x="1737360" y="2834640"/>
            <a:ext cx="1280160" cy="228600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9525">
            <a:solidFill>
              <a:srgbClr val="007A7F"/>
            </a:solidFill>
          </a:ln>
        </p:spPr>
        <p:txBody>
          <a:bodyPr anchor="ctr" anchorCtr="1"/>
          <a:lstStyle/>
          <a:p>
            <a:pPr algn="ctr"/>
            <a:r>
              <a:rPr lang="fr-FR" sz="900" b="1" dirty="0">
                <a:solidFill>
                  <a:srgbClr val="007A7F"/>
                </a:solidFill>
                <a:latin typeface="Cambria"/>
              </a:rPr>
              <a:t>IFC / BIM360</a:t>
            </a:r>
          </a:p>
        </p:txBody>
      </p:sp>
      <p:sp>
        <p:nvSpPr>
          <p:cNvPr id="15" name="Pill6"/>
          <p:cNvSpPr/>
          <p:nvPr/>
        </p:nvSpPr>
        <p:spPr>
          <a:xfrm>
            <a:off x="3108960" y="2834640"/>
            <a:ext cx="1280160" cy="228600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9525">
            <a:solidFill>
              <a:srgbClr val="007A7F"/>
            </a:solidFill>
          </a:ln>
        </p:spPr>
        <p:txBody>
          <a:bodyPr anchor="ctr" anchorCtr="1"/>
          <a:lstStyle/>
          <a:p>
            <a:pPr algn="ctr"/>
            <a:r>
              <a:rPr lang="fr-FR" sz="900" b="1" dirty="0">
                <a:solidFill>
                  <a:srgbClr val="007A7F"/>
                </a:solidFill>
                <a:latin typeface="Cambria"/>
              </a:rPr>
              <a:t>React / Node.js</a:t>
            </a:r>
          </a:p>
        </p:txBody>
      </p:sp>
      <p:sp>
        <p:nvSpPr>
          <p:cNvPr id="20" name="PositionnementBox"/>
          <p:cNvSpPr/>
          <p:nvPr/>
        </p:nvSpPr>
        <p:spPr>
          <a:xfrm>
            <a:off x="5029200" y="1143000"/>
            <a:ext cx="3749040" cy="1600200"/>
          </a:xfrm>
          <a:prstGeom prst="roundRect">
            <a:avLst>
              <a:gd name="adj" fmla="val 5000"/>
            </a:avLst>
          </a:prstGeom>
          <a:solidFill>
            <a:srgbClr val="E0F4F5"/>
          </a:solidFill>
          <a:ln w="12700">
            <a:solidFill>
              <a:srgbClr val="007A7F"/>
            </a:solidFill>
          </a:ln>
        </p:spPr>
        <p:txBody>
          <a:bodyPr anchor="t" wrap="square" lIns="91440" tIns="91440" rIns="91440" bIns="45720"/>
          <a:lstStyle/>
          <a:p>
            <a:pPr algn="l">
              <a:spcAft>
                <a:spcPts val="400"/>
              </a:spcAft>
            </a:pPr>
            <a:r>
              <a:rPr lang="fr-FR" sz="1100" b="1" dirty="0">
                <a:solidFill>
                  <a:srgbClr val="007A7F"/>
                </a:solidFill>
                <a:latin typeface="Cambria"/>
              </a:rPr>
              <a:t>POSITIONNEMENT</a:t>
            </a:r>
          </a:p>
          <a:p>
            <a:pPr algn="l">
              <a:spcAft>
                <a:spcPts val="200"/>
              </a:spcAft>
            </a:pPr>
            <a:r>
              <a:rPr lang="fr-FR" sz="900" dirty="0">
                <a:solidFill>
                  <a:srgbClr val="333333"/>
                </a:solidFill>
                <a:latin typeface="Cambria"/>
              </a:rPr>
              <a:t>Triple compétence rare sur le marché :</a:t>
            </a:r>
          </a:p>
          <a:p>
            <a:pPr algn="l">
              <a:lnSpc>
                <a:spcPct val="130000"/>
              </a:lnSpc>
            </a:pPr>
            <a:r>
              <a:rPr lang="fr-FR" sz="900" dirty="0">
                <a:solidFill>
                  <a:srgbClr val="333333"/>
                </a:solidFill>
                <a:latin typeface="Cambria"/>
              </a:rPr>
              <a:t>• MOA publique (Maroc) – vision globale</a:t>
            </a:r>
          </a:p>
          <a:p>
            <a:pPr algn="l">
              <a:lnSpc>
                <a:spcPct val="130000"/>
              </a:lnSpc>
            </a:pPr>
            <a:r>
              <a:rPr lang="fr-FR" sz="900" dirty="0">
                <a:solidFill>
                  <a:srgbClr val="333333"/>
                </a:solidFill>
                <a:latin typeface="Cambria"/>
              </a:rPr>
              <a:t>• Exécution terrain (France) – réalité chantier</a:t>
            </a:r>
          </a:p>
          <a:p>
            <a:pPr algn="l">
              <a:lnSpc>
                <a:spcPct val="130000"/>
              </a:lnSpc>
            </a:pPr>
            <a:r>
              <a:rPr lang="fr-FR" sz="900" dirty="0">
                <a:solidFill>
                  <a:srgbClr val="333333"/>
                </a:solidFill>
                <a:latin typeface="Cambria"/>
              </a:rPr>
              <a:t>• BIM – pont entre conception et chiffrage</a:t>
            </a:r>
          </a:p>
        </p:txBody>
      </p:sp>
      <p:sp>
        <p:nvSpPr>
          <p:cNvPr id="21" name="SirenInfo"/>
          <p:cNvSpPr/>
          <p:nvPr/>
        </p:nvSpPr>
        <p:spPr>
          <a:xfrm>
            <a:off x="5029200" y="278892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fr-FR" sz="800" dirty="0">
                <a:solidFill>
                  <a:srgbClr val="999999"/>
                </a:solidFill>
                <a:latin typeface="Cambria"/>
              </a:rPr>
              <a:t>SIREN 999 580 053 | Bussières, Loire 42510</a:t>
            </a:r>
          </a:p>
        </p:txBody>
      </p:sp>
      <p:sp>
        <p:nvSpPr>
          <p:cNvPr id="22" name="LogoPlaceholder"/>
          <p:cNvSpPr/>
          <p:nvPr/>
        </p:nvSpPr>
        <p:spPr>
          <a:xfrm>
            <a:off x="5029200" y="3017520"/>
            <a:ext cx="3749040" cy="1371600"/>
          </a:xfrm>
          <a:prstGeom prst="rect">
            <a:avLst/>
          </a:prstGeom>
          <a:solidFill>
            <a:srgbClr val="E8E8E8"/>
          </a:solidFill>
          <a:ln w="12700" cmpd="sng">
            <a:solidFill>
              <a:srgbClr val="CCCCCC"/>
            </a:solidFill>
            <a:prstDash val="dash"/>
          </a:ln>
        </p:spPr>
        <p:txBody>
          <a:bodyPr anchor="ctr" anchorCtr="1"/>
          <a:lstStyle/>
          <a:p>
            <a:pPr algn="ctr"/>
            <a:r>
              <a:rPr lang="fr-FR" sz="1200" dirty="0">
                <a:solidFill>
                  <a:srgbClr val="999999"/>
                </a:solidFill>
                <a:latin typeface="Cambria"/>
              </a:rPr>
              <a:t>Logo BIMCO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1811</Words>
  <Application>Microsoft Office PowerPoint</Application>
  <PresentationFormat>Affichage à l'écran (16:9)</PresentationFormat>
  <Paragraphs>370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BTS MEC U62 - BIMCO</dc:title>
  <dc:subject>PptxGenJS Presentation</dc:subject>
  <dc:creator>BAHAFID Mohamed</dc:creator>
  <cp:lastModifiedBy>amandine grizonnet</cp:lastModifiedBy>
  <cp:revision>3</cp:revision>
  <dcterms:created xsi:type="dcterms:W3CDTF">2026-03-21T10:05:46Z</dcterms:created>
  <dcterms:modified xsi:type="dcterms:W3CDTF">2026-03-22T21:32:58Z</dcterms:modified>
</cp:coreProperties>
</file>