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par commune (M DH HT)</c:v>
                </c:pt>
              </c:strCache>
            </c:strRef>
          </c:tx>
          <c:spPr>
            <a:solidFill>
              <a:srgbClr val="F392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3A5F"/>
                    </a:solidFill>
                    <a:latin typeface="Montserrat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Ouaoumana</c:v>
                  </c:pt>
                  <c:pt idx="1">
                    <c:v>Sebt Ait Rahou</c:v>
                  </c:pt>
                  <c:pt idx="2">
                    <c:v>Kerrouchen</c:v>
                  </c:pt>
                  <c:pt idx="3">
                    <c:v>El Hammam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15.8</c:v>
                </c:pt>
                <c:pt idx="1">
                  <c:v>14.8</c:v>
                </c:pt>
                <c:pt idx="2">
                  <c:v>7.3</c:v>
                </c:pt>
                <c:pt idx="3">
                  <c:v>6.7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3A5F"/>
                  </a:solidFill>
                  <a:latin typeface="Montserrat 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Consommé</c:v>
                </c:pt>
              </c:strCache>
            </c:strRef>
          </c:tx>
          <c:spPr>
            <a:solidFill>
              <a:srgbClr val="F39200"/>
            </a:solidFill>
            <a:ln w="25400" cap="flat">
              <a:solidFill>
                <a:srgbClr val="F392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39200"/>
              </a:solidFill>
              <a:ln w="9525" cap="flat">
                <a:solidFill>
                  <a:srgbClr val="F392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M1</c:v>
                  </c:pt>
                  <c:pt idx="1">
                    <c:v>M6</c:v>
                  </c:pt>
                  <c:pt idx="2">
                    <c:v>M9</c:v>
                  </c:pt>
                  <c:pt idx="3">
                    <c:v>M12</c:v>
                  </c:pt>
                  <c:pt idx="4">
                    <c:v>M18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35</c:v>
                </c:pt>
                <c:pt idx="2">
                  <c:v>52</c:v>
                </c:pt>
                <c:pt idx="3">
                  <c:v>70</c:v>
                </c:pt>
                <c:pt idx="4">
                  <c:v>100.8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Prévu</c:v>
                </c:pt>
              </c:strCache>
            </c:strRef>
          </c:tx>
          <c:spPr>
            <a:solidFill>
              <a:srgbClr val="5CC8C0"/>
            </a:solidFill>
            <a:ln w="25400" cap="flat">
              <a:solidFill>
                <a:srgbClr val="5CC8C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CC8C0"/>
              </a:solidFill>
              <a:ln w="9525" cap="flat">
                <a:solidFill>
                  <a:srgbClr val="5CC8C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M1</c:v>
                  </c:pt>
                  <c:pt idx="1">
                    <c:v>M6</c:v>
                  </c:pt>
                  <c:pt idx="2">
                    <c:v>M9</c:v>
                  </c:pt>
                  <c:pt idx="3">
                    <c:v>M12</c:v>
                  </c:pt>
                  <c:pt idx="4">
                    <c:v>M18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5.5</c:v>
                </c:pt>
                <c:pt idx="1">
                  <c:v>33</c:v>
                </c:pt>
                <c:pt idx="2">
                  <c:v>50</c:v>
                </c:pt>
                <c:pt idx="3">
                  <c:v>66</c:v>
                </c:pt>
                <c:pt idx="4">
                  <c:v>100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5555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3A5F"/>
              </a:solidFill>
              <a:effectLst/>
            </c:spPr>
          </c:dPt>
          <c:dPt>
            <c:idx val="1"/>
            <c:bubble3D val="0"/>
            <c:spPr>
              <a:solidFill>
                <a:srgbClr val="F39200"/>
              </a:solidFill>
              <a:effectLst/>
            </c:spPr>
          </c:dPt>
          <c:dPt>
            <c:idx val="2"/>
            <c:bubble3D val="0"/>
            <c:spPr>
              <a:solidFill>
                <a:srgbClr val="5CC8C0"/>
              </a:solidFill>
              <a:effectLst/>
            </c:spPr>
          </c:dPt>
          <c:dPt>
            <c:idx val="3"/>
            <c:bubble3D val="0"/>
            <c:spPr>
              <a:solidFill>
                <a:srgbClr val="48B4AC"/>
              </a:solidFill>
              <a:effectLst/>
            </c:spPr>
          </c:dPt>
          <c:dPt>
            <c:idx val="4"/>
            <c:bubble3D val="0"/>
            <c:spPr>
              <a:solidFill>
                <a:srgbClr val="555555"/>
              </a:solidFill>
              <a:effectLst/>
            </c:spPr>
          </c:dPt>
          <c:dPt>
            <c:idx val="5"/>
            <c:bubble3D val="0"/>
            <c:spPr>
              <a:solidFill>
                <a:srgbClr val="0F2B5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Terrassement</c:v>
                </c:pt>
                <c:pt idx="1">
                  <c:v>Corps chaussée</c:v>
                </c:pt>
                <c:pt idx="2">
                  <c:v>Revêtement</c:v>
                </c:pt>
                <c:pt idx="3">
                  <c:v>Ouvrages hydr.</c:v>
                </c:pt>
                <c:pt idx="4">
                  <c:v>Soutènement</c:v>
                </c:pt>
                <c:pt idx="5">
                  <c:v>Bretelles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17.9</c:v>
                </c:pt>
                <c:pt idx="1">
                  <c:v>30.1</c:v>
                </c:pt>
                <c:pt idx="2">
                  <c:v>10.7</c:v>
                </c:pt>
                <c:pt idx="3">
                  <c:v>28.1</c:v>
                </c:pt>
                <c:pt idx="4">
                  <c:v>1.9</c:v>
                </c:pt>
                <c:pt idx="5">
                  <c:v>11.3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55555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2026  |  Académie de Lyon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RAPPORT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D'ACTIVITÉS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PROFESSIONNELLES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731520" y="3611880"/>
            <a:ext cx="2286000" cy="54864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8404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BAHAFID Mohamed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251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BE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BTS Management Économique de la Construction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BE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N° 02537399911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MON PARCOURS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37160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19659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1965960" cy="54864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005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B4A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2017 - 2022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280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Maîtrise d'ouvrage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Conseil Régional BMK · Maroc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868680"/>
            <a:ext cx="19659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868680"/>
            <a:ext cx="1965960" cy="54864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12" name="Text 10"/>
          <p:cNvSpPr/>
          <p:nvPr/>
        </p:nvSpPr>
        <p:spPr>
          <a:xfrm>
            <a:off x="2715768" y="1005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2022 - 2024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15768" y="1280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Exécution terrain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15768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Chef de chantier GO · France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868680"/>
            <a:ext cx="19659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868680"/>
            <a:ext cx="196596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864608" y="1005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2024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64608" y="1280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Formation BIM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64608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AFPA Colmar · 8 mois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868680"/>
            <a:ext cx="19659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03720" y="868680"/>
            <a:ext cx="1965960" cy="54864"/>
          </a:xfrm>
          <a:prstGeom prst="rect">
            <a:avLst/>
          </a:prstGeom>
          <a:solidFill>
            <a:srgbClr val="002F6C"/>
          </a:solidFill>
          <a:ln/>
        </p:spPr>
      </p:sp>
      <p:sp>
        <p:nvSpPr>
          <p:cNvPr id="22" name="Text 20"/>
          <p:cNvSpPr/>
          <p:nvPr/>
        </p:nvSpPr>
        <p:spPr>
          <a:xfrm>
            <a:off x="7013448" y="1005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F6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2026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13448" y="1280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BIMCO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13448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BIM + Économie construction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2331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DEUX PROJETS MAJEURS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743200"/>
            <a:ext cx="73152" cy="109728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Projet 1 · Aménagement urbain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5800" y="31089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communes · 8 corps d'état · Province de Khénifra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Situations 1 à 4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74320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743200"/>
            <a:ext cx="73152" cy="1097280"/>
          </a:xfrm>
          <a:prstGeom prst="rect">
            <a:avLst/>
          </a:prstGeom>
          <a:solidFill>
            <a:srgbClr val="5CC8C0"/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Projet 2 · Route Lehri-Kerrouchen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83480" y="31089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km en zone montagneuse · Moyen Atlas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Situation 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08736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 situations professionnelles · Méthode CPAR : Contexte · Problème · Action · Résultat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  |  BTS MEC 2026  |  2/10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CADRE PROFESSIONNEL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37160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960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CONSEIL RÉGIONAL BMK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280160"/>
            <a:ext cx="914400" cy="36576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17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Agence d'Exécution des Projets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Maîtrise d'ouvrage des infrastructures régionales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Mes missions 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Métrés et estimation confidentielle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Rédaction des DCE (CPS, RC, BPDE)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Analyse des offres en commission AO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Suivi financier mensuel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Visites terrain et attachements contradictoires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960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BIMCO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9784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 activité indépendante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37760" y="1280160"/>
            <a:ext cx="914400" cy="36576"/>
          </a:xfrm>
          <a:prstGeom prst="rect">
            <a:avLst/>
          </a:prstGeom>
          <a:solidFill>
            <a:srgbClr val="5CC8C0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BIM au service de l'économiste de la construction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182880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Métrés par extraction de maquette numérique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Études de prix ancrées dans les coûts réels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Développement plugins Revit / Dynamo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Automatisation de la chaîne métré → DPGF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3200400"/>
            <a:ext cx="356616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200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BIM &amp; CAO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17920" y="32004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Revit · Navisworks · Dynamo · AutoCAD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937760" y="3529584"/>
            <a:ext cx="3566160" cy="292608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52958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Développement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217920" y="352958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· C# · React · Node.js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937760" y="3858768"/>
            <a:ext cx="3566160" cy="292608"/>
          </a:xfrm>
          <a:prstGeom prst="rect">
            <a:avLst/>
          </a:prstGeom>
          <a:solidFill>
            <a:srgbClr val="0F2B50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38587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Gestion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17920" y="38587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 Project · Excel · BIM360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  |  BTS MEC 2026  |  3/10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PROJET 1 : MISE À NIVEAU DE 4 COMMUNES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37160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Aménagement urbain et VRD · 4 communes · 8 corps d'état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l'assainissement à l'éclairage public, sur 4 sites distants de 20 à 80 km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417320"/>
          <a:ext cx="45720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12064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 corps d'état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120640" y="1828800"/>
            <a:ext cx="256032" cy="228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6"/>
          <p:cNvSpPr/>
          <p:nvPr/>
        </p:nvSpPr>
        <p:spPr>
          <a:xfrm>
            <a:off x="5120640" y="182880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86400" y="18288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Assainissement &amp; réseaux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120640" y="2121408"/>
            <a:ext cx="256032" cy="228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9"/>
          <p:cNvSpPr/>
          <p:nvPr/>
        </p:nvSpPr>
        <p:spPr>
          <a:xfrm>
            <a:off x="5120640" y="212140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486400" y="21214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Travaux de chaussée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120640" y="2414016"/>
            <a:ext cx="256032" cy="228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2414016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86400" y="24140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Aménagement trottoirs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120640" y="2706624"/>
            <a:ext cx="256032" cy="228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Text 15"/>
          <p:cNvSpPr/>
          <p:nvPr/>
        </p:nvSpPr>
        <p:spPr>
          <a:xfrm>
            <a:off x="5120640" y="2706624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04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486400" y="2706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Signalisation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120640" y="2999232"/>
            <a:ext cx="256032" cy="228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8"/>
          <p:cNvSpPr/>
          <p:nvPr/>
        </p:nvSpPr>
        <p:spPr>
          <a:xfrm>
            <a:off x="5120640" y="2999232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05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486400" y="29992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Éclairage public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120640" y="3291840"/>
            <a:ext cx="256032" cy="228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Text 21"/>
          <p:cNvSpPr/>
          <p:nvPr/>
        </p:nvSpPr>
        <p:spPr>
          <a:xfrm>
            <a:off x="5120640" y="329184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06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486400" y="3291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Murs &amp; ouvrages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120640" y="3584448"/>
            <a:ext cx="256032" cy="228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358444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07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486400" y="35844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Aménagement paysager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120640" y="3877056"/>
            <a:ext cx="256032" cy="228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0" name="Text 27"/>
          <p:cNvSpPr/>
          <p:nvPr/>
        </p:nvSpPr>
        <p:spPr>
          <a:xfrm>
            <a:off x="5120640" y="3877056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08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486400" y="387705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Mobilier urbain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3" name="Text 30"/>
          <p:cNvSpPr/>
          <p:nvPr/>
        </p:nvSpPr>
        <p:spPr>
          <a:xfrm>
            <a:off x="548640" y="422452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 missions : avant-métrés · estimation confidentielle · commission AO · suivi financier 18 mois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  |  BTS MEC 2026  |  4/10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SITUATIONS 1 &amp; 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37160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39319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68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S1 · Estimation confidentielle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8B4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Réaliser des métrés TCE et estimer un ouvrage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1783080"/>
            <a:ext cx="3200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7830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Commune d'Ouaoumana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Estimation à livrer en 3 semaines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423160"/>
            <a:ext cx="3200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4231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Plans incohérents du BET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Mercuriale de référence obsolète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3063240"/>
            <a:ext cx="3200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063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0632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Métrés AutoCAD + visites terrain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Croisement de 3 sources de prix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3703320"/>
            <a:ext cx="320040" cy="320040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7033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Écart de seulement 3,2% avec l'offre retenue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Méthode adoptée pour les 3 autres communes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8686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868680"/>
            <a:ext cx="39319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868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S2 · Analyse des offres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1417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8B4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Analyser les offres et préparer la décision en commission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92040" y="1783080"/>
            <a:ext cx="3200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0" y="17830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entreprises candidates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Analyse comparative pour la commission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2423160"/>
            <a:ext cx="3200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03520" y="24231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Erreurs arithmétiques dans un dossier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Prix anormalement bas sur des postes majeurs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92040" y="3063240"/>
            <a:ext cx="3200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3063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0" y="30632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Vérification de conformité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Grille comparative technique et financière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3703320"/>
            <a:ext cx="320040" cy="320040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03520" y="37033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Entreprise retenue notée 94/100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Attribution sans aucun recours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  |  BTS MEC 2026  |  5/10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SITUATIONS 3 &amp; 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37160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39319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68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S3 · Suivi financier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8B4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Suivre l'exécution financière et anticiper les dérives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691640"/>
          <a:ext cx="365760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594360" y="3154680"/>
            <a:ext cx="256032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3154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32688" y="31363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Chantier de Kerrouchen sur 18 mois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Terrain rocheux imprévu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94360" y="3493008"/>
            <a:ext cx="256032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3493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32688" y="3474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Dépassement qui approchait le seuil d'avenant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94360" y="3831336"/>
            <a:ext cx="256032" cy="256032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17" name="Text 14"/>
          <p:cNvSpPr/>
          <p:nvPr/>
        </p:nvSpPr>
        <p:spPr>
          <a:xfrm>
            <a:off x="594360" y="3831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32688" y="381304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Tableau de bord hebdomadaire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Compensation entre postes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94360" y="4169664"/>
            <a:ext cx="256032" cy="256032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20" name="Text 17"/>
          <p:cNvSpPr/>
          <p:nvPr/>
        </p:nvSpPr>
        <p:spPr>
          <a:xfrm>
            <a:off x="594360" y="4169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32688" y="415137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Dépassement maîtrisé, avenant évité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Outil adopté par l'Agence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754880" y="8686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754880" y="868680"/>
            <a:ext cx="39319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Text 21"/>
          <p:cNvSpPr/>
          <p:nvPr/>
        </p:nvSpPr>
        <p:spPr>
          <a:xfrm>
            <a:off x="4892040" y="868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S4 · Coordination multi-sites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892040" y="1417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8B4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Communiquer et coordonner en contexte de crise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892040" y="1783080"/>
            <a:ext cx="3200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Text 24"/>
          <p:cNvSpPr/>
          <p:nvPr/>
        </p:nvSpPr>
        <p:spPr>
          <a:xfrm>
            <a:off x="489204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303520" y="17830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chantiers simultanés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Relais unique du Directeur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892040" y="2423160"/>
            <a:ext cx="3200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0" name="Text 27"/>
          <p:cNvSpPr/>
          <p:nvPr/>
        </p:nvSpPr>
        <p:spPr>
          <a:xfrm>
            <a:off x="489204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303520" y="24231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crises simultanées en semaine 23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Retard · Météo · Litige quantités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892040" y="3063240"/>
            <a:ext cx="320040" cy="320040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33" name="Text 30"/>
          <p:cNvSpPr/>
          <p:nvPr/>
        </p:nvSpPr>
        <p:spPr>
          <a:xfrm>
            <a:off x="4892040" y="3063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303520" y="30632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Traitement des 3 fronts en 48h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 factuelle · OS d'arrêt · Re-mesurage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892040" y="3703320"/>
            <a:ext cx="320040" cy="320040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36" name="Text 33"/>
          <p:cNvSpPr/>
          <p:nvPr/>
        </p:nvSpPr>
        <p:spPr>
          <a:xfrm>
            <a:off x="489204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5303520" y="37033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Retard rattrapé · Litige résolu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Modèle de CR adopté par l'Agence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  |  BTS MEC 2026  |  6/10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PROJET 2 : ROUTE LEHRI-KERROUCHEN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37160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rurale de 25 km en zone montagneuse · Moyen Atlas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Dénivelé important · Pentes raides · 3 sections · Programme National Routes Rurales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0" y="777240"/>
          <a:ext cx="38404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417320"/>
            <a:ext cx="429768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4356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S5 · Contrôle des cubatures de terrassement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19202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8B4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Vérifier les quantités exécutées et contrôler les écarts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4360" y="2286000"/>
            <a:ext cx="27432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60120" y="22677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Vérifier les cubatures du BET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 25 km de route en montagne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4360" y="2834640"/>
            <a:ext cx="27432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60120" y="28163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Calcaire fracturé découvert au PK 12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Ouvrages hydrauliques non prévus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3383280"/>
            <a:ext cx="274320" cy="274320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17" name="Text 14"/>
          <p:cNvSpPr/>
          <p:nvPr/>
        </p:nvSpPr>
        <p:spPr>
          <a:xfrm>
            <a:off x="59436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60120" y="33649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Contrôle contradictoire GPS tous les 500 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Dimensionnement de 3 dalots avec le BET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94360" y="3931920"/>
            <a:ext cx="274320" cy="274320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20" name="Text 17"/>
          <p:cNvSpPr/>
          <p:nvPr/>
        </p:nvSpPr>
        <p:spPr>
          <a:xfrm>
            <a:off x="59436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60120" y="39136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Surcoût absorbé par compensation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Réception dans les délais, sans avenant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  |  BTS MEC 2026  |  7/10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SYNTHÈSE ET DOUBLE EXPÉRIENCE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37160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COMPÉTENCES ACQUISES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965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1965960" cy="45720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801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Métrés TCE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8B4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Maîtrise · S1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1965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188720"/>
            <a:ext cx="1965960" cy="45720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2801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Estimation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97480" y="150876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8B4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Maîtrise · S1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1965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188720"/>
            <a:ext cx="1965960" cy="45720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2801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Analyse offres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150876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8B4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Maîtrise · S2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903720" y="1188720"/>
            <a:ext cx="1965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1188720"/>
            <a:ext cx="196596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12801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Suivi financier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95160" y="150876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39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Expert · S3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1874520"/>
            <a:ext cx="1965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1874520"/>
            <a:ext cx="196596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19659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Contrôle quantités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219456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39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Expert · S5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606040" y="1874520"/>
            <a:ext cx="1965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606040" y="1874520"/>
            <a:ext cx="1965960" cy="45720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28" name="Text 26"/>
          <p:cNvSpPr/>
          <p:nvPr/>
        </p:nvSpPr>
        <p:spPr>
          <a:xfrm>
            <a:off x="2697480" y="19659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Communication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97480" y="219456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8B4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Maîtrise · S4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54880" y="1874520"/>
            <a:ext cx="1965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1874520"/>
            <a:ext cx="1965960" cy="45720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19659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Marchés publics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219456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8B4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Maîtrise · S1-4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903720" y="1874520"/>
            <a:ext cx="1965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903720" y="1874520"/>
            <a:ext cx="1965960" cy="45720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36" name="Text 34"/>
          <p:cNvSpPr/>
          <p:nvPr/>
        </p:nvSpPr>
        <p:spPr>
          <a:xfrm>
            <a:off x="6995160" y="19659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BIM (Open BIM)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95160" y="219456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8B4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Maîtrise · BIM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DOUBLE EXPÉRIENCE MAROC / FRANCE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310896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" y="3108960"/>
            <a:ext cx="2651760" cy="45720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41" name="Text 39"/>
          <p:cNvSpPr/>
          <p:nvPr/>
        </p:nvSpPr>
        <p:spPr>
          <a:xfrm>
            <a:off x="566928" y="3200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8B4A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Côté MOA · Maroc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66928" y="35204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Concevoir les marchés, rédiger les pièces,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piloter la commission, émettre les OS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91840" y="310896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291840" y="3108960"/>
            <a:ext cx="265176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45" name="Text 43"/>
          <p:cNvSpPr/>
          <p:nvPr/>
        </p:nvSpPr>
        <p:spPr>
          <a:xfrm>
            <a:off x="3401568" y="3200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Côté Exécution · France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401568" y="35204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Comprendre les coûts réels, les rendements,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contraintes terrain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26480" y="310896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126480" y="3108960"/>
            <a:ext cx="2651760" cy="45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9" name="Text 47"/>
          <p:cNvSpPr/>
          <p:nvPr/>
        </p:nvSpPr>
        <p:spPr>
          <a:xfrm>
            <a:off x="6236208" y="3200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Triple compétence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236208" y="35204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MOA + Exécution + BIM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Estimations réalistes, analyse pertinente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  |  BTS MEC 2026  |  8/10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BIM ET PROJET PROFESSIONNEL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37160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914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PROTOCOLE BIM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188720"/>
            <a:ext cx="914400" cy="36576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 appliqué : Bâtiment R+2 (Formation AFPA Colmar)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Maquette Revit · Logements collectifs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 postes de métrés extraits automatiquement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Écart de seulement 1,8% vs métré manuel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conflits structure/réseaux détectés en amont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Extraction en 2h vs 2 jours en traditionnel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914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PROJET BIMCO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7760" y="1188720"/>
            <a:ext cx="914400" cy="36576"/>
          </a:xfrm>
          <a:prstGeom prst="rect">
            <a:avLst/>
          </a:prstGeom>
          <a:solidFill>
            <a:srgbClr val="5CC8C0"/>
          </a:solidFill>
          <a:ln/>
        </p:spPr>
      </p:sp>
      <p:sp>
        <p:nvSpPr>
          <p:cNvPr id="13" name="Shape 11"/>
          <p:cNvSpPr/>
          <p:nvPr/>
        </p:nvSpPr>
        <p:spPr>
          <a:xfrm>
            <a:off x="4937760" y="1325880"/>
            <a:ext cx="356616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937760" y="1325880"/>
            <a:ext cx="54864" cy="594360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15" name="Text 13"/>
          <p:cNvSpPr/>
          <p:nvPr/>
        </p:nvSpPr>
        <p:spPr>
          <a:xfrm>
            <a:off x="5074920" y="13533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2026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52160" y="135331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Obtenir le BTS MEC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Premières prestations BIMCO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37760" y="1984248"/>
            <a:ext cx="356616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Shape 16"/>
          <p:cNvSpPr/>
          <p:nvPr/>
        </p:nvSpPr>
        <p:spPr>
          <a:xfrm>
            <a:off x="4937760" y="1984248"/>
            <a:ext cx="54864" cy="59436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20116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2027-28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52160" y="201168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Métrés BIM · Études de prix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Premiers plugins Revit/Dynamo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37760" y="2642616"/>
            <a:ext cx="356616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Shape 20"/>
          <p:cNvSpPr/>
          <p:nvPr/>
        </p:nvSpPr>
        <p:spPr>
          <a:xfrm>
            <a:off x="4937760" y="2642616"/>
            <a:ext cx="54864" cy="5943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2670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2029+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52160" y="267004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Cabinet BIM + Économie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SaaS pour économistes MEC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67588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Les outils numériques doivent être au service de l'économiste de la construction, et non l'inverse.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39776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 double compétence  :  Économiste terrain  +  Développeur BIM  ·  Un avantage rare sur le marché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  |  BTS MEC 2026  |  9/10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8229600" cy="731520"/>
          </a:xfrm>
          <a:prstGeom prst="rect">
            <a:avLst/>
          </a:prstGeom>
          <a:solidFill>
            <a:srgbClr val="0F2B5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43000"/>
            <a:ext cx="502920" cy="7315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121615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Cinq compétences construites sur le terrain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53619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Estimer, analyser, suivre, coordonner, contrôler — des réflexes acquis par la pratique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solidFill>
            <a:srgbClr val="0F2B50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011680"/>
            <a:ext cx="502920" cy="7315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01168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97280" y="208483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Une double lecture des projets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40487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Côté MOA au Maroc, côté exécution en France — deux visions qui enrichissent l'estimation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8229600" cy="731520"/>
          </a:xfrm>
          <a:prstGeom prst="rect">
            <a:avLst/>
          </a:prstGeom>
          <a:solidFill>
            <a:srgbClr val="0F2B50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880360"/>
            <a:ext cx="502920" cy="7315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88036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97280" y="29535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La rigueur de l'écrit comme protection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2735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OS, attachements, comptes-rendus — la trace écrite est le rempart contre les litiges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solidFill>
            <a:srgbClr val="0F2B50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749040"/>
            <a:ext cx="502920" cy="7315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4904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97280" y="382219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BIMCO : la traduction de ce parcours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41422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rigueur du terrain rencontre les outils numériques pour un chiffrage plus précis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6634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  |  BIMCO  |  BTS MEC Session 2026  |  Académie de Lyon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U62 - BTS MEC 2026</dc:title>
  <dc:subject>PptxGenJS Presentation</dc:subject>
  <dc:creator>BAHAFID Mohamed</dc:creator>
  <cp:lastModifiedBy>BAHAFID Mohamed</cp:lastModifiedBy>
  <cp:revision>1</cp:revision>
  <dcterms:created xsi:type="dcterms:W3CDTF">2026-03-25T06:47:05Z</dcterms:created>
  <dcterms:modified xsi:type="dcterms:W3CDTF">2026-03-25T06:47:05Z</dcterms:modified>
</cp:coreProperties>
</file>