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1" d="100"/>
          <a:sy n="191" d="100"/>
        </p:scale>
        <p:origin x="17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 DH HT)</c:v>
                </c:pt>
              </c:strCache>
            </c:strRef>
          </c:tx>
          <c:spPr>
            <a:solidFill>
              <a:srgbClr val="F392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3A5F"/>
                    </a:solidFill>
                    <a:latin typeface="Montserrat Bold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Ouaoumana</c:v>
                </c:pt>
                <c:pt idx="1">
                  <c:v>Sebt Ait Rahou</c:v>
                </c:pt>
                <c:pt idx="2">
                  <c:v>Kerrouchen</c:v>
                </c:pt>
                <c:pt idx="3">
                  <c:v>El Hammam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14.8</c:v>
                </c:pt>
                <c:pt idx="2">
                  <c:v>7.3</c:v>
                </c:pt>
                <c:pt idx="3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5F-4722-8EA5-78B9CD975B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consommé (%)</c:v>
                </c:pt>
              </c:strCache>
            </c:strRef>
          </c:tx>
          <c:spPr>
            <a:ln w="25400" cap="flat">
              <a:solidFill>
                <a:srgbClr val="F392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200"/>
              </a:solidFill>
              <a:ln w="9525" cap="flat">
                <a:solidFill>
                  <a:srgbClr val="F392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M15</c:v>
                </c:pt>
                <c:pt idx="6">
                  <c:v>M18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18</c:v>
                </c:pt>
                <c:pt idx="2">
                  <c:v>35</c:v>
                </c:pt>
                <c:pt idx="3">
                  <c:v>52</c:v>
                </c:pt>
                <c:pt idx="4">
                  <c:v>70</c:v>
                </c:pt>
                <c:pt idx="5">
                  <c:v>88</c:v>
                </c:pt>
                <c:pt idx="6">
                  <c:v>100.8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59E-431B-AF59-B14B915C65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prévu (%)</c:v>
                </c:pt>
              </c:strCache>
            </c:strRef>
          </c:tx>
          <c:spPr>
            <a:ln w="25400" cap="flat">
              <a:solidFill>
                <a:srgbClr val="5CC8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C8C0"/>
              </a:solidFill>
              <a:ln w="9525" cap="flat">
                <a:solidFill>
                  <a:srgbClr val="5CC8C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M15</c:v>
                </c:pt>
                <c:pt idx="6">
                  <c:v>M18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5.5</c:v>
                </c:pt>
                <c:pt idx="1">
                  <c:v>16.5</c:v>
                </c:pt>
                <c:pt idx="2">
                  <c:v>33</c:v>
                </c:pt>
                <c:pt idx="3">
                  <c:v>50</c:v>
                </c:pt>
                <c:pt idx="4">
                  <c:v>66</c:v>
                </c:pt>
                <c:pt idx="5">
                  <c:v>83</c:v>
                </c:pt>
                <c:pt idx="6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59E-431B-AF59-B14B915C65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A67-40B2-8262-DF9516477304}"/>
              </c:ext>
            </c:extLst>
          </c:dPt>
          <c:dPt>
            <c:idx val="1"/>
            <c:bubble3D val="0"/>
            <c:spPr>
              <a:solidFill>
                <a:srgbClr val="F392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A67-40B2-8262-DF9516477304}"/>
              </c:ext>
            </c:extLst>
          </c:dPt>
          <c:dPt>
            <c:idx val="2"/>
            <c:bubble3D val="0"/>
            <c:spPr>
              <a:solidFill>
                <a:srgbClr val="5CC8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A67-40B2-8262-DF9516477304}"/>
              </c:ext>
            </c:extLst>
          </c:dPt>
          <c:dPt>
            <c:idx val="3"/>
            <c:bubble3D val="0"/>
            <c:spPr>
              <a:solidFill>
                <a:srgbClr val="48B4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A67-40B2-8262-DF9516477304}"/>
              </c:ext>
            </c:extLst>
          </c:dPt>
          <c:dPt>
            <c:idx val="4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A67-40B2-8262-DF9516477304}"/>
              </c:ext>
            </c:extLst>
          </c:dPt>
          <c:dPt>
            <c:idx val="5"/>
            <c:bubble3D val="0"/>
            <c:spPr>
              <a:solidFill>
                <a:srgbClr val="0F2B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A67-40B2-8262-DF951647730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67-40B2-8262-DF951647730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67-40B2-8262-DF951647730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67-40B2-8262-DF951647730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67-40B2-8262-DF951647730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67-40B2-8262-DF951647730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67-40B2-8262-DF951647730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Terrassement</c:v>
                </c:pt>
                <c:pt idx="1">
                  <c:v>Corps chaussée</c:v>
                </c:pt>
                <c:pt idx="2">
                  <c:v>Revêtement</c:v>
                </c:pt>
                <c:pt idx="3">
                  <c:v>Ouvrages hydr.</c:v>
                </c:pt>
                <c:pt idx="4">
                  <c:v>Soutènement</c:v>
                </c:pt>
                <c:pt idx="5">
                  <c:v>Bretelles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17.899999999999999</c:v>
                </c:pt>
                <c:pt idx="1">
                  <c:v>30.1</c:v>
                </c:pt>
                <c:pt idx="2">
                  <c:v>10.7</c:v>
                </c:pt>
                <c:pt idx="3">
                  <c:v>28.1</c:v>
                </c:pt>
                <c:pt idx="4">
                  <c:v>1.9</c:v>
                </c:pt>
                <c:pt idx="5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67-40B2-8262-DF95164773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027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2026  |  Académie de Lyon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44942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RAPPORT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D'ACTIVITÉS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PROFESSIONNELLES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2286000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BAHAFID Mohamed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BE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BTS Management Économique de la Construction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N° 02537399911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170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ans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BTP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130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pays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Maroc + France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Marchés publics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+10 M€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Investissements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FICHE D'IDENTITÉ DU CANDIDAT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Candidat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Académie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Lyon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Conseil Régional Béni Mellal-Khénifra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Technicien études et suivi des travaux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Expérience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ans BTP (3 ans Maroc + 5 ans France)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Formation BIM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Modeleur BIM - AFPA Colmar (8 mois)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Activité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BIMCO - Projeteur BIM / Économiste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 PARCOURS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00200"/>
            <a:ext cx="73152" cy="5029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2017-2022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 publique au Maroc - Technicien études et suivi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286000"/>
            <a:ext cx="73152" cy="5029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Exécution terrain en France - Chef de chantier GO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2971800"/>
            <a:ext cx="731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BIM Modeleur - AFPA Colmar (8 mois)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657600"/>
            <a:ext cx="73152" cy="502920"/>
          </a:xfrm>
          <a:prstGeom prst="rect">
            <a:avLst/>
          </a:prstGeom>
          <a:solidFill>
            <a:srgbClr val="002F6C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F6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BIMCO - Bureau BIM + Économie de la construction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2/10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d'accueil, BIMCO, outils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Mise à niveau 4 communes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423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53,5 M DH - 8 corps d'état - Situations 1 à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: Route Lehri-Kerrouchen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337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M DH - 25 km zone montagneuse - Situation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et analyse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Synthèse, comparaison Maroc/France, BIM, projet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3/10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CONSEIL RÉGIONAL BMK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914400" cy="3657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avant-projet et estimation confidentielle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des DCE : CPS, RC, BPDE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des offres en Commission AO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financier : situations, décomptes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Visites terrain, attachements contradictoires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provinces  |  2,5 M habitants  |  Maîtrise d'ouvrage publique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 activité indépendante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914400" cy="36576"/>
          </a:xfrm>
          <a:prstGeom prst="rect">
            <a:avLst/>
          </a:prstGeom>
          <a:solidFill>
            <a:srgbClr val="5CC8C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BIM par extraction de maquette numérique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Études de prix ancrées dans les coûts réels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plugins Revit/Dynamo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chaîne métré → DPGF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2644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&amp; CAO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32644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Revit, Navisworks, Dynamo, AutoCAD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675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Développement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3675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C#, React, Node.js, PostgreSQL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087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Gestion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4087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Project, Excel avancé, IFC, BIM360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4/10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BUDGET &amp; CORPS D'ÉTAT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28600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86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44,6 M DH 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soit 4,86 M€ | Lot unique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993928169"/>
              </p:ext>
            </p:extLst>
          </p:nvPr>
        </p:nvGraphicFramePr>
        <p:xfrm>
          <a:off x="3162924" y="777240"/>
          <a:ext cx="5523875" cy="1671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17226" y="247125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CORPS D'ÉTAT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50868"/>
              </p:ext>
            </p:extLst>
          </p:nvPr>
        </p:nvGraphicFramePr>
        <p:xfrm>
          <a:off x="417226" y="2791293"/>
          <a:ext cx="8229600" cy="19354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N°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Désignation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Exemple de travaux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01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Assainissement &amp; réseaux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Tranchées, buses PEHD, regards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02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Travaux de chaussée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Terrassement, GNF1, GNA, enrobés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03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Aménagement trottoirs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Bordures, béton, carreaux, pavés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04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Signalisation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Marquage, panneaux réglementaires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05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Éclairage public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Tranchées, candélabres (163 U), câbles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06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Murs &amp; ouvrages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Béton armé, maçonnerie, gabions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07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Aménagement paysager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Terre végétale, arrosage, plantation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08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Mobilier urbain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Corbeilles, bancs granite, bornes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32282" y="478311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5/10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SITUATIONS 1 &amp; 2 : ESTIMATION ET ANALYSE DES OFFRES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3931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S1 </a:t>
            </a: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Estimation confidentielle - Ouaoumana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d'écart avec l'offre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retenue (vs 5-10% habituel)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15,8 M DH HT (35% du budget global), 112 prix, délai 3 semaines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incohérents + mercuriale obsolète (2014, dérive 15-22%)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AutoCAD + 4 visites terrain + croisement 3 sources de prix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de 3,2% - Méthode adoptée pour les 3 autres communes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68680"/>
            <a:ext cx="4023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S2 </a:t>
            </a: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Analyse offres &amp; Commission AO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94/100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4922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entreprise retenue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recours déposé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entreprises, analyse comparative, rapport d'attribution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erreurs arithmétiques + prix anormalement bas (25-33% sur 42% du montant)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3375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conformité, correction arithmétique, grille /100 pts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88620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94/100 - Attribution en 15 jours - Zéro recours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6/10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 3 : SUIVI FINANCIER - KERROUCHEN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+0,8%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final maîtrisé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0" y="777240"/>
          <a:ext cx="5943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 </a:t>
            </a: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Chantier Kerrouchen 7,3 M DH sur 18 mois. Terrain rocheux imprévu en cours de chantier.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 </a:t>
            </a: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Chaussée +12%, murs +15%. Dépassement extrapolé +4,8% (349 000 DH). Seuil d'avenant à 5%.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30175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</a:t>
            </a: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hebdomadaire (3 indicateurs). Compensation inter-postes : -56 000 DH dégagés.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 </a:t>
            </a: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ramené à +0,8%. Aucun avenant. Tableau de bord répliqué sur les 3 autres communes.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7/10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 4 : COORDINATION DE 4 CHANTIERS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 sites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à 80 km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 crises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semaine 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48h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tout résoudre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2,3%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9516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bordures (vs 15%)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82296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075688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057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Relais unique du Directeur pour 4 chantiers VRD. Interface entre entreprise, BET, laboratoire et hiérarchie régionale. Chaque décision tracée par écrit.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6791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 23 : retard enrobés Ouaoumana + alerte météo Kerrouchen + litige bordures Sebt Ait Rahou (15% d'écart contesté). Paiement mensuel bloqué.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319272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3009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fronts traités en 48h : note factuelle + OS d'arrêt avec photos + re-mesurage contradictoire. Point quotidien 8h avec 4 chefs de chantier. CR consolidé sous 24h.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941064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9227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Retard rattrapé en 2 semaines. Écart bordures ramené de 15% à 2,3%. Modèle de CR adopté comme standard par l'Agence.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8/10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&amp; SITUATION 5 : CONTRÔLE DES CUBATURES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274320" y="777240"/>
          <a:ext cx="3474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24,2 M DH 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0" y="777240"/>
            <a:ext cx="4572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0" y="777240"/>
            <a:ext cx="45720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251960" y="777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S5 </a:t>
            </a: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Contrôle cubatures terrassement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519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120 334 m³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déblais vérifiés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1874520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km Moyen Atlas, 120 334 m³ déblais, 76 735 m³ remblais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2221992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25196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1772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Calcaire fracturé au PK12 : 5 000 m³ reclassés (+285 000 DH)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51960" y="2569464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9" name="Text 16"/>
          <p:cNvSpPr/>
          <p:nvPr/>
        </p:nvSpPr>
        <p:spPr>
          <a:xfrm>
            <a:off x="425196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17720" y="2569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GPS /500 ml, 3 dalots dimensionnés avec BET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51960" y="2916936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2" name="Text 19"/>
          <p:cNvSpPr/>
          <p:nvPr/>
        </p:nvSpPr>
        <p:spPr>
          <a:xfrm>
            <a:off x="425196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17720" y="2916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Surcoût absorbé par compensation. Réception sans avenant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MÉTRÉS CLÉS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486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120 334 m³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Déblais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19456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28600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76 735 m³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28600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Remblais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93192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0233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19 989 m³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02336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Couche GNB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7607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794 ml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76072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Buses Ø1000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40664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4980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789 m³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49808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Gabions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9/10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&amp; PROJET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TRIPLE COMPÉTENCE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 publique (7 marchés, 100 M DH)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Exécution terrain (chef de chantier GO)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(Modeleur AFPA, plugins Revit)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Estimations réalistes et ancrées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MAROC vs FRANCE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Mêmes fondamentaux de commande publique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CPS/RC/BPDE ↔ CCAP/CCTP/BPU-DQE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d'adaptation internationale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Double lecture des projets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&amp; INNOVATION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 BIM LOD 300 / IFC 2x3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postes extraits, écart 1,8%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clashs détectés en amont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Chaîne métré-DPGF automatisée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PROFESSIONNEL : BIMCO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2651760" cy="86868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Court terme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BTS MEC + App Gestion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Chantiers livrée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474720"/>
            <a:ext cx="2651760" cy="86868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2027-28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4340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Moyen terme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Prestations métrés BIM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premiers plugins Revit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474720"/>
            <a:ext cx="2651760" cy="86868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2029+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Long terme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Cabinet BIM + Économie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pour MEC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BIMCO  |  BTS MEC Session 2026  |  Académie de Lyon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1119</Words>
  <Application>Microsoft Office PowerPoint</Application>
  <PresentationFormat>Affichage à l'écran (16:9)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Inter</vt:lpstr>
      <vt:lpstr>Montserrat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U62 - BTS MEC 2026</dc:title>
  <dc:subject>PptxGenJS Presentation</dc:subject>
  <dc:creator>BAHAFID Mohamed</dc:creator>
  <cp:lastModifiedBy>amandine grizonnet</cp:lastModifiedBy>
  <cp:revision>2</cp:revision>
  <dcterms:created xsi:type="dcterms:W3CDTF">2026-03-25T06:27:53Z</dcterms:created>
  <dcterms:modified xsi:type="dcterms:W3CDTF">2026-03-25T06:46:18Z</dcterms:modified>
</cp:coreProperties>
</file>