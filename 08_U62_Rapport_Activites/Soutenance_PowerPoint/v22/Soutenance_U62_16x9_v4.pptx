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91" d="100"/>
          <a:sy n="191" d="100"/>
        </p:scale>
        <p:origin x="174" y="4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Budget (M DH HT)</c:v>
                </c:pt>
              </c:strCache>
            </c:strRef>
          </c:tx>
          <c:spPr>
            <a:solidFill>
              <a:srgbClr val="F39200"/>
            </a:solidFill>
            <a:effectLst/>
          </c:spPr>
          <c:invertIfNegative val="0"/>
          <c:dLbls>
            <c:numFmt formatCode="#,##0" sourceLinked="0"/>
            <c:spPr>
              <a:noFill/>
              <a:ln>
                <a:noFill/>
              </a:ln>
              <a:effectLst/>
            </c:spPr>
            <c:txPr>
              <a:bodyPr/>
              <a:lstStyle/>
              <a:p>
                <a:pPr>
                  <a:defRPr sz="900" b="0" i="0" u="none" strike="noStrike">
                    <a:solidFill>
                      <a:srgbClr val="1E3A5F"/>
                    </a:solidFill>
                    <a:latin typeface="Montserrat Bold"/>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Ouaoumana
35,5%</c:v>
                </c:pt>
                <c:pt idx="1">
                  <c:v>Sebt Ait Rahou
33,2%</c:v>
                </c:pt>
                <c:pt idx="2">
                  <c:v>Kerrouchen
16,4%</c:v>
                </c:pt>
                <c:pt idx="3">
                  <c:v>El Hammam
14,9%</c:v>
                </c:pt>
              </c:strCache>
            </c:strRef>
          </c:cat>
          <c:val>
            <c:numRef>
              <c:f>Sheet1!$B$2:$B$5</c:f>
              <c:numCache>
                <c:formatCode>General</c:formatCode>
                <c:ptCount val="4"/>
                <c:pt idx="0">
                  <c:v>15.8</c:v>
                </c:pt>
                <c:pt idx="1">
                  <c:v>14.8</c:v>
                </c:pt>
                <c:pt idx="2">
                  <c:v>7.3</c:v>
                </c:pt>
                <c:pt idx="3">
                  <c:v>6.7</c:v>
                </c:pt>
              </c:numCache>
            </c:numRef>
          </c:val>
          <c:extLst>
            <c:ext xmlns:c16="http://schemas.microsoft.com/office/drawing/2014/chart" uri="{C3380CC4-5D6E-409C-BE32-E72D297353CC}">
              <c16:uniqueId val="{00000000-EBF3-436A-8434-605C2FEE35C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555555"/>
                </a:solidFill>
                <a:latin typeface="Inter"/>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88888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Budget consommé (%)</c:v>
                </c:pt>
              </c:strCache>
            </c:strRef>
          </c:tx>
          <c:spPr>
            <a:ln w="25400" cap="flat">
              <a:solidFill>
                <a:srgbClr val="F39200"/>
              </a:solidFill>
              <a:prstDash val="solid"/>
              <a:round/>
            </a:ln>
            <a:effectLst/>
          </c:spPr>
          <c:marker>
            <c:symbol val="circle"/>
            <c:size val="6"/>
            <c:spPr>
              <a:solidFill>
                <a:srgbClr val="F39200"/>
              </a:solidFill>
              <a:ln w="9525" cap="flat">
                <a:solidFill>
                  <a:srgbClr val="F39200"/>
                </a:solidFill>
                <a:prstDash val="solid"/>
                <a:round/>
              </a:ln>
              <a:effectLst/>
            </c:spPr>
          </c:marker>
          <c:cat>
            <c:strRef>
              <c:f>Sheet1!$A$2:$A$8</c:f>
              <c:strCache>
                <c:ptCount val="7"/>
                <c:pt idx="0">
                  <c:v>M1</c:v>
                </c:pt>
                <c:pt idx="1">
                  <c:v>M3</c:v>
                </c:pt>
                <c:pt idx="2">
                  <c:v>M6</c:v>
                </c:pt>
                <c:pt idx="3">
                  <c:v>M9</c:v>
                </c:pt>
                <c:pt idx="4">
                  <c:v>M12</c:v>
                </c:pt>
                <c:pt idx="5">
                  <c:v>M15</c:v>
                </c:pt>
                <c:pt idx="6">
                  <c:v>M18</c:v>
                </c:pt>
              </c:strCache>
            </c:strRef>
          </c:cat>
          <c:val>
            <c:numRef>
              <c:f>Sheet1!$B$2:$B$8</c:f>
              <c:numCache>
                <c:formatCode>General</c:formatCode>
                <c:ptCount val="7"/>
                <c:pt idx="0">
                  <c:v>5</c:v>
                </c:pt>
                <c:pt idx="1">
                  <c:v>18</c:v>
                </c:pt>
                <c:pt idx="2">
                  <c:v>35</c:v>
                </c:pt>
                <c:pt idx="3">
                  <c:v>52</c:v>
                </c:pt>
                <c:pt idx="4">
                  <c:v>70</c:v>
                </c:pt>
                <c:pt idx="5">
                  <c:v>88</c:v>
                </c:pt>
                <c:pt idx="6">
                  <c:v>100.8</c:v>
                </c:pt>
              </c:numCache>
            </c:numRef>
          </c:val>
          <c:smooth val="1"/>
          <c:extLst>
            <c:ext xmlns:c16="http://schemas.microsoft.com/office/drawing/2014/chart" uri="{C3380CC4-5D6E-409C-BE32-E72D297353CC}">
              <c16:uniqueId val="{00000000-82F1-4D12-87D8-B2E8CBBC1BEB}"/>
            </c:ext>
          </c:extLst>
        </c:ser>
        <c:ser>
          <c:idx val="1"/>
          <c:order val="1"/>
          <c:tx>
            <c:strRef>
              <c:f>Sheet1!$C$1</c:f>
              <c:strCache>
                <c:ptCount val="1"/>
                <c:pt idx="0">
                  <c:v>Budget prévu (%)</c:v>
                </c:pt>
              </c:strCache>
            </c:strRef>
          </c:tx>
          <c:spPr>
            <a:ln w="25400" cap="flat">
              <a:solidFill>
                <a:srgbClr val="5CC8C0"/>
              </a:solidFill>
              <a:prstDash val="solid"/>
              <a:round/>
            </a:ln>
            <a:effectLst/>
          </c:spPr>
          <c:marker>
            <c:symbol val="circle"/>
            <c:size val="6"/>
            <c:spPr>
              <a:solidFill>
                <a:srgbClr val="5CC8C0"/>
              </a:solidFill>
              <a:ln w="9525" cap="flat">
                <a:solidFill>
                  <a:srgbClr val="5CC8C0"/>
                </a:solidFill>
                <a:prstDash val="solid"/>
                <a:round/>
              </a:ln>
              <a:effectLst/>
            </c:spPr>
          </c:marker>
          <c:cat>
            <c:strRef>
              <c:f>Sheet1!$A$2:$A$8</c:f>
              <c:strCache>
                <c:ptCount val="7"/>
                <c:pt idx="0">
                  <c:v>M1</c:v>
                </c:pt>
                <c:pt idx="1">
                  <c:v>M3</c:v>
                </c:pt>
                <c:pt idx="2">
                  <c:v>M6</c:v>
                </c:pt>
                <c:pt idx="3">
                  <c:v>M9</c:v>
                </c:pt>
                <c:pt idx="4">
                  <c:v>M12</c:v>
                </c:pt>
                <c:pt idx="5">
                  <c:v>M15</c:v>
                </c:pt>
                <c:pt idx="6">
                  <c:v>M18</c:v>
                </c:pt>
              </c:strCache>
            </c:strRef>
          </c:cat>
          <c:val>
            <c:numRef>
              <c:f>Sheet1!$C$2:$C$8</c:f>
              <c:numCache>
                <c:formatCode>General</c:formatCode>
                <c:ptCount val="7"/>
                <c:pt idx="0">
                  <c:v>5.5</c:v>
                </c:pt>
                <c:pt idx="1">
                  <c:v>16.5</c:v>
                </c:pt>
                <c:pt idx="2">
                  <c:v>33</c:v>
                </c:pt>
                <c:pt idx="3">
                  <c:v>50</c:v>
                </c:pt>
                <c:pt idx="4">
                  <c:v>66</c:v>
                </c:pt>
                <c:pt idx="5">
                  <c:v>83</c:v>
                </c:pt>
                <c:pt idx="6">
                  <c:v>100</c:v>
                </c:pt>
              </c:numCache>
            </c:numRef>
          </c:val>
          <c:smooth val="1"/>
          <c:extLst>
            <c:ext xmlns:c16="http://schemas.microsoft.com/office/drawing/2014/chart" uri="{C3380CC4-5D6E-409C-BE32-E72D297353CC}">
              <c16:uniqueId val="{00000001-82F1-4D12-87D8-B2E8CBBC1BE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5555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solidFill>
                <a:srgbClr val="555555"/>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pie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1E3A5F"/>
              </a:solidFill>
              <a:effectLst/>
            </c:spPr>
            <c:extLst>
              <c:ext xmlns:c16="http://schemas.microsoft.com/office/drawing/2014/chart" uri="{C3380CC4-5D6E-409C-BE32-E72D297353CC}">
                <c16:uniqueId val="{00000001-2D56-40A6-A2D9-EB4DBFAF05D3}"/>
              </c:ext>
            </c:extLst>
          </c:dPt>
          <c:dPt>
            <c:idx val="1"/>
            <c:bubble3D val="0"/>
            <c:spPr>
              <a:solidFill>
                <a:srgbClr val="F39200"/>
              </a:solidFill>
              <a:effectLst/>
            </c:spPr>
            <c:extLst>
              <c:ext xmlns:c16="http://schemas.microsoft.com/office/drawing/2014/chart" uri="{C3380CC4-5D6E-409C-BE32-E72D297353CC}">
                <c16:uniqueId val="{00000003-2D56-40A6-A2D9-EB4DBFAF05D3}"/>
              </c:ext>
            </c:extLst>
          </c:dPt>
          <c:dPt>
            <c:idx val="2"/>
            <c:bubble3D val="0"/>
            <c:spPr>
              <a:solidFill>
                <a:srgbClr val="5CC8C0"/>
              </a:solidFill>
              <a:effectLst/>
            </c:spPr>
            <c:extLst>
              <c:ext xmlns:c16="http://schemas.microsoft.com/office/drawing/2014/chart" uri="{C3380CC4-5D6E-409C-BE32-E72D297353CC}">
                <c16:uniqueId val="{00000005-2D56-40A6-A2D9-EB4DBFAF05D3}"/>
              </c:ext>
            </c:extLst>
          </c:dPt>
          <c:dPt>
            <c:idx val="3"/>
            <c:bubble3D val="0"/>
            <c:spPr>
              <a:solidFill>
                <a:srgbClr val="48B4AC"/>
              </a:solidFill>
              <a:effectLst/>
            </c:spPr>
            <c:extLst>
              <c:ext xmlns:c16="http://schemas.microsoft.com/office/drawing/2014/chart" uri="{C3380CC4-5D6E-409C-BE32-E72D297353CC}">
                <c16:uniqueId val="{00000007-2D56-40A6-A2D9-EB4DBFAF05D3}"/>
              </c:ext>
            </c:extLst>
          </c:dPt>
          <c:dPt>
            <c:idx val="4"/>
            <c:bubble3D val="0"/>
            <c:spPr>
              <a:solidFill>
                <a:srgbClr val="555555"/>
              </a:solidFill>
              <a:effectLst/>
            </c:spPr>
            <c:extLst>
              <c:ext xmlns:c16="http://schemas.microsoft.com/office/drawing/2014/chart" uri="{C3380CC4-5D6E-409C-BE32-E72D297353CC}">
                <c16:uniqueId val="{00000009-2D56-40A6-A2D9-EB4DBFAF05D3}"/>
              </c:ext>
            </c:extLst>
          </c:dPt>
          <c:dPt>
            <c:idx val="5"/>
            <c:bubble3D val="0"/>
            <c:spPr>
              <a:solidFill>
                <a:srgbClr val="0F2B50"/>
              </a:solidFill>
              <a:effectLst/>
            </c:spPr>
            <c:extLst>
              <c:ext xmlns:c16="http://schemas.microsoft.com/office/drawing/2014/chart" uri="{C3380CC4-5D6E-409C-BE32-E72D297353CC}">
                <c16:uniqueId val="{0000000B-2D56-40A6-A2D9-EB4DBFAF05D3}"/>
              </c:ext>
            </c:extLst>
          </c:dPt>
          <c:dLbls>
            <c:dLbl>
              <c:idx val="0"/>
              <c:numFmt formatCode="0%" sourceLinked="0"/>
              <c:spPr/>
              <c:txPr>
                <a:bodyPr/>
                <a:lstStyle/>
                <a:p>
                  <a:pPr>
                    <a:defRPr sz="7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D56-40A6-A2D9-EB4DBFAF05D3}"/>
                </c:ext>
              </c:extLst>
            </c:dLbl>
            <c:dLbl>
              <c:idx val="1"/>
              <c:numFmt formatCode="0%" sourceLinked="0"/>
              <c:spPr/>
              <c:txPr>
                <a:bodyPr/>
                <a:lstStyle/>
                <a:p>
                  <a:pPr>
                    <a:defRPr sz="7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D56-40A6-A2D9-EB4DBFAF05D3}"/>
                </c:ext>
              </c:extLst>
            </c:dLbl>
            <c:dLbl>
              <c:idx val="2"/>
              <c:numFmt formatCode="0%" sourceLinked="0"/>
              <c:spPr/>
              <c:txPr>
                <a:bodyPr/>
                <a:lstStyle/>
                <a:p>
                  <a:pPr>
                    <a:defRPr sz="7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D56-40A6-A2D9-EB4DBFAF05D3}"/>
                </c:ext>
              </c:extLst>
            </c:dLbl>
            <c:dLbl>
              <c:idx val="3"/>
              <c:numFmt formatCode="0%" sourceLinked="0"/>
              <c:spPr/>
              <c:txPr>
                <a:bodyPr/>
                <a:lstStyle/>
                <a:p>
                  <a:pPr>
                    <a:defRPr sz="7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D56-40A6-A2D9-EB4DBFAF05D3}"/>
                </c:ext>
              </c:extLst>
            </c:dLbl>
            <c:dLbl>
              <c:idx val="4"/>
              <c:numFmt formatCode="0%" sourceLinked="0"/>
              <c:spPr/>
              <c:txPr>
                <a:bodyPr/>
                <a:lstStyle/>
                <a:p>
                  <a:pPr>
                    <a:defRPr sz="7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2D56-40A6-A2D9-EB4DBFAF05D3}"/>
                </c:ext>
              </c:extLst>
            </c:dLbl>
            <c:dLbl>
              <c:idx val="5"/>
              <c:numFmt formatCode="0%" sourceLinked="0"/>
              <c:spPr/>
              <c:txPr>
                <a:bodyPr/>
                <a:lstStyle/>
                <a:p>
                  <a:pPr>
                    <a:defRPr sz="7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2D56-40A6-A2D9-EB4DBFAF05D3}"/>
                </c:ext>
              </c:extLst>
            </c:dLbl>
            <c:numFmt formatCode="0%" sourceLinked="0"/>
            <c:spPr>
              <a:noFill/>
              <a:ln>
                <a:noFill/>
              </a:ln>
              <a:effectLst/>
            </c:spPr>
            <c:txPr>
              <a:bodyPr/>
              <a:lstStyle/>
              <a:p>
                <a:pPr>
                  <a:defRPr sz="1800" b="0" i="0" u="none" strike="noStrike">
                    <a:solidFill>
                      <a:srgbClr val="000000"/>
                    </a:solidFill>
                    <a:latin typeface="Arial"/>
                  </a:defRPr>
                </a:pPr>
                <a:endParaRPr lang="fr-FR"/>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Terrassement 18%</c:v>
                </c:pt>
                <c:pt idx="1">
                  <c:v>Corps chaussée 30%</c:v>
                </c:pt>
                <c:pt idx="2">
                  <c:v>Revêtement 11%</c:v>
                </c:pt>
                <c:pt idx="3">
                  <c:v>Ouvrages hydr. 28%</c:v>
                </c:pt>
                <c:pt idx="4">
                  <c:v>Soutènement 2%</c:v>
                </c:pt>
                <c:pt idx="5">
                  <c:v>Bretelles 11%</c:v>
                </c:pt>
              </c:strCache>
            </c:strRef>
          </c:cat>
          <c:val>
            <c:numRef>
              <c:f>Sheet1!$B$2:$B$7</c:f>
              <c:numCache>
                <c:formatCode>General</c:formatCode>
                <c:ptCount val="6"/>
                <c:pt idx="0">
                  <c:v>17.899999999999999</c:v>
                </c:pt>
                <c:pt idx="1">
                  <c:v>30.1</c:v>
                </c:pt>
                <c:pt idx="2">
                  <c:v>10.7</c:v>
                </c:pt>
                <c:pt idx="3">
                  <c:v>28.1</c:v>
                </c:pt>
                <c:pt idx="4">
                  <c:v>1.9</c:v>
                </c:pt>
                <c:pt idx="5">
                  <c:v>11.3</c:v>
                </c:pt>
              </c:numCache>
            </c:numRef>
          </c:val>
          <c:extLst>
            <c:ext xmlns:c16="http://schemas.microsoft.com/office/drawing/2014/chart" uri="{C3380CC4-5D6E-409C-BE32-E72D297353CC}">
              <c16:uniqueId val="{0000000C-2D56-40A6-A2D9-EB4DBFAF05D3}"/>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650">
              <a:solidFill>
                <a:srgbClr val="555555"/>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1508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39200"/>
          </a:solidFill>
          <a:ln/>
        </p:spPr>
      </p:sp>
      <p:sp>
        <p:nvSpPr>
          <p:cNvPr id="3" name="Text 1"/>
          <p:cNvSpPr/>
          <p:nvPr/>
        </p:nvSpPr>
        <p:spPr>
          <a:xfrm>
            <a:off x="731520" y="365760"/>
            <a:ext cx="4572000" cy="365760"/>
          </a:xfrm>
          <a:prstGeom prst="rect">
            <a:avLst/>
          </a:prstGeom>
          <a:noFill/>
          <a:ln/>
        </p:spPr>
        <p:txBody>
          <a:bodyPr wrap="square" rtlCol="0" anchor="ctr"/>
          <a:lstStyle/>
          <a:p>
            <a:pPr marL="0" indent="0">
              <a:buNone/>
            </a:pPr>
            <a:r>
              <a:rPr lang="en-US" sz="1100" kern="0" spc="200" dirty="0">
                <a:solidFill>
                  <a:srgbClr val="5CC8C0"/>
                </a:solidFill>
                <a:latin typeface="Inter" pitchFamily="34" charset="0"/>
                <a:ea typeface="Inter" pitchFamily="34" charset="-122"/>
                <a:cs typeface="Inter" pitchFamily="34" charset="-120"/>
              </a:rPr>
              <a:t>SESSION 2026  |  Académie de Lyon</a:t>
            </a:r>
            <a:endParaRPr lang="en-US" sz="1100" dirty="0"/>
          </a:p>
        </p:txBody>
      </p:sp>
      <p:sp>
        <p:nvSpPr>
          <p:cNvPr id="4" name="Text 2"/>
          <p:cNvSpPr/>
          <p:nvPr/>
        </p:nvSpPr>
        <p:spPr>
          <a:xfrm>
            <a:off x="731520" y="1097280"/>
            <a:ext cx="5029200" cy="2286000"/>
          </a:xfrm>
          <a:prstGeom prst="rect">
            <a:avLst/>
          </a:prstGeom>
          <a:noFill/>
          <a:ln/>
        </p:spPr>
        <p:txBody>
          <a:bodyPr wrap="square" rtlCol="0" anchor="ctr"/>
          <a:lstStyle/>
          <a:p>
            <a:pPr marL="0" indent="0">
              <a:lnSpc>
                <a:spcPct val="110000"/>
              </a:lnSpc>
              <a:buNone/>
            </a:pPr>
            <a:r>
              <a:rPr lang="en-US" sz="3800" b="1" dirty="0">
                <a:solidFill>
                  <a:srgbClr val="FFFFFF"/>
                </a:solidFill>
                <a:latin typeface="Montserrat Bold" pitchFamily="34" charset="0"/>
                <a:ea typeface="Montserrat Bold" pitchFamily="34" charset="-122"/>
                <a:cs typeface="Montserrat Bold" pitchFamily="34" charset="-120"/>
              </a:rPr>
              <a:t>RAPPORT</a:t>
            </a:r>
            <a:endParaRPr lang="en-US" sz="3800" dirty="0"/>
          </a:p>
          <a:p>
            <a:pPr marL="0" indent="0">
              <a:lnSpc>
                <a:spcPct val="110000"/>
              </a:lnSpc>
              <a:buNone/>
            </a:pPr>
            <a:r>
              <a:rPr lang="en-US" sz="3800" b="1" dirty="0">
                <a:solidFill>
                  <a:srgbClr val="FFFFFF"/>
                </a:solidFill>
                <a:latin typeface="Montserrat Bold" pitchFamily="34" charset="0"/>
                <a:ea typeface="Montserrat Bold" pitchFamily="34" charset="-122"/>
                <a:cs typeface="Montserrat Bold" pitchFamily="34" charset="-120"/>
              </a:rPr>
              <a:t>D'ACTIVITÉS</a:t>
            </a:r>
            <a:endParaRPr lang="en-US" sz="3800" dirty="0"/>
          </a:p>
          <a:p>
            <a:pPr marL="0" indent="0">
              <a:lnSpc>
                <a:spcPct val="110000"/>
              </a:lnSpc>
              <a:buNone/>
            </a:pPr>
            <a:r>
              <a:rPr lang="en-US" sz="3800" b="1" dirty="0">
                <a:solidFill>
                  <a:srgbClr val="FFFFFF"/>
                </a:solidFill>
                <a:latin typeface="Montserrat Bold" pitchFamily="34" charset="0"/>
                <a:ea typeface="Montserrat Bold" pitchFamily="34" charset="-122"/>
                <a:cs typeface="Montserrat Bold" pitchFamily="34" charset="-120"/>
              </a:rPr>
              <a:t>PROFESSIONNELLES</a:t>
            </a:r>
            <a:endParaRPr lang="en-US" sz="3800" dirty="0"/>
          </a:p>
        </p:txBody>
      </p:sp>
      <p:sp>
        <p:nvSpPr>
          <p:cNvPr id="5" name="Shape 3"/>
          <p:cNvSpPr/>
          <p:nvPr/>
        </p:nvSpPr>
        <p:spPr>
          <a:xfrm>
            <a:off x="731520" y="3520440"/>
            <a:ext cx="2286000" cy="54864"/>
          </a:xfrm>
          <a:prstGeom prst="rect">
            <a:avLst/>
          </a:prstGeom>
          <a:solidFill>
            <a:srgbClr val="F39200"/>
          </a:solidFill>
          <a:ln/>
        </p:spPr>
      </p:sp>
      <p:sp>
        <p:nvSpPr>
          <p:cNvPr id="6" name="Text 4"/>
          <p:cNvSpPr/>
          <p:nvPr/>
        </p:nvSpPr>
        <p:spPr>
          <a:xfrm>
            <a:off x="731520" y="3749040"/>
            <a:ext cx="4572000" cy="365760"/>
          </a:xfrm>
          <a:prstGeom prst="rect">
            <a:avLst/>
          </a:prstGeom>
          <a:noFill/>
          <a:ln/>
        </p:spPr>
        <p:txBody>
          <a:bodyPr wrap="square" rtlCol="0" anchor="ctr"/>
          <a:lstStyle/>
          <a:p>
            <a:pPr marL="0" indent="0">
              <a:buNone/>
            </a:pPr>
            <a:r>
              <a:rPr lang="en-US" sz="1800" b="1" dirty="0">
                <a:solidFill>
                  <a:srgbClr val="F39200"/>
                </a:solidFill>
                <a:latin typeface="Montserrat Bold" pitchFamily="34" charset="0"/>
                <a:ea typeface="Montserrat Bold" pitchFamily="34" charset="-122"/>
                <a:cs typeface="Montserrat Bold" pitchFamily="34" charset="-120"/>
              </a:rPr>
              <a:t>BAHAFID Mohamed</a:t>
            </a:r>
            <a:endParaRPr lang="en-US" sz="1800" dirty="0"/>
          </a:p>
        </p:txBody>
      </p:sp>
      <p:sp>
        <p:nvSpPr>
          <p:cNvPr id="7" name="Text 5"/>
          <p:cNvSpPr/>
          <p:nvPr/>
        </p:nvSpPr>
        <p:spPr>
          <a:xfrm>
            <a:off x="731520" y="4114800"/>
            <a:ext cx="4572000" cy="320040"/>
          </a:xfrm>
          <a:prstGeom prst="rect">
            <a:avLst/>
          </a:prstGeom>
          <a:noFill/>
          <a:ln/>
        </p:spPr>
        <p:txBody>
          <a:bodyPr wrap="square" rtlCol="0" anchor="ctr"/>
          <a:lstStyle/>
          <a:p>
            <a:pPr marL="0" indent="0">
              <a:buNone/>
            </a:pPr>
            <a:r>
              <a:rPr lang="en-US" sz="1200" dirty="0">
                <a:solidFill>
                  <a:srgbClr val="52BEB6"/>
                </a:solidFill>
                <a:latin typeface="Inter" pitchFamily="34" charset="0"/>
                <a:ea typeface="Inter" pitchFamily="34" charset="-122"/>
                <a:cs typeface="Inter" pitchFamily="34" charset="-120"/>
              </a:rPr>
              <a:t>BTS Management Économique de la Construction</a:t>
            </a:r>
            <a:endParaRPr lang="en-US" sz="1200" dirty="0"/>
          </a:p>
        </p:txBody>
      </p:sp>
      <p:sp>
        <p:nvSpPr>
          <p:cNvPr id="8" name="Text 6"/>
          <p:cNvSpPr/>
          <p:nvPr/>
        </p:nvSpPr>
        <p:spPr>
          <a:xfrm>
            <a:off x="731520" y="4434840"/>
            <a:ext cx="4572000" cy="274320"/>
          </a:xfrm>
          <a:prstGeom prst="rect">
            <a:avLst/>
          </a:prstGeom>
          <a:noFill/>
          <a:ln/>
        </p:spPr>
        <p:txBody>
          <a:bodyPr wrap="square" rtlCol="0" anchor="ctr"/>
          <a:lstStyle/>
          <a:p>
            <a:pPr marL="0" indent="0">
              <a:buNone/>
            </a:pPr>
            <a:r>
              <a:rPr lang="en-US" sz="1000" dirty="0">
                <a:solidFill>
                  <a:srgbClr val="888888"/>
                </a:solidFill>
                <a:latin typeface="Inter" pitchFamily="34" charset="0"/>
                <a:ea typeface="Inter" pitchFamily="34" charset="-122"/>
                <a:cs typeface="Inter" pitchFamily="34" charset="-120"/>
              </a:rPr>
              <a:t>N° 02537399911</a:t>
            </a:r>
            <a:endParaRPr lang="en-US" sz="1000" dirty="0"/>
          </a:p>
        </p:txBody>
      </p:sp>
      <p:sp>
        <p:nvSpPr>
          <p:cNvPr id="9" name="Shape 7"/>
          <p:cNvSpPr/>
          <p:nvPr/>
        </p:nvSpPr>
        <p:spPr>
          <a:xfrm>
            <a:off x="6217920" y="1097280"/>
            <a:ext cx="2560320" cy="822960"/>
          </a:xfrm>
          <a:prstGeom prst="rect">
            <a:avLst/>
          </a:prstGeom>
          <a:solidFill>
            <a:srgbClr val="0F2B50"/>
          </a:solidFill>
          <a:ln/>
          <a:effectLst>
            <a:outerShdw blurRad="50800" dist="25400" dir="8100000" algn="bl" rotWithShape="0">
              <a:srgbClr val="000000">
                <a:alpha val="12000"/>
              </a:srgbClr>
            </a:outerShdw>
          </a:effectLst>
        </p:spPr>
      </p:sp>
      <p:sp>
        <p:nvSpPr>
          <p:cNvPr id="10" name="Text 8"/>
          <p:cNvSpPr/>
          <p:nvPr/>
        </p:nvSpPr>
        <p:spPr>
          <a:xfrm>
            <a:off x="6355080" y="1170432"/>
            <a:ext cx="2286000" cy="411480"/>
          </a:xfrm>
          <a:prstGeom prst="rect">
            <a:avLst/>
          </a:prstGeom>
          <a:noFill/>
          <a:ln/>
        </p:spPr>
        <p:txBody>
          <a:bodyPr wrap="square" lIns="0" tIns="0" rIns="0" bIns="0" rtlCol="0" anchor="ctr"/>
          <a:lstStyle/>
          <a:p>
            <a:pPr marL="0" indent="0">
              <a:buNone/>
            </a:pPr>
            <a:r>
              <a:rPr lang="en-US" sz="2200" b="1" dirty="0">
                <a:solidFill>
                  <a:srgbClr val="F39200"/>
                </a:solidFill>
                <a:latin typeface="Montserrat Bold" pitchFamily="34" charset="0"/>
                <a:ea typeface="Montserrat Bold" pitchFamily="34" charset="-122"/>
                <a:cs typeface="Montserrat Bold" pitchFamily="34" charset="-120"/>
              </a:rPr>
              <a:t>8 ans</a:t>
            </a:r>
            <a:endParaRPr lang="en-US" sz="2200" dirty="0"/>
          </a:p>
        </p:txBody>
      </p:sp>
      <p:sp>
        <p:nvSpPr>
          <p:cNvPr id="11" name="Text 9"/>
          <p:cNvSpPr/>
          <p:nvPr/>
        </p:nvSpPr>
        <p:spPr>
          <a:xfrm>
            <a:off x="6355080" y="1554480"/>
            <a:ext cx="2286000" cy="274320"/>
          </a:xfrm>
          <a:prstGeom prst="rect">
            <a:avLst/>
          </a:prstGeom>
          <a:noFill/>
          <a:ln/>
        </p:spPr>
        <p:txBody>
          <a:bodyPr wrap="square" lIns="0" tIns="0" rIns="0" bIns="0" rtlCol="0" anchor="ctr"/>
          <a:lstStyle/>
          <a:p>
            <a:pPr marL="0" indent="0">
              <a:buNone/>
            </a:pPr>
            <a:r>
              <a:rPr lang="en-US" sz="1000" dirty="0">
                <a:solidFill>
                  <a:srgbClr val="5CC8C0"/>
                </a:solidFill>
                <a:latin typeface="Inter" pitchFamily="34" charset="0"/>
                <a:ea typeface="Inter" pitchFamily="34" charset="-122"/>
                <a:cs typeface="Inter" pitchFamily="34" charset="-120"/>
              </a:rPr>
              <a:t>Expérience BTP</a:t>
            </a:r>
            <a:endParaRPr lang="en-US" sz="1000" dirty="0"/>
          </a:p>
        </p:txBody>
      </p:sp>
      <p:sp>
        <p:nvSpPr>
          <p:cNvPr id="12" name="Shape 10"/>
          <p:cNvSpPr/>
          <p:nvPr/>
        </p:nvSpPr>
        <p:spPr>
          <a:xfrm>
            <a:off x="6217920" y="2057400"/>
            <a:ext cx="2560320" cy="822960"/>
          </a:xfrm>
          <a:prstGeom prst="rect">
            <a:avLst/>
          </a:prstGeom>
          <a:solidFill>
            <a:srgbClr val="0F2B50"/>
          </a:solidFill>
          <a:ln/>
          <a:effectLst>
            <a:outerShdw blurRad="50800" dist="25400" dir="8100000" algn="bl" rotWithShape="0">
              <a:srgbClr val="000000">
                <a:alpha val="12000"/>
              </a:srgbClr>
            </a:outerShdw>
          </a:effectLst>
        </p:spPr>
      </p:sp>
      <p:sp>
        <p:nvSpPr>
          <p:cNvPr id="13" name="Text 11"/>
          <p:cNvSpPr/>
          <p:nvPr/>
        </p:nvSpPr>
        <p:spPr>
          <a:xfrm>
            <a:off x="6355080" y="2130552"/>
            <a:ext cx="2286000" cy="411480"/>
          </a:xfrm>
          <a:prstGeom prst="rect">
            <a:avLst/>
          </a:prstGeom>
          <a:noFill/>
          <a:ln/>
        </p:spPr>
        <p:txBody>
          <a:bodyPr wrap="square" lIns="0" tIns="0" rIns="0" bIns="0" rtlCol="0" anchor="ctr"/>
          <a:lstStyle/>
          <a:p>
            <a:pPr marL="0" indent="0">
              <a:buNone/>
            </a:pPr>
            <a:r>
              <a:rPr lang="en-US" sz="2200" b="1" dirty="0">
                <a:solidFill>
                  <a:srgbClr val="F39200"/>
                </a:solidFill>
                <a:latin typeface="Montserrat Bold" pitchFamily="34" charset="0"/>
                <a:ea typeface="Montserrat Bold" pitchFamily="34" charset="-122"/>
                <a:cs typeface="Montserrat Bold" pitchFamily="34" charset="-120"/>
              </a:rPr>
              <a:t>2 pays</a:t>
            </a:r>
            <a:endParaRPr lang="en-US" sz="2200" dirty="0"/>
          </a:p>
        </p:txBody>
      </p:sp>
      <p:sp>
        <p:nvSpPr>
          <p:cNvPr id="14" name="Text 12"/>
          <p:cNvSpPr/>
          <p:nvPr/>
        </p:nvSpPr>
        <p:spPr>
          <a:xfrm>
            <a:off x="6355080" y="2514600"/>
            <a:ext cx="2286000" cy="274320"/>
          </a:xfrm>
          <a:prstGeom prst="rect">
            <a:avLst/>
          </a:prstGeom>
          <a:noFill/>
          <a:ln/>
        </p:spPr>
        <p:txBody>
          <a:bodyPr wrap="square" lIns="0" tIns="0" rIns="0" bIns="0" rtlCol="0" anchor="ctr"/>
          <a:lstStyle/>
          <a:p>
            <a:pPr marL="0" indent="0">
              <a:buNone/>
            </a:pPr>
            <a:r>
              <a:rPr lang="en-US" sz="1000" dirty="0">
                <a:solidFill>
                  <a:srgbClr val="5CC8C0"/>
                </a:solidFill>
                <a:latin typeface="Inter" pitchFamily="34" charset="0"/>
                <a:ea typeface="Inter" pitchFamily="34" charset="-122"/>
                <a:cs typeface="Inter" pitchFamily="34" charset="-120"/>
              </a:rPr>
              <a:t>Maroc + France</a:t>
            </a:r>
            <a:endParaRPr lang="en-US" sz="1000" dirty="0"/>
          </a:p>
        </p:txBody>
      </p:sp>
      <p:sp>
        <p:nvSpPr>
          <p:cNvPr id="15" name="Shape 13"/>
          <p:cNvSpPr/>
          <p:nvPr/>
        </p:nvSpPr>
        <p:spPr>
          <a:xfrm>
            <a:off x="6217920" y="3017520"/>
            <a:ext cx="2560320" cy="822960"/>
          </a:xfrm>
          <a:prstGeom prst="rect">
            <a:avLst/>
          </a:prstGeom>
          <a:solidFill>
            <a:srgbClr val="0F2B50"/>
          </a:solidFill>
          <a:ln/>
          <a:effectLst>
            <a:outerShdw blurRad="50800" dist="25400" dir="8100000" algn="bl" rotWithShape="0">
              <a:srgbClr val="000000">
                <a:alpha val="12000"/>
              </a:srgbClr>
            </a:outerShdw>
          </a:effectLst>
        </p:spPr>
      </p:sp>
      <p:sp>
        <p:nvSpPr>
          <p:cNvPr id="16" name="Text 14"/>
          <p:cNvSpPr/>
          <p:nvPr/>
        </p:nvSpPr>
        <p:spPr>
          <a:xfrm>
            <a:off x="6355080" y="3090672"/>
            <a:ext cx="2286000" cy="411480"/>
          </a:xfrm>
          <a:prstGeom prst="rect">
            <a:avLst/>
          </a:prstGeom>
          <a:noFill/>
          <a:ln/>
        </p:spPr>
        <p:txBody>
          <a:bodyPr wrap="square" lIns="0" tIns="0" rIns="0" bIns="0" rtlCol="0" anchor="ctr"/>
          <a:lstStyle/>
          <a:p>
            <a:pPr marL="0" indent="0">
              <a:buNone/>
            </a:pPr>
            <a:r>
              <a:rPr lang="en-US" sz="2200" b="1" dirty="0">
                <a:solidFill>
                  <a:srgbClr val="F39200"/>
                </a:solidFill>
                <a:latin typeface="Montserrat Bold" pitchFamily="34" charset="0"/>
                <a:ea typeface="Montserrat Bold" pitchFamily="34" charset="-122"/>
                <a:cs typeface="Montserrat Bold" pitchFamily="34" charset="-120"/>
              </a:rPr>
              <a:t>7</a:t>
            </a:r>
            <a:endParaRPr lang="en-US" sz="2200" dirty="0"/>
          </a:p>
        </p:txBody>
      </p:sp>
      <p:sp>
        <p:nvSpPr>
          <p:cNvPr id="17" name="Text 15"/>
          <p:cNvSpPr/>
          <p:nvPr/>
        </p:nvSpPr>
        <p:spPr>
          <a:xfrm>
            <a:off x="6355080" y="3474720"/>
            <a:ext cx="2286000" cy="274320"/>
          </a:xfrm>
          <a:prstGeom prst="rect">
            <a:avLst/>
          </a:prstGeom>
          <a:noFill/>
          <a:ln/>
        </p:spPr>
        <p:txBody>
          <a:bodyPr wrap="square" lIns="0" tIns="0" rIns="0" bIns="0" rtlCol="0" anchor="ctr"/>
          <a:lstStyle/>
          <a:p>
            <a:pPr marL="0" indent="0">
              <a:buNone/>
            </a:pPr>
            <a:r>
              <a:rPr lang="en-US" sz="1000" dirty="0">
                <a:solidFill>
                  <a:srgbClr val="5CC8C0"/>
                </a:solidFill>
                <a:latin typeface="Inter" pitchFamily="34" charset="0"/>
                <a:ea typeface="Inter" pitchFamily="34" charset="-122"/>
                <a:cs typeface="Inter" pitchFamily="34" charset="-120"/>
              </a:rPr>
              <a:t>Marchés publics</a:t>
            </a:r>
            <a:endParaRPr lang="en-US" sz="1000" dirty="0"/>
          </a:p>
        </p:txBody>
      </p:sp>
      <p:sp>
        <p:nvSpPr>
          <p:cNvPr id="18" name="Shape 16"/>
          <p:cNvSpPr/>
          <p:nvPr/>
        </p:nvSpPr>
        <p:spPr>
          <a:xfrm>
            <a:off x="6217920" y="3977640"/>
            <a:ext cx="2560320" cy="822960"/>
          </a:xfrm>
          <a:prstGeom prst="rect">
            <a:avLst/>
          </a:prstGeom>
          <a:solidFill>
            <a:srgbClr val="0F2B50"/>
          </a:solidFill>
          <a:ln/>
          <a:effectLst>
            <a:outerShdw blurRad="50800" dist="25400" dir="8100000" algn="bl" rotWithShape="0">
              <a:srgbClr val="000000">
                <a:alpha val="12000"/>
              </a:srgbClr>
            </a:outerShdw>
          </a:effectLst>
        </p:spPr>
      </p:sp>
      <p:sp>
        <p:nvSpPr>
          <p:cNvPr id="19" name="Text 17"/>
          <p:cNvSpPr/>
          <p:nvPr/>
        </p:nvSpPr>
        <p:spPr>
          <a:xfrm>
            <a:off x="6355080" y="4050792"/>
            <a:ext cx="2286000" cy="411480"/>
          </a:xfrm>
          <a:prstGeom prst="rect">
            <a:avLst/>
          </a:prstGeom>
          <a:noFill/>
          <a:ln/>
        </p:spPr>
        <p:txBody>
          <a:bodyPr wrap="square" lIns="0" tIns="0" rIns="0" bIns="0" rtlCol="0" anchor="ctr"/>
          <a:lstStyle/>
          <a:p>
            <a:pPr marL="0" indent="0">
              <a:buNone/>
            </a:pPr>
            <a:r>
              <a:rPr lang="en-US" sz="2200" b="1" dirty="0">
                <a:solidFill>
                  <a:srgbClr val="F39200"/>
                </a:solidFill>
                <a:latin typeface="Montserrat Bold" pitchFamily="34" charset="0"/>
                <a:ea typeface="Montserrat Bold" pitchFamily="34" charset="-122"/>
                <a:cs typeface="Montserrat Bold" pitchFamily="34" charset="-120"/>
              </a:rPr>
              <a:t>+10 M€</a:t>
            </a:r>
            <a:endParaRPr lang="en-US" sz="2200" dirty="0"/>
          </a:p>
        </p:txBody>
      </p:sp>
      <p:sp>
        <p:nvSpPr>
          <p:cNvPr id="20" name="Text 18"/>
          <p:cNvSpPr/>
          <p:nvPr/>
        </p:nvSpPr>
        <p:spPr>
          <a:xfrm>
            <a:off x="6355080" y="4434840"/>
            <a:ext cx="2286000" cy="274320"/>
          </a:xfrm>
          <a:prstGeom prst="rect">
            <a:avLst/>
          </a:prstGeom>
          <a:noFill/>
          <a:ln/>
        </p:spPr>
        <p:txBody>
          <a:bodyPr wrap="square" lIns="0" tIns="0" rIns="0" bIns="0" rtlCol="0" anchor="ctr"/>
          <a:lstStyle/>
          <a:p>
            <a:pPr marL="0" indent="0">
              <a:buNone/>
            </a:pPr>
            <a:r>
              <a:rPr lang="en-US" sz="1000" dirty="0">
                <a:solidFill>
                  <a:srgbClr val="5CC8C0"/>
                </a:solidFill>
                <a:latin typeface="Inter" pitchFamily="34" charset="0"/>
                <a:ea typeface="Inter" pitchFamily="34" charset="-122"/>
                <a:cs typeface="Inter" pitchFamily="34" charset="-120"/>
              </a:rPr>
              <a:t>Investissements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INTRODUCTION ET PARCOURS</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Text 3"/>
          <p:cNvSpPr/>
          <p:nvPr/>
        </p:nvSpPr>
        <p:spPr>
          <a:xfrm>
            <a:off x="457200" y="822960"/>
            <a:ext cx="8229600" cy="640080"/>
          </a:xfrm>
          <a:prstGeom prst="rect">
            <a:avLst/>
          </a:prstGeom>
          <a:noFill/>
          <a:ln/>
        </p:spPr>
        <p:txBody>
          <a:bodyPr wrap="square" lIns="0" tIns="0" rIns="0" bIns="0" rtlCol="0" anchor="ctr"/>
          <a:lstStyle/>
          <a:p>
            <a:pPr marL="0" indent="0">
              <a:buNone/>
            </a:pPr>
            <a:r>
              <a:rPr lang="en-US" sz="1000" dirty="0">
                <a:solidFill>
                  <a:srgbClr val="555555"/>
                </a:solidFill>
                <a:latin typeface="Inter" pitchFamily="34" charset="0"/>
                <a:ea typeface="Inter" pitchFamily="34" charset="-122"/>
                <a:cs typeface="Inter" pitchFamily="34" charset="-120"/>
              </a:rPr>
              <a:t>Fort de 8 années d'expérience dans le BTP, j'ai souhaité valider mes compétences en préparant le BTS MEC en candidat libre. Mon parcours m'a conduit du Maroc (technicien études et suivi des travaux, 4 ans) à la France (chef de chantier gros œuvre, 5 ans), complété par une formation BIM Modeleur de 8 mois. Cette double expérience MOA publique / exécution m'offre une vision complète du cycle de vie d'un projet.</a:t>
            </a:r>
            <a:endParaRPr lang="en-US" sz="1000" dirty="0"/>
          </a:p>
        </p:txBody>
      </p:sp>
      <p:sp>
        <p:nvSpPr>
          <p:cNvPr id="6" name="Shape 4"/>
          <p:cNvSpPr/>
          <p:nvPr/>
        </p:nvSpPr>
        <p:spPr>
          <a:xfrm>
            <a:off x="457200" y="1554480"/>
            <a:ext cx="3931920" cy="1280160"/>
          </a:xfrm>
          <a:prstGeom prst="rect">
            <a:avLst/>
          </a:prstGeom>
          <a:solidFill>
            <a:srgbClr val="FFFFFF"/>
          </a:solidFill>
          <a:ln/>
          <a:effectLst>
            <a:outerShdw blurRad="50800" dist="25400" dir="8100000" algn="bl" rotWithShape="0">
              <a:srgbClr val="000000">
                <a:alpha val="12000"/>
              </a:srgbClr>
            </a:outerShdw>
          </a:effectLst>
        </p:spPr>
      </p:sp>
      <p:sp>
        <p:nvSpPr>
          <p:cNvPr id="7" name="Shape 5"/>
          <p:cNvSpPr/>
          <p:nvPr/>
        </p:nvSpPr>
        <p:spPr>
          <a:xfrm>
            <a:off x="457200" y="1554480"/>
            <a:ext cx="73152" cy="1280160"/>
          </a:xfrm>
          <a:prstGeom prst="rect">
            <a:avLst/>
          </a:prstGeom>
          <a:solidFill>
            <a:srgbClr val="F39200"/>
          </a:solidFill>
          <a:ln/>
        </p:spPr>
      </p:sp>
      <p:sp>
        <p:nvSpPr>
          <p:cNvPr id="8" name="Text 6"/>
          <p:cNvSpPr/>
          <p:nvPr/>
        </p:nvSpPr>
        <p:spPr>
          <a:xfrm>
            <a:off x="685800" y="1600200"/>
            <a:ext cx="3566160" cy="274320"/>
          </a:xfrm>
          <a:prstGeom prst="rect">
            <a:avLst/>
          </a:prstGeom>
          <a:noFill/>
          <a:ln/>
        </p:spPr>
        <p:txBody>
          <a:bodyPr wrap="square" lIns="0" tIns="0" rIns="0" bIns="0" rtlCol="0" anchor="ctr"/>
          <a:lstStyle/>
          <a:p>
            <a:pPr marL="0" indent="0">
              <a:buNone/>
            </a:pPr>
            <a:r>
              <a:rPr lang="en-US" sz="1300" b="1" dirty="0">
                <a:solidFill>
                  <a:srgbClr val="1E3A5F"/>
                </a:solidFill>
                <a:latin typeface="Montserrat Bold" pitchFamily="34" charset="0"/>
                <a:ea typeface="Montserrat Bold" pitchFamily="34" charset="-122"/>
                <a:cs typeface="Montserrat Bold" pitchFamily="34" charset="-120"/>
              </a:rPr>
              <a:t>Projet 1 : Aménagement urbain</a:t>
            </a:r>
            <a:endParaRPr lang="en-US" sz="1300" dirty="0"/>
          </a:p>
        </p:txBody>
      </p:sp>
      <p:sp>
        <p:nvSpPr>
          <p:cNvPr id="9" name="Text 7"/>
          <p:cNvSpPr/>
          <p:nvPr/>
        </p:nvSpPr>
        <p:spPr>
          <a:xfrm>
            <a:off x="685800" y="1920240"/>
            <a:ext cx="3566160" cy="822960"/>
          </a:xfrm>
          <a:prstGeom prst="rect">
            <a:avLst/>
          </a:prstGeom>
          <a:noFill/>
          <a:ln/>
        </p:spPr>
        <p:txBody>
          <a:bodyPr wrap="square" lIns="0" tIns="0" rIns="0" bIns="0" rtlCol="0" anchor="ctr"/>
          <a:lstStyle/>
          <a:p>
            <a:pPr marL="0" indent="0">
              <a:buNone/>
            </a:pPr>
            <a:r>
              <a:rPr lang="en-US" sz="900" dirty="0">
                <a:solidFill>
                  <a:srgbClr val="2D2D2D"/>
                </a:solidFill>
                <a:latin typeface="Inter" pitchFamily="34" charset="0"/>
                <a:ea typeface="Inter" pitchFamily="34" charset="-122"/>
                <a:cs typeface="Inter" pitchFamily="34" charset="-120"/>
              </a:rPr>
              <a:t>8 corps d'état · 4 communes · Province de Khénifra</a:t>
            </a:r>
            <a:endParaRPr lang="en-US" sz="900" dirty="0"/>
          </a:p>
          <a:p>
            <a:pPr marL="0" indent="0">
              <a:buNone/>
            </a:pPr>
            <a:r>
              <a:rPr lang="en-US" sz="900" dirty="0">
                <a:solidFill>
                  <a:srgbClr val="2D2D2D"/>
                </a:solidFill>
                <a:latin typeface="Inter" pitchFamily="34" charset="0"/>
                <a:ea typeface="Inter" pitchFamily="34" charset="-122"/>
                <a:cs typeface="Inter" pitchFamily="34" charset="-120"/>
              </a:rPr>
              <a:t>53,5 M DH TTC (~4,8 M€)</a:t>
            </a:r>
            <a:endParaRPr lang="en-US" sz="900" dirty="0"/>
          </a:p>
          <a:p>
            <a:pPr marL="0" indent="0">
              <a:buNone/>
            </a:pPr>
            <a:r>
              <a:rPr lang="en-US" sz="900" dirty="0">
                <a:solidFill>
                  <a:srgbClr val="2D2D2D"/>
                </a:solidFill>
                <a:latin typeface="Inter" pitchFamily="34" charset="0"/>
                <a:ea typeface="Inter" pitchFamily="34" charset="-122"/>
                <a:cs typeface="Inter" pitchFamily="34" charset="-120"/>
              </a:rPr>
              <a:t>Situations 1 à 4 : estimation, analyse AO, suivi financier, coordination</a:t>
            </a:r>
            <a:endParaRPr lang="en-US" sz="900" dirty="0"/>
          </a:p>
        </p:txBody>
      </p:sp>
      <p:sp>
        <p:nvSpPr>
          <p:cNvPr id="10" name="Shape 8"/>
          <p:cNvSpPr/>
          <p:nvPr/>
        </p:nvSpPr>
        <p:spPr>
          <a:xfrm>
            <a:off x="4754880" y="1554480"/>
            <a:ext cx="3931920" cy="1280160"/>
          </a:xfrm>
          <a:prstGeom prst="rect">
            <a:avLst/>
          </a:prstGeom>
          <a:solidFill>
            <a:srgbClr val="FFFFFF"/>
          </a:solidFill>
          <a:ln/>
          <a:effectLst>
            <a:outerShdw blurRad="50800" dist="25400" dir="8100000" algn="bl" rotWithShape="0">
              <a:srgbClr val="000000">
                <a:alpha val="12000"/>
              </a:srgbClr>
            </a:outerShdw>
          </a:effectLst>
        </p:spPr>
      </p:sp>
      <p:sp>
        <p:nvSpPr>
          <p:cNvPr id="11" name="Shape 9"/>
          <p:cNvSpPr/>
          <p:nvPr/>
        </p:nvSpPr>
        <p:spPr>
          <a:xfrm>
            <a:off x="4754880" y="1554480"/>
            <a:ext cx="73152" cy="1280160"/>
          </a:xfrm>
          <a:prstGeom prst="rect">
            <a:avLst/>
          </a:prstGeom>
          <a:solidFill>
            <a:srgbClr val="5CC8C0"/>
          </a:solidFill>
          <a:ln/>
        </p:spPr>
      </p:sp>
      <p:sp>
        <p:nvSpPr>
          <p:cNvPr id="12" name="Text 10"/>
          <p:cNvSpPr/>
          <p:nvPr/>
        </p:nvSpPr>
        <p:spPr>
          <a:xfrm>
            <a:off x="4983480" y="1600200"/>
            <a:ext cx="3566160" cy="274320"/>
          </a:xfrm>
          <a:prstGeom prst="rect">
            <a:avLst/>
          </a:prstGeom>
          <a:noFill/>
          <a:ln/>
        </p:spPr>
        <p:txBody>
          <a:bodyPr wrap="square" lIns="0" tIns="0" rIns="0" bIns="0" rtlCol="0" anchor="ctr"/>
          <a:lstStyle/>
          <a:p>
            <a:pPr marL="0" indent="0">
              <a:buNone/>
            </a:pPr>
            <a:r>
              <a:rPr lang="en-US" sz="1300" b="1" dirty="0">
                <a:solidFill>
                  <a:srgbClr val="1E3A5F"/>
                </a:solidFill>
                <a:latin typeface="Montserrat Bold" pitchFamily="34" charset="0"/>
                <a:ea typeface="Montserrat Bold" pitchFamily="34" charset="-122"/>
                <a:cs typeface="Montserrat Bold" pitchFamily="34" charset="-120"/>
              </a:rPr>
              <a:t>Projet 2 : Infrastructure routière</a:t>
            </a:r>
            <a:endParaRPr lang="en-US" sz="1300" dirty="0"/>
          </a:p>
        </p:txBody>
      </p:sp>
      <p:sp>
        <p:nvSpPr>
          <p:cNvPr id="13" name="Text 11"/>
          <p:cNvSpPr/>
          <p:nvPr/>
        </p:nvSpPr>
        <p:spPr>
          <a:xfrm>
            <a:off x="4983480" y="1920240"/>
            <a:ext cx="3566160" cy="822960"/>
          </a:xfrm>
          <a:prstGeom prst="rect">
            <a:avLst/>
          </a:prstGeom>
          <a:noFill/>
          <a:ln/>
        </p:spPr>
        <p:txBody>
          <a:bodyPr wrap="square" lIns="0" tIns="0" rIns="0" bIns="0" rtlCol="0" anchor="ctr"/>
          <a:lstStyle/>
          <a:p>
            <a:pPr marL="0" indent="0">
              <a:buNone/>
            </a:pPr>
            <a:r>
              <a:rPr lang="en-US" sz="900" dirty="0">
                <a:solidFill>
                  <a:srgbClr val="2D2D2D"/>
                </a:solidFill>
                <a:latin typeface="Inter" pitchFamily="34" charset="0"/>
                <a:ea typeface="Inter" pitchFamily="34" charset="-122"/>
                <a:cs typeface="Inter" pitchFamily="34" charset="-120"/>
              </a:rPr>
              <a:t>25 km zone montagneuse · Moyen Atlas</a:t>
            </a:r>
            <a:endParaRPr lang="en-US" sz="900" dirty="0"/>
          </a:p>
          <a:p>
            <a:pPr marL="0" indent="0">
              <a:buNone/>
            </a:pPr>
            <a:r>
              <a:rPr lang="en-US" sz="900" dirty="0">
                <a:solidFill>
                  <a:srgbClr val="2D2D2D"/>
                </a:solidFill>
                <a:latin typeface="Inter" pitchFamily="34" charset="0"/>
                <a:ea typeface="Inter" pitchFamily="34" charset="-122"/>
                <a:cs typeface="Inter" pitchFamily="34" charset="-120"/>
              </a:rPr>
              <a:t>29 M DH TTC (~2,6 M€)</a:t>
            </a:r>
            <a:endParaRPr lang="en-US" sz="900" dirty="0"/>
          </a:p>
          <a:p>
            <a:pPr marL="0" indent="0">
              <a:buNone/>
            </a:pPr>
            <a:r>
              <a:rPr lang="en-US" sz="900" dirty="0">
                <a:solidFill>
                  <a:srgbClr val="2D2D2D"/>
                </a:solidFill>
                <a:latin typeface="Inter" pitchFamily="34" charset="0"/>
                <a:ea typeface="Inter" pitchFamily="34" charset="-122"/>
                <a:cs typeface="Inter" pitchFamily="34" charset="-120"/>
              </a:rPr>
              <a:t>Situation 5 : contrôle des cubatures de terrassement</a:t>
            </a:r>
            <a:endParaRPr lang="en-US" sz="900" dirty="0"/>
          </a:p>
        </p:txBody>
      </p:sp>
      <p:sp>
        <p:nvSpPr>
          <p:cNvPr id="14" name="Shape 12"/>
          <p:cNvSpPr/>
          <p:nvPr/>
        </p:nvSpPr>
        <p:spPr>
          <a:xfrm>
            <a:off x="457200" y="3063240"/>
            <a:ext cx="1965960" cy="685800"/>
          </a:xfrm>
          <a:prstGeom prst="rect">
            <a:avLst/>
          </a:prstGeom>
          <a:solidFill>
            <a:srgbClr val="1E3A5F"/>
          </a:solidFill>
          <a:ln/>
        </p:spPr>
      </p:sp>
      <p:sp>
        <p:nvSpPr>
          <p:cNvPr id="15" name="Text 13"/>
          <p:cNvSpPr/>
          <p:nvPr/>
        </p:nvSpPr>
        <p:spPr>
          <a:xfrm>
            <a:off x="548640" y="3081528"/>
            <a:ext cx="1783080" cy="365760"/>
          </a:xfrm>
          <a:prstGeom prst="rect">
            <a:avLst/>
          </a:prstGeom>
          <a:noFill/>
          <a:ln/>
        </p:spPr>
        <p:txBody>
          <a:bodyPr wrap="square" lIns="0" tIns="0" rIns="0" bIns="0" rtlCol="0" anchor="ctr"/>
          <a:lstStyle/>
          <a:p>
            <a:pPr marL="0" indent="0">
              <a:buNone/>
            </a:pPr>
            <a:r>
              <a:rPr lang="en-US" sz="1800" b="1" dirty="0">
                <a:solidFill>
                  <a:srgbClr val="F39200"/>
                </a:solidFill>
                <a:latin typeface="Montserrat Bold" pitchFamily="34" charset="0"/>
                <a:ea typeface="Montserrat Bold" pitchFamily="34" charset="-122"/>
                <a:cs typeface="Montserrat Bold" pitchFamily="34" charset="-120"/>
              </a:rPr>
              <a:t>7 marchés</a:t>
            </a:r>
            <a:endParaRPr lang="en-US" sz="1800" dirty="0"/>
          </a:p>
        </p:txBody>
      </p:sp>
      <p:sp>
        <p:nvSpPr>
          <p:cNvPr id="16" name="Text 14"/>
          <p:cNvSpPr/>
          <p:nvPr/>
        </p:nvSpPr>
        <p:spPr>
          <a:xfrm>
            <a:off x="548640" y="3429000"/>
            <a:ext cx="1783080" cy="274320"/>
          </a:xfrm>
          <a:prstGeom prst="rect">
            <a:avLst/>
          </a:prstGeom>
          <a:noFill/>
          <a:ln/>
        </p:spPr>
        <p:txBody>
          <a:bodyPr wrap="square" lIns="0" tIns="0" rIns="0" bIns="0" rtlCol="0" anchor="ctr"/>
          <a:lstStyle/>
          <a:p>
            <a:pPr marL="0" indent="0">
              <a:buNone/>
            </a:pPr>
            <a:r>
              <a:rPr lang="en-US" sz="800" dirty="0">
                <a:solidFill>
                  <a:srgbClr val="5CC8C0"/>
                </a:solidFill>
                <a:latin typeface="Inter" pitchFamily="34" charset="0"/>
                <a:ea typeface="Inter" pitchFamily="34" charset="-122"/>
                <a:cs typeface="Inter" pitchFamily="34" charset="-120"/>
              </a:rPr>
              <a:t>publics pilotés en MOA</a:t>
            </a:r>
            <a:endParaRPr lang="en-US" sz="800" dirty="0"/>
          </a:p>
        </p:txBody>
      </p:sp>
      <p:sp>
        <p:nvSpPr>
          <p:cNvPr id="17" name="Shape 15"/>
          <p:cNvSpPr/>
          <p:nvPr/>
        </p:nvSpPr>
        <p:spPr>
          <a:xfrm>
            <a:off x="2606040" y="3063240"/>
            <a:ext cx="1965960" cy="685800"/>
          </a:xfrm>
          <a:prstGeom prst="rect">
            <a:avLst/>
          </a:prstGeom>
          <a:solidFill>
            <a:srgbClr val="1E3A5F"/>
          </a:solidFill>
          <a:ln/>
        </p:spPr>
      </p:sp>
      <p:sp>
        <p:nvSpPr>
          <p:cNvPr id="18" name="Text 16"/>
          <p:cNvSpPr/>
          <p:nvPr/>
        </p:nvSpPr>
        <p:spPr>
          <a:xfrm>
            <a:off x="2697480" y="3081528"/>
            <a:ext cx="1783080" cy="365760"/>
          </a:xfrm>
          <a:prstGeom prst="rect">
            <a:avLst/>
          </a:prstGeom>
          <a:noFill/>
          <a:ln/>
        </p:spPr>
        <p:txBody>
          <a:bodyPr wrap="square" lIns="0" tIns="0" rIns="0" bIns="0" rtlCol="0" anchor="ctr"/>
          <a:lstStyle/>
          <a:p>
            <a:pPr marL="0" indent="0">
              <a:buNone/>
            </a:pPr>
            <a:r>
              <a:rPr lang="en-US" sz="1800" b="1" dirty="0">
                <a:solidFill>
                  <a:srgbClr val="F39200"/>
                </a:solidFill>
                <a:latin typeface="Montserrat Bold" pitchFamily="34" charset="0"/>
                <a:ea typeface="Montserrat Bold" pitchFamily="34" charset="-122"/>
                <a:cs typeface="Montserrat Bold" pitchFamily="34" charset="-120"/>
              </a:rPr>
              <a:t>8 ans</a:t>
            </a:r>
            <a:endParaRPr lang="en-US" sz="1800" dirty="0"/>
          </a:p>
        </p:txBody>
      </p:sp>
      <p:sp>
        <p:nvSpPr>
          <p:cNvPr id="19" name="Text 17"/>
          <p:cNvSpPr/>
          <p:nvPr/>
        </p:nvSpPr>
        <p:spPr>
          <a:xfrm>
            <a:off x="2697480" y="3429000"/>
            <a:ext cx="1783080" cy="274320"/>
          </a:xfrm>
          <a:prstGeom prst="rect">
            <a:avLst/>
          </a:prstGeom>
          <a:noFill/>
          <a:ln/>
        </p:spPr>
        <p:txBody>
          <a:bodyPr wrap="square" lIns="0" tIns="0" rIns="0" bIns="0" rtlCol="0" anchor="ctr"/>
          <a:lstStyle/>
          <a:p>
            <a:pPr marL="0" indent="0">
              <a:buNone/>
            </a:pPr>
            <a:r>
              <a:rPr lang="en-US" sz="800" dirty="0">
                <a:solidFill>
                  <a:srgbClr val="5CC8C0"/>
                </a:solidFill>
                <a:latin typeface="Inter" pitchFamily="34" charset="0"/>
                <a:ea typeface="Inter" pitchFamily="34" charset="-122"/>
                <a:cs typeface="Inter" pitchFamily="34" charset="-120"/>
              </a:rPr>
              <a:t>d'expérience BTP cumulées</a:t>
            </a:r>
            <a:endParaRPr lang="en-US" sz="800" dirty="0"/>
          </a:p>
        </p:txBody>
      </p:sp>
      <p:sp>
        <p:nvSpPr>
          <p:cNvPr id="20" name="Shape 18"/>
          <p:cNvSpPr/>
          <p:nvPr/>
        </p:nvSpPr>
        <p:spPr>
          <a:xfrm>
            <a:off x="4754880" y="3063240"/>
            <a:ext cx="1965960" cy="685800"/>
          </a:xfrm>
          <a:prstGeom prst="rect">
            <a:avLst/>
          </a:prstGeom>
          <a:solidFill>
            <a:srgbClr val="1E3A5F"/>
          </a:solidFill>
          <a:ln/>
        </p:spPr>
      </p:sp>
      <p:sp>
        <p:nvSpPr>
          <p:cNvPr id="21" name="Text 19"/>
          <p:cNvSpPr/>
          <p:nvPr/>
        </p:nvSpPr>
        <p:spPr>
          <a:xfrm>
            <a:off x="4846320" y="3081528"/>
            <a:ext cx="1783080" cy="365760"/>
          </a:xfrm>
          <a:prstGeom prst="rect">
            <a:avLst/>
          </a:prstGeom>
          <a:noFill/>
          <a:ln/>
        </p:spPr>
        <p:txBody>
          <a:bodyPr wrap="square" lIns="0" tIns="0" rIns="0" bIns="0" rtlCol="0" anchor="ctr"/>
          <a:lstStyle/>
          <a:p>
            <a:pPr marL="0" indent="0">
              <a:buNone/>
            </a:pPr>
            <a:r>
              <a:rPr lang="en-US" sz="1800" b="1" dirty="0">
                <a:solidFill>
                  <a:srgbClr val="F39200"/>
                </a:solidFill>
                <a:latin typeface="Montserrat Bold" pitchFamily="34" charset="0"/>
                <a:ea typeface="Montserrat Bold" pitchFamily="34" charset="-122"/>
                <a:cs typeface="Montserrat Bold" pitchFamily="34" charset="-120"/>
              </a:rPr>
              <a:t>+10 M €</a:t>
            </a:r>
            <a:endParaRPr lang="en-US" sz="1800" dirty="0"/>
          </a:p>
        </p:txBody>
      </p:sp>
      <p:sp>
        <p:nvSpPr>
          <p:cNvPr id="22" name="Text 20"/>
          <p:cNvSpPr/>
          <p:nvPr/>
        </p:nvSpPr>
        <p:spPr>
          <a:xfrm>
            <a:off x="4846320" y="3429000"/>
            <a:ext cx="1783080" cy="274320"/>
          </a:xfrm>
          <a:prstGeom prst="rect">
            <a:avLst/>
          </a:prstGeom>
          <a:noFill/>
          <a:ln/>
        </p:spPr>
        <p:txBody>
          <a:bodyPr wrap="square" lIns="0" tIns="0" rIns="0" bIns="0" rtlCol="0" anchor="ctr"/>
          <a:lstStyle/>
          <a:p>
            <a:pPr marL="0" indent="0">
              <a:buNone/>
            </a:pPr>
            <a:r>
              <a:rPr lang="en-US" sz="800" dirty="0">
                <a:solidFill>
                  <a:srgbClr val="5CC8C0"/>
                </a:solidFill>
                <a:latin typeface="Inter" pitchFamily="34" charset="0"/>
                <a:ea typeface="Inter" pitchFamily="34" charset="-122"/>
                <a:cs typeface="Inter" pitchFamily="34" charset="-120"/>
              </a:rPr>
              <a:t>d'investissements gérés</a:t>
            </a:r>
            <a:endParaRPr lang="en-US" sz="800" dirty="0"/>
          </a:p>
        </p:txBody>
      </p:sp>
      <p:sp>
        <p:nvSpPr>
          <p:cNvPr id="23" name="Shape 21"/>
          <p:cNvSpPr/>
          <p:nvPr/>
        </p:nvSpPr>
        <p:spPr>
          <a:xfrm>
            <a:off x="6903720" y="3063240"/>
            <a:ext cx="1965960" cy="685800"/>
          </a:xfrm>
          <a:prstGeom prst="rect">
            <a:avLst/>
          </a:prstGeom>
          <a:solidFill>
            <a:srgbClr val="1E3A5F"/>
          </a:solidFill>
          <a:ln/>
        </p:spPr>
      </p:sp>
      <p:sp>
        <p:nvSpPr>
          <p:cNvPr id="24" name="Text 22"/>
          <p:cNvSpPr/>
          <p:nvPr/>
        </p:nvSpPr>
        <p:spPr>
          <a:xfrm>
            <a:off x="6995160" y="3081528"/>
            <a:ext cx="1783080" cy="365760"/>
          </a:xfrm>
          <a:prstGeom prst="rect">
            <a:avLst/>
          </a:prstGeom>
          <a:noFill/>
          <a:ln/>
        </p:spPr>
        <p:txBody>
          <a:bodyPr wrap="square" lIns="0" tIns="0" rIns="0" bIns="0" rtlCol="0" anchor="ctr"/>
          <a:lstStyle/>
          <a:p>
            <a:pPr marL="0" indent="0">
              <a:buNone/>
            </a:pPr>
            <a:r>
              <a:rPr lang="en-US" sz="1800" b="1" dirty="0">
                <a:solidFill>
                  <a:srgbClr val="F39200"/>
                </a:solidFill>
                <a:latin typeface="Montserrat Bold" pitchFamily="34" charset="0"/>
                <a:ea typeface="Montserrat Bold" pitchFamily="34" charset="-122"/>
                <a:cs typeface="Montserrat Bold" pitchFamily="34" charset="-120"/>
              </a:rPr>
              <a:t>2 pays</a:t>
            </a:r>
            <a:endParaRPr lang="en-US" sz="1800" dirty="0"/>
          </a:p>
        </p:txBody>
      </p:sp>
      <p:sp>
        <p:nvSpPr>
          <p:cNvPr id="25" name="Text 23"/>
          <p:cNvSpPr/>
          <p:nvPr/>
        </p:nvSpPr>
        <p:spPr>
          <a:xfrm>
            <a:off x="6995160" y="3429000"/>
            <a:ext cx="1783080" cy="274320"/>
          </a:xfrm>
          <a:prstGeom prst="rect">
            <a:avLst/>
          </a:prstGeom>
          <a:noFill/>
          <a:ln/>
        </p:spPr>
        <p:txBody>
          <a:bodyPr wrap="square" lIns="0" tIns="0" rIns="0" bIns="0" rtlCol="0" anchor="ctr"/>
          <a:lstStyle/>
          <a:p>
            <a:pPr marL="0" indent="0">
              <a:buNone/>
            </a:pPr>
            <a:r>
              <a:rPr lang="en-US" sz="800" dirty="0">
                <a:solidFill>
                  <a:srgbClr val="5CC8C0"/>
                </a:solidFill>
                <a:latin typeface="Inter" pitchFamily="34" charset="0"/>
                <a:ea typeface="Inter" pitchFamily="34" charset="-122"/>
                <a:cs typeface="Inter" pitchFamily="34" charset="-120"/>
              </a:rPr>
              <a:t>Maroc (3 ans) + France (5 ans)</a:t>
            </a:r>
            <a:endParaRPr lang="en-US" sz="800" dirty="0"/>
          </a:p>
        </p:txBody>
      </p:sp>
      <p:sp>
        <p:nvSpPr>
          <p:cNvPr id="26" name="Text 24"/>
          <p:cNvSpPr/>
          <p:nvPr/>
        </p:nvSpPr>
        <p:spPr>
          <a:xfrm>
            <a:off x="457200" y="3931920"/>
            <a:ext cx="8229600" cy="320040"/>
          </a:xfrm>
          <a:prstGeom prst="rect">
            <a:avLst/>
          </a:prstGeom>
          <a:noFill/>
          <a:ln/>
        </p:spPr>
        <p:txBody>
          <a:bodyPr wrap="square" lIns="0" tIns="0" rIns="0" bIns="0" rtlCol="0" anchor="ctr"/>
          <a:lstStyle/>
          <a:p>
            <a:pPr marL="0" indent="0">
              <a:buNone/>
            </a:pPr>
            <a:r>
              <a:rPr lang="en-US" sz="1100" b="1" dirty="0">
                <a:solidFill>
                  <a:srgbClr val="1E3A5F"/>
                </a:solidFill>
                <a:latin typeface="Montserrat Bold" pitchFamily="34" charset="0"/>
                <a:ea typeface="Montserrat Bold" pitchFamily="34" charset="-122"/>
                <a:cs typeface="Montserrat Bold" pitchFamily="34" charset="-120"/>
              </a:rPr>
              <a:t>5 SITUATIONS PROFESSIONNELLES analysées selon la méthode CPAR : Contexte | Problème | Action | Résultat</a:t>
            </a:r>
            <a:endParaRPr lang="en-US" sz="1100" dirty="0"/>
          </a:p>
        </p:txBody>
      </p:sp>
      <p:sp>
        <p:nvSpPr>
          <p:cNvPr id="27" name="Shape 25"/>
          <p:cNvSpPr/>
          <p:nvPr/>
        </p:nvSpPr>
        <p:spPr>
          <a:xfrm>
            <a:off x="457200" y="4343400"/>
            <a:ext cx="1965960" cy="320040"/>
          </a:xfrm>
          <a:prstGeom prst="rect">
            <a:avLst/>
          </a:prstGeom>
          <a:solidFill>
            <a:srgbClr val="48B4AC"/>
          </a:solidFill>
          <a:ln/>
        </p:spPr>
      </p:sp>
      <p:sp>
        <p:nvSpPr>
          <p:cNvPr id="28" name="Text 26"/>
          <p:cNvSpPr/>
          <p:nvPr/>
        </p:nvSpPr>
        <p:spPr>
          <a:xfrm>
            <a:off x="530352" y="4352544"/>
            <a:ext cx="1828800" cy="301752"/>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2017-2022 · MOA publique - Maroc</a:t>
            </a:r>
            <a:endParaRPr lang="en-US" sz="750" dirty="0"/>
          </a:p>
        </p:txBody>
      </p:sp>
      <p:sp>
        <p:nvSpPr>
          <p:cNvPr id="29" name="Shape 27"/>
          <p:cNvSpPr/>
          <p:nvPr/>
        </p:nvSpPr>
        <p:spPr>
          <a:xfrm>
            <a:off x="2606040" y="4343400"/>
            <a:ext cx="1965960" cy="320040"/>
          </a:xfrm>
          <a:prstGeom prst="rect">
            <a:avLst/>
          </a:prstGeom>
          <a:solidFill>
            <a:srgbClr val="F39200"/>
          </a:solidFill>
          <a:ln/>
        </p:spPr>
      </p:sp>
      <p:sp>
        <p:nvSpPr>
          <p:cNvPr id="30" name="Text 28"/>
          <p:cNvSpPr/>
          <p:nvPr/>
        </p:nvSpPr>
        <p:spPr>
          <a:xfrm>
            <a:off x="2679192" y="4352544"/>
            <a:ext cx="1828800" cy="301752"/>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2022-2024 · Exécution terrain - France</a:t>
            </a:r>
            <a:endParaRPr lang="en-US" sz="750" dirty="0"/>
          </a:p>
        </p:txBody>
      </p:sp>
      <p:sp>
        <p:nvSpPr>
          <p:cNvPr id="31" name="Shape 29"/>
          <p:cNvSpPr/>
          <p:nvPr/>
        </p:nvSpPr>
        <p:spPr>
          <a:xfrm>
            <a:off x="4754880" y="4343400"/>
            <a:ext cx="1965960" cy="320040"/>
          </a:xfrm>
          <a:prstGeom prst="rect">
            <a:avLst/>
          </a:prstGeom>
          <a:solidFill>
            <a:srgbClr val="1E3A5F"/>
          </a:solidFill>
          <a:ln/>
        </p:spPr>
      </p:sp>
      <p:sp>
        <p:nvSpPr>
          <p:cNvPr id="32" name="Text 30"/>
          <p:cNvSpPr/>
          <p:nvPr/>
        </p:nvSpPr>
        <p:spPr>
          <a:xfrm>
            <a:off x="4828032" y="4352544"/>
            <a:ext cx="1828800" cy="301752"/>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2024 · Formation BIM - AFPA Colmar</a:t>
            </a:r>
            <a:endParaRPr lang="en-US" sz="750" dirty="0"/>
          </a:p>
        </p:txBody>
      </p:sp>
      <p:sp>
        <p:nvSpPr>
          <p:cNvPr id="33" name="Shape 31"/>
          <p:cNvSpPr/>
          <p:nvPr/>
        </p:nvSpPr>
        <p:spPr>
          <a:xfrm>
            <a:off x="6903720" y="4343400"/>
            <a:ext cx="1965960" cy="320040"/>
          </a:xfrm>
          <a:prstGeom prst="rect">
            <a:avLst/>
          </a:prstGeom>
          <a:solidFill>
            <a:srgbClr val="002F6C"/>
          </a:solidFill>
          <a:ln/>
        </p:spPr>
      </p:sp>
      <p:sp>
        <p:nvSpPr>
          <p:cNvPr id="34" name="Text 32"/>
          <p:cNvSpPr/>
          <p:nvPr/>
        </p:nvSpPr>
        <p:spPr>
          <a:xfrm>
            <a:off x="6976872" y="4352544"/>
            <a:ext cx="1828800" cy="301752"/>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2026 · BIMCO - BIM + Économie</a:t>
            </a:r>
            <a:endParaRPr lang="en-US" sz="750" dirty="0"/>
          </a:p>
        </p:txBody>
      </p:sp>
      <p:sp>
        <p:nvSpPr>
          <p:cNvPr id="35" name="Text 33"/>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2/15</a:t>
            </a:r>
            <a:endParaRPr lang="en-US" sz="700" dirty="0"/>
          </a:p>
        </p:txBody>
      </p:sp>
      <p:sp>
        <p:nvSpPr>
          <p:cNvPr id="36" name="Shape 34"/>
          <p:cNvSpPr/>
          <p:nvPr/>
        </p:nvSpPr>
        <p:spPr>
          <a:xfrm>
            <a:off x="0" y="5029200"/>
            <a:ext cx="9144000" cy="114300"/>
          </a:xfrm>
          <a:prstGeom prst="rect">
            <a:avLst/>
          </a:prstGeom>
          <a:solidFill>
            <a:srgbClr val="F3920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CADRE PROFESSIONNEL</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Shape 3"/>
          <p:cNvSpPr/>
          <p:nvPr/>
        </p:nvSpPr>
        <p:spPr>
          <a:xfrm>
            <a:off x="457200" y="868680"/>
            <a:ext cx="3931920" cy="3657600"/>
          </a:xfrm>
          <a:prstGeom prst="rect">
            <a:avLst/>
          </a:prstGeom>
          <a:solidFill>
            <a:srgbClr val="FFFFFF"/>
          </a:solidFill>
          <a:ln/>
          <a:effectLst>
            <a:outerShdw blurRad="50800" dist="25400" dir="8100000" algn="bl" rotWithShape="0">
              <a:srgbClr val="000000">
                <a:alpha val="12000"/>
              </a:srgbClr>
            </a:outerShdw>
          </a:effectLst>
        </p:spPr>
      </p:sp>
      <p:sp>
        <p:nvSpPr>
          <p:cNvPr id="6" name="Text 4"/>
          <p:cNvSpPr/>
          <p:nvPr/>
        </p:nvSpPr>
        <p:spPr>
          <a:xfrm>
            <a:off x="640080" y="914400"/>
            <a:ext cx="3566160" cy="274320"/>
          </a:xfrm>
          <a:prstGeom prst="rect">
            <a:avLst/>
          </a:prstGeom>
          <a:noFill/>
          <a:ln/>
        </p:spPr>
        <p:txBody>
          <a:bodyPr wrap="square" lIns="0" tIns="0" rIns="0" bIns="0" rtlCol="0" anchor="ctr"/>
          <a:lstStyle/>
          <a:p>
            <a:pPr marL="0" indent="0">
              <a:buNone/>
            </a:pPr>
            <a:r>
              <a:rPr lang="en-US" sz="1300" b="1" dirty="0">
                <a:solidFill>
                  <a:srgbClr val="1E3A5F"/>
                </a:solidFill>
                <a:latin typeface="Montserrat Bold" pitchFamily="34" charset="0"/>
                <a:ea typeface="Montserrat Bold" pitchFamily="34" charset="-122"/>
                <a:cs typeface="Montserrat Bold" pitchFamily="34" charset="-120"/>
              </a:rPr>
              <a:t>CONSEIL RÉGIONAL BMK</a:t>
            </a:r>
            <a:endParaRPr lang="en-US" sz="1300" dirty="0"/>
          </a:p>
        </p:txBody>
      </p:sp>
      <p:sp>
        <p:nvSpPr>
          <p:cNvPr id="7" name="Shape 5"/>
          <p:cNvSpPr/>
          <p:nvPr/>
        </p:nvSpPr>
        <p:spPr>
          <a:xfrm>
            <a:off x="640080" y="1188720"/>
            <a:ext cx="914400" cy="36576"/>
          </a:xfrm>
          <a:prstGeom prst="rect">
            <a:avLst/>
          </a:prstGeom>
          <a:solidFill>
            <a:srgbClr val="F39200"/>
          </a:solidFill>
          <a:ln/>
        </p:spPr>
      </p:sp>
      <p:sp>
        <p:nvSpPr>
          <p:cNvPr id="8" name="Text 6"/>
          <p:cNvSpPr/>
          <p:nvPr/>
        </p:nvSpPr>
        <p:spPr>
          <a:xfrm>
            <a:off x="640080" y="1325880"/>
            <a:ext cx="3566160" cy="594360"/>
          </a:xfrm>
          <a:prstGeom prst="rect">
            <a:avLst/>
          </a:prstGeom>
          <a:noFill/>
          <a:ln/>
        </p:spPr>
        <p:txBody>
          <a:bodyPr wrap="square" lIns="0" tIns="0" rIns="0" bIns="0" rtlCol="0" anchor="ctr"/>
          <a:lstStyle/>
          <a:p>
            <a:pPr marL="0" indent="0">
              <a:buNone/>
            </a:pPr>
            <a:r>
              <a:rPr lang="en-US" sz="900" dirty="0">
                <a:solidFill>
                  <a:srgbClr val="555555"/>
                </a:solidFill>
                <a:latin typeface="Inter" pitchFamily="34" charset="0"/>
                <a:ea typeface="Inter" pitchFamily="34" charset="-122"/>
                <a:cs typeface="Inter" pitchFamily="34" charset="-120"/>
              </a:rPr>
              <a:t>Collectivité territoriale · 5 provinces · 2,5 M hab.</a:t>
            </a:r>
            <a:endParaRPr lang="en-US" sz="900" dirty="0"/>
          </a:p>
          <a:p>
            <a:pPr marL="0" indent="0">
              <a:buNone/>
            </a:pPr>
            <a:r>
              <a:rPr lang="en-US" sz="900" dirty="0">
                <a:solidFill>
                  <a:srgbClr val="555555"/>
                </a:solidFill>
                <a:latin typeface="Inter" pitchFamily="34" charset="0"/>
                <a:ea typeface="Inter" pitchFamily="34" charset="-122"/>
                <a:cs typeface="Inter" pitchFamily="34" charset="-120"/>
              </a:rPr>
              <a:t>Agence d'Exécution des Projets, dirigée par M. DOGHMANI</a:t>
            </a:r>
            <a:endParaRPr lang="en-US" sz="900" dirty="0"/>
          </a:p>
          <a:p>
            <a:pPr marL="0" indent="0">
              <a:buNone/>
            </a:pPr>
            <a:r>
              <a:rPr lang="en-US" sz="900" dirty="0">
                <a:solidFill>
                  <a:srgbClr val="555555"/>
                </a:solidFill>
                <a:latin typeface="Inter" pitchFamily="34" charset="0"/>
                <a:ea typeface="Inter" pitchFamily="34" charset="-122"/>
                <a:cs typeface="Inter" pitchFamily="34" charset="-120"/>
              </a:rPr>
              <a:t>Maîtrise d'ouvrage infrastructures régionales</a:t>
            </a:r>
            <a:endParaRPr lang="en-US" sz="900" dirty="0"/>
          </a:p>
        </p:txBody>
      </p:sp>
      <p:sp>
        <p:nvSpPr>
          <p:cNvPr id="9" name="Text 7"/>
          <p:cNvSpPr/>
          <p:nvPr/>
        </p:nvSpPr>
        <p:spPr>
          <a:xfrm>
            <a:off x="640080" y="1965960"/>
            <a:ext cx="3566160" cy="182880"/>
          </a:xfrm>
          <a:prstGeom prst="rect">
            <a:avLst/>
          </a:prstGeom>
          <a:noFill/>
          <a:ln/>
        </p:spPr>
        <p:txBody>
          <a:bodyPr wrap="square" lIns="0" tIns="0" rIns="0" bIns="0" rtlCol="0" anchor="ctr"/>
          <a:lstStyle/>
          <a:p>
            <a:pPr marL="0" indent="0">
              <a:buNone/>
            </a:pPr>
            <a:r>
              <a:rPr lang="en-US" sz="900" b="1" dirty="0">
                <a:solidFill>
                  <a:srgbClr val="1E3A5F"/>
                </a:solidFill>
                <a:latin typeface="Montserrat Bold" pitchFamily="34" charset="0"/>
                <a:ea typeface="Montserrat Bold" pitchFamily="34" charset="-122"/>
                <a:cs typeface="Montserrat Bold" pitchFamily="34" charset="-120"/>
              </a:rPr>
              <a:t>Missions principales :</a:t>
            </a:r>
            <a:endParaRPr lang="en-US" sz="900" dirty="0"/>
          </a:p>
        </p:txBody>
      </p:sp>
      <p:sp>
        <p:nvSpPr>
          <p:cNvPr id="10" name="Text 8"/>
          <p:cNvSpPr/>
          <p:nvPr/>
        </p:nvSpPr>
        <p:spPr>
          <a:xfrm>
            <a:off x="640080" y="2194560"/>
            <a:ext cx="3566160" cy="1371600"/>
          </a:xfrm>
          <a:prstGeom prst="rect">
            <a:avLst/>
          </a:prstGeom>
          <a:noFill/>
          <a:ln/>
        </p:spPr>
        <p:txBody>
          <a:bodyPr wrap="square" rtlCol="0" anchor="ctr"/>
          <a:lstStyle/>
          <a:p>
            <a:pPr marL="342900" indent="-342900">
              <a:spcAft>
                <a:spcPts val="400"/>
              </a:spcAft>
              <a:buSzPct val="100000"/>
              <a:buChar char="•"/>
            </a:pPr>
            <a:r>
              <a:rPr lang="en-US" sz="900" dirty="0">
                <a:solidFill>
                  <a:srgbClr val="2D2D2D"/>
                </a:solidFill>
                <a:latin typeface="Inter" pitchFamily="34" charset="0"/>
                <a:ea typeface="Inter" pitchFamily="34" charset="-122"/>
                <a:cs typeface="Inter" pitchFamily="34" charset="-120"/>
              </a:rPr>
              <a:t>Métrés avant-projet et estimation confidentielle</a:t>
            </a:r>
            <a:endParaRPr lang="en-US" sz="900" dirty="0"/>
          </a:p>
          <a:p>
            <a:pPr marL="342900" indent="-342900">
              <a:spcAft>
                <a:spcPts val="400"/>
              </a:spcAft>
              <a:buSzPct val="100000"/>
              <a:buChar char="•"/>
            </a:pPr>
            <a:r>
              <a:rPr lang="en-US" sz="900" dirty="0">
                <a:solidFill>
                  <a:srgbClr val="2D2D2D"/>
                </a:solidFill>
                <a:latin typeface="Inter" pitchFamily="34" charset="0"/>
                <a:ea typeface="Inter" pitchFamily="34" charset="-122"/>
                <a:cs typeface="Inter" pitchFamily="34" charset="-120"/>
              </a:rPr>
              <a:t>Rédaction des DCE : CPS, RC, BPDE</a:t>
            </a:r>
            <a:endParaRPr lang="en-US" sz="900" dirty="0"/>
          </a:p>
          <a:p>
            <a:pPr marL="342900" indent="-342900">
              <a:spcAft>
                <a:spcPts val="400"/>
              </a:spcAft>
              <a:buSzPct val="100000"/>
              <a:buChar char="•"/>
            </a:pPr>
            <a:r>
              <a:rPr lang="en-US" sz="900" dirty="0">
                <a:solidFill>
                  <a:srgbClr val="2D2D2D"/>
                </a:solidFill>
                <a:latin typeface="Inter" pitchFamily="34" charset="0"/>
                <a:ea typeface="Inter" pitchFamily="34" charset="-122"/>
                <a:cs typeface="Inter" pitchFamily="34" charset="-120"/>
              </a:rPr>
              <a:t>Analyse des offres en Commission AO</a:t>
            </a:r>
            <a:endParaRPr lang="en-US" sz="900" dirty="0"/>
          </a:p>
          <a:p>
            <a:pPr marL="342900" indent="-342900">
              <a:spcAft>
                <a:spcPts val="400"/>
              </a:spcAft>
              <a:buSzPct val="100000"/>
              <a:buChar char="•"/>
            </a:pPr>
            <a:r>
              <a:rPr lang="en-US" sz="900" dirty="0">
                <a:solidFill>
                  <a:srgbClr val="2D2D2D"/>
                </a:solidFill>
                <a:latin typeface="Inter" pitchFamily="34" charset="0"/>
                <a:ea typeface="Inter" pitchFamily="34" charset="-122"/>
                <a:cs typeface="Inter" pitchFamily="34" charset="-120"/>
              </a:rPr>
              <a:t>Suivi financier : situations, décomptes</a:t>
            </a:r>
            <a:endParaRPr lang="en-US" sz="900" dirty="0"/>
          </a:p>
          <a:p>
            <a:pPr marL="342900" indent="-342900">
              <a:spcAft>
                <a:spcPts val="400"/>
              </a:spcAft>
              <a:buSzPct val="100000"/>
              <a:buChar char="•"/>
            </a:pPr>
            <a:r>
              <a:rPr lang="en-US" sz="900" dirty="0">
                <a:solidFill>
                  <a:srgbClr val="2D2D2D"/>
                </a:solidFill>
                <a:latin typeface="Inter" pitchFamily="34" charset="0"/>
                <a:ea typeface="Inter" pitchFamily="34" charset="-122"/>
                <a:cs typeface="Inter" pitchFamily="34" charset="-120"/>
              </a:rPr>
              <a:t>Visites hebdomadaires, attachements contradictoires</a:t>
            </a:r>
            <a:endParaRPr lang="en-US" sz="900" dirty="0"/>
          </a:p>
        </p:txBody>
      </p:sp>
      <p:sp>
        <p:nvSpPr>
          <p:cNvPr id="11" name="Text 9"/>
          <p:cNvSpPr/>
          <p:nvPr/>
        </p:nvSpPr>
        <p:spPr>
          <a:xfrm>
            <a:off x="640080" y="3520440"/>
            <a:ext cx="1371600" cy="182880"/>
          </a:xfrm>
          <a:prstGeom prst="rect">
            <a:avLst/>
          </a:prstGeom>
          <a:noFill/>
          <a:ln/>
        </p:spPr>
        <p:txBody>
          <a:bodyPr wrap="square" lIns="0" tIns="0" rIns="0" bIns="0" rtlCol="0" anchor="ctr"/>
          <a:lstStyle/>
          <a:p>
            <a:pPr marL="0" indent="0">
              <a:buNone/>
            </a:pPr>
            <a:r>
              <a:rPr lang="en-US" sz="800" b="1" dirty="0">
                <a:solidFill>
                  <a:srgbClr val="1E3A5F"/>
                </a:solidFill>
                <a:latin typeface="Montserrat Bold" pitchFamily="34" charset="0"/>
                <a:ea typeface="Montserrat Bold" pitchFamily="34" charset="-122"/>
                <a:cs typeface="Montserrat Bold" pitchFamily="34" charset="-120"/>
              </a:rPr>
              <a:t>Organigramme :</a:t>
            </a:r>
            <a:endParaRPr lang="en-US" sz="800" dirty="0"/>
          </a:p>
        </p:txBody>
      </p:sp>
      <p:sp>
        <p:nvSpPr>
          <p:cNvPr id="12" name="Text 10"/>
          <p:cNvSpPr/>
          <p:nvPr/>
        </p:nvSpPr>
        <p:spPr>
          <a:xfrm>
            <a:off x="640080" y="3703320"/>
            <a:ext cx="3566160" cy="594360"/>
          </a:xfrm>
          <a:prstGeom prst="rect">
            <a:avLst/>
          </a:prstGeom>
          <a:noFill/>
          <a:ln/>
        </p:spPr>
        <p:txBody>
          <a:bodyPr wrap="square" lIns="0" tIns="0" rIns="0" bIns="0" rtlCol="0" anchor="ctr"/>
          <a:lstStyle/>
          <a:p>
            <a:pPr marL="0" indent="0">
              <a:buNone/>
            </a:pPr>
            <a:r>
              <a:rPr lang="en-US" sz="750" i="1" dirty="0">
                <a:solidFill>
                  <a:srgbClr val="555555"/>
                </a:solidFill>
                <a:latin typeface="Inter" pitchFamily="34" charset="0"/>
                <a:ea typeface="Inter" pitchFamily="34" charset="-122"/>
                <a:cs typeface="Inter" pitchFamily="34" charset="-120"/>
              </a:rPr>
              <a:t>Président CR → Directeur Agence (M. DOGHMANI) → Service Études / Service Marchés / Service Suivi → Technicien études &amp; suivi (MON POSTE)</a:t>
            </a:r>
            <a:endParaRPr lang="en-US" sz="750" dirty="0"/>
          </a:p>
        </p:txBody>
      </p:sp>
      <p:sp>
        <p:nvSpPr>
          <p:cNvPr id="13" name="Shape 11"/>
          <p:cNvSpPr/>
          <p:nvPr/>
        </p:nvSpPr>
        <p:spPr>
          <a:xfrm>
            <a:off x="4663440" y="868680"/>
            <a:ext cx="4023360" cy="3657600"/>
          </a:xfrm>
          <a:prstGeom prst="rect">
            <a:avLst/>
          </a:prstGeom>
          <a:solidFill>
            <a:srgbClr val="FFFFFF"/>
          </a:solidFill>
          <a:ln/>
          <a:effectLst>
            <a:outerShdw blurRad="50800" dist="25400" dir="8100000" algn="bl" rotWithShape="0">
              <a:srgbClr val="000000">
                <a:alpha val="12000"/>
              </a:srgbClr>
            </a:outerShdw>
          </a:effectLst>
        </p:spPr>
      </p:sp>
      <p:sp>
        <p:nvSpPr>
          <p:cNvPr id="14" name="Text 12"/>
          <p:cNvSpPr/>
          <p:nvPr/>
        </p:nvSpPr>
        <p:spPr>
          <a:xfrm>
            <a:off x="4846320" y="914400"/>
            <a:ext cx="1371600" cy="274320"/>
          </a:xfrm>
          <a:prstGeom prst="rect">
            <a:avLst/>
          </a:prstGeom>
          <a:noFill/>
          <a:ln/>
        </p:spPr>
        <p:txBody>
          <a:bodyPr wrap="square" lIns="0" tIns="0" rIns="0" bIns="0" rtlCol="0" anchor="ctr"/>
          <a:lstStyle/>
          <a:p>
            <a:pPr marL="0" indent="0">
              <a:buNone/>
            </a:pPr>
            <a:r>
              <a:rPr lang="en-US" sz="1300" b="1" dirty="0">
                <a:solidFill>
                  <a:srgbClr val="F39200"/>
                </a:solidFill>
                <a:latin typeface="Montserrat Bold" pitchFamily="34" charset="0"/>
                <a:ea typeface="Montserrat Bold" pitchFamily="34" charset="-122"/>
                <a:cs typeface="Montserrat Bold" pitchFamily="34" charset="-120"/>
              </a:rPr>
              <a:t>BIMCO</a:t>
            </a:r>
            <a:endParaRPr lang="en-US" sz="1300" dirty="0"/>
          </a:p>
        </p:txBody>
      </p:sp>
      <p:sp>
        <p:nvSpPr>
          <p:cNvPr id="15" name="Text 13"/>
          <p:cNvSpPr/>
          <p:nvPr/>
        </p:nvSpPr>
        <p:spPr>
          <a:xfrm>
            <a:off x="6217920" y="914400"/>
            <a:ext cx="2286000" cy="274320"/>
          </a:xfrm>
          <a:prstGeom prst="rect">
            <a:avLst/>
          </a:prstGeom>
          <a:noFill/>
          <a:ln/>
        </p:spPr>
        <p:txBody>
          <a:bodyPr wrap="square" lIns="0" tIns="0" rIns="0" bIns="0" rtlCol="0" anchor="ctr"/>
          <a:lstStyle/>
          <a:p>
            <a:pPr marL="0" indent="0">
              <a:buNone/>
            </a:pPr>
            <a:r>
              <a:rPr lang="en-US" sz="1000" dirty="0">
                <a:solidFill>
                  <a:srgbClr val="555555"/>
                </a:solidFill>
                <a:latin typeface="Inter" pitchFamily="34" charset="0"/>
                <a:ea typeface="Inter" pitchFamily="34" charset="-122"/>
                <a:cs typeface="Inter" pitchFamily="34" charset="-120"/>
              </a:rPr>
              <a:t>Mon activité indépendante</a:t>
            </a:r>
            <a:endParaRPr lang="en-US" sz="1000" dirty="0"/>
          </a:p>
        </p:txBody>
      </p:sp>
      <p:sp>
        <p:nvSpPr>
          <p:cNvPr id="16" name="Shape 14"/>
          <p:cNvSpPr/>
          <p:nvPr/>
        </p:nvSpPr>
        <p:spPr>
          <a:xfrm>
            <a:off x="4846320" y="1188720"/>
            <a:ext cx="914400" cy="36576"/>
          </a:xfrm>
          <a:prstGeom prst="rect">
            <a:avLst/>
          </a:prstGeom>
          <a:solidFill>
            <a:srgbClr val="5CC8C0"/>
          </a:solidFill>
          <a:ln/>
        </p:spPr>
      </p:sp>
      <p:sp>
        <p:nvSpPr>
          <p:cNvPr id="17" name="Text 15"/>
          <p:cNvSpPr/>
          <p:nvPr/>
        </p:nvSpPr>
        <p:spPr>
          <a:xfrm>
            <a:off x="4846320" y="1325880"/>
            <a:ext cx="3657600" cy="457200"/>
          </a:xfrm>
          <a:prstGeom prst="rect">
            <a:avLst/>
          </a:prstGeom>
          <a:noFill/>
          <a:ln/>
        </p:spPr>
        <p:txBody>
          <a:bodyPr wrap="square" lIns="0" tIns="0" rIns="0" bIns="0" rtlCol="0" anchor="ctr"/>
          <a:lstStyle/>
          <a:p>
            <a:pPr marL="0" indent="0">
              <a:buNone/>
            </a:pPr>
            <a:r>
              <a:rPr lang="en-US" sz="900" dirty="0">
                <a:solidFill>
                  <a:srgbClr val="555555"/>
                </a:solidFill>
                <a:latin typeface="Inter" pitchFamily="34" charset="0"/>
                <a:ea typeface="Inter" pitchFamily="34" charset="-122"/>
                <a:cs typeface="Inter" pitchFamily="34" charset="-120"/>
              </a:rPr>
              <a:t>Créé en janvier 2026. Appliquer le BIM aux métiers de l'économiste de la construction. Prolongement de 8 ans d'expérience MOA + exécution + BIM.</a:t>
            </a:r>
            <a:endParaRPr lang="en-US" sz="900" dirty="0"/>
          </a:p>
        </p:txBody>
      </p:sp>
      <p:sp>
        <p:nvSpPr>
          <p:cNvPr id="18" name="Text 16"/>
          <p:cNvSpPr/>
          <p:nvPr/>
        </p:nvSpPr>
        <p:spPr>
          <a:xfrm>
            <a:off x="4846320" y="1828800"/>
            <a:ext cx="3657600" cy="1097280"/>
          </a:xfrm>
          <a:prstGeom prst="rect">
            <a:avLst/>
          </a:prstGeom>
          <a:noFill/>
          <a:ln/>
        </p:spPr>
        <p:txBody>
          <a:bodyPr wrap="square" rtlCol="0" anchor="ctr"/>
          <a:lstStyle/>
          <a:p>
            <a:pPr marL="342900" indent="-342900">
              <a:spcAft>
                <a:spcPts val="400"/>
              </a:spcAft>
              <a:buSzPct val="100000"/>
              <a:buChar char="•"/>
            </a:pPr>
            <a:r>
              <a:rPr lang="en-US" sz="900" dirty="0">
                <a:solidFill>
                  <a:srgbClr val="2D2D2D"/>
                </a:solidFill>
                <a:latin typeface="Inter" pitchFamily="34" charset="0"/>
                <a:ea typeface="Inter" pitchFamily="34" charset="-122"/>
                <a:cs typeface="Inter" pitchFamily="34" charset="-120"/>
              </a:rPr>
              <a:t>Métrés BIM par extraction de maquette numérique</a:t>
            </a:r>
            <a:endParaRPr lang="en-US" sz="900" dirty="0"/>
          </a:p>
          <a:p>
            <a:pPr marL="342900" indent="-342900">
              <a:spcAft>
                <a:spcPts val="400"/>
              </a:spcAft>
              <a:buSzPct val="100000"/>
              <a:buChar char="•"/>
            </a:pPr>
            <a:r>
              <a:rPr lang="en-US" sz="900" dirty="0">
                <a:solidFill>
                  <a:srgbClr val="2D2D2D"/>
                </a:solidFill>
                <a:latin typeface="Inter" pitchFamily="34" charset="0"/>
                <a:ea typeface="Inter" pitchFamily="34" charset="-122"/>
                <a:cs typeface="Inter" pitchFamily="34" charset="-120"/>
              </a:rPr>
              <a:t>Études de prix ancrées dans les coûts réels</a:t>
            </a:r>
            <a:endParaRPr lang="en-US" sz="900" dirty="0"/>
          </a:p>
          <a:p>
            <a:pPr marL="342900" indent="-342900">
              <a:spcAft>
                <a:spcPts val="400"/>
              </a:spcAft>
              <a:buSzPct val="100000"/>
              <a:buChar char="•"/>
            </a:pPr>
            <a:r>
              <a:rPr lang="en-US" sz="900" dirty="0">
                <a:solidFill>
                  <a:srgbClr val="2D2D2D"/>
                </a:solidFill>
                <a:latin typeface="Inter" pitchFamily="34" charset="0"/>
                <a:ea typeface="Inter" pitchFamily="34" charset="-122"/>
                <a:cs typeface="Inter" pitchFamily="34" charset="-120"/>
              </a:rPr>
              <a:t>Suivi économique en temps réel</a:t>
            </a:r>
            <a:endParaRPr lang="en-US" sz="900" dirty="0"/>
          </a:p>
          <a:p>
            <a:pPr marL="342900" indent="-342900">
              <a:spcAft>
                <a:spcPts val="400"/>
              </a:spcAft>
              <a:buSzPct val="100000"/>
              <a:buChar char="•"/>
            </a:pPr>
            <a:r>
              <a:rPr lang="en-US" sz="900" dirty="0">
                <a:solidFill>
                  <a:srgbClr val="2D2D2D"/>
                </a:solidFill>
                <a:latin typeface="Inter" pitchFamily="34" charset="0"/>
                <a:ea typeface="Inter" pitchFamily="34" charset="-122"/>
                <a:cs typeface="Inter" pitchFamily="34" charset="-120"/>
              </a:rPr>
              <a:t>Plugins Revit/Dynamo : chaîne métré → DPGF</a:t>
            </a:r>
            <a:endParaRPr lang="en-US" sz="900" dirty="0"/>
          </a:p>
        </p:txBody>
      </p:sp>
      <p:sp>
        <p:nvSpPr>
          <p:cNvPr id="19" name="Text 17"/>
          <p:cNvSpPr/>
          <p:nvPr/>
        </p:nvSpPr>
        <p:spPr>
          <a:xfrm>
            <a:off x="4846320" y="2926080"/>
            <a:ext cx="3657600" cy="182880"/>
          </a:xfrm>
          <a:prstGeom prst="rect">
            <a:avLst/>
          </a:prstGeom>
          <a:noFill/>
          <a:ln/>
        </p:spPr>
        <p:txBody>
          <a:bodyPr wrap="square" lIns="0" tIns="0" rIns="0" bIns="0" rtlCol="0" anchor="ctr"/>
          <a:lstStyle/>
          <a:p>
            <a:pPr marL="0" indent="0">
              <a:buNone/>
            </a:pPr>
            <a:r>
              <a:rPr lang="en-US" sz="900" b="1" dirty="0">
                <a:solidFill>
                  <a:srgbClr val="1E3A5F"/>
                </a:solidFill>
                <a:latin typeface="Montserrat Bold" pitchFamily="34" charset="0"/>
                <a:ea typeface="Montserrat Bold" pitchFamily="34" charset="-122"/>
                <a:cs typeface="Montserrat Bold" pitchFamily="34" charset="-120"/>
              </a:rPr>
              <a:t>Domaines d'intervention :</a:t>
            </a:r>
            <a:endParaRPr lang="en-US" sz="900" dirty="0"/>
          </a:p>
        </p:txBody>
      </p:sp>
      <p:sp>
        <p:nvSpPr>
          <p:cNvPr id="20" name="Text 18"/>
          <p:cNvSpPr/>
          <p:nvPr/>
        </p:nvSpPr>
        <p:spPr>
          <a:xfrm>
            <a:off x="4846320" y="3154680"/>
            <a:ext cx="3657600" cy="640080"/>
          </a:xfrm>
          <a:prstGeom prst="rect">
            <a:avLst/>
          </a:prstGeom>
          <a:noFill/>
          <a:ln/>
        </p:spPr>
        <p:txBody>
          <a:bodyPr wrap="square" rtlCol="0" anchor="ctr"/>
          <a:lstStyle/>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Études de prix · Métrés &amp; Quantitatifs · Projeteur BIM</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Développement plugins · Phasage &amp; Planning</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Études de méthodes · Situations travaux · Suivi économique</a:t>
            </a:r>
            <a:endParaRPr lang="en-US" sz="800" dirty="0"/>
          </a:p>
        </p:txBody>
      </p:sp>
      <p:sp>
        <p:nvSpPr>
          <p:cNvPr id="21" name="Shape 19"/>
          <p:cNvSpPr/>
          <p:nvPr/>
        </p:nvSpPr>
        <p:spPr>
          <a:xfrm>
            <a:off x="4846320" y="3794760"/>
            <a:ext cx="3657600" cy="219456"/>
          </a:xfrm>
          <a:prstGeom prst="rect">
            <a:avLst/>
          </a:prstGeom>
          <a:solidFill>
            <a:srgbClr val="1E3A5F"/>
          </a:solidFill>
          <a:ln/>
        </p:spPr>
      </p:sp>
      <p:sp>
        <p:nvSpPr>
          <p:cNvPr id="22" name="Text 20"/>
          <p:cNvSpPr/>
          <p:nvPr/>
        </p:nvSpPr>
        <p:spPr>
          <a:xfrm>
            <a:off x="4937760" y="3794760"/>
            <a:ext cx="1097280" cy="219456"/>
          </a:xfrm>
          <a:prstGeom prst="rect">
            <a:avLst/>
          </a:prstGeom>
          <a:noFill/>
          <a:ln/>
        </p:spPr>
        <p:txBody>
          <a:bodyPr wrap="square" lIns="0" tIns="0" rIns="0" bIns="0" rtlCol="0" anchor="ctr"/>
          <a:lstStyle/>
          <a:p>
            <a:pPr marL="0" indent="0">
              <a:buNone/>
            </a:pPr>
            <a:r>
              <a:rPr lang="en-US" sz="750" b="1" dirty="0">
                <a:solidFill>
                  <a:srgbClr val="F39200"/>
                </a:solidFill>
                <a:latin typeface="Montserrat Bold" pitchFamily="34" charset="0"/>
                <a:ea typeface="Montserrat Bold" pitchFamily="34" charset="-122"/>
                <a:cs typeface="Montserrat Bold" pitchFamily="34" charset="-120"/>
              </a:rPr>
              <a:t>BIM &amp; CAO</a:t>
            </a:r>
            <a:endParaRPr lang="en-US" sz="750" dirty="0"/>
          </a:p>
        </p:txBody>
      </p:sp>
      <p:sp>
        <p:nvSpPr>
          <p:cNvPr id="23" name="Text 21"/>
          <p:cNvSpPr/>
          <p:nvPr/>
        </p:nvSpPr>
        <p:spPr>
          <a:xfrm>
            <a:off x="6035040" y="3794760"/>
            <a:ext cx="2377440" cy="219456"/>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Revit, Navisworks, Dynamo, AutoCAD, IFC</a:t>
            </a:r>
            <a:endParaRPr lang="en-US" sz="750" dirty="0"/>
          </a:p>
        </p:txBody>
      </p:sp>
      <p:sp>
        <p:nvSpPr>
          <p:cNvPr id="24" name="Shape 22"/>
          <p:cNvSpPr/>
          <p:nvPr/>
        </p:nvSpPr>
        <p:spPr>
          <a:xfrm>
            <a:off x="4846320" y="4041648"/>
            <a:ext cx="3657600" cy="219456"/>
          </a:xfrm>
          <a:prstGeom prst="rect">
            <a:avLst/>
          </a:prstGeom>
          <a:solidFill>
            <a:srgbClr val="48B4AC"/>
          </a:solidFill>
          <a:ln/>
        </p:spPr>
      </p:sp>
      <p:sp>
        <p:nvSpPr>
          <p:cNvPr id="25" name="Text 23"/>
          <p:cNvSpPr/>
          <p:nvPr/>
        </p:nvSpPr>
        <p:spPr>
          <a:xfrm>
            <a:off x="4937760" y="4041648"/>
            <a:ext cx="1097280" cy="219456"/>
          </a:xfrm>
          <a:prstGeom prst="rect">
            <a:avLst/>
          </a:prstGeom>
          <a:noFill/>
          <a:ln/>
        </p:spPr>
        <p:txBody>
          <a:bodyPr wrap="square" lIns="0" tIns="0" rIns="0" bIns="0" rtlCol="0" anchor="ctr"/>
          <a:lstStyle/>
          <a:p>
            <a:pPr marL="0" indent="0">
              <a:buNone/>
            </a:pPr>
            <a:r>
              <a:rPr lang="en-US" sz="750" b="1" dirty="0">
                <a:solidFill>
                  <a:srgbClr val="F39200"/>
                </a:solidFill>
                <a:latin typeface="Montserrat Bold" pitchFamily="34" charset="0"/>
                <a:ea typeface="Montserrat Bold" pitchFamily="34" charset="-122"/>
                <a:cs typeface="Montserrat Bold" pitchFamily="34" charset="-120"/>
              </a:rPr>
              <a:t>Développement</a:t>
            </a:r>
            <a:endParaRPr lang="en-US" sz="750" dirty="0"/>
          </a:p>
        </p:txBody>
      </p:sp>
      <p:sp>
        <p:nvSpPr>
          <p:cNvPr id="26" name="Text 24"/>
          <p:cNvSpPr/>
          <p:nvPr/>
        </p:nvSpPr>
        <p:spPr>
          <a:xfrm>
            <a:off x="6035040" y="4041648"/>
            <a:ext cx="2377440" cy="219456"/>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Python, C#/API Revit, React, Node.js, PostgreSQL, Docker</a:t>
            </a:r>
            <a:endParaRPr lang="en-US" sz="750" dirty="0"/>
          </a:p>
        </p:txBody>
      </p:sp>
      <p:sp>
        <p:nvSpPr>
          <p:cNvPr id="27" name="Shape 25"/>
          <p:cNvSpPr/>
          <p:nvPr/>
        </p:nvSpPr>
        <p:spPr>
          <a:xfrm>
            <a:off x="4846320" y="4288536"/>
            <a:ext cx="3657600" cy="219456"/>
          </a:xfrm>
          <a:prstGeom prst="rect">
            <a:avLst/>
          </a:prstGeom>
          <a:solidFill>
            <a:srgbClr val="0F2B50"/>
          </a:solidFill>
          <a:ln/>
        </p:spPr>
      </p:sp>
      <p:sp>
        <p:nvSpPr>
          <p:cNvPr id="28" name="Text 26"/>
          <p:cNvSpPr/>
          <p:nvPr/>
        </p:nvSpPr>
        <p:spPr>
          <a:xfrm>
            <a:off x="4937760" y="4288536"/>
            <a:ext cx="1097280" cy="219456"/>
          </a:xfrm>
          <a:prstGeom prst="rect">
            <a:avLst/>
          </a:prstGeom>
          <a:noFill/>
          <a:ln/>
        </p:spPr>
        <p:txBody>
          <a:bodyPr wrap="square" lIns="0" tIns="0" rIns="0" bIns="0" rtlCol="0" anchor="ctr"/>
          <a:lstStyle/>
          <a:p>
            <a:pPr marL="0" indent="0">
              <a:buNone/>
            </a:pPr>
            <a:r>
              <a:rPr lang="en-US" sz="750" b="1" dirty="0">
                <a:solidFill>
                  <a:srgbClr val="F39200"/>
                </a:solidFill>
                <a:latin typeface="Montserrat Bold" pitchFamily="34" charset="0"/>
                <a:ea typeface="Montserrat Bold" pitchFamily="34" charset="-122"/>
                <a:cs typeface="Montserrat Bold" pitchFamily="34" charset="-120"/>
              </a:rPr>
              <a:t>Gestion</a:t>
            </a:r>
            <a:endParaRPr lang="en-US" sz="750" dirty="0"/>
          </a:p>
        </p:txBody>
      </p:sp>
      <p:sp>
        <p:nvSpPr>
          <p:cNvPr id="29" name="Text 27"/>
          <p:cNvSpPr/>
          <p:nvPr/>
        </p:nvSpPr>
        <p:spPr>
          <a:xfrm>
            <a:off x="6035040" y="4288536"/>
            <a:ext cx="2377440" cy="219456"/>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MS Project, Excel avancé, BIM360</a:t>
            </a:r>
            <a:endParaRPr lang="en-US" sz="750" dirty="0"/>
          </a:p>
        </p:txBody>
      </p:sp>
      <p:sp>
        <p:nvSpPr>
          <p:cNvPr id="30" name="Text 28"/>
          <p:cNvSpPr/>
          <p:nvPr/>
        </p:nvSpPr>
        <p:spPr>
          <a:xfrm>
            <a:off x="4846320" y="4343400"/>
            <a:ext cx="3657600" cy="137160"/>
          </a:xfrm>
          <a:prstGeom prst="rect">
            <a:avLst/>
          </a:prstGeom>
          <a:noFill/>
          <a:ln/>
        </p:spPr>
        <p:txBody>
          <a:bodyPr wrap="square" lIns="0" tIns="0" rIns="0" bIns="0" rtlCol="0" anchor="ctr"/>
          <a:lstStyle/>
          <a:p>
            <a:pPr marL="0" indent="0">
              <a:buNone/>
            </a:pPr>
            <a:r>
              <a:rPr lang="en-US" sz="650" dirty="0">
                <a:solidFill>
                  <a:srgbClr val="888888"/>
                </a:solidFill>
                <a:latin typeface="Inter" pitchFamily="34" charset="0"/>
                <a:ea typeface="Inter" pitchFamily="34" charset="-122"/>
                <a:cs typeface="Inter" pitchFamily="34" charset="-120"/>
              </a:rPr>
              <a:t>SIREN 999580053 / APE 7112B | 44 rue de la République, 42510 Bussières</a:t>
            </a:r>
            <a:endParaRPr lang="en-US" sz="650" dirty="0"/>
          </a:p>
        </p:txBody>
      </p:sp>
      <p:sp>
        <p:nvSpPr>
          <p:cNvPr id="31" name="Text 29"/>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3/15</a:t>
            </a:r>
            <a:endParaRPr lang="en-US" sz="700" dirty="0"/>
          </a:p>
        </p:txBody>
      </p:sp>
      <p:sp>
        <p:nvSpPr>
          <p:cNvPr id="32" name="Shape 30"/>
          <p:cNvSpPr/>
          <p:nvPr/>
        </p:nvSpPr>
        <p:spPr>
          <a:xfrm>
            <a:off x="0" y="5029200"/>
            <a:ext cx="9144000" cy="114300"/>
          </a:xfrm>
          <a:prstGeom prst="rect">
            <a:avLst/>
          </a:prstGeom>
          <a:solidFill>
            <a:srgbClr val="F3920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PROJET 1 : MISE À NIVEAU DE 4 COMMUNES</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Text 3"/>
          <p:cNvSpPr/>
          <p:nvPr/>
        </p:nvSpPr>
        <p:spPr>
          <a:xfrm>
            <a:off x="457200" y="777240"/>
            <a:ext cx="5029200" cy="502920"/>
          </a:xfrm>
          <a:prstGeom prst="rect">
            <a:avLst/>
          </a:prstGeom>
          <a:noFill/>
          <a:ln/>
        </p:spPr>
        <p:txBody>
          <a:bodyPr wrap="square" lIns="0" tIns="0" rIns="0" bIns="0" rtlCol="0" anchor="ctr"/>
          <a:lstStyle/>
          <a:p>
            <a:pPr marL="0" indent="0">
              <a:buNone/>
            </a:pPr>
            <a:r>
              <a:rPr lang="en-US" sz="900" dirty="0">
                <a:solidFill>
                  <a:srgbClr val="555555"/>
                </a:solidFill>
                <a:latin typeface="Inter" pitchFamily="34" charset="0"/>
                <a:ea typeface="Inter" pitchFamily="34" charset="-122"/>
                <a:cs typeface="Inter" pitchFamily="34" charset="-120"/>
              </a:rPr>
              <a:t>Programme d'aménagement urbain et VRD des centres émergents de 4 communes de la province de Khénifra. Marché unique couvrant 8 corps d'état, sur 4 sites distants de 20 à 80 km. Marché n°38-RBK-2017 (Lot 4).</a:t>
            </a:r>
            <a:endParaRPr lang="en-US" sz="900" dirty="0"/>
          </a:p>
        </p:txBody>
      </p:sp>
      <p:sp>
        <p:nvSpPr>
          <p:cNvPr id="6" name="Shape 4"/>
          <p:cNvSpPr/>
          <p:nvPr/>
        </p:nvSpPr>
        <p:spPr>
          <a:xfrm>
            <a:off x="5943600" y="777240"/>
            <a:ext cx="2743200" cy="502920"/>
          </a:xfrm>
          <a:prstGeom prst="rect">
            <a:avLst/>
          </a:prstGeom>
          <a:solidFill>
            <a:srgbClr val="1E3A5F"/>
          </a:solidFill>
          <a:ln/>
        </p:spPr>
      </p:sp>
      <p:sp>
        <p:nvSpPr>
          <p:cNvPr id="7" name="Text 5"/>
          <p:cNvSpPr/>
          <p:nvPr/>
        </p:nvSpPr>
        <p:spPr>
          <a:xfrm>
            <a:off x="6035040" y="777240"/>
            <a:ext cx="2560320" cy="274320"/>
          </a:xfrm>
          <a:prstGeom prst="rect">
            <a:avLst/>
          </a:prstGeom>
          <a:noFill/>
          <a:ln/>
        </p:spPr>
        <p:txBody>
          <a:bodyPr wrap="square" lIns="0" tIns="0" rIns="0" bIns="0" rtlCol="0" anchor="ctr"/>
          <a:lstStyle/>
          <a:p>
            <a:pPr marL="0" indent="0">
              <a:buNone/>
            </a:pPr>
            <a:r>
              <a:rPr lang="en-US" sz="1200" b="1" dirty="0">
                <a:solidFill>
                  <a:srgbClr val="F39200"/>
                </a:solidFill>
                <a:latin typeface="Montserrat Bold" pitchFamily="34" charset="0"/>
                <a:ea typeface="Montserrat Bold" pitchFamily="34" charset="-122"/>
                <a:cs typeface="Montserrat Bold" pitchFamily="34" charset="-120"/>
              </a:rPr>
              <a:t>53,5 M DH TTC · 44,6 M DH HT</a:t>
            </a:r>
            <a:endParaRPr lang="en-US" sz="1200" dirty="0"/>
          </a:p>
        </p:txBody>
      </p:sp>
      <p:sp>
        <p:nvSpPr>
          <p:cNvPr id="8" name="Text 6"/>
          <p:cNvSpPr/>
          <p:nvPr/>
        </p:nvSpPr>
        <p:spPr>
          <a:xfrm>
            <a:off x="6035040" y="1033272"/>
            <a:ext cx="2560320" cy="182880"/>
          </a:xfrm>
          <a:prstGeom prst="rect">
            <a:avLst/>
          </a:prstGeom>
          <a:noFill/>
          <a:ln/>
        </p:spPr>
        <p:txBody>
          <a:bodyPr wrap="square" lIns="0" tIns="0" rIns="0" bIns="0" rtlCol="0" anchor="ctr"/>
          <a:lstStyle/>
          <a:p>
            <a:pPr marL="0" indent="0">
              <a:buNone/>
            </a:pPr>
            <a:r>
              <a:rPr lang="en-US" sz="800" dirty="0">
                <a:solidFill>
                  <a:srgbClr val="5CC8C0"/>
                </a:solidFill>
                <a:latin typeface="Inter" pitchFamily="34" charset="0"/>
                <a:ea typeface="Inter" pitchFamily="34" charset="-122"/>
                <a:cs typeface="Inter" pitchFamily="34" charset="-120"/>
              </a:rPr>
              <a:t>soit 4,86 M€ | Lot unique | 4 communes</a:t>
            </a:r>
            <a:endParaRPr lang="en-US" sz="800" dirty="0"/>
          </a:p>
        </p:txBody>
      </p:sp>
      <p:sp>
        <p:nvSpPr>
          <p:cNvPr id="9" name="Shape 7"/>
          <p:cNvSpPr/>
          <p:nvPr/>
        </p:nvSpPr>
        <p:spPr>
          <a:xfrm>
            <a:off x="457200" y="1417320"/>
            <a:ext cx="2697480" cy="411480"/>
          </a:xfrm>
          <a:prstGeom prst="rect">
            <a:avLst/>
          </a:prstGeom>
          <a:solidFill>
            <a:srgbClr val="FFFFFF"/>
          </a:solidFill>
          <a:ln/>
          <a:effectLst>
            <a:outerShdw blurRad="50800" dist="25400" dir="8100000" algn="bl" rotWithShape="0">
              <a:srgbClr val="000000">
                <a:alpha val="12000"/>
              </a:srgbClr>
            </a:outerShdw>
          </a:effectLst>
        </p:spPr>
      </p:sp>
      <p:sp>
        <p:nvSpPr>
          <p:cNvPr id="10" name="Text 8"/>
          <p:cNvSpPr/>
          <p:nvPr/>
        </p:nvSpPr>
        <p:spPr>
          <a:xfrm>
            <a:off x="530352" y="1426464"/>
            <a:ext cx="777240" cy="393192"/>
          </a:xfrm>
          <a:prstGeom prst="rect">
            <a:avLst/>
          </a:prstGeom>
          <a:noFill/>
          <a:ln/>
        </p:spPr>
        <p:txBody>
          <a:bodyPr wrap="square" lIns="0" tIns="0" rIns="0" bIns="0" rtlCol="0" anchor="ctr"/>
          <a:lstStyle/>
          <a:p>
            <a:pPr marL="0" indent="0">
              <a:buNone/>
            </a:pPr>
            <a:r>
              <a:rPr lang="en-US" sz="800" b="1" dirty="0">
                <a:solidFill>
                  <a:srgbClr val="F39200"/>
                </a:solidFill>
                <a:latin typeface="Montserrat Bold" pitchFamily="34" charset="0"/>
                <a:ea typeface="Montserrat Bold" pitchFamily="34" charset="-122"/>
                <a:cs typeface="Montserrat Bold" pitchFamily="34" charset="-120"/>
              </a:rPr>
              <a:t>4 communes</a:t>
            </a:r>
            <a:endParaRPr lang="en-US" sz="800" dirty="0"/>
          </a:p>
        </p:txBody>
      </p:sp>
      <p:sp>
        <p:nvSpPr>
          <p:cNvPr id="11" name="Text 9"/>
          <p:cNvSpPr/>
          <p:nvPr/>
        </p:nvSpPr>
        <p:spPr>
          <a:xfrm>
            <a:off x="1325880" y="1426464"/>
            <a:ext cx="1737360" cy="393192"/>
          </a:xfrm>
          <a:prstGeom prst="rect">
            <a:avLst/>
          </a:prstGeom>
          <a:noFill/>
          <a:ln/>
        </p:spPr>
        <p:txBody>
          <a:bodyPr wrap="square" lIns="0" tIns="0" rIns="0" bIns="0" rtlCol="0" anchor="ctr"/>
          <a:lstStyle/>
          <a:p>
            <a:pPr marL="0" indent="0">
              <a:buNone/>
            </a:pPr>
            <a:r>
              <a:rPr lang="en-US" sz="750" dirty="0">
                <a:solidFill>
                  <a:srgbClr val="2D2D2D"/>
                </a:solidFill>
                <a:latin typeface="Inter" pitchFamily="34" charset="0"/>
                <a:ea typeface="Inter" pitchFamily="34" charset="-122"/>
                <a:cs typeface="Inter" pitchFamily="34" charset="-120"/>
              </a:rPr>
              <a:t>El Hammam, Kerrouchen, Ouaoumana, Sebt Ait Rahou</a:t>
            </a:r>
            <a:endParaRPr lang="en-US" sz="750" dirty="0"/>
          </a:p>
        </p:txBody>
      </p:sp>
      <p:sp>
        <p:nvSpPr>
          <p:cNvPr id="12" name="Shape 10"/>
          <p:cNvSpPr/>
          <p:nvPr/>
        </p:nvSpPr>
        <p:spPr>
          <a:xfrm>
            <a:off x="3337560" y="1417320"/>
            <a:ext cx="2697480" cy="411480"/>
          </a:xfrm>
          <a:prstGeom prst="rect">
            <a:avLst/>
          </a:prstGeom>
          <a:solidFill>
            <a:srgbClr val="FFFFFF"/>
          </a:solidFill>
          <a:ln/>
          <a:effectLst>
            <a:outerShdw blurRad="50800" dist="25400" dir="8100000" algn="bl" rotWithShape="0">
              <a:srgbClr val="000000">
                <a:alpha val="12000"/>
              </a:srgbClr>
            </a:outerShdw>
          </a:effectLst>
        </p:spPr>
      </p:sp>
      <p:sp>
        <p:nvSpPr>
          <p:cNvPr id="13" name="Text 11"/>
          <p:cNvSpPr/>
          <p:nvPr/>
        </p:nvSpPr>
        <p:spPr>
          <a:xfrm>
            <a:off x="3410712" y="1426464"/>
            <a:ext cx="777240" cy="393192"/>
          </a:xfrm>
          <a:prstGeom prst="rect">
            <a:avLst/>
          </a:prstGeom>
          <a:noFill/>
          <a:ln/>
        </p:spPr>
        <p:txBody>
          <a:bodyPr wrap="square" lIns="0" tIns="0" rIns="0" bIns="0" rtlCol="0" anchor="ctr"/>
          <a:lstStyle/>
          <a:p>
            <a:pPr marL="0" indent="0">
              <a:buNone/>
            </a:pPr>
            <a:r>
              <a:rPr lang="en-US" sz="800" b="1" dirty="0">
                <a:solidFill>
                  <a:srgbClr val="F39200"/>
                </a:solidFill>
                <a:latin typeface="Montserrat Bold" pitchFamily="34" charset="0"/>
                <a:ea typeface="Montserrat Bold" pitchFamily="34" charset="-122"/>
                <a:cs typeface="Montserrat Bold" pitchFamily="34" charset="-120"/>
              </a:rPr>
              <a:t>Nature</a:t>
            </a:r>
            <a:endParaRPr lang="en-US" sz="800" dirty="0"/>
          </a:p>
        </p:txBody>
      </p:sp>
      <p:sp>
        <p:nvSpPr>
          <p:cNvPr id="14" name="Text 12"/>
          <p:cNvSpPr/>
          <p:nvPr/>
        </p:nvSpPr>
        <p:spPr>
          <a:xfrm>
            <a:off x="4206240" y="1426464"/>
            <a:ext cx="1737360" cy="393192"/>
          </a:xfrm>
          <a:prstGeom prst="rect">
            <a:avLst/>
          </a:prstGeom>
          <a:noFill/>
          <a:ln/>
        </p:spPr>
        <p:txBody>
          <a:bodyPr wrap="square" lIns="0" tIns="0" rIns="0" bIns="0" rtlCol="0" anchor="ctr"/>
          <a:lstStyle/>
          <a:p>
            <a:pPr marL="0" indent="0">
              <a:buNone/>
            </a:pPr>
            <a:r>
              <a:rPr lang="en-US" sz="750" dirty="0">
                <a:solidFill>
                  <a:srgbClr val="2D2D2D"/>
                </a:solidFill>
                <a:latin typeface="Inter" pitchFamily="34" charset="0"/>
                <a:ea typeface="Inter" pitchFamily="34" charset="-122"/>
                <a:cs typeface="Inter" pitchFamily="34" charset="-120"/>
              </a:rPr>
              <a:t>Aménagement urbain - VRD</a:t>
            </a:r>
            <a:endParaRPr lang="en-US" sz="750" dirty="0"/>
          </a:p>
        </p:txBody>
      </p:sp>
      <p:sp>
        <p:nvSpPr>
          <p:cNvPr id="15" name="Shape 13"/>
          <p:cNvSpPr/>
          <p:nvPr/>
        </p:nvSpPr>
        <p:spPr>
          <a:xfrm>
            <a:off x="6217920" y="1417320"/>
            <a:ext cx="2697480" cy="411480"/>
          </a:xfrm>
          <a:prstGeom prst="rect">
            <a:avLst/>
          </a:prstGeom>
          <a:solidFill>
            <a:srgbClr val="FFFFFF"/>
          </a:solidFill>
          <a:ln/>
          <a:effectLst>
            <a:outerShdw blurRad="50800" dist="25400" dir="8100000" algn="bl" rotWithShape="0">
              <a:srgbClr val="000000">
                <a:alpha val="12000"/>
              </a:srgbClr>
            </a:outerShdw>
          </a:effectLst>
        </p:spPr>
      </p:sp>
      <p:sp>
        <p:nvSpPr>
          <p:cNvPr id="16" name="Text 14"/>
          <p:cNvSpPr/>
          <p:nvPr/>
        </p:nvSpPr>
        <p:spPr>
          <a:xfrm>
            <a:off x="6291072" y="1426464"/>
            <a:ext cx="777240" cy="393192"/>
          </a:xfrm>
          <a:prstGeom prst="rect">
            <a:avLst/>
          </a:prstGeom>
          <a:noFill/>
          <a:ln/>
        </p:spPr>
        <p:txBody>
          <a:bodyPr wrap="square" lIns="0" tIns="0" rIns="0" bIns="0" rtlCol="0" anchor="ctr"/>
          <a:lstStyle/>
          <a:p>
            <a:pPr marL="0" indent="0">
              <a:buNone/>
            </a:pPr>
            <a:r>
              <a:rPr lang="en-US" sz="800" b="1" dirty="0">
                <a:solidFill>
                  <a:srgbClr val="F39200"/>
                </a:solidFill>
                <a:latin typeface="Montserrat Bold" pitchFamily="34" charset="0"/>
                <a:ea typeface="Montserrat Bold" pitchFamily="34" charset="-122"/>
                <a:cs typeface="Montserrat Bold" pitchFamily="34" charset="-120"/>
              </a:rPr>
              <a:t>Pièces</a:t>
            </a:r>
            <a:endParaRPr lang="en-US" sz="800" dirty="0"/>
          </a:p>
        </p:txBody>
      </p:sp>
      <p:sp>
        <p:nvSpPr>
          <p:cNvPr id="17" name="Text 15"/>
          <p:cNvSpPr/>
          <p:nvPr/>
        </p:nvSpPr>
        <p:spPr>
          <a:xfrm>
            <a:off x="7086600" y="1426464"/>
            <a:ext cx="1737360" cy="393192"/>
          </a:xfrm>
          <a:prstGeom prst="rect">
            <a:avLst/>
          </a:prstGeom>
          <a:noFill/>
          <a:ln/>
        </p:spPr>
        <p:txBody>
          <a:bodyPr wrap="square" lIns="0" tIns="0" rIns="0" bIns="0" rtlCol="0" anchor="ctr"/>
          <a:lstStyle/>
          <a:p>
            <a:pPr marL="0" indent="0">
              <a:buNone/>
            </a:pPr>
            <a:r>
              <a:rPr lang="en-US" sz="750" dirty="0">
                <a:solidFill>
                  <a:srgbClr val="2D2D2D"/>
                </a:solidFill>
                <a:latin typeface="Inter" pitchFamily="34" charset="0"/>
                <a:ea typeface="Inter" pitchFamily="34" charset="-122"/>
                <a:cs typeface="Inter" pitchFamily="34" charset="-120"/>
              </a:rPr>
              <a:t>CPS + RC + BPDE + Plans | Appel d'offres ouvert</a:t>
            </a:r>
            <a:endParaRPr lang="en-US" sz="750" dirty="0"/>
          </a:p>
        </p:txBody>
      </p:sp>
      <p:graphicFrame>
        <p:nvGraphicFramePr>
          <p:cNvPr id="18" name="Chart 0"/>
          <p:cNvGraphicFramePr/>
          <p:nvPr/>
        </p:nvGraphicFramePr>
        <p:xfrm>
          <a:off x="274320" y="1965960"/>
          <a:ext cx="384048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16"/>
          <p:cNvSpPr/>
          <p:nvPr/>
        </p:nvSpPr>
        <p:spPr>
          <a:xfrm>
            <a:off x="4389120" y="1965960"/>
            <a:ext cx="4572000" cy="228600"/>
          </a:xfrm>
          <a:prstGeom prst="rect">
            <a:avLst/>
          </a:prstGeom>
          <a:noFill/>
          <a:ln/>
        </p:spPr>
        <p:txBody>
          <a:bodyPr wrap="square" lIns="0" tIns="0" rIns="0" bIns="0" rtlCol="0" anchor="ctr"/>
          <a:lstStyle/>
          <a:p>
            <a:pPr marL="0" indent="0">
              <a:buNone/>
            </a:pPr>
            <a:r>
              <a:rPr lang="en-US" sz="1100" b="1" dirty="0">
                <a:solidFill>
                  <a:srgbClr val="1E3A5F"/>
                </a:solidFill>
                <a:latin typeface="Montserrat Bold" pitchFamily="34" charset="0"/>
                <a:ea typeface="Montserrat Bold" pitchFamily="34" charset="-122"/>
                <a:cs typeface="Montserrat Bold" pitchFamily="34" charset="-120"/>
              </a:rPr>
              <a:t>8 CORPS D'ÉTAT</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389120" y="2194560"/>
          <a:ext cx="4297680" cy="2545080"/>
        </p:xfrm>
        <a:graphic>
          <a:graphicData uri="http://schemas.openxmlformats.org/drawingml/2006/table">
            <a:tbl>
              <a:tblPr/>
              <a:tblGrid>
                <a:gridCol w="3200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tblGrid>
              <a:tr h="173736">
                <a:tc>
                  <a:txBody>
                    <a:bodyPr/>
                    <a:lstStyle/>
                    <a:p>
                      <a:pPr marL="0" indent="0" algn="ctr">
                        <a:buNone/>
                      </a:pPr>
                      <a:r>
                        <a:rPr lang="en-US" sz="800" b="1" dirty="0">
                          <a:solidFill>
                            <a:srgbClr val="FFFFFF"/>
                          </a:solidFill>
                          <a:latin typeface="Montserrat Bold" pitchFamily="34" charset="0"/>
                          <a:ea typeface="Montserrat Bold" pitchFamily="34" charset="-122"/>
                          <a:cs typeface="Montserrat Bold" pitchFamily="34" charset="-120"/>
                        </a:rPr>
                        <a:t>N°</a:t>
                      </a:r>
                      <a:endParaRPr lang="en-US" sz="8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1E3A5F"/>
                    </a:solidFill>
                  </a:tcPr>
                </a:tc>
                <a:tc>
                  <a:txBody>
                    <a:bodyPr/>
                    <a:lstStyle/>
                    <a:p>
                      <a:pPr marL="0" indent="0">
                        <a:buNone/>
                      </a:pPr>
                      <a:r>
                        <a:rPr lang="en-US" sz="800" b="1" dirty="0">
                          <a:solidFill>
                            <a:srgbClr val="FFFFFF"/>
                          </a:solidFill>
                          <a:latin typeface="Montserrat Bold" pitchFamily="34" charset="0"/>
                          <a:ea typeface="Montserrat Bold" pitchFamily="34" charset="-122"/>
                          <a:cs typeface="Montserrat Bold" pitchFamily="34" charset="-120"/>
                        </a:rPr>
                        <a:t>Désignation</a:t>
                      </a:r>
                      <a:endParaRPr lang="en-US" sz="8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1E3A5F"/>
                    </a:solidFill>
                  </a:tcPr>
                </a:tc>
                <a:tc>
                  <a:txBody>
                    <a:bodyPr/>
                    <a:lstStyle/>
                    <a:p>
                      <a:pPr marL="0" indent="0">
                        <a:buNone/>
                      </a:pPr>
                      <a:r>
                        <a:rPr lang="en-US" sz="800" b="1" dirty="0">
                          <a:solidFill>
                            <a:srgbClr val="FFFFFF"/>
                          </a:solidFill>
                          <a:latin typeface="Montserrat Bold" pitchFamily="34" charset="0"/>
                          <a:ea typeface="Montserrat Bold" pitchFamily="34" charset="-122"/>
                          <a:cs typeface="Montserrat Bold" pitchFamily="34" charset="-120"/>
                        </a:rPr>
                        <a:t>Exemple de travaux</a:t>
                      </a:r>
                      <a:endParaRPr lang="en-US" sz="8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137160">
                <a:tc>
                  <a:txBody>
                    <a:bodyPr/>
                    <a:lstStyle/>
                    <a:p>
                      <a:pPr marL="0" indent="0" algn="ctr">
                        <a:buNone/>
                      </a:pPr>
                      <a:r>
                        <a:rPr lang="en-US" sz="700" dirty="0">
                          <a:solidFill>
                            <a:srgbClr val="F39200"/>
                          </a:solidFill>
                          <a:latin typeface="Montserrat Bold" pitchFamily="34" charset="0"/>
                          <a:ea typeface="Montserrat Bold" pitchFamily="34" charset="-122"/>
                          <a:cs typeface="Montserrat Bold" pitchFamily="34" charset="-120"/>
                        </a:rPr>
                        <a:t>01</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Assainissement &amp; réseaux</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Tranchées, buses PEHD Ø400-Ø500, regards, bouches d'égout</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37160">
                <a:tc>
                  <a:txBody>
                    <a:bodyPr/>
                    <a:lstStyle/>
                    <a:p>
                      <a:pPr marL="0" indent="0" algn="ctr">
                        <a:buNone/>
                      </a:pPr>
                      <a:r>
                        <a:rPr lang="en-US" sz="700" dirty="0">
                          <a:solidFill>
                            <a:srgbClr val="F39200"/>
                          </a:solidFill>
                          <a:latin typeface="Montserrat Bold" pitchFamily="34" charset="0"/>
                          <a:ea typeface="Montserrat Bold" pitchFamily="34" charset="-122"/>
                          <a:cs typeface="Montserrat Bold" pitchFamily="34" charset="-120"/>
                        </a:rPr>
                        <a:t>02</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Travaux de chaussée</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Terrassement, couche GNF1, couche base GNA, enrobés EB 0/10</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137160">
                <a:tc>
                  <a:txBody>
                    <a:bodyPr/>
                    <a:lstStyle/>
                    <a:p>
                      <a:pPr marL="0" indent="0" algn="ctr">
                        <a:buNone/>
                      </a:pPr>
                      <a:r>
                        <a:rPr lang="en-US" sz="700" dirty="0">
                          <a:solidFill>
                            <a:srgbClr val="F39200"/>
                          </a:solidFill>
                          <a:latin typeface="Montserrat Bold" pitchFamily="34" charset="0"/>
                          <a:ea typeface="Montserrat Bold" pitchFamily="34" charset="-122"/>
                          <a:cs typeface="Montserrat Bold" pitchFamily="34" charset="-120"/>
                        </a:rPr>
                        <a:t>03</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Aménagement trottoirs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Bordures T1/T3, béton, revêtement carreaux striés, pavés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37160">
                <a:tc>
                  <a:txBody>
                    <a:bodyPr/>
                    <a:lstStyle/>
                    <a:p>
                      <a:pPr marL="0" indent="0" algn="ctr">
                        <a:buNone/>
                      </a:pPr>
                      <a:r>
                        <a:rPr lang="en-US" sz="700" dirty="0">
                          <a:solidFill>
                            <a:srgbClr val="F39200"/>
                          </a:solidFill>
                          <a:latin typeface="Montserrat Bold" pitchFamily="34" charset="0"/>
                          <a:ea typeface="Montserrat Bold" pitchFamily="34" charset="-122"/>
                          <a:cs typeface="Montserrat Bold" pitchFamily="34" charset="-120"/>
                        </a:rPr>
                        <a:t>04</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Signalisation</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Marquage au sol, panneaux réglementaires, peinture bordures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137160">
                <a:tc>
                  <a:txBody>
                    <a:bodyPr/>
                    <a:lstStyle/>
                    <a:p>
                      <a:pPr marL="0" indent="0" algn="ctr">
                        <a:buNone/>
                      </a:pPr>
                      <a:r>
                        <a:rPr lang="en-US" sz="700" dirty="0">
                          <a:solidFill>
                            <a:srgbClr val="F39200"/>
                          </a:solidFill>
                          <a:latin typeface="Montserrat Bold" pitchFamily="34" charset="0"/>
                          <a:ea typeface="Montserrat Bold" pitchFamily="34" charset="-122"/>
                          <a:cs typeface="Montserrat Bold" pitchFamily="34" charset="-120"/>
                        </a:rPr>
                        <a:t>05</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Éclairage public</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Tranchées, tubes annelés, massifs candélabres (163 U), câbles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37160">
                <a:tc>
                  <a:txBody>
                    <a:bodyPr/>
                    <a:lstStyle/>
                    <a:p>
                      <a:pPr marL="0" indent="0" algn="ctr">
                        <a:buNone/>
                      </a:pPr>
                      <a:r>
                        <a:rPr lang="en-US" sz="700" dirty="0">
                          <a:solidFill>
                            <a:srgbClr val="F39200"/>
                          </a:solidFill>
                          <a:latin typeface="Montserrat Bold" pitchFamily="34" charset="0"/>
                          <a:ea typeface="Montserrat Bold" pitchFamily="34" charset="-122"/>
                          <a:cs typeface="Montserrat Bold" pitchFamily="34" charset="-120"/>
                        </a:rPr>
                        <a:t>06</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Murs &amp; ouvrages divers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Béton armé, maçonnerie moellons, murs de soutènement, gabions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137160">
                <a:tc>
                  <a:txBody>
                    <a:bodyPr/>
                    <a:lstStyle/>
                    <a:p>
                      <a:pPr marL="0" indent="0" algn="ctr">
                        <a:buNone/>
                      </a:pPr>
                      <a:r>
                        <a:rPr lang="en-US" sz="700" dirty="0">
                          <a:solidFill>
                            <a:srgbClr val="F39200"/>
                          </a:solidFill>
                          <a:latin typeface="Montserrat Bold" pitchFamily="34" charset="0"/>
                          <a:ea typeface="Montserrat Bold" pitchFamily="34" charset="-122"/>
                          <a:cs typeface="Montserrat Bold" pitchFamily="34" charset="-120"/>
                        </a:rPr>
                        <a:t>07</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Aménagement paysager</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Terre végétale, réseau d'arrosage intégré, plantation arbres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37160">
                <a:tc>
                  <a:txBody>
                    <a:bodyPr/>
                    <a:lstStyle/>
                    <a:p>
                      <a:pPr marL="0" indent="0" algn="ctr">
                        <a:buNone/>
                      </a:pPr>
                      <a:r>
                        <a:rPr lang="en-US" sz="700" dirty="0">
                          <a:solidFill>
                            <a:srgbClr val="F39200"/>
                          </a:solidFill>
                          <a:latin typeface="Montserrat Bold" pitchFamily="34" charset="0"/>
                          <a:ea typeface="Montserrat Bold" pitchFamily="34" charset="-122"/>
                          <a:cs typeface="Montserrat Bold" pitchFamily="34" charset="-120"/>
                        </a:rPr>
                        <a:t>08</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Mobilier urbain</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Corbeilles, bancs en granite, bornes d'aménagement</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8"/>
                  </a:ext>
                </a:extLst>
              </a:tr>
            </a:tbl>
          </a:graphicData>
        </a:graphic>
      </p:graphicFrame>
      <p:sp>
        <p:nvSpPr>
          <p:cNvPr id="21" name="Text 17"/>
          <p:cNvSpPr/>
          <p:nvPr/>
        </p:nvSpPr>
        <p:spPr>
          <a:xfrm>
            <a:off x="457200" y="4160520"/>
            <a:ext cx="8229600" cy="182880"/>
          </a:xfrm>
          <a:prstGeom prst="rect">
            <a:avLst/>
          </a:prstGeom>
          <a:noFill/>
          <a:ln/>
        </p:spPr>
        <p:txBody>
          <a:bodyPr wrap="square" lIns="0" tIns="0" rIns="0" bIns="0" rtlCol="0" anchor="ctr"/>
          <a:lstStyle/>
          <a:p>
            <a:pPr marL="0" indent="0">
              <a:buNone/>
            </a:pPr>
            <a:r>
              <a:rPr lang="en-US" sz="800" i="1" dirty="0">
                <a:solidFill>
                  <a:srgbClr val="555555"/>
                </a:solidFill>
                <a:latin typeface="Inter" pitchFamily="34" charset="0"/>
                <a:ea typeface="Inter" pitchFamily="34" charset="-122"/>
                <a:cs typeface="Inter" pitchFamily="34" charset="-120"/>
              </a:rPr>
              <a:t>Mes missions : avant-métrés (112 prix/commune), estimation confidentielle, commission AO, suivi financier 18 mois</a:t>
            </a:r>
            <a:endParaRPr lang="en-US" sz="800" dirty="0"/>
          </a:p>
        </p:txBody>
      </p:sp>
      <p:sp>
        <p:nvSpPr>
          <p:cNvPr id="22" name="Text 18"/>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4/15</a:t>
            </a:r>
            <a:endParaRPr lang="en-US" sz="700" dirty="0"/>
          </a:p>
        </p:txBody>
      </p:sp>
      <p:sp>
        <p:nvSpPr>
          <p:cNvPr id="23" name="Shape 19"/>
          <p:cNvSpPr/>
          <p:nvPr/>
        </p:nvSpPr>
        <p:spPr>
          <a:xfrm>
            <a:off x="0" y="5029200"/>
            <a:ext cx="9144000" cy="114300"/>
          </a:xfrm>
          <a:prstGeom prst="rect">
            <a:avLst/>
          </a:prstGeom>
          <a:solidFill>
            <a:srgbClr val="F39200"/>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SITUATIONS 1 &amp; 2 : ESTIMATION ET ANALYSE DES OFFRES</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Shape 3"/>
          <p:cNvSpPr/>
          <p:nvPr/>
        </p:nvSpPr>
        <p:spPr>
          <a:xfrm>
            <a:off x="457200" y="868680"/>
            <a:ext cx="3931920" cy="365760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457200" y="868680"/>
            <a:ext cx="3931920" cy="457200"/>
          </a:xfrm>
          <a:prstGeom prst="rect">
            <a:avLst/>
          </a:prstGeom>
          <a:solidFill>
            <a:srgbClr val="1E3A5F"/>
          </a:solidFill>
          <a:ln/>
        </p:spPr>
      </p:sp>
      <p:sp>
        <p:nvSpPr>
          <p:cNvPr id="7" name="Text 5"/>
          <p:cNvSpPr/>
          <p:nvPr/>
        </p:nvSpPr>
        <p:spPr>
          <a:xfrm>
            <a:off x="594360" y="868680"/>
            <a:ext cx="3657600" cy="457200"/>
          </a:xfrm>
          <a:prstGeom prst="rect">
            <a:avLst/>
          </a:prstGeom>
          <a:noFill/>
          <a:ln/>
        </p:spPr>
        <p:txBody>
          <a:bodyPr wrap="square" lIns="0" tIns="0" rIns="0" bIns="0" rtlCol="0" anchor="ctr"/>
          <a:lstStyle/>
          <a:p>
            <a:pPr marL="0" indent="0">
              <a:buNone/>
            </a:pPr>
            <a:r>
              <a:rPr lang="en-US" sz="1400" b="1" dirty="0">
                <a:solidFill>
                  <a:srgbClr val="F39200"/>
                </a:solidFill>
                <a:latin typeface="Montserrat Bold" pitchFamily="34" charset="0"/>
                <a:ea typeface="Montserrat Bold" pitchFamily="34" charset="-122"/>
                <a:cs typeface="Montserrat Bold" pitchFamily="34" charset="-120"/>
              </a:rPr>
              <a:t>S1 </a:t>
            </a:r>
            <a:r>
              <a:rPr lang="en-US" sz="1100" b="1" dirty="0">
                <a:solidFill>
                  <a:srgbClr val="FFFFFF"/>
                </a:solidFill>
                <a:latin typeface="Montserrat Bold" pitchFamily="34" charset="0"/>
                <a:ea typeface="Montserrat Bold" pitchFamily="34" charset="-122"/>
                <a:cs typeface="Montserrat Bold" pitchFamily="34" charset="-120"/>
              </a:rPr>
              <a:t>Estimation confidentielle - Ouaoumana</a:t>
            </a:r>
            <a:endParaRPr lang="en-US" sz="1400" dirty="0"/>
          </a:p>
        </p:txBody>
      </p:sp>
      <p:sp>
        <p:nvSpPr>
          <p:cNvPr id="8" name="Text 6"/>
          <p:cNvSpPr/>
          <p:nvPr/>
        </p:nvSpPr>
        <p:spPr>
          <a:xfrm>
            <a:off x="594360" y="1371600"/>
            <a:ext cx="3657600" cy="182880"/>
          </a:xfrm>
          <a:prstGeom prst="rect">
            <a:avLst/>
          </a:prstGeom>
          <a:noFill/>
          <a:ln/>
        </p:spPr>
        <p:txBody>
          <a:bodyPr wrap="square" lIns="0" tIns="0" rIns="0" bIns="0" rtlCol="0" anchor="ctr"/>
          <a:lstStyle/>
          <a:p>
            <a:pPr marL="0" indent="0">
              <a:buNone/>
            </a:pPr>
            <a:r>
              <a:rPr lang="en-US" sz="750" i="1" dirty="0">
                <a:solidFill>
                  <a:srgbClr val="48B4AC"/>
                </a:solidFill>
                <a:latin typeface="Inter" pitchFamily="34" charset="0"/>
                <a:ea typeface="Inter" pitchFamily="34" charset="-122"/>
                <a:cs typeface="Inter" pitchFamily="34" charset="-120"/>
              </a:rPr>
              <a:t>Réaliser des métrés tous corps d'état et estimer un ouvrage</a:t>
            </a:r>
            <a:endParaRPr lang="en-US" sz="750" dirty="0"/>
          </a:p>
        </p:txBody>
      </p:sp>
      <p:sp>
        <p:nvSpPr>
          <p:cNvPr id="9" name="Text 7"/>
          <p:cNvSpPr/>
          <p:nvPr/>
        </p:nvSpPr>
        <p:spPr>
          <a:xfrm>
            <a:off x="594360" y="1600200"/>
            <a:ext cx="1188720" cy="457200"/>
          </a:xfrm>
          <a:prstGeom prst="rect">
            <a:avLst/>
          </a:prstGeom>
          <a:noFill/>
          <a:ln/>
        </p:spPr>
        <p:txBody>
          <a:bodyPr wrap="square" lIns="0" tIns="0" rIns="0" bIns="0" rtlCol="0" anchor="ctr"/>
          <a:lstStyle/>
          <a:p>
            <a:pPr marL="0" indent="0">
              <a:buNone/>
            </a:pPr>
            <a:r>
              <a:rPr lang="en-US" sz="3200" b="1" dirty="0">
                <a:solidFill>
                  <a:srgbClr val="F39200"/>
                </a:solidFill>
                <a:latin typeface="Montserrat Bold" pitchFamily="34" charset="0"/>
                <a:ea typeface="Montserrat Bold" pitchFamily="34" charset="-122"/>
                <a:cs typeface="Montserrat Bold" pitchFamily="34" charset="-120"/>
              </a:rPr>
              <a:t>3,2%</a:t>
            </a:r>
            <a:endParaRPr lang="en-US" sz="3200" dirty="0"/>
          </a:p>
        </p:txBody>
      </p:sp>
      <p:sp>
        <p:nvSpPr>
          <p:cNvPr id="10" name="Text 8"/>
          <p:cNvSpPr/>
          <p:nvPr/>
        </p:nvSpPr>
        <p:spPr>
          <a:xfrm>
            <a:off x="1828800" y="1627632"/>
            <a:ext cx="2377440" cy="411480"/>
          </a:xfrm>
          <a:prstGeom prst="rect">
            <a:avLst/>
          </a:prstGeom>
          <a:noFill/>
          <a:ln/>
        </p:spPr>
        <p:txBody>
          <a:bodyPr wrap="square" lIns="0" tIns="0" rIns="0" bIns="0" rtlCol="0" anchor="ctr"/>
          <a:lstStyle/>
          <a:p>
            <a:pPr marL="0" indent="0">
              <a:buNone/>
            </a:pPr>
            <a:r>
              <a:rPr lang="en-US" sz="900" dirty="0">
                <a:solidFill>
                  <a:srgbClr val="555555"/>
                </a:solidFill>
                <a:latin typeface="Inter" pitchFamily="34" charset="0"/>
                <a:ea typeface="Inter" pitchFamily="34" charset="-122"/>
                <a:cs typeface="Inter" pitchFamily="34" charset="-120"/>
              </a:rPr>
              <a:t>d'écart avec l'offre retenue</a:t>
            </a:r>
            <a:endParaRPr lang="en-US" sz="900" dirty="0"/>
          </a:p>
          <a:p>
            <a:pPr marL="0" indent="0">
              <a:buNone/>
            </a:pPr>
            <a:r>
              <a:rPr lang="en-US" sz="900" dirty="0">
                <a:solidFill>
                  <a:srgbClr val="555555"/>
                </a:solidFill>
                <a:latin typeface="Inter" pitchFamily="34" charset="0"/>
                <a:ea typeface="Inter" pitchFamily="34" charset="-122"/>
                <a:cs typeface="Inter" pitchFamily="34" charset="-120"/>
              </a:rPr>
              <a:t>(vs 5-10% habituel)</a:t>
            </a:r>
            <a:endParaRPr lang="en-US" sz="900" dirty="0"/>
          </a:p>
        </p:txBody>
      </p:sp>
      <p:sp>
        <p:nvSpPr>
          <p:cNvPr id="11" name="Shape 9"/>
          <p:cNvSpPr/>
          <p:nvPr/>
        </p:nvSpPr>
        <p:spPr>
          <a:xfrm>
            <a:off x="594360" y="2148840"/>
            <a:ext cx="274320" cy="274320"/>
          </a:xfrm>
          <a:prstGeom prst="rect">
            <a:avLst/>
          </a:prstGeom>
          <a:solidFill>
            <a:srgbClr val="1E3A5F"/>
          </a:solidFill>
          <a:ln/>
        </p:spPr>
      </p:sp>
      <p:sp>
        <p:nvSpPr>
          <p:cNvPr id="12" name="Text 10"/>
          <p:cNvSpPr/>
          <p:nvPr/>
        </p:nvSpPr>
        <p:spPr>
          <a:xfrm>
            <a:off x="594360" y="214884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Montserrat Bold" pitchFamily="34" charset="0"/>
                <a:ea typeface="Montserrat Bold" pitchFamily="34" charset="-122"/>
                <a:cs typeface="Montserrat Bold" pitchFamily="34" charset="-120"/>
              </a:rPr>
              <a:t>C</a:t>
            </a:r>
            <a:endParaRPr lang="en-US" sz="1100" dirty="0"/>
          </a:p>
        </p:txBody>
      </p:sp>
      <p:sp>
        <p:nvSpPr>
          <p:cNvPr id="13" name="Text 11"/>
          <p:cNvSpPr/>
          <p:nvPr/>
        </p:nvSpPr>
        <p:spPr>
          <a:xfrm>
            <a:off x="960120" y="2130552"/>
            <a:ext cx="3291840" cy="502920"/>
          </a:xfrm>
          <a:prstGeom prst="rect">
            <a:avLst/>
          </a:prstGeom>
          <a:noFill/>
          <a:ln/>
        </p:spPr>
        <p:txBody>
          <a:bodyPr wrap="square" lIns="0" tIns="0" rIns="0" bIns="0" rtlCol="0" anchor="t"/>
          <a:lstStyle/>
          <a:p>
            <a:pPr marL="0" indent="0">
              <a:buNone/>
            </a:pPr>
            <a:r>
              <a:rPr lang="en-US" sz="800" dirty="0">
                <a:solidFill>
                  <a:srgbClr val="2D2D2D"/>
                </a:solidFill>
                <a:latin typeface="Inter" pitchFamily="34" charset="0"/>
                <a:ea typeface="Inter" pitchFamily="34" charset="-122"/>
                <a:cs typeface="Inter" pitchFamily="34" charset="-120"/>
              </a:rPr>
              <a:t>15,8 M DH HT (35% du budget). 112 prix. Estimation fiable, défendable, livrée en 3 semaines.</a:t>
            </a:r>
            <a:endParaRPr lang="en-US" sz="800" dirty="0"/>
          </a:p>
        </p:txBody>
      </p:sp>
      <p:sp>
        <p:nvSpPr>
          <p:cNvPr id="14" name="Shape 12"/>
          <p:cNvSpPr/>
          <p:nvPr/>
        </p:nvSpPr>
        <p:spPr>
          <a:xfrm>
            <a:off x="594360" y="2697480"/>
            <a:ext cx="274320" cy="274320"/>
          </a:xfrm>
          <a:prstGeom prst="rect">
            <a:avLst/>
          </a:prstGeom>
          <a:solidFill>
            <a:srgbClr val="1E3A5F"/>
          </a:solidFill>
          <a:ln/>
        </p:spPr>
      </p:sp>
      <p:sp>
        <p:nvSpPr>
          <p:cNvPr id="15" name="Text 13"/>
          <p:cNvSpPr/>
          <p:nvPr/>
        </p:nvSpPr>
        <p:spPr>
          <a:xfrm>
            <a:off x="594360" y="269748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Montserrat Bold" pitchFamily="34" charset="0"/>
                <a:ea typeface="Montserrat Bold" pitchFamily="34" charset="-122"/>
                <a:cs typeface="Montserrat Bold" pitchFamily="34" charset="-120"/>
              </a:rPr>
              <a:t>P</a:t>
            </a:r>
            <a:endParaRPr lang="en-US" sz="1100" dirty="0"/>
          </a:p>
        </p:txBody>
      </p:sp>
      <p:sp>
        <p:nvSpPr>
          <p:cNvPr id="16" name="Text 14"/>
          <p:cNvSpPr/>
          <p:nvPr/>
        </p:nvSpPr>
        <p:spPr>
          <a:xfrm>
            <a:off x="960120" y="2679192"/>
            <a:ext cx="3291840" cy="502920"/>
          </a:xfrm>
          <a:prstGeom prst="rect">
            <a:avLst/>
          </a:prstGeom>
          <a:noFill/>
          <a:ln/>
        </p:spPr>
        <p:txBody>
          <a:bodyPr wrap="square" lIns="0" tIns="0" rIns="0" bIns="0" rtlCol="0" anchor="t"/>
          <a:lstStyle/>
          <a:p>
            <a:pPr marL="0" indent="0">
              <a:buNone/>
            </a:pPr>
            <a:r>
              <a:rPr lang="en-US" sz="800" dirty="0">
                <a:solidFill>
                  <a:srgbClr val="2D2D2D"/>
                </a:solidFill>
                <a:latin typeface="Inter" pitchFamily="34" charset="0"/>
                <a:ea typeface="Inter" pitchFamily="34" charset="-122"/>
                <a:cs typeface="Inter" pitchFamily="34" charset="-120"/>
              </a:rPr>
              <a:t>Plans incohérents (profils en long non calés, regards mal positionnés). Mercuriale de 2014 : dérive 15-22% sur enrobés, canalisations, acier.</a:t>
            </a:r>
            <a:endParaRPr lang="en-US" sz="800" dirty="0"/>
          </a:p>
        </p:txBody>
      </p:sp>
      <p:sp>
        <p:nvSpPr>
          <p:cNvPr id="17" name="Shape 15"/>
          <p:cNvSpPr/>
          <p:nvPr/>
        </p:nvSpPr>
        <p:spPr>
          <a:xfrm>
            <a:off x="594360" y="3246120"/>
            <a:ext cx="274320" cy="274320"/>
          </a:xfrm>
          <a:prstGeom prst="rect">
            <a:avLst/>
          </a:prstGeom>
          <a:solidFill>
            <a:srgbClr val="1E3A5F"/>
          </a:solidFill>
          <a:ln/>
        </p:spPr>
      </p:sp>
      <p:sp>
        <p:nvSpPr>
          <p:cNvPr id="18" name="Text 16"/>
          <p:cNvSpPr/>
          <p:nvPr/>
        </p:nvSpPr>
        <p:spPr>
          <a:xfrm>
            <a:off x="594360" y="324612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Montserrat Bold" pitchFamily="34" charset="0"/>
                <a:ea typeface="Montserrat Bold" pitchFamily="34" charset="-122"/>
                <a:cs typeface="Montserrat Bold" pitchFamily="34" charset="-120"/>
              </a:rPr>
              <a:t>A</a:t>
            </a:r>
            <a:endParaRPr lang="en-US" sz="1100" dirty="0"/>
          </a:p>
        </p:txBody>
      </p:sp>
      <p:sp>
        <p:nvSpPr>
          <p:cNvPr id="19" name="Text 17"/>
          <p:cNvSpPr/>
          <p:nvPr/>
        </p:nvSpPr>
        <p:spPr>
          <a:xfrm>
            <a:off x="960120" y="3227832"/>
            <a:ext cx="3291840" cy="502920"/>
          </a:xfrm>
          <a:prstGeom prst="rect">
            <a:avLst/>
          </a:prstGeom>
          <a:noFill/>
          <a:ln/>
        </p:spPr>
        <p:txBody>
          <a:bodyPr wrap="square" lIns="0" tIns="0" rIns="0" bIns="0" rtlCol="0" anchor="t"/>
          <a:lstStyle/>
          <a:p>
            <a:pPr marL="0" indent="0">
              <a:buNone/>
            </a:pPr>
            <a:r>
              <a:rPr lang="en-US" sz="800" dirty="0">
                <a:solidFill>
                  <a:srgbClr val="2D2D2D"/>
                </a:solidFill>
                <a:latin typeface="Inter" pitchFamily="34" charset="0"/>
                <a:ea typeface="Inter" pitchFamily="34" charset="-122"/>
                <a:cs typeface="Inter" pitchFamily="34" charset="-120"/>
              </a:rPr>
              <a:t>112 lignes métrés AutoCAD + 4 visites terrain. Prix unitaires croisés : mercuriale actualisée + 5 marchés similaires + 8 devis fournisseurs. Relecture croisée avant validation Directeur.</a:t>
            </a:r>
            <a:endParaRPr lang="en-US" sz="800" dirty="0"/>
          </a:p>
        </p:txBody>
      </p:sp>
      <p:sp>
        <p:nvSpPr>
          <p:cNvPr id="20" name="Shape 18"/>
          <p:cNvSpPr/>
          <p:nvPr/>
        </p:nvSpPr>
        <p:spPr>
          <a:xfrm>
            <a:off x="594360" y="3794760"/>
            <a:ext cx="274320" cy="274320"/>
          </a:xfrm>
          <a:prstGeom prst="rect">
            <a:avLst/>
          </a:prstGeom>
          <a:solidFill>
            <a:srgbClr val="48B4AC"/>
          </a:solidFill>
          <a:ln/>
        </p:spPr>
      </p:sp>
      <p:sp>
        <p:nvSpPr>
          <p:cNvPr id="21" name="Text 19"/>
          <p:cNvSpPr/>
          <p:nvPr/>
        </p:nvSpPr>
        <p:spPr>
          <a:xfrm>
            <a:off x="594360" y="379476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Montserrat Bold" pitchFamily="34" charset="0"/>
                <a:ea typeface="Montserrat Bold" pitchFamily="34" charset="-122"/>
                <a:cs typeface="Montserrat Bold" pitchFamily="34" charset="-120"/>
              </a:rPr>
              <a:t>R</a:t>
            </a:r>
            <a:endParaRPr lang="en-US" sz="1100" dirty="0"/>
          </a:p>
        </p:txBody>
      </p:sp>
      <p:sp>
        <p:nvSpPr>
          <p:cNvPr id="22" name="Text 20"/>
          <p:cNvSpPr/>
          <p:nvPr/>
        </p:nvSpPr>
        <p:spPr>
          <a:xfrm>
            <a:off x="960120" y="3776472"/>
            <a:ext cx="3291840" cy="502920"/>
          </a:xfrm>
          <a:prstGeom prst="rect">
            <a:avLst/>
          </a:prstGeom>
          <a:noFill/>
          <a:ln/>
        </p:spPr>
        <p:txBody>
          <a:bodyPr wrap="square" lIns="0" tIns="0" rIns="0" bIns="0" rtlCol="0" anchor="t"/>
          <a:lstStyle/>
          <a:p>
            <a:pPr marL="0" indent="0">
              <a:buNone/>
            </a:pPr>
            <a:r>
              <a:rPr lang="en-US" sz="800" dirty="0">
                <a:solidFill>
                  <a:srgbClr val="2D2D2D"/>
                </a:solidFill>
                <a:latin typeface="Inter" pitchFamily="34" charset="0"/>
                <a:ea typeface="Inter" pitchFamily="34" charset="-122"/>
                <a:cs typeface="Inter" pitchFamily="34" charset="-120"/>
              </a:rPr>
              <a:t>Livré en 3 semaines. Écart 3,2%. Méthode adoptée comme standard pour les 3 autres communes. Aucune contestation en CAO.</a:t>
            </a:r>
            <a:endParaRPr lang="en-US" sz="800" dirty="0"/>
          </a:p>
        </p:txBody>
      </p:sp>
      <p:sp>
        <p:nvSpPr>
          <p:cNvPr id="23" name="Shape 21"/>
          <p:cNvSpPr/>
          <p:nvPr/>
        </p:nvSpPr>
        <p:spPr>
          <a:xfrm>
            <a:off x="4663440" y="868680"/>
            <a:ext cx="4023360" cy="3657600"/>
          </a:xfrm>
          <a:prstGeom prst="rect">
            <a:avLst/>
          </a:prstGeom>
          <a:solidFill>
            <a:srgbClr val="FFFFFF"/>
          </a:solidFill>
          <a:ln/>
          <a:effectLst>
            <a:outerShdw blurRad="50800" dist="25400" dir="8100000" algn="bl" rotWithShape="0">
              <a:srgbClr val="000000">
                <a:alpha val="12000"/>
              </a:srgbClr>
            </a:outerShdw>
          </a:effectLst>
        </p:spPr>
      </p:sp>
      <p:sp>
        <p:nvSpPr>
          <p:cNvPr id="24" name="Shape 22"/>
          <p:cNvSpPr/>
          <p:nvPr/>
        </p:nvSpPr>
        <p:spPr>
          <a:xfrm>
            <a:off x="4663440" y="868680"/>
            <a:ext cx="4023360" cy="457200"/>
          </a:xfrm>
          <a:prstGeom prst="rect">
            <a:avLst/>
          </a:prstGeom>
          <a:solidFill>
            <a:srgbClr val="1E3A5F"/>
          </a:solidFill>
          <a:ln/>
        </p:spPr>
      </p:sp>
      <p:sp>
        <p:nvSpPr>
          <p:cNvPr id="25" name="Text 23"/>
          <p:cNvSpPr/>
          <p:nvPr/>
        </p:nvSpPr>
        <p:spPr>
          <a:xfrm>
            <a:off x="4800600" y="868680"/>
            <a:ext cx="3749040" cy="457200"/>
          </a:xfrm>
          <a:prstGeom prst="rect">
            <a:avLst/>
          </a:prstGeom>
          <a:noFill/>
          <a:ln/>
        </p:spPr>
        <p:txBody>
          <a:bodyPr wrap="square" lIns="0" tIns="0" rIns="0" bIns="0" rtlCol="0" anchor="ctr"/>
          <a:lstStyle/>
          <a:p>
            <a:pPr marL="0" indent="0">
              <a:buNone/>
            </a:pPr>
            <a:r>
              <a:rPr lang="en-US" sz="1400" b="1" dirty="0">
                <a:solidFill>
                  <a:srgbClr val="F39200"/>
                </a:solidFill>
                <a:latin typeface="Montserrat Bold" pitchFamily="34" charset="0"/>
                <a:ea typeface="Montserrat Bold" pitchFamily="34" charset="-122"/>
                <a:cs typeface="Montserrat Bold" pitchFamily="34" charset="-120"/>
              </a:rPr>
              <a:t>S2 </a:t>
            </a:r>
            <a:r>
              <a:rPr lang="en-US" sz="1100" b="1" dirty="0">
                <a:solidFill>
                  <a:srgbClr val="FFFFFF"/>
                </a:solidFill>
                <a:latin typeface="Montserrat Bold" pitchFamily="34" charset="0"/>
                <a:ea typeface="Montserrat Bold" pitchFamily="34" charset="-122"/>
                <a:cs typeface="Montserrat Bold" pitchFamily="34" charset="-120"/>
              </a:rPr>
              <a:t>Analyse offres &amp; Commission AO</a:t>
            </a:r>
            <a:endParaRPr lang="en-US" sz="1400" dirty="0"/>
          </a:p>
        </p:txBody>
      </p:sp>
      <p:sp>
        <p:nvSpPr>
          <p:cNvPr id="26" name="Text 24"/>
          <p:cNvSpPr/>
          <p:nvPr/>
        </p:nvSpPr>
        <p:spPr>
          <a:xfrm>
            <a:off x="4800600" y="1371600"/>
            <a:ext cx="3749040" cy="182880"/>
          </a:xfrm>
          <a:prstGeom prst="rect">
            <a:avLst/>
          </a:prstGeom>
          <a:noFill/>
          <a:ln/>
        </p:spPr>
        <p:txBody>
          <a:bodyPr wrap="square" lIns="0" tIns="0" rIns="0" bIns="0" rtlCol="0" anchor="ctr"/>
          <a:lstStyle/>
          <a:p>
            <a:pPr marL="0" indent="0">
              <a:buNone/>
            </a:pPr>
            <a:r>
              <a:rPr lang="en-US" sz="750" i="1" dirty="0">
                <a:solidFill>
                  <a:srgbClr val="48B4AC"/>
                </a:solidFill>
                <a:latin typeface="Inter" pitchFamily="34" charset="0"/>
                <a:ea typeface="Inter" pitchFamily="34" charset="-122"/>
                <a:cs typeface="Inter" pitchFamily="34" charset="-120"/>
              </a:rPr>
              <a:t>Analyser les offres et préparer la décision en commission</a:t>
            </a:r>
            <a:endParaRPr lang="en-US" sz="750" dirty="0"/>
          </a:p>
        </p:txBody>
      </p:sp>
      <p:sp>
        <p:nvSpPr>
          <p:cNvPr id="27" name="Text 25"/>
          <p:cNvSpPr/>
          <p:nvPr/>
        </p:nvSpPr>
        <p:spPr>
          <a:xfrm>
            <a:off x="4800600" y="1600200"/>
            <a:ext cx="1371600" cy="457200"/>
          </a:xfrm>
          <a:prstGeom prst="rect">
            <a:avLst/>
          </a:prstGeom>
          <a:noFill/>
          <a:ln/>
        </p:spPr>
        <p:txBody>
          <a:bodyPr wrap="square" lIns="0" tIns="0" rIns="0" bIns="0" rtlCol="0" anchor="ctr"/>
          <a:lstStyle/>
          <a:p>
            <a:pPr marL="0" indent="0">
              <a:buNone/>
            </a:pPr>
            <a:r>
              <a:rPr lang="en-US" sz="2800" b="1" dirty="0">
                <a:solidFill>
                  <a:srgbClr val="F39200"/>
                </a:solidFill>
                <a:latin typeface="Montserrat Bold" pitchFamily="34" charset="0"/>
                <a:ea typeface="Montserrat Bold" pitchFamily="34" charset="-122"/>
                <a:cs typeface="Montserrat Bold" pitchFamily="34" charset="-120"/>
              </a:rPr>
              <a:t>94/100</a:t>
            </a:r>
            <a:endParaRPr lang="en-US" sz="2800" dirty="0"/>
          </a:p>
        </p:txBody>
      </p:sp>
      <p:sp>
        <p:nvSpPr>
          <p:cNvPr id="28" name="Text 26"/>
          <p:cNvSpPr/>
          <p:nvPr/>
        </p:nvSpPr>
        <p:spPr>
          <a:xfrm>
            <a:off x="6217920" y="1627632"/>
            <a:ext cx="2286000" cy="411480"/>
          </a:xfrm>
          <a:prstGeom prst="rect">
            <a:avLst/>
          </a:prstGeom>
          <a:noFill/>
          <a:ln/>
        </p:spPr>
        <p:txBody>
          <a:bodyPr wrap="square" lIns="0" tIns="0" rIns="0" bIns="0" rtlCol="0" anchor="ctr"/>
          <a:lstStyle/>
          <a:p>
            <a:pPr marL="0" indent="0">
              <a:buNone/>
            </a:pPr>
            <a:r>
              <a:rPr lang="en-US" sz="900" dirty="0">
                <a:solidFill>
                  <a:srgbClr val="555555"/>
                </a:solidFill>
                <a:latin typeface="Inter" pitchFamily="34" charset="0"/>
                <a:ea typeface="Inter" pitchFamily="34" charset="-122"/>
                <a:cs typeface="Inter" pitchFamily="34" charset="-120"/>
              </a:rPr>
              <a:t>Note entreprise retenue</a:t>
            </a:r>
            <a:endParaRPr lang="en-US" sz="900" dirty="0"/>
          </a:p>
          <a:p>
            <a:pPr marL="0" indent="0">
              <a:buNone/>
            </a:pPr>
            <a:r>
              <a:rPr lang="en-US" sz="900" dirty="0">
                <a:solidFill>
                  <a:srgbClr val="555555"/>
                </a:solidFill>
                <a:latin typeface="Inter" pitchFamily="34" charset="0"/>
                <a:ea typeface="Inter" pitchFamily="34" charset="-122"/>
                <a:cs typeface="Inter" pitchFamily="34" charset="-120"/>
              </a:rPr>
              <a:t>Zéro recours déposé</a:t>
            </a:r>
            <a:endParaRPr lang="en-US" sz="900" dirty="0"/>
          </a:p>
        </p:txBody>
      </p:sp>
      <p:sp>
        <p:nvSpPr>
          <p:cNvPr id="29" name="Shape 27"/>
          <p:cNvSpPr/>
          <p:nvPr/>
        </p:nvSpPr>
        <p:spPr>
          <a:xfrm>
            <a:off x="4800600" y="2148840"/>
            <a:ext cx="274320" cy="274320"/>
          </a:xfrm>
          <a:prstGeom prst="rect">
            <a:avLst/>
          </a:prstGeom>
          <a:solidFill>
            <a:srgbClr val="1E3A5F"/>
          </a:solidFill>
          <a:ln/>
        </p:spPr>
      </p:sp>
      <p:sp>
        <p:nvSpPr>
          <p:cNvPr id="30" name="Text 28"/>
          <p:cNvSpPr/>
          <p:nvPr/>
        </p:nvSpPr>
        <p:spPr>
          <a:xfrm>
            <a:off x="4800600" y="214884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Montserrat Bold" pitchFamily="34" charset="0"/>
                <a:ea typeface="Montserrat Bold" pitchFamily="34" charset="-122"/>
                <a:cs typeface="Montserrat Bold" pitchFamily="34" charset="-120"/>
              </a:rPr>
              <a:t>C</a:t>
            </a:r>
            <a:endParaRPr lang="en-US" sz="1100" dirty="0"/>
          </a:p>
        </p:txBody>
      </p:sp>
      <p:sp>
        <p:nvSpPr>
          <p:cNvPr id="31" name="Text 29"/>
          <p:cNvSpPr/>
          <p:nvPr/>
        </p:nvSpPr>
        <p:spPr>
          <a:xfrm>
            <a:off x="5166360" y="2130552"/>
            <a:ext cx="3383280" cy="502920"/>
          </a:xfrm>
          <a:prstGeom prst="rect">
            <a:avLst/>
          </a:prstGeom>
          <a:noFill/>
          <a:ln/>
        </p:spPr>
        <p:txBody>
          <a:bodyPr wrap="square" lIns="0" tIns="0" rIns="0" bIns="0" rtlCol="0" anchor="t"/>
          <a:lstStyle/>
          <a:p>
            <a:pPr marL="0" indent="0">
              <a:buNone/>
            </a:pPr>
            <a:r>
              <a:rPr lang="en-US" sz="800" dirty="0">
                <a:solidFill>
                  <a:srgbClr val="2D2D2D"/>
                </a:solidFill>
                <a:latin typeface="Inter" pitchFamily="34" charset="0"/>
                <a:ea typeface="Inter" pitchFamily="34" charset="-122"/>
                <a:cs typeface="Inter" pitchFamily="34" charset="-120"/>
              </a:rPr>
              <a:t>3 entreprises. Membre technique de la commission. Vérifier conformité, contrôler cohérence prix, rédiger rapport d'analyse.</a:t>
            </a:r>
            <a:endParaRPr lang="en-US" sz="800" dirty="0"/>
          </a:p>
        </p:txBody>
      </p:sp>
      <p:sp>
        <p:nvSpPr>
          <p:cNvPr id="32" name="Shape 30"/>
          <p:cNvSpPr/>
          <p:nvPr/>
        </p:nvSpPr>
        <p:spPr>
          <a:xfrm>
            <a:off x="4800600" y="2697480"/>
            <a:ext cx="274320" cy="274320"/>
          </a:xfrm>
          <a:prstGeom prst="rect">
            <a:avLst/>
          </a:prstGeom>
          <a:solidFill>
            <a:srgbClr val="1E3A5F"/>
          </a:solidFill>
          <a:ln/>
        </p:spPr>
      </p:sp>
      <p:sp>
        <p:nvSpPr>
          <p:cNvPr id="33" name="Text 31"/>
          <p:cNvSpPr/>
          <p:nvPr/>
        </p:nvSpPr>
        <p:spPr>
          <a:xfrm>
            <a:off x="4800600" y="269748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Montserrat Bold" pitchFamily="34" charset="0"/>
                <a:ea typeface="Montserrat Bold" pitchFamily="34" charset="-122"/>
                <a:cs typeface="Montserrat Bold" pitchFamily="34" charset="-120"/>
              </a:rPr>
              <a:t>P</a:t>
            </a:r>
            <a:endParaRPr lang="en-US" sz="1100" dirty="0"/>
          </a:p>
        </p:txBody>
      </p:sp>
      <p:sp>
        <p:nvSpPr>
          <p:cNvPr id="34" name="Text 32"/>
          <p:cNvSpPr/>
          <p:nvPr/>
        </p:nvSpPr>
        <p:spPr>
          <a:xfrm>
            <a:off x="5166360" y="2679192"/>
            <a:ext cx="3383280" cy="502920"/>
          </a:xfrm>
          <a:prstGeom prst="rect">
            <a:avLst/>
          </a:prstGeom>
          <a:noFill/>
          <a:ln/>
        </p:spPr>
        <p:txBody>
          <a:bodyPr wrap="square" lIns="0" tIns="0" rIns="0" bIns="0" rtlCol="0" anchor="t"/>
          <a:lstStyle/>
          <a:p>
            <a:pPr marL="0" indent="0">
              <a:buNone/>
            </a:pPr>
            <a:r>
              <a:rPr lang="en-US" sz="800" dirty="0">
                <a:solidFill>
                  <a:srgbClr val="2D2D2D"/>
                </a:solidFill>
                <a:latin typeface="Inter" pitchFamily="34" charset="0"/>
                <a:ea typeface="Inter" pitchFamily="34" charset="-122"/>
                <a:cs typeface="Inter" pitchFamily="34" charset="-120"/>
              </a:rPr>
              <a:t>7 erreurs arithmétiques dans un dossier. Prix anormalement bas sur 3 postes (42% du montant, écarts 25-33%). Risque de litiges en exécution.</a:t>
            </a:r>
            <a:endParaRPr lang="en-US" sz="800" dirty="0"/>
          </a:p>
        </p:txBody>
      </p:sp>
      <p:sp>
        <p:nvSpPr>
          <p:cNvPr id="35" name="Shape 33"/>
          <p:cNvSpPr/>
          <p:nvPr/>
        </p:nvSpPr>
        <p:spPr>
          <a:xfrm>
            <a:off x="4800600" y="3246120"/>
            <a:ext cx="274320" cy="274320"/>
          </a:xfrm>
          <a:prstGeom prst="rect">
            <a:avLst/>
          </a:prstGeom>
          <a:solidFill>
            <a:srgbClr val="1E3A5F"/>
          </a:solidFill>
          <a:ln/>
        </p:spPr>
      </p:sp>
      <p:sp>
        <p:nvSpPr>
          <p:cNvPr id="36" name="Text 34"/>
          <p:cNvSpPr/>
          <p:nvPr/>
        </p:nvSpPr>
        <p:spPr>
          <a:xfrm>
            <a:off x="4800600" y="324612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Montserrat Bold" pitchFamily="34" charset="0"/>
                <a:ea typeface="Montserrat Bold" pitchFamily="34" charset="-122"/>
                <a:cs typeface="Montserrat Bold" pitchFamily="34" charset="-120"/>
              </a:rPr>
              <a:t>A</a:t>
            </a:r>
            <a:endParaRPr lang="en-US" sz="1100" dirty="0"/>
          </a:p>
        </p:txBody>
      </p:sp>
      <p:sp>
        <p:nvSpPr>
          <p:cNvPr id="37" name="Text 35"/>
          <p:cNvSpPr/>
          <p:nvPr/>
        </p:nvSpPr>
        <p:spPr>
          <a:xfrm>
            <a:off x="5166360" y="3227832"/>
            <a:ext cx="3383280" cy="502920"/>
          </a:xfrm>
          <a:prstGeom prst="rect">
            <a:avLst/>
          </a:prstGeom>
          <a:noFill/>
          <a:ln/>
        </p:spPr>
        <p:txBody>
          <a:bodyPr wrap="square" lIns="0" tIns="0" rIns="0" bIns="0" rtlCol="0" anchor="t"/>
          <a:lstStyle/>
          <a:p>
            <a:pPr marL="0" indent="0">
              <a:buNone/>
            </a:pPr>
            <a:r>
              <a:rPr lang="en-US" sz="800" dirty="0">
                <a:solidFill>
                  <a:srgbClr val="2D2D2D"/>
                </a:solidFill>
                <a:latin typeface="Inter" pitchFamily="34" charset="0"/>
                <a:ea typeface="Inter" pitchFamily="34" charset="-122"/>
                <a:cs typeface="Inter" pitchFamily="34" charset="-120"/>
              </a:rPr>
              <a:t>Vérification conformité. Correction arithmétique (primauté prix unitaire). Demande de justification écrite des prix bas. Grille comparative sur 10 postes : notation /100 (technique 60 + financier 40).</a:t>
            </a:r>
            <a:endParaRPr lang="en-US" sz="800" dirty="0"/>
          </a:p>
        </p:txBody>
      </p:sp>
      <p:sp>
        <p:nvSpPr>
          <p:cNvPr id="38" name="Shape 36"/>
          <p:cNvSpPr/>
          <p:nvPr/>
        </p:nvSpPr>
        <p:spPr>
          <a:xfrm>
            <a:off x="4800600" y="3794760"/>
            <a:ext cx="274320" cy="274320"/>
          </a:xfrm>
          <a:prstGeom prst="rect">
            <a:avLst/>
          </a:prstGeom>
          <a:solidFill>
            <a:srgbClr val="48B4AC"/>
          </a:solidFill>
          <a:ln/>
        </p:spPr>
      </p:sp>
      <p:sp>
        <p:nvSpPr>
          <p:cNvPr id="39" name="Text 37"/>
          <p:cNvSpPr/>
          <p:nvPr/>
        </p:nvSpPr>
        <p:spPr>
          <a:xfrm>
            <a:off x="4800600" y="379476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Montserrat Bold" pitchFamily="34" charset="0"/>
                <a:ea typeface="Montserrat Bold" pitchFamily="34" charset="-122"/>
                <a:cs typeface="Montserrat Bold" pitchFamily="34" charset="-120"/>
              </a:rPr>
              <a:t>R</a:t>
            </a:r>
            <a:endParaRPr lang="en-US" sz="1100" dirty="0"/>
          </a:p>
        </p:txBody>
      </p:sp>
      <p:sp>
        <p:nvSpPr>
          <p:cNvPr id="40" name="Text 38"/>
          <p:cNvSpPr/>
          <p:nvPr/>
        </p:nvSpPr>
        <p:spPr>
          <a:xfrm>
            <a:off x="5166360" y="3776472"/>
            <a:ext cx="3383280" cy="502920"/>
          </a:xfrm>
          <a:prstGeom prst="rect">
            <a:avLst/>
          </a:prstGeom>
          <a:noFill/>
          <a:ln/>
        </p:spPr>
        <p:txBody>
          <a:bodyPr wrap="square" lIns="0" tIns="0" rIns="0" bIns="0" rtlCol="0" anchor="t"/>
          <a:lstStyle/>
          <a:p>
            <a:pPr marL="0" indent="0">
              <a:buNone/>
            </a:pPr>
            <a:r>
              <a:rPr lang="en-US" sz="800" dirty="0">
                <a:solidFill>
                  <a:srgbClr val="2D2D2D"/>
                </a:solidFill>
                <a:latin typeface="Inter" pitchFamily="34" charset="0"/>
                <a:ea typeface="Inter" pitchFamily="34" charset="-122"/>
                <a:cs typeface="Inter" pitchFamily="34" charset="-120"/>
              </a:rPr>
              <a:t>Attribution en 15 jours, 94/100. Zéro recours. Rapport et PV validés sans réserve. Analyse rigoureuse = protection du maître d'ouvrage.</a:t>
            </a:r>
            <a:endParaRPr lang="en-US" sz="800" dirty="0"/>
          </a:p>
        </p:txBody>
      </p:sp>
      <p:sp>
        <p:nvSpPr>
          <p:cNvPr id="41" name="Text 39"/>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5/15</a:t>
            </a:r>
            <a:endParaRPr lang="en-US" sz="700" dirty="0"/>
          </a:p>
        </p:txBody>
      </p:sp>
      <p:sp>
        <p:nvSpPr>
          <p:cNvPr id="42" name="Shape 40"/>
          <p:cNvSpPr/>
          <p:nvPr/>
        </p:nvSpPr>
        <p:spPr>
          <a:xfrm>
            <a:off x="0" y="5029200"/>
            <a:ext cx="9144000" cy="114300"/>
          </a:xfrm>
          <a:prstGeom prst="rect">
            <a:avLst/>
          </a:prstGeom>
          <a:solidFill>
            <a:srgbClr val="F39200"/>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SITUATION 3 : SUIVI FINANCIER - KERROUCHEN</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Text 3"/>
          <p:cNvSpPr/>
          <p:nvPr/>
        </p:nvSpPr>
        <p:spPr>
          <a:xfrm>
            <a:off x="457200" y="731520"/>
            <a:ext cx="5486400" cy="182880"/>
          </a:xfrm>
          <a:prstGeom prst="rect">
            <a:avLst/>
          </a:prstGeom>
          <a:noFill/>
          <a:ln/>
        </p:spPr>
        <p:txBody>
          <a:bodyPr wrap="square" lIns="0" tIns="0" rIns="0" bIns="0" rtlCol="0" anchor="ctr"/>
          <a:lstStyle/>
          <a:p>
            <a:pPr marL="0" indent="0">
              <a:buNone/>
            </a:pPr>
            <a:r>
              <a:rPr lang="en-US" sz="900" i="1" dirty="0">
                <a:solidFill>
                  <a:srgbClr val="48B4AC"/>
                </a:solidFill>
                <a:latin typeface="Inter" pitchFamily="34" charset="0"/>
                <a:ea typeface="Inter" pitchFamily="34" charset="-122"/>
                <a:cs typeface="Inter" pitchFamily="34" charset="-120"/>
              </a:rPr>
              <a:t>Suivre l'exécution financière et anticiper les dérives</a:t>
            </a:r>
            <a:endParaRPr lang="en-US" sz="900" dirty="0"/>
          </a:p>
        </p:txBody>
      </p:sp>
      <p:sp>
        <p:nvSpPr>
          <p:cNvPr id="6" name="Shape 4"/>
          <p:cNvSpPr/>
          <p:nvPr/>
        </p:nvSpPr>
        <p:spPr>
          <a:xfrm>
            <a:off x="457200" y="960120"/>
            <a:ext cx="2011680" cy="594360"/>
          </a:xfrm>
          <a:prstGeom prst="rect">
            <a:avLst/>
          </a:prstGeom>
          <a:solidFill>
            <a:srgbClr val="1E3A5F"/>
          </a:solidFill>
          <a:ln/>
        </p:spPr>
      </p:sp>
      <p:sp>
        <p:nvSpPr>
          <p:cNvPr id="7" name="Text 5"/>
          <p:cNvSpPr/>
          <p:nvPr/>
        </p:nvSpPr>
        <p:spPr>
          <a:xfrm>
            <a:off x="548640" y="960120"/>
            <a:ext cx="1828800" cy="365760"/>
          </a:xfrm>
          <a:prstGeom prst="rect">
            <a:avLst/>
          </a:prstGeom>
          <a:noFill/>
          <a:ln/>
        </p:spPr>
        <p:txBody>
          <a:bodyPr wrap="square" lIns="0" tIns="0" rIns="0" bIns="0" rtlCol="0" anchor="ctr"/>
          <a:lstStyle/>
          <a:p>
            <a:pPr marL="0" indent="0">
              <a:buNone/>
            </a:pPr>
            <a:r>
              <a:rPr lang="en-US" sz="2400" b="1" dirty="0">
                <a:solidFill>
                  <a:srgbClr val="F39200"/>
                </a:solidFill>
                <a:latin typeface="Montserrat Bold" pitchFamily="34" charset="0"/>
                <a:ea typeface="Montserrat Bold" pitchFamily="34" charset="-122"/>
                <a:cs typeface="Montserrat Bold" pitchFamily="34" charset="-120"/>
              </a:rPr>
              <a:t>+0,8%</a:t>
            </a:r>
            <a:endParaRPr lang="en-US" sz="2400" dirty="0"/>
          </a:p>
        </p:txBody>
      </p:sp>
      <p:sp>
        <p:nvSpPr>
          <p:cNvPr id="8" name="Text 6"/>
          <p:cNvSpPr/>
          <p:nvPr/>
        </p:nvSpPr>
        <p:spPr>
          <a:xfrm>
            <a:off x="548640" y="1298448"/>
            <a:ext cx="1828800" cy="182880"/>
          </a:xfrm>
          <a:prstGeom prst="rect">
            <a:avLst/>
          </a:prstGeom>
          <a:noFill/>
          <a:ln/>
        </p:spPr>
        <p:txBody>
          <a:bodyPr wrap="square" lIns="0" tIns="0" rIns="0" bIns="0" rtlCol="0" anchor="ctr"/>
          <a:lstStyle/>
          <a:p>
            <a:pPr marL="0" indent="0">
              <a:buNone/>
            </a:pPr>
            <a:r>
              <a:rPr lang="en-US" sz="750" dirty="0">
                <a:solidFill>
                  <a:srgbClr val="5CC8C0"/>
                </a:solidFill>
                <a:latin typeface="Inter" pitchFamily="34" charset="0"/>
                <a:ea typeface="Inter" pitchFamily="34" charset="-122"/>
                <a:cs typeface="Inter" pitchFamily="34" charset="-120"/>
              </a:rPr>
              <a:t>Dépassement final · avenant évité</a:t>
            </a:r>
            <a:endParaRPr lang="en-US" sz="750" dirty="0"/>
          </a:p>
        </p:txBody>
      </p:sp>
      <p:graphicFrame>
        <p:nvGraphicFramePr>
          <p:cNvPr id="9" name="Chart 0"/>
          <p:cNvGraphicFramePr/>
          <p:nvPr/>
        </p:nvGraphicFramePr>
        <p:xfrm>
          <a:off x="2743200" y="868680"/>
          <a:ext cx="5943600"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457200" y="2926080"/>
            <a:ext cx="8229600" cy="1691640"/>
          </a:xfrm>
          <a:prstGeom prst="rect">
            <a:avLst/>
          </a:prstGeom>
          <a:solidFill>
            <a:srgbClr val="FFFFFF"/>
          </a:solidFill>
          <a:ln/>
          <a:effectLst>
            <a:outerShdw blurRad="50800" dist="25400" dir="8100000" algn="bl" rotWithShape="0">
              <a:srgbClr val="000000">
                <a:alpha val="12000"/>
              </a:srgbClr>
            </a:outerShdw>
          </a:effectLst>
        </p:spPr>
      </p:sp>
      <p:sp>
        <p:nvSpPr>
          <p:cNvPr id="11" name="Shape 8"/>
          <p:cNvSpPr/>
          <p:nvPr/>
        </p:nvSpPr>
        <p:spPr>
          <a:xfrm>
            <a:off x="594360" y="2999232"/>
            <a:ext cx="228600" cy="228600"/>
          </a:xfrm>
          <a:prstGeom prst="rect">
            <a:avLst/>
          </a:prstGeom>
          <a:solidFill>
            <a:srgbClr val="1E3A5F"/>
          </a:solidFill>
          <a:ln/>
        </p:spPr>
      </p:sp>
      <p:sp>
        <p:nvSpPr>
          <p:cNvPr id="12" name="Text 9"/>
          <p:cNvSpPr/>
          <p:nvPr/>
        </p:nvSpPr>
        <p:spPr>
          <a:xfrm>
            <a:off x="594360" y="2999232"/>
            <a:ext cx="22860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Montserrat Bold" pitchFamily="34" charset="0"/>
                <a:ea typeface="Montserrat Bold" pitchFamily="34" charset="-122"/>
                <a:cs typeface="Montserrat Bold" pitchFamily="34" charset="-120"/>
              </a:rPr>
              <a:t>C</a:t>
            </a:r>
            <a:endParaRPr lang="en-US" sz="1000" dirty="0"/>
          </a:p>
        </p:txBody>
      </p:sp>
      <p:sp>
        <p:nvSpPr>
          <p:cNvPr id="13" name="Text 10"/>
          <p:cNvSpPr/>
          <p:nvPr/>
        </p:nvSpPr>
        <p:spPr>
          <a:xfrm>
            <a:off x="914400" y="2980944"/>
            <a:ext cx="7589520" cy="365760"/>
          </a:xfrm>
          <a:prstGeom prst="rect">
            <a:avLst/>
          </a:prstGeom>
          <a:noFill/>
          <a:ln/>
        </p:spPr>
        <p:txBody>
          <a:bodyPr wrap="square" lIns="0" tIns="0" rIns="0" bIns="0" rtlCol="0" anchor="t"/>
          <a:lstStyle/>
          <a:p>
            <a:pPr marL="0" indent="0">
              <a:buNone/>
            </a:pPr>
            <a:r>
              <a:rPr lang="en-US" sz="750" dirty="0">
                <a:solidFill>
                  <a:srgbClr val="2D2D2D"/>
                </a:solidFill>
                <a:latin typeface="Inter" pitchFamily="34" charset="0"/>
                <a:ea typeface="Inter" pitchFamily="34" charset="-122"/>
                <a:cs typeface="Inter" pitchFamily="34" charset="-120"/>
              </a:rPr>
              <a:t>Kerrouchen 7,3 M DH sur 18 mois. Suivi mensuel complet : vérification situations, contrôle quantités, transmission décomptes. Terrain rocheux imprévu.</a:t>
            </a:r>
            <a:endParaRPr lang="en-US" sz="750" dirty="0"/>
          </a:p>
        </p:txBody>
      </p:sp>
      <p:sp>
        <p:nvSpPr>
          <p:cNvPr id="14" name="Shape 11"/>
          <p:cNvSpPr/>
          <p:nvPr/>
        </p:nvSpPr>
        <p:spPr>
          <a:xfrm>
            <a:off x="594360" y="3392424"/>
            <a:ext cx="228600" cy="228600"/>
          </a:xfrm>
          <a:prstGeom prst="rect">
            <a:avLst/>
          </a:prstGeom>
          <a:solidFill>
            <a:srgbClr val="1E3A5F"/>
          </a:solidFill>
          <a:ln/>
        </p:spPr>
      </p:sp>
      <p:sp>
        <p:nvSpPr>
          <p:cNvPr id="15" name="Text 12"/>
          <p:cNvSpPr/>
          <p:nvPr/>
        </p:nvSpPr>
        <p:spPr>
          <a:xfrm>
            <a:off x="594360" y="3392424"/>
            <a:ext cx="22860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Montserrat Bold" pitchFamily="34" charset="0"/>
                <a:ea typeface="Montserrat Bold" pitchFamily="34" charset="-122"/>
                <a:cs typeface="Montserrat Bold" pitchFamily="34" charset="-120"/>
              </a:rPr>
              <a:t>P</a:t>
            </a:r>
            <a:endParaRPr lang="en-US" sz="1000" dirty="0"/>
          </a:p>
        </p:txBody>
      </p:sp>
      <p:sp>
        <p:nvSpPr>
          <p:cNvPr id="16" name="Text 13"/>
          <p:cNvSpPr/>
          <p:nvPr/>
        </p:nvSpPr>
        <p:spPr>
          <a:xfrm>
            <a:off x="914400" y="3374136"/>
            <a:ext cx="7589520" cy="365760"/>
          </a:xfrm>
          <a:prstGeom prst="rect">
            <a:avLst/>
          </a:prstGeom>
          <a:noFill/>
          <a:ln/>
        </p:spPr>
        <p:txBody>
          <a:bodyPr wrap="square" lIns="0" tIns="0" rIns="0" bIns="0" rtlCol="0" anchor="t"/>
          <a:lstStyle/>
          <a:p>
            <a:pPr marL="0" indent="0">
              <a:buNone/>
            </a:pPr>
            <a:r>
              <a:rPr lang="en-US" sz="750" dirty="0">
                <a:solidFill>
                  <a:srgbClr val="2D2D2D"/>
                </a:solidFill>
                <a:latin typeface="Inter" pitchFamily="34" charset="0"/>
                <a:ea typeface="Inter" pitchFamily="34" charset="-122"/>
                <a:cs typeface="Inter" pitchFamily="34" charset="-120"/>
              </a:rPr>
              <a:t>Mi-parcours : chaussée +12% (terrassement rocheux), murs +15% (fondations profondes). Dépassement extrapolé +4,8% (349 000 DH). Seuil avenant à 5% → 3-6 mois de procédure administrative.</a:t>
            </a:r>
            <a:endParaRPr lang="en-US" sz="750" dirty="0"/>
          </a:p>
        </p:txBody>
      </p:sp>
      <p:sp>
        <p:nvSpPr>
          <p:cNvPr id="17" name="Shape 14"/>
          <p:cNvSpPr/>
          <p:nvPr/>
        </p:nvSpPr>
        <p:spPr>
          <a:xfrm>
            <a:off x="594360" y="3785616"/>
            <a:ext cx="228600" cy="228600"/>
          </a:xfrm>
          <a:prstGeom prst="rect">
            <a:avLst/>
          </a:prstGeom>
          <a:solidFill>
            <a:srgbClr val="48B4AC"/>
          </a:solidFill>
          <a:ln/>
        </p:spPr>
      </p:sp>
      <p:sp>
        <p:nvSpPr>
          <p:cNvPr id="18" name="Text 15"/>
          <p:cNvSpPr/>
          <p:nvPr/>
        </p:nvSpPr>
        <p:spPr>
          <a:xfrm>
            <a:off x="594360" y="3785616"/>
            <a:ext cx="22860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Montserrat Bold" pitchFamily="34" charset="0"/>
                <a:ea typeface="Montserrat Bold" pitchFamily="34" charset="-122"/>
                <a:cs typeface="Montserrat Bold" pitchFamily="34" charset="-120"/>
              </a:rPr>
              <a:t>A</a:t>
            </a:r>
            <a:endParaRPr lang="en-US" sz="1000" dirty="0"/>
          </a:p>
        </p:txBody>
      </p:sp>
      <p:sp>
        <p:nvSpPr>
          <p:cNvPr id="19" name="Text 16"/>
          <p:cNvSpPr/>
          <p:nvPr/>
        </p:nvSpPr>
        <p:spPr>
          <a:xfrm>
            <a:off x="914400" y="3767328"/>
            <a:ext cx="7589520" cy="365760"/>
          </a:xfrm>
          <a:prstGeom prst="rect">
            <a:avLst/>
          </a:prstGeom>
          <a:noFill/>
          <a:ln/>
        </p:spPr>
        <p:txBody>
          <a:bodyPr wrap="square" lIns="0" tIns="0" rIns="0" bIns="0" rtlCol="0" anchor="t"/>
          <a:lstStyle/>
          <a:p>
            <a:pPr marL="0" indent="0">
              <a:buNone/>
            </a:pPr>
            <a:r>
              <a:rPr lang="en-US" sz="750" dirty="0">
                <a:solidFill>
                  <a:srgbClr val="2D2D2D"/>
                </a:solidFill>
                <a:latin typeface="Inter" pitchFamily="34" charset="0"/>
                <a:ea typeface="Inter" pitchFamily="34" charset="-122"/>
                <a:cs typeface="Inter" pitchFamily="34" charset="-120"/>
              </a:rPr>
              <a:t>Tableau de bord hebdomadaire à 3 indicateurs : avancement physique, consommation budgétaire, écart prévisionnel. Attachements contradictoires. Compensation inter-postes : réduction paysager (-44 000 DH) + mobilier (-12 000 DH) = 56 000 DH dégagés.</a:t>
            </a:r>
            <a:endParaRPr lang="en-US" sz="750" dirty="0"/>
          </a:p>
        </p:txBody>
      </p:sp>
      <p:sp>
        <p:nvSpPr>
          <p:cNvPr id="20" name="Shape 17"/>
          <p:cNvSpPr/>
          <p:nvPr/>
        </p:nvSpPr>
        <p:spPr>
          <a:xfrm>
            <a:off x="594360" y="4178808"/>
            <a:ext cx="228600" cy="228600"/>
          </a:xfrm>
          <a:prstGeom prst="rect">
            <a:avLst/>
          </a:prstGeom>
          <a:solidFill>
            <a:srgbClr val="48B4AC"/>
          </a:solidFill>
          <a:ln/>
        </p:spPr>
      </p:sp>
      <p:sp>
        <p:nvSpPr>
          <p:cNvPr id="21" name="Text 18"/>
          <p:cNvSpPr/>
          <p:nvPr/>
        </p:nvSpPr>
        <p:spPr>
          <a:xfrm>
            <a:off x="594360" y="4178808"/>
            <a:ext cx="22860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Montserrat Bold" pitchFamily="34" charset="0"/>
                <a:ea typeface="Montserrat Bold" pitchFamily="34" charset="-122"/>
                <a:cs typeface="Montserrat Bold" pitchFamily="34" charset="-120"/>
              </a:rPr>
              <a:t>R</a:t>
            </a:r>
            <a:endParaRPr lang="en-US" sz="1000" dirty="0"/>
          </a:p>
        </p:txBody>
      </p:sp>
      <p:sp>
        <p:nvSpPr>
          <p:cNvPr id="22" name="Text 19"/>
          <p:cNvSpPr/>
          <p:nvPr/>
        </p:nvSpPr>
        <p:spPr>
          <a:xfrm>
            <a:off x="914400" y="4160520"/>
            <a:ext cx="7589520" cy="365760"/>
          </a:xfrm>
          <a:prstGeom prst="rect">
            <a:avLst/>
          </a:prstGeom>
          <a:noFill/>
          <a:ln/>
        </p:spPr>
        <p:txBody>
          <a:bodyPr wrap="square" lIns="0" tIns="0" rIns="0" bIns="0" rtlCol="0" anchor="t"/>
          <a:lstStyle/>
          <a:p>
            <a:pPr marL="0" indent="0">
              <a:buNone/>
            </a:pPr>
            <a:r>
              <a:rPr lang="en-US" sz="750" dirty="0">
                <a:solidFill>
                  <a:srgbClr val="2D2D2D"/>
                </a:solidFill>
                <a:latin typeface="Inter" pitchFamily="34" charset="0"/>
                <a:ea typeface="Inter" pitchFamily="34" charset="-122"/>
                <a:cs typeface="Inter" pitchFamily="34" charset="-120"/>
              </a:rPr>
              <a:t>Dépassement ramené à +0,8% (292 000 DH sous le seuil). Aucun avenant. Tableau de bord répliqué sur les 3 autres communes et adopté comme référence par l'Agence.</a:t>
            </a:r>
            <a:endParaRPr lang="en-US" sz="750" dirty="0"/>
          </a:p>
        </p:txBody>
      </p:sp>
      <p:sp>
        <p:nvSpPr>
          <p:cNvPr id="23" name="Text 20"/>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6/15</a:t>
            </a:r>
            <a:endParaRPr lang="en-US" sz="700" dirty="0"/>
          </a:p>
        </p:txBody>
      </p:sp>
      <p:sp>
        <p:nvSpPr>
          <p:cNvPr id="24" name="Shape 21"/>
          <p:cNvSpPr/>
          <p:nvPr/>
        </p:nvSpPr>
        <p:spPr>
          <a:xfrm>
            <a:off x="0" y="5029200"/>
            <a:ext cx="9144000" cy="114300"/>
          </a:xfrm>
          <a:prstGeom prst="rect">
            <a:avLst/>
          </a:prstGeom>
          <a:solidFill>
            <a:srgbClr val="F39200"/>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SITUATION 4 : COORDINATION DE 4 CHANTIERS</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Text 3"/>
          <p:cNvSpPr/>
          <p:nvPr/>
        </p:nvSpPr>
        <p:spPr>
          <a:xfrm>
            <a:off x="457200" y="731520"/>
            <a:ext cx="5486400" cy="182880"/>
          </a:xfrm>
          <a:prstGeom prst="rect">
            <a:avLst/>
          </a:prstGeom>
          <a:noFill/>
          <a:ln/>
        </p:spPr>
        <p:txBody>
          <a:bodyPr wrap="square" lIns="0" tIns="0" rIns="0" bIns="0" rtlCol="0" anchor="ctr"/>
          <a:lstStyle/>
          <a:p>
            <a:pPr marL="0" indent="0">
              <a:buNone/>
            </a:pPr>
            <a:r>
              <a:rPr lang="en-US" sz="900" i="1" dirty="0">
                <a:solidFill>
                  <a:srgbClr val="48B4AC"/>
                </a:solidFill>
                <a:latin typeface="Inter" pitchFamily="34" charset="0"/>
                <a:ea typeface="Inter" pitchFamily="34" charset="-122"/>
                <a:cs typeface="Inter" pitchFamily="34" charset="-120"/>
              </a:rPr>
              <a:t>Communiquer et coordonner en contexte multi-sites</a:t>
            </a:r>
            <a:endParaRPr lang="en-US" sz="900" dirty="0"/>
          </a:p>
        </p:txBody>
      </p:sp>
      <p:sp>
        <p:nvSpPr>
          <p:cNvPr id="6" name="Shape 4"/>
          <p:cNvSpPr/>
          <p:nvPr/>
        </p:nvSpPr>
        <p:spPr>
          <a:xfrm>
            <a:off x="457200" y="960120"/>
            <a:ext cx="1965960" cy="731520"/>
          </a:xfrm>
          <a:prstGeom prst="rect">
            <a:avLst/>
          </a:prstGeom>
          <a:solidFill>
            <a:srgbClr val="1E3A5F"/>
          </a:solidFill>
          <a:ln/>
        </p:spPr>
      </p:sp>
      <p:sp>
        <p:nvSpPr>
          <p:cNvPr id="7" name="Text 5"/>
          <p:cNvSpPr/>
          <p:nvPr/>
        </p:nvSpPr>
        <p:spPr>
          <a:xfrm>
            <a:off x="548640" y="978408"/>
            <a:ext cx="1783080" cy="411480"/>
          </a:xfrm>
          <a:prstGeom prst="rect">
            <a:avLst/>
          </a:prstGeom>
          <a:noFill/>
          <a:ln/>
        </p:spPr>
        <p:txBody>
          <a:bodyPr wrap="square" lIns="0" tIns="0" rIns="0" bIns="0" rtlCol="0" anchor="ctr"/>
          <a:lstStyle/>
          <a:p>
            <a:pPr marL="0" indent="0">
              <a:buNone/>
            </a:pPr>
            <a:r>
              <a:rPr lang="en-US" sz="2000" b="1" dirty="0">
                <a:solidFill>
                  <a:srgbClr val="F39200"/>
                </a:solidFill>
                <a:latin typeface="Montserrat Bold" pitchFamily="34" charset="0"/>
                <a:ea typeface="Montserrat Bold" pitchFamily="34" charset="-122"/>
                <a:cs typeface="Montserrat Bold" pitchFamily="34" charset="-120"/>
              </a:rPr>
              <a:t>4 sites</a:t>
            </a:r>
            <a:endParaRPr lang="en-US" sz="2000" dirty="0"/>
          </a:p>
        </p:txBody>
      </p:sp>
      <p:sp>
        <p:nvSpPr>
          <p:cNvPr id="8" name="Text 6"/>
          <p:cNvSpPr/>
          <p:nvPr/>
        </p:nvSpPr>
        <p:spPr>
          <a:xfrm>
            <a:off x="548640" y="1371600"/>
            <a:ext cx="1783080" cy="228600"/>
          </a:xfrm>
          <a:prstGeom prst="rect">
            <a:avLst/>
          </a:prstGeom>
          <a:noFill/>
          <a:ln/>
        </p:spPr>
        <p:txBody>
          <a:bodyPr wrap="square" lIns="0" tIns="0" rIns="0" bIns="0" rtlCol="0" anchor="ctr"/>
          <a:lstStyle/>
          <a:p>
            <a:pPr marL="0" indent="0">
              <a:buNone/>
            </a:pPr>
            <a:r>
              <a:rPr lang="en-US" sz="800" dirty="0">
                <a:solidFill>
                  <a:srgbClr val="5CC8C0"/>
                </a:solidFill>
                <a:latin typeface="Inter" pitchFamily="34" charset="0"/>
                <a:ea typeface="Inter" pitchFamily="34" charset="-122"/>
                <a:cs typeface="Inter" pitchFamily="34" charset="-120"/>
              </a:rPr>
              <a:t>20 à 80 km</a:t>
            </a:r>
            <a:endParaRPr lang="en-US" sz="800" dirty="0"/>
          </a:p>
        </p:txBody>
      </p:sp>
      <p:sp>
        <p:nvSpPr>
          <p:cNvPr id="9" name="Shape 7"/>
          <p:cNvSpPr/>
          <p:nvPr/>
        </p:nvSpPr>
        <p:spPr>
          <a:xfrm>
            <a:off x="2606040" y="960120"/>
            <a:ext cx="1965960" cy="731520"/>
          </a:xfrm>
          <a:prstGeom prst="rect">
            <a:avLst/>
          </a:prstGeom>
          <a:solidFill>
            <a:srgbClr val="1E3A5F"/>
          </a:solidFill>
          <a:ln/>
        </p:spPr>
      </p:sp>
      <p:sp>
        <p:nvSpPr>
          <p:cNvPr id="10" name="Text 8"/>
          <p:cNvSpPr/>
          <p:nvPr/>
        </p:nvSpPr>
        <p:spPr>
          <a:xfrm>
            <a:off x="2697480" y="978408"/>
            <a:ext cx="1783080" cy="411480"/>
          </a:xfrm>
          <a:prstGeom prst="rect">
            <a:avLst/>
          </a:prstGeom>
          <a:noFill/>
          <a:ln/>
        </p:spPr>
        <p:txBody>
          <a:bodyPr wrap="square" lIns="0" tIns="0" rIns="0" bIns="0" rtlCol="0" anchor="ctr"/>
          <a:lstStyle/>
          <a:p>
            <a:pPr marL="0" indent="0">
              <a:buNone/>
            </a:pPr>
            <a:r>
              <a:rPr lang="en-US" sz="2000" b="1" dirty="0">
                <a:solidFill>
                  <a:srgbClr val="F39200"/>
                </a:solidFill>
                <a:latin typeface="Montserrat Bold" pitchFamily="34" charset="0"/>
                <a:ea typeface="Montserrat Bold" pitchFamily="34" charset="-122"/>
                <a:cs typeface="Montserrat Bold" pitchFamily="34" charset="-120"/>
              </a:rPr>
              <a:t>3 crises</a:t>
            </a:r>
            <a:endParaRPr lang="en-US" sz="2000" dirty="0"/>
          </a:p>
        </p:txBody>
      </p:sp>
      <p:sp>
        <p:nvSpPr>
          <p:cNvPr id="11" name="Text 9"/>
          <p:cNvSpPr/>
          <p:nvPr/>
        </p:nvSpPr>
        <p:spPr>
          <a:xfrm>
            <a:off x="2697480" y="1371600"/>
            <a:ext cx="1783080" cy="228600"/>
          </a:xfrm>
          <a:prstGeom prst="rect">
            <a:avLst/>
          </a:prstGeom>
          <a:noFill/>
          <a:ln/>
        </p:spPr>
        <p:txBody>
          <a:bodyPr wrap="square" lIns="0" tIns="0" rIns="0" bIns="0" rtlCol="0" anchor="ctr"/>
          <a:lstStyle/>
          <a:p>
            <a:pPr marL="0" indent="0">
              <a:buNone/>
            </a:pPr>
            <a:r>
              <a:rPr lang="en-US" sz="800" dirty="0">
                <a:solidFill>
                  <a:srgbClr val="5CC8C0"/>
                </a:solidFill>
                <a:latin typeface="Inter" pitchFamily="34" charset="0"/>
                <a:ea typeface="Inter" pitchFamily="34" charset="-122"/>
                <a:cs typeface="Inter" pitchFamily="34" charset="-120"/>
              </a:rPr>
              <a:t>en semaine 23</a:t>
            </a:r>
            <a:endParaRPr lang="en-US" sz="800" dirty="0"/>
          </a:p>
        </p:txBody>
      </p:sp>
      <p:sp>
        <p:nvSpPr>
          <p:cNvPr id="12" name="Shape 10"/>
          <p:cNvSpPr/>
          <p:nvPr/>
        </p:nvSpPr>
        <p:spPr>
          <a:xfrm>
            <a:off x="4754880" y="960120"/>
            <a:ext cx="1965960" cy="731520"/>
          </a:xfrm>
          <a:prstGeom prst="rect">
            <a:avLst/>
          </a:prstGeom>
          <a:solidFill>
            <a:srgbClr val="1E3A5F"/>
          </a:solidFill>
          <a:ln/>
        </p:spPr>
      </p:sp>
      <p:sp>
        <p:nvSpPr>
          <p:cNvPr id="13" name="Text 11"/>
          <p:cNvSpPr/>
          <p:nvPr/>
        </p:nvSpPr>
        <p:spPr>
          <a:xfrm>
            <a:off x="4846320" y="978408"/>
            <a:ext cx="1783080" cy="411480"/>
          </a:xfrm>
          <a:prstGeom prst="rect">
            <a:avLst/>
          </a:prstGeom>
          <a:noFill/>
          <a:ln/>
        </p:spPr>
        <p:txBody>
          <a:bodyPr wrap="square" lIns="0" tIns="0" rIns="0" bIns="0" rtlCol="0" anchor="ctr"/>
          <a:lstStyle/>
          <a:p>
            <a:pPr marL="0" indent="0">
              <a:buNone/>
            </a:pPr>
            <a:r>
              <a:rPr lang="en-US" sz="2000" b="1" dirty="0">
                <a:solidFill>
                  <a:srgbClr val="F39200"/>
                </a:solidFill>
                <a:latin typeface="Montserrat Bold" pitchFamily="34" charset="0"/>
                <a:ea typeface="Montserrat Bold" pitchFamily="34" charset="-122"/>
                <a:cs typeface="Montserrat Bold" pitchFamily="34" charset="-120"/>
              </a:rPr>
              <a:t>48h</a:t>
            </a:r>
            <a:endParaRPr lang="en-US" sz="2000" dirty="0"/>
          </a:p>
        </p:txBody>
      </p:sp>
      <p:sp>
        <p:nvSpPr>
          <p:cNvPr id="14" name="Text 12"/>
          <p:cNvSpPr/>
          <p:nvPr/>
        </p:nvSpPr>
        <p:spPr>
          <a:xfrm>
            <a:off x="4846320" y="1371600"/>
            <a:ext cx="1783080" cy="228600"/>
          </a:xfrm>
          <a:prstGeom prst="rect">
            <a:avLst/>
          </a:prstGeom>
          <a:noFill/>
          <a:ln/>
        </p:spPr>
        <p:txBody>
          <a:bodyPr wrap="square" lIns="0" tIns="0" rIns="0" bIns="0" rtlCol="0" anchor="ctr"/>
          <a:lstStyle/>
          <a:p>
            <a:pPr marL="0" indent="0">
              <a:buNone/>
            </a:pPr>
            <a:r>
              <a:rPr lang="en-US" sz="800" dirty="0">
                <a:solidFill>
                  <a:srgbClr val="5CC8C0"/>
                </a:solidFill>
                <a:latin typeface="Inter" pitchFamily="34" charset="0"/>
                <a:ea typeface="Inter" pitchFamily="34" charset="-122"/>
                <a:cs typeface="Inter" pitchFamily="34" charset="-120"/>
              </a:rPr>
              <a:t>pour tout résoudre</a:t>
            </a:r>
            <a:endParaRPr lang="en-US" sz="800" dirty="0"/>
          </a:p>
        </p:txBody>
      </p:sp>
      <p:sp>
        <p:nvSpPr>
          <p:cNvPr id="15" name="Shape 13"/>
          <p:cNvSpPr/>
          <p:nvPr/>
        </p:nvSpPr>
        <p:spPr>
          <a:xfrm>
            <a:off x="6903720" y="960120"/>
            <a:ext cx="1965960" cy="731520"/>
          </a:xfrm>
          <a:prstGeom prst="rect">
            <a:avLst/>
          </a:prstGeom>
          <a:solidFill>
            <a:srgbClr val="1E3A5F"/>
          </a:solidFill>
          <a:ln/>
        </p:spPr>
      </p:sp>
      <p:sp>
        <p:nvSpPr>
          <p:cNvPr id="16" name="Text 14"/>
          <p:cNvSpPr/>
          <p:nvPr/>
        </p:nvSpPr>
        <p:spPr>
          <a:xfrm>
            <a:off x="6995160" y="978408"/>
            <a:ext cx="1783080" cy="411480"/>
          </a:xfrm>
          <a:prstGeom prst="rect">
            <a:avLst/>
          </a:prstGeom>
          <a:noFill/>
          <a:ln/>
        </p:spPr>
        <p:txBody>
          <a:bodyPr wrap="square" lIns="0" tIns="0" rIns="0" bIns="0" rtlCol="0" anchor="ctr"/>
          <a:lstStyle/>
          <a:p>
            <a:pPr marL="0" indent="0">
              <a:buNone/>
            </a:pPr>
            <a:r>
              <a:rPr lang="en-US" sz="2000" b="1" dirty="0">
                <a:solidFill>
                  <a:srgbClr val="F39200"/>
                </a:solidFill>
                <a:latin typeface="Montserrat Bold" pitchFamily="34" charset="0"/>
                <a:ea typeface="Montserrat Bold" pitchFamily="34" charset="-122"/>
                <a:cs typeface="Montserrat Bold" pitchFamily="34" charset="-120"/>
              </a:rPr>
              <a:t>2,3%</a:t>
            </a:r>
            <a:endParaRPr lang="en-US" sz="2000" dirty="0"/>
          </a:p>
        </p:txBody>
      </p:sp>
      <p:sp>
        <p:nvSpPr>
          <p:cNvPr id="17" name="Text 15"/>
          <p:cNvSpPr/>
          <p:nvPr/>
        </p:nvSpPr>
        <p:spPr>
          <a:xfrm>
            <a:off x="6995160" y="1371600"/>
            <a:ext cx="1783080" cy="228600"/>
          </a:xfrm>
          <a:prstGeom prst="rect">
            <a:avLst/>
          </a:prstGeom>
          <a:noFill/>
          <a:ln/>
        </p:spPr>
        <p:txBody>
          <a:bodyPr wrap="square" lIns="0" tIns="0" rIns="0" bIns="0" rtlCol="0" anchor="ctr"/>
          <a:lstStyle/>
          <a:p>
            <a:pPr marL="0" indent="0">
              <a:buNone/>
            </a:pPr>
            <a:r>
              <a:rPr lang="en-US" sz="800" dirty="0">
                <a:solidFill>
                  <a:srgbClr val="5CC8C0"/>
                </a:solidFill>
                <a:latin typeface="Inter" pitchFamily="34" charset="0"/>
                <a:ea typeface="Inter" pitchFamily="34" charset="-122"/>
                <a:cs typeface="Inter" pitchFamily="34" charset="-120"/>
              </a:rPr>
              <a:t>écart bordures (vs 15%)</a:t>
            </a:r>
            <a:endParaRPr lang="en-US" sz="800" dirty="0"/>
          </a:p>
        </p:txBody>
      </p:sp>
      <p:sp>
        <p:nvSpPr>
          <p:cNvPr id="18" name="Shape 16"/>
          <p:cNvSpPr/>
          <p:nvPr/>
        </p:nvSpPr>
        <p:spPr>
          <a:xfrm>
            <a:off x="457200" y="1874520"/>
            <a:ext cx="8229600" cy="2697480"/>
          </a:xfrm>
          <a:prstGeom prst="rect">
            <a:avLst/>
          </a:prstGeom>
          <a:solidFill>
            <a:srgbClr val="FFFFFF"/>
          </a:solidFill>
          <a:ln/>
          <a:effectLst>
            <a:outerShdw blurRad="50800" dist="25400" dir="8100000" algn="bl" rotWithShape="0">
              <a:srgbClr val="000000">
                <a:alpha val="12000"/>
              </a:srgbClr>
            </a:outerShdw>
          </a:effectLst>
        </p:spPr>
      </p:sp>
      <p:sp>
        <p:nvSpPr>
          <p:cNvPr id="19" name="Shape 17"/>
          <p:cNvSpPr/>
          <p:nvPr/>
        </p:nvSpPr>
        <p:spPr>
          <a:xfrm>
            <a:off x="594360" y="2011680"/>
            <a:ext cx="274320" cy="274320"/>
          </a:xfrm>
          <a:prstGeom prst="rect">
            <a:avLst/>
          </a:prstGeom>
          <a:solidFill>
            <a:srgbClr val="1E3A5F"/>
          </a:solidFill>
          <a:ln/>
        </p:spPr>
      </p:sp>
      <p:sp>
        <p:nvSpPr>
          <p:cNvPr id="20" name="Text 18"/>
          <p:cNvSpPr/>
          <p:nvPr/>
        </p:nvSpPr>
        <p:spPr>
          <a:xfrm>
            <a:off x="594360" y="20116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Montserrat Bold" pitchFamily="34" charset="0"/>
                <a:ea typeface="Montserrat Bold" pitchFamily="34" charset="-122"/>
                <a:cs typeface="Montserrat Bold" pitchFamily="34" charset="-120"/>
              </a:rPr>
              <a:t>C</a:t>
            </a:r>
            <a:endParaRPr lang="en-US" sz="1200" dirty="0"/>
          </a:p>
        </p:txBody>
      </p:sp>
      <p:sp>
        <p:nvSpPr>
          <p:cNvPr id="21" name="Text 19"/>
          <p:cNvSpPr/>
          <p:nvPr/>
        </p:nvSpPr>
        <p:spPr>
          <a:xfrm>
            <a:off x="960120" y="1993392"/>
            <a:ext cx="7589520" cy="548640"/>
          </a:xfrm>
          <a:prstGeom prst="rect">
            <a:avLst/>
          </a:prstGeom>
          <a:noFill/>
          <a:ln/>
        </p:spPr>
        <p:txBody>
          <a:bodyPr wrap="square" lIns="0" tIns="0" rIns="0" bIns="0" rtlCol="0" anchor="t"/>
          <a:lstStyle/>
          <a:p>
            <a:pPr marL="0" indent="0">
              <a:buNone/>
            </a:pPr>
            <a:r>
              <a:rPr lang="en-US" sz="900" dirty="0">
                <a:solidFill>
                  <a:srgbClr val="2D2D2D"/>
                </a:solidFill>
                <a:latin typeface="Inter" pitchFamily="34" charset="0"/>
                <a:ea typeface="Inter" pitchFamily="34" charset="-122"/>
                <a:cs typeface="Inter" pitchFamily="34" charset="-120"/>
              </a:rPr>
              <a:t>Relais unique du Directeur pour 4 chantiers VRD. Interface entre entreprise, BET, laboratoire et hiérarchie. Chaque décision tracée par écrit.</a:t>
            </a:r>
            <a:endParaRPr lang="en-US" sz="900" dirty="0"/>
          </a:p>
        </p:txBody>
      </p:sp>
      <p:sp>
        <p:nvSpPr>
          <p:cNvPr id="22" name="Shape 20"/>
          <p:cNvSpPr/>
          <p:nvPr/>
        </p:nvSpPr>
        <p:spPr>
          <a:xfrm>
            <a:off x="594360" y="2633472"/>
            <a:ext cx="274320" cy="274320"/>
          </a:xfrm>
          <a:prstGeom prst="rect">
            <a:avLst/>
          </a:prstGeom>
          <a:solidFill>
            <a:srgbClr val="1E3A5F"/>
          </a:solidFill>
          <a:ln/>
        </p:spPr>
      </p:sp>
      <p:sp>
        <p:nvSpPr>
          <p:cNvPr id="23" name="Text 21"/>
          <p:cNvSpPr/>
          <p:nvPr/>
        </p:nvSpPr>
        <p:spPr>
          <a:xfrm>
            <a:off x="594360" y="263347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Montserrat Bold" pitchFamily="34" charset="0"/>
                <a:ea typeface="Montserrat Bold" pitchFamily="34" charset="-122"/>
                <a:cs typeface="Montserrat Bold" pitchFamily="34" charset="-120"/>
              </a:rPr>
              <a:t>P</a:t>
            </a:r>
            <a:endParaRPr lang="en-US" sz="1200" dirty="0"/>
          </a:p>
        </p:txBody>
      </p:sp>
      <p:sp>
        <p:nvSpPr>
          <p:cNvPr id="24" name="Text 22"/>
          <p:cNvSpPr/>
          <p:nvPr/>
        </p:nvSpPr>
        <p:spPr>
          <a:xfrm>
            <a:off x="960120" y="2615184"/>
            <a:ext cx="7589520" cy="548640"/>
          </a:xfrm>
          <a:prstGeom prst="rect">
            <a:avLst/>
          </a:prstGeom>
          <a:noFill/>
          <a:ln/>
        </p:spPr>
        <p:txBody>
          <a:bodyPr wrap="square" lIns="0" tIns="0" rIns="0" bIns="0" rtlCol="0" anchor="t"/>
          <a:lstStyle/>
          <a:p>
            <a:pPr marL="0" indent="0">
              <a:buNone/>
            </a:pPr>
            <a:r>
              <a:rPr lang="en-US" sz="900" dirty="0">
                <a:solidFill>
                  <a:srgbClr val="2D2D2D"/>
                </a:solidFill>
                <a:latin typeface="Inter" pitchFamily="34" charset="0"/>
                <a:ea typeface="Inter" pitchFamily="34" charset="-122"/>
                <a:cs typeface="Inter" pitchFamily="34" charset="-120"/>
              </a:rPr>
              <a:t>Semaine 23 : retard enrobés Ouaoumana + alerte météo Kerrouchen + litige bordures Sebt Ait Rahou (15% d'écart contesté). Paiement mensuel bloqué.</a:t>
            </a:r>
            <a:endParaRPr lang="en-US" sz="900" dirty="0"/>
          </a:p>
        </p:txBody>
      </p:sp>
      <p:sp>
        <p:nvSpPr>
          <p:cNvPr id="25" name="Shape 23"/>
          <p:cNvSpPr/>
          <p:nvPr/>
        </p:nvSpPr>
        <p:spPr>
          <a:xfrm>
            <a:off x="594360" y="3255264"/>
            <a:ext cx="274320" cy="274320"/>
          </a:xfrm>
          <a:prstGeom prst="rect">
            <a:avLst/>
          </a:prstGeom>
          <a:solidFill>
            <a:srgbClr val="48B4AC"/>
          </a:solidFill>
          <a:ln/>
        </p:spPr>
      </p:sp>
      <p:sp>
        <p:nvSpPr>
          <p:cNvPr id="26" name="Text 24"/>
          <p:cNvSpPr/>
          <p:nvPr/>
        </p:nvSpPr>
        <p:spPr>
          <a:xfrm>
            <a:off x="594360" y="325526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Montserrat Bold" pitchFamily="34" charset="0"/>
                <a:ea typeface="Montserrat Bold" pitchFamily="34" charset="-122"/>
                <a:cs typeface="Montserrat Bold" pitchFamily="34" charset="-120"/>
              </a:rPr>
              <a:t>A</a:t>
            </a:r>
            <a:endParaRPr lang="en-US" sz="1200" dirty="0"/>
          </a:p>
        </p:txBody>
      </p:sp>
      <p:sp>
        <p:nvSpPr>
          <p:cNvPr id="27" name="Text 25"/>
          <p:cNvSpPr/>
          <p:nvPr/>
        </p:nvSpPr>
        <p:spPr>
          <a:xfrm>
            <a:off x="960120" y="3236976"/>
            <a:ext cx="7589520" cy="548640"/>
          </a:xfrm>
          <a:prstGeom prst="rect">
            <a:avLst/>
          </a:prstGeom>
          <a:noFill/>
          <a:ln/>
        </p:spPr>
        <p:txBody>
          <a:bodyPr wrap="square" lIns="0" tIns="0" rIns="0" bIns="0" rtlCol="0" anchor="t"/>
          <a:lstStyle/>
          <a:p>
            <a:pPr marL="0" indent="0">
              <a:buNone/>
            </a:pPr>
            <a:r>
              <a:rPr lang="en-US" sz="900" dirty="0">
                <a:solidFill>
                  <a:srgbClr val="2D2D2D"/>
                </a:solidFill>
                <a:latin typeface="Inter" pitchFamily="34" charset="0"/>
                <a:ea typeface="Inter" pitchFamily="34" charset="-122"/>
                <a:cs typeface="Inter" pitchFamily="34" charset="-120"/>
              </a:rPr>
              <a:t>3 fronts traités en 48h. Retard enrobés : note factuelle + planning rattrapage. Météo : OS d'arrêt avec photos datées. Bordures : re-mesurage contradictoire sur place. Point quotidien 8h, CR consolidé sous 24h.</a:t>
            </a:r>
            <a:endParaRPr lang="en-US" sz="900" dirty="0"/>
          </a:p>
        </p:txBody>
      </p:sp>
      <p:sp>
        <p:nvSpPr>
          <p:cNvPr id="28" name="Shape 26"/>
          <p:cNvSpPr/>
          <p:nvPr/>
        </p:nvSpPr>
        <p:spPr>
          <a:xfrm>
            <a:off x="594360" y="3877056"/>
            <a:ext cx="274320" cy="274320"/>
          </a:xfrm>
          <a:prstGeom prst="rect">
            <a:avLst/>
          </a:prstGeom>
          <a:solidFill>
            <a:srgbClr val="48B4AC"/>
          </a:solidFill>
          <a:ln/>
        </p:spPr>
      </p:sp>
      <p:sp>
        <p:nvSpPr>
          <p:cNvPr id="29" name="Text 27"/>
          <p:cNvSpPr/>
          <p:nvPr/>
        </p:nvSpPr>
        <p:spPr>
          <a:xfrm>
            <a:off x="594360" y="38770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Montserrat Bold" pitchFamily="34" charset="0"/>
                <a:ea typeface="Montserrat Bold" pitchFamily="34" charset="-122"/>
                <a:cs typeface="Montserrat Bold" pitchFamily="34" charset="-120"/>
              </a:rPr>
              <a:t>R</a:t>
            </a:r>
            <a:endParaRPr lang="en-US" sz="1200" dirty="0"/>
          </a:p>
        </p:txBody>
      </p:sp>
      <p:sp>
        <p:nvSpPr>
          <p:cNvPr id="30" name="Text 28"/>
          <p:cNvSpPr/>
          <p:nvPr/>
        </p:nvSpPr>
        <p:spPr>
          <a:xfrm>
            <a:off x="960120" y="3858768"/>
            <a:ext cx="7589520" cy="548640"/>
          </a:xfrm>
          <a:prstGeom prst="rect">
            <a:avLst/>
          </a:prstGeom>
          <a:noFill/>
          <a:ln/>
        </p:spPr>
        <p:txBody>
          <a:bodyPr wrap="square" lIns="0" tIns="0" rIns="0" bIns="0" rtlCol="0" anchor="t"/>
          <a:lstStyle/>
          <a:p>
            <a:pPr marL="0" indent="0">
              <a:buNone/>
            </a:pPr>
            <a:r>
              <a:rPr lang="en-US" sz="900" dirty="0">
                <a:solidFill>
                  <a:srgbClr val="2D2D2D"/>
                </a:solidFill>
                <a:latin typeface="Inter" pitchFamily="34" charset="0"/>
                <a:ea typeface="Inter" pitchFamily="34" charset="-122"/>
                <a:cs typeface="Inter" pitchFamily="34" charset="-120"/>
              </a:rPr>
              <a:t>Retard rattrapé en 2 semaines. Écart bordures ramené de 15% à 2,3%, paiement débloqué. Directeur m'a confié la rédaction systématique de tous les OS et CR. Modèle adopté par l'Agence.</a:t>
            </a:r>
            <a:endParaRPr lang="en-US" sz="900" dirty="0"/>
          </a:p>
        </p:txBody>
      </p:sp>
      <p:sp>
        <p:nvSpPr>
          <p:cNvPr id="31" name="Text 29"/>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7/15</a:t>
            </a:r>
            <a:endParaRPr lang="en-US" sz="700" dirty="0"/>
          </a:p>
        </p:txBody>
      </p:sp>
      <p:sp>
        <p:nvSpPr>
          <p:cNvPr id="32" name="Shape 30"/>
          <p:cNvSpPr/>
          <p:nvPr/>
        </p:nvSpPr>
        <p:spPr>
          <a:xfrm>
            <a:off x="0" y="5029200"/>
            <a:ext cx="9144000" cy="114300"/>
          </a:xfrm>
          <a:prstGeom prst="rect">
            <a:avLst/>
          </a:prstGeom>
          <a:solidFill>
            <a:srgbClr val="F39200"/>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PROJET 2 : ROUTE LEHRI-KERROUCHEN (25 KM)</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Text 3"/>
          <p:cNvSpPr/>
          <p:nvPr/>
        </p:nvSpPr>
        <p:spPr>
          <a:xfrm>
            <a:off x="457200" y="777240"/>
            <a:ext cx="4846320" cy="548640"/>
          </a:xfrm>
          <a:prstGeom prst="rect">
            <a:avLst/>
          </a:prstGeom>
          <a:noFill/>
          <a:ln/>
        </p:spPr>
        <p:txBody>
          <a:bodyPr wrap="square" lIns="0" tIns="0" rIns="0" bIns="0" rtlCol="0" anchor="ctr"/>
          <a:lstStyle/>
          <a:p>
            <a:pPr marL="0" indent="0">
              <a:buNone/>
            </a:pPr>
            <a:r>
              <a:rPr lang="en-US" sz="850" dirty="0">
                <a:solidFill>
                  <a:srgbClr val="555555"/>
                </a:solidFill>
                <a:latin typeface="Inter" pitchFamily="34" charset="0"/>
                <a:ea typeface="Inter" pitchFamily="34" charset="-122"/>
                <a:cs typeface="Inter" pitchFamily="34" charset="-120"/>
              </a:rPr>
              <a:t>Route rurale stratégique désenclavant les communes du Moyen Atlas. Dénivelé 400 m, pentes 12%. Marché n°46-RBK-2017, Programme PRR3. 53 prix sur 3 sections. Découverte de calcaire fracturé : reclassification de 5 000 m³ et ajout de 3 dalots.</a:t>
            </a:r>
            <a:endParaRPr lang="en-US" sz="850" dirty="0"/>
          </a:p>
        </p:txBody>
      </p:sp>
      <p:sp>
        <p:nvSpPr>
          <p:cNvPr id="6" name="Shape 4"/>
          <p:cNvSpPr/>
          <p:nvPr/>
        </p:nvSpPr>
        <p:spPr>
          <a:xfrm>
            <a:off x="5669280" y="777240"/>
            <a:ext cx="3017520" cy="502920"/>
          </a:xfrm>
          <a:prstGeom prst="rect">
            <a:avLst/>
          </a:prstGeom>
          <a:solidFill>
            <a:srgbClr val="1E3A5F"/>
          </a:solidFill>
          <a:ln/>
        </p:spPr>
      </p:sp>
      <p:sp>
        <p:nvSpPr>
          <p:cNvPr id="7" name="Text 5"/>
          <p:cNvSpPr/>
          <p:nvPr/>
        </p:nvSpPr>
        <p:spPr>
          <a:xfrm>
            <a:off x="5760720" y="786384"/>
            <a:ext cx="2834640" cy="274320"/>
          </a:xfrm>
          <a:prstGeom prst="rect">
            <a:avLst/>
          </a:prstGeom>
          <a:noFill/>
          <a:ln/>
        </p:spPr>
        <p:txBody>
          <a:bodyPr wrap="square" lIns="0" tIns="0" rIns="0" bIns="0" rtlCol="0" anchor="ctr"/>
          <a:lstStyle/>
          <a:p>
            <a:pPr marL="0" indent="0">
              <a:buNone/>
            </a:pPr>
            <a:r>
              <a:rPr lang="en-US" sz="1200" b="1" dirty="0">
                <a:solidFill>
                  <a:srgbClr val="F39200"/>
                </a:solidFill>
                <a:latin typeface="Montserrat Bold" pitchFamily="34" charset="0"/>
                <a:ea typeface="Montserrat Bold" pitchFamily="34" charset="-122"/>
                <a:cs typeface="Montserrat Bold" pitchFamily="34" charset="-120"/>
              </a:rPr>
              <a:t>29 M DH TTC · 24,2 M DH HT</a:t>
            </a:r>
            <a:endParaRPr lang="en-US" sz="1200" dirty="0"/>
          </a:p>
        </p:txBody>
      </p:sp>
      <p:sp>
        <p:nvSpPr>
          <p:cNvPr id="8" name="Text 6"/>
          <p:cNvSpPr/>
          <p:nvPr/>
        </p:nvSpPr>
        <p:spPr>
          <a:xfrm>
            <a:off x="5760720" y="1042416"/>
            <a:ext cx="2834640" cy="182880"/>
          </a:xfrm>
          <a:prstGeom prst="rect">
            <a:avLst/>
          </a:prstGeom>
          <a:noFill/>
          <a:ln/>
        </p:spPr>
        <p:txBody>
          <a:bodyPr wrap="square" lIns="0" tIns="0" rIns="0" bIns="0" rtlCol="0" anchor="ctr"/>
          <a:lstStyle/>
          <a:p>
            <a:pPr marL="0" indent="0">
              <a:buNone/>
            </a:pPr>
            <a:r>
              <a:rPr lang="en-US" sz="800" dirty="0">
                <a:solidFill>
                  <a:srgbClr val="5CC8C0"/>
                </a:solidFill>
                <a:latin typeface="Inter" pitchFamily="34" charset="0"/>
                <a:ea typeface="Inter" pitchFamily="34" charset="-122"/>
                <a:cs typeface="Inter" pitchFamily="34" charset="-120"/>
              </a:rPr>
              <a:t>soit 2,6 M€ | 3 sections | 53 prix</a:t>
            </a:r>
            <a:endParaRPr lang="en-US" sz="800" dirty="0"/>
          </a:p>
        </p:txBody>
      </p:sp>
      <p:graphicFrame>
        <p:nvGraphicFramePr>
          <p:cNvPr id="9" name="Chart 0"/>
          <p:cNvGraphicFramePr/>
          <p:nvPr/>
        </p:nvGraphicFramePr>
        <p:xfrm>
          <a:off x="274320" y="1417320"/>
          <a:ext cx="320040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3749040" y="1417320"/>
            <a:ext cx="1691640" cy="438912"/>
          </a:xfrm>
          <a:prstGeom prst="rect">
            <a:avLst/>
          </a:prstGeom>
          <a:solidFill>
            <a:srgbClr val="FFFFFF"/>
          </a:solidFill>
          <a:ln/>
          <a:effectLst>
            <a:outerShdw blurRad="50800" dist="25400" dir="8100000" algn="bl" rotWithShape="0">
              <a:srgbClr val="000000">
                <a:alpha val="12000"/>
              </a:srgbClr>
            </a:outerShdw>
          </a:effectLst>
        </p:spPr>
      </p:sp>
      <p:sp>
        <p:nvSpPr>
          <p:cNvPr id="11" name="Text 8"/>
          <p:cNvSpPr/>
          <p:nvPr/>
        </p:nvSpPr>
        <p:spPr>
          <a:xfrm>
            <a:off x="3822192" y="1435608"/>
            <a:ext cx="1097280" cy="402336"/>
          </a:xfrm>
          <a:prstGeom prst="rect">
            <a:avLst/>
          </a:prstGeom>
          <a:noFill/>
          <a:ln/>
        </p:spPr>
        <p:txBody>
          <a:bodyPr wrap="square" lIns="0" tIns="0" rIns="0" bIns="0" rtlCol="0" anchor="ctr"/>
          <a:lstStyle/>
          <a:p>
            <a:pPr marL="0" indent="0">
              <a:buNone/>
            </a:pPr>
            <a:r>
              <a:rPr lang="en-US" sz="1000" b="1" dirty="0">
                <a:solidFill>
                  <a:srgbClr val="F39200"/>
                </a:solidFill>
                <a:latin typeface="Montserrat Bold" pitchFamily="34" charset="0"/>
                <a:ea typeface="Montserrat Bold" pitchFamily="34" charset="-122"/>
                <a:cs typeface="Montserrat Bold" pitchFamily="34" charset="-120"/>
              </a:rPr>
              <a:t>120 334 m³</a:t>
            </a:r>
            <a:endParaRPr lang="en-US" sz="1000" dirty="0"/>
          </a:p>
        </p:txBody>
      </p:sp>
      <p:sp>
        <p:nvSpPr>
          <p:cNvPr id="12" name="Text 9"/>
          <p:cNvSpPr/>
          <p:nvPr/>
        </p:nvSpPr>
        <p:spPr>
          <a:xfrm>
            <a:off x="4892040" y="1435608"/>
            <a:ext cx="502920" cy="402336"/>
          </a:xfrm>
          <a:prstGeom prst="rect">
            <a:avLst/>
          </a:prstGeom>
          <a:noFill/>
          <a:ln/>
        </p:spPr>
        <p:txBody>
          <a:bodyPr wrap="square" lIns="0" tIns="0" rIns="0" bIns="0" rtlCol="0" anchor="ctr"/>
          <a:lstStyle/>
          <a:p>
            <a:pPr marL="0" indent="0">
              <a:buNone/>
            </a:pPr>
            <a:r>
              <a:rPr lang="en-US" sz="800" dirty="0">
                <a:solidFill>
                  <a:srgbClr val="555555"/>
                </a:solidFill>
                <a:latin typeface="Inter" pitchFamily="34" charset="0"/>
                <a:ea typeface="Inter" pitchFamily="34" charset="-122"/>
                <a:cs typeface="Inter" pitchFamily="34" charset="-120"/>
              </a:rPr>
              <a:t>Déblais</a:t>
            </a:r>
            <a:endParaRPr lang="en-US" sz="800" dirty="0"/>
          </a:p>
        </p:txBody>
      </p:sp>
      <p:sp>
        <p:nvSpPr>
          <p:cNvPr id="13" name="Shape 10"/>
          <p:cNvSpPr/>
          <p:nvPr/>
        </p:nvSpPr>
        <p:spPr>
          <a:xfrm>
            <a:off x="5577840" y="1417320"/>
            <a:ext cx="1691640" cy="438912"/>
          </a:xfrm>
          <a:prstGeom prst="rect">
            <a:avLst/>
          </a:prstGeom>
          <a:solidFill>
            <a:srgbClr val="FFFFFF"/>
          </a:solidFill>
          <a:ln/>
          <a:effectLst>
            <a:outerShdw blurRad="50800" dist="25400" dir="8100000" algn="bl" rotWithShape="0">
              <a:srgbClr val="000000">
                <a:alpha val="12000"/>
              </a:srgbClr>
            </a:outerShdw>
          </a:effectLst>
        </p:spPr>
      </p:sp>
      <p:sp>
        <p:nvSpPr>
          <p:cNvPr id="14" name="Text 11"/>
          <p:cNvSpPr/>
          <p:nvPr/>
        </p:nvSpPr>
        <p:spPr>
          <a:xfrm>
            <a:off x="5650992" y="1435608"/>
            <a:ext cx="1097280" cy="402336"/>
          </a:xfrm>
          <a:prstGeom prst="rect">
            <a:avLst/>
          </a:prstGeom>
          <a:noFill/>
          <a:ln/>
        </p:spPr>
        <p:txBody>
          <a:bodyPr wrap="square" lIns="0" tIns="0" rIns="0" bIns="0" rtlCol="0" anchor="ctr"/>
          <a:lstStyle/>
          <a:p>
            <a:pPr marL="0" indent="0">
              <a:buNone/>
            </a:pPr>
            <a:r>
              <a:rPr lang="en-US" sz="1000" b="1" dirty="0">
                <a:solidFill>
                  <a:srgbClr val="F39200"/>
                </a:solidFill>
                <a:latin typeface="Montserrat Bold" pitchFamily="34" charset="0"/>
                <a:ea typeface="Montserrat Bold" pitchFamily="34" charset="-122"/>
                <a:cs typeface="Montserrat Bold" pitchFamily="34" charset="-120"/>
              </a:rPr>
              <a:t>76 735 m³</a:t>
            </a:r>
            <a:endParaRPr lang="en-US" sz="1000" dirty="0"/>
          </a:p>
        </p:txBody>
      </p:sp>
      <p:sp>
        <p:nvSpPr>
          <p:cNvPr id="15" name="Text 12"/>
          <p:cNvSpPr/>
          <p:nvPr/>
        </p:nvSpPr>
        <p:spPr>
          <a:xfrm>
            <a:off x="6720840" y="1435608"/>
            <a:ext cx="502920" cy="402336"/>
          </a:xfrm>
          <a:prstGeom prst="rect">
            <a:avLst/>
          </a:prstGeom>
          <a:noFill/>
          <a:ln/>
        </p:spPr>
        <p:txBody>
          <a:bodyPr wrap="square" lIns="0" tIns="0" rIns="0" bIns="0" rtlCol="0" anchor="ctr"/>
          <a:lstStyle/>
          <a:p>
            <a:pPr marL="0" indent="0">
              <a:buNone/>
            </a:pPr>
            <a:r>
              <a:rPr lang="en-US" sz="800" dirty="0">
                <a:solidFill>
                  <a:srgbClr val="555555"/>
                </a:solidFill>
                <a:latin typeface="Inter" pitchFamily="34" charset="0"/>
                <a:ea typeface="Inter" pitchFamily="34" charset="-122"/>
                <a:cs typeface="Inter" pitchFamily="34" charset="-120"/>
              </a:rPr>
              <a:t>Remblais</a:t>
            </a:r>
            <a:endParaRPr lang="en-US" sz="800" dirty="0"/>
          </a:p>
        </p:txBody>
      </p:sp>
      <p:sp>
        <p:nvSpPr>
          <p:cNvPr id="16" name="Shape 13"/>
          <p:cNvSpPr/>
          <p:nvPr/>
        </p:nvSpPr>
        <p:spPr>
          <a:xfrm>
            <a:off x="7406640" y="1417320"/>
            <a:ext cx="1691640" cy="438912"/>
          </a:xfrm>
          <a:prstGeom prst="rect">
            <a:avLst/>
          </a:prstGeom>
          <a:solidFill>
            <a:srgbClr val="FFFFFF"/>
          </a:solidFill>
          <a:ln/>
          <a:effectLst>
            <a:outerShdw blurRad="50800" dist="25400" dir="8100000" algn="bl" rotWithShape="0">
              <a:srgbClr val="000000">
                <a:alpha val="12000"/>
              </a:srgbClr>
            </a:outerShdw>
          </a:effectLst>
        </p:spPr>
      </p:sp>
      <p:sp>
        <p:nvSpPr>
          <p:cNvPr id="17" name="Text 14"/>
          <p:cNvSpPr/>
          <p:nvPr/>
        </p:nvSpPr>
        <p:spPr>
          <a:xfrm>
            <a:off x="7479792" y="1435608"/>
            <a:ext cx="1097280" cy="402336"/>
          </a:xfrm>
          <a:prstGeom prst="rect">
            <a:avLst/>
          </a:prstGeom>
          <a:noFill/>
          <a:ln/>
        </p:spPr>
        <p:txBody>
          <a:bodyPr wrap="square" lIns="0" tIns="0" rIns="0" bIns="0" rtlCol="0" anchor="ctr"/>
          <a:lstStyle/>
          <a:p>
            <a:pPr marL="0" indent="0">
              <a:buNone/>
            </a:pPr>
            <a:r>
              <a:rPr lang="en-US" sz="1000" b="1" dirty="0">
                <a:solidFill>
                  <a:srgbClr val="F39200"/>
                </a:solidFill>
                <a:latin typeface="Montserrat Bold" pitchFamily="34" charset="0"/>
                <a:ea typeface="Montserrat Bold" pitchFamily="34" charset="-122"/>
                <a:cs typeface="Montserrat Bold" pitchFamily="34" charset="-120"/>
              </a:rPr>
              <a:t>19 989 m³</a:t>
            </a:r>
            <a:endParaRPr lang="en-US" sz="1000" dirty="0"/>
          </a:p>
        </p:txBody>
      </p:sp>
      <p:sp>
        <p:nvSpPr>
          <p:cNvPr id="18" name="Text 15"/>
          <p:cNvSpPr/>
          <p:nvPr/>
        </p:nvSpPr>
        <p:spPr>
          <a:xfrm>
            <a:off x="8549640" y="1435608"/>
            <a:ext cx="502920" cy="402336"/>
          </a:xfrm>
          <a:prstGeom prst="rect">
            <a:avLst/>
          </a:prstGeom>
          <a:noFill/>
          <a:ln/>
        </p:spPr>
        <p:txBody>
          <a:bodyPr wrap="square" lIns="0" tIns="0" rIns="0" bIns="0" rtlCol="0" anchor="ctr"/>
          <a:lstStyle/>
          <a:p>
            <a:pPr marL="0" indent="0">
              <a:buNone/>
            </a:pPr>
            <a:r>
              <a:rPr lang="en-US" sz="800" dirty="0">
                <a:solidFill>
                  <a:srgbClr val="555555"/>
                </a:solidFill>
                <a:latin typeface="Inter" pitchFamily="34" charset="0"/>
                <a:ea typeface="Inter" pitchFamily="34" charset="-122"/>
                <a:cs typeface="Inter" pitchFamily="34" charset="-120"/>
              </a:rPr>
              <a:t>GNB</a:t>
            </a:r>
            <a:endParaRPr lang="en-US" sz="800" dirty="0"/>
          </a:p>
        </p:txBody>
      </p:sp>
      <p:sp>
        <p:nvSpPr>
          <p:cNvPr id="19" name="Shape 16"/>
          <p:cNvSpPr/>
          <p:nvPr/>
        </p:nvSpPr>
        <p:spPr>
          <a:xfrm>
            <a:off x="3749040" y="1920240"/>
            <a:ext cx="1691640" cy="438912"/>
          </a:xfrm>
          <a:prstGeom prst="rect">
            <a:avLst/>
          </a:prstGeom>
          <a:solidFill>
            <a:srgbClr val="FFFFFF"/>
          </a:solidFill>
          <a:ln/>
          <a:effectLst>
            <a:outerShdw blurRad="50800" dist="25400" dir="8100000" algn="bl" rotWithShape="0">
              <a:srgbClr val="000000">
                <a:alpha val="12000"/>
              </a:srgbClr>
            </a:outerShdw>
          </a:effectLst>
        </p:spPr>
      </p:sp>
      <p:sp>
        <p:nvSpPr>
          <p:cNvPr id="20" name="Text 17"/>
          <p:cNvSpPr/>
          <p:nvPr/>
        </p:nvSpPr>
        <p:spPr>
          <a:xfrm>
            <a:off x="3822192" y="1938528"/>
            <a:ext cx="1097280" cy="402336"/>
          </a:xfrm>
          <a:prstGeom prst="rect">
            <a:avLst/>
          </a:prstGeom>
          <a:noFill/>
          <a:ln/>
        </p:spPr>
        <p:txBody>
          <a:bodyPr wrap="square" lIns="0" tIns="0" rIns="0" bIns="0" rtlCol="0" anchor="ctr"/>
          <a:lstStyle/>
          <a:p>
            <a:pPr marL="0" indent="0">
              <a:buNone/>
            </a:pPr>
            <a:r>
              <a:rPr lang="en-US" sz="1000" b="1" dirty="0">
                <a:solidFill>
                  <a:srgbClr val="F39200"/>
                </a:solidFill>
                <a:latin typeface="Montserrat Bold" pitchFamily="34" charset="0"/>
                <a:ea typeface="Montserrat Bold" pitchFamily="34" charset="-122"/>
                <a:cs typeface="Montserrat Bold" pitchFamily="34" charset="-120"/>
              </a:rPr>
              <a:t>34 481 m³</a:t>
            </a:r>
            <a:endParaRPr lang="en-US" sz="1000" dirty="0"/>
          </a:p>
        </p:txBody>
      </p:sp>
      <p:sp>
        <p:nvSpPr>
          <p:cNvPr id="21" name="Text 18"/>
          <p:cNvSpPr/>
          <p:nvPr/>
        </p:nvSpPr>
        <p:spPr>
          <a:xfrm>
            <a:off x="4892040" y="1938528"/>
            <a:ext cx="502920" cy="402336"/>
          </a:xfrm>
          <a:prstGeom prst="rect">
            <a:avLst/>
          </a:prstGeom>
          <a:noFill/>
          <a:ln/>
        </p:spPr>
        <p:txBody>
          <a:bodyPr wrap="square" lIns="0" tIns="0" rIns="0" bIns="0" rtlCol="0" anchor="ctr"/>
          <a:lstStyle/>
          <a:p>
            <a:pPr marL="0" indent="0">
              <a:buNone/>
            </a:pPr>
            <a:r>
              <a:rPr lang="en-US" sz="800" dirty="0">
                <a:solidFill>
                  <a:srgbClr val="555555"/>
                </a:solidFill>
                <a:latin typeface="Inter" pitchFamily="34" charset="0"/>
                <a:ea typeface="Inter" pitchFamily="34" charset="-122"/>
                <a:cs typeface="Inter" pitchFamily="34" charset="-120"/>
              </a:rPr>
              <a:t>GNF2</a:t>
            </a:r>
            <a:endParaRPr lang="en-US" sz="800" dirty="0"/>
          </a:p>
        </p:txBody>
      </p:sp>
      <p:sp>
        <p:nvSpPr>
          <p:cNvPr id="22" name="Shape 19"/>
          <p:cNvSpPr/>
          <p:nvPr/>
        </p:nvSpPr>
        <p:spPr>
          <a:xfrm>
            <a:off x="5577840" y="1920240"/>
            <a:ext cx="1691640" cy="438912"/>
          </a:xfrm>
          <a:prstGeom prst="rect">
            <a:avLst/>
          </a:prstGeom>
          <a:solidFill>
            <a:srgbClr val="FFFFFF"/>
          </a:solidFill>
          <a:ln/>
          <a:effectLst>
            <a:outerShdw blurRad="50800" dist="25400" dir="8100000" algn="bl" rotWithShape="0">
              <a:srgbClr val="000000">
                <a:alpha val="12000"/>
              </a:srgbClr>
            </a:outerShdw>
          </a:effectLst>
        </p:spPr>
      </p:sp>
      <p:sp>
        <p:nvSpPr>
          <p:cNvPr id="23" name="Text 20"/>
          <p:cNvSpPr/>
          <p:nvPr/>
        </p:nvSpPr>
        <p:spPr>
          <a:xfrm>
            <a:off x="5650992" y="1938528"/>
            <a:ext cx="1097280" cy="402336"/>
          </a:xfrm>
          <a:prstGeom prst="rect">
            <a:avLst/>
          </a:prstGeom>
          <a:noFill/>
          <a:ln/>
        </p:spPr>
        <p:txBody>
          <a:bodyPr wrap="square" lIns="0" tIns="0" rIns="0" bIns="0" rtlCol="0" anchor="ctr"/>
          <a:lstStyle/>
          <a:p>
            <a:pPr marL="0" indent="0">
              <a:buNone/>
            </a:pPr>
            <a:r>
              <a:rPr lang="en-US" sz="1000" b="1" dirty="0">
                <a:solidFill>
                  <a:srgbClr val="F39200"/>
                </a:solidFill>
                <a:latin typeface="Montserrat Bold" pitchFamily="34" charset="0"/>
                <a:ea typeface="Montserrat Bold" pitchFamily="34" charset="-122"/>
                <a:cs typeface="Montserrat Bold" pitchFamily="34" charset="-120"/>
              </a:rPr>
              <a:t>794 ml</a:t>
            </a:r>
            <a:endParaRPr lang="en-US" sz="1000" dirty="0"/>
          </a:p>
        </p:txBody>
      </p:sp>
      <p:sp>
        <p:nvSpPr>
          <p:cNvPr id="24" name="Text 21"/>
          <p:cNvSpPr/>
          <p:nvPr/>
        </p:nvSpPr>
        <p:spPr>
          <a:xfrm>
            <a:off x="6720840" y="1938528"/>
            <a:ext cx="502920" cy="402336"/>
          </a:xfrm>
          <a:prstGeom prst="rect">
            <a:avLst/>
          </a:prstGeom>
          <a:noFill/>
          <a:ln/>
        </p:spPr>
        <p:txBody>
          <a:bodyPr wrap="square" lIns="0" tIns="0" rIns="0" bIns="0" rtlCol="0" anchor="ctr"/>
          <a:lstStyle/>
          <a:p>
            <a:pPr marL="0" indent="0">
              <a:buNone/>
            </a:pPr>
            <a:r>
              <a:rPr lang="en-US" sz="800" dirty="0">
                <a:solidFill>
                  <a:srgbClr val="555555"/>
                </a:solidFill>
                <a:latin typeface="Inter" pitchFamily="34" charset="0"/>
                <a:ea typeface="Inter" pitchFamily="34" charset="-122"/>
                <a:cs typeface="Inter" pitchFamily="34" charset="-120"/>
              </a:rPr>
              <a:t>Buses Ø1000</a:t>
            </a:r>
            <a:endParaRPr lang="en-US" sz="800" dirty="0"/>
          </a:p>
        </p:txBody>
      </p:sp>
      <p:sp>
        <p:nvSpPr>
          <p:cNvPr id="25" name="Shape 22"/>
          <p:cNvSpPr/>
          <p:nvPr/>
        </p:nvSpPr>
        <p:spPr>
          <a:xfrm>
            <a:off x="7406640" y="1920240"/>
            <a:ext cx="1691640" cy="438912"/>
          </a:xfrm>
          <a:prstGeom prst="rect">
            <a:avLst/>
          </a:prstGeom>
          <a:solidFill>
            <a:srgbClr val="FFFFFF"/>
          </a:solidFill>
          <a:ln/>
          <a:effectLst>
            <a:outerShdw blurRad="50800" dist="25400" dir="8100000" algn="bl" rotWithShape="0">
              <a:srgbClr val="000000">
                <a:alpha val="12000"/>
              </a:srgbClr>
            </a:outerShdw>
          </a:effectLst>
        </p:spPr>
      </p:sp>
      <p:sp>
        <p:nvSpPr>
          <p:cNvPr id="26" name="Text 23"/>
          <p:cNvSpPr/>
          <p:nvPr/>
        </p:nvSpPr>
        <p:spPr>
          <a:xfrm>
            <a:off x="7479792" y="1938528"/>
            <a:ext cx="1097280" cy="402336"/>
          </a:xfrm>
          <a:prstGeom prst="rect">
            <a:avLst/>
          </a:prstGeom>
          <a:noFill/>
          <a:ln/>
        </p:spPr>
        <p:txBody>
          <a:bodyPr wrap="square" lIns="0" tIns="0" rIns="0" bIns="0" rtlCol="0" anchor="ctr"/>
          <a:lstStyle/>
          <a:p>
            <a:pPr marL="0" indent="0">
              <a:buNone/>
            </a:pPr>
            <a:r>
              <a:rPr lang="en-US" sz="1000" b="1" dirty="0">
                <a:solidFill>
                  <a:srgbClr val="F39200"/>
                </a:solidFill>
                <a:latin typeface="Montserrat Bold" pitchFamily="34" charset="0"/>
                <a:ea typeface="Montserrat Bold" pitchFamily="34" charset="-122"/>
                <a:cs typeface="Montserrat Bold" pitchFamily="34" charset="-120"/>
              </a:rPr>
              <a:t>789 m³</a:t>
            </a:r>
            <a:endParaRPr lang="en-US" sz="1000" dirty="0"/>
          </a:p>
        </p:txBody>
      </p:sp>
      <p:sp>
        <p:nvSpPr>
          <p:cNvPr id="27" name="Text 24"/>
          <p:cNvSpPr/>
          <p:nvPr/>
        </p:nvSpPr>
        <p:spPr>
          <a:xfrm>
            <a:off x="8549640" y="1938528"/>
            <a:ext cx="502920" cy="402336"/>
          </a:xfrm>
          <a:prstGeom prst="rect">
            <a:avLst/>
          </a:prstGeom>
          <a:noFill/>
          <a:ln/>
        </p:spPr>
        <p:txBody>
          <a:bodyPr wrap="square" lIns="0" tIns="0" rIns="0" bIns="0" rtlCol="0" anchor="ctr"/>
          <a:lstStyle/>
          <a:p>
            <a:pPr marL="0" indent="0">
              <a:buNone/>
            </a:pPr>
            <a:r>
              <a:rPr lang="en-US" sz="800" dirty="0">
                <a:solidFill>
                  <a:srgbClr val="555555"/>
                </a:solidFill>
                <a:latin typeface="Inter" pitchFamily="34" charset="0"/>
                <a:ea typeface="Inter" pitchFamily="34" charset="-122"/>
                <a:cs typeface="Inter" pitchFamily="34" charset="-120"/>
              </a:rPr>
              <a:t>Gabions</a:t>
            </a:r>
            <a:endParaRPr lang="en-US" sz="800" dirty="0"/>
          </a:p>
        </p:txBody>
      </p:sp>
      <p:sp>
        <p:nvSpPr>
          <p:cNvPr id="28" name="Shape 25"/>
          <p:cNvSpPr/>
          <p:nvPr/>
        </p:nvSpPr>
        <p:spPr>
          <a:xfrm>
            <a:off x="457200" y="3611880"/>
            <a:ext cx="8229600" cy="320040"/>
          </a:xfrm>
          <a:prstGeom prst="rect">
            <a:avLst/>
          </a:prstGeom>
          <a:solidFill>
            <a:srgbClr val="1E3A5F"/>
          </a:solidFill>
          <a:ln/>
        </p:spPr>
      </p:sp>
      <p:sp>
        <p:nvSpPr>
          <p:cNvPr id="29" name="Text 26"/>
          <p:cNvSpPr/>
          <p:nvPr/>
        </p:nvSpPr>
        <p:spPr>
          <a:xfrm>
            <a:off x="548640" y="3611880"/>
            <a:ext cx="8046720" cy="320040"/>
          </a:xfrm>
          <a:prstGeom prst="rect">
            <a:avLst/>
          </a:prstGeom>
          <a:noFill/>
          <a:ln/>
        </p:spPr>
        <p:txBody>
          <a:bodyPr wrap="square" lIns="0" tIns="0" rIns="0" bIns="0" rtlCol="0" anchor="ctr"/>
          <a:lstStyle/>
          <a:p>
            <a:pPr marL="0" indent="0">
              <a:buNone/>
            </a:pPr>
            <a:r>
              <a:rPr lang="en-US" sz="1300" b="1" dirty="0">
                <a:solidFill>
                  <a:srgbClr val="F39200"/>
                </a:solidFill>
                <a:latin typeface="Montserrat Bold" pitchFamily="34" charset="0"/>
                <a:ea typeface="Montserrat Bold" pitchFamily="34" charset="-122"/>
                <a:cs typeface="Montserrat Bold" pitchFamily="34" charset="-120"/>
              </a:rPr>
              <a:t>S5 </a:t>
            </a:r>
            <a:r>
              <a:rPr lang="en-US" sz="1000" dirty="0">
                <a:solidFill>
                  <a:srgbClr val="FFFFFF"/>
                </a:solidFill>
                <a:latin typeface="Inter" pitchFamily="34" charset="0"/>
                <a:ea typeface="Inter" pitchFamily="34" charset="-122"/>
                <a:cs typeface="Inter" pitchFamily="34" charset="-120"/>
              </a:rPr>
              <a:t>Contrôle des cubatures de terrassement | Vérifier les quantités exécutées et contrôler les écarts</a:t>
            </a:r>
            <a:endParaRPr lang="en-US" sz="1300" dirty="0"/>
          </a:p>
        </p:txBody>
      </p:sp>
      <p:sp>
        <p:nvSpPr>
          <p:cNvPr id="30" name="Shape 27"/>
          <p:cNvSpPr/>
          <p:nvPr/>
        </p:nvSpPr>
        <p:spPr>
          <a:xfrm>
            <a:off x="502920" y="4023360"/>
            <a:ext cx="201168" cy="201168"/>
          </a:xfrm>
          <a:prstGeom prst="rect">
            <a:avLst/>
          </a:prstGeom>
          <a:solidFill>
            <a:srgbClr val="1E3A5F"/>
          </a:solidFill>
          <a:ln/>
        </p:spPr>
      </p:sp>
      <p:sp>
        <p:nvSpPr>
          <p:cNvPr id="31" name="Text 28"/>
          <p:cNvSpPr/>
          <p:nvPr/>
        </p:nvSpPr>
        <p:spPr>
          <a:xfrm>
            <a:off x="502920" y="4023360"/>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Montserrat Bold" pitchFamily="34" charset="0"/>
                <a:ea typeface="Montserrat Bold" pitchFamily="34" charset="-122"/>
                <a:cs typeface="Montserrat Bold" pitchFamily="34" charset="-120"/>
              </a:rPr>
              <a:t>C</a:t>
            </a:r>
            <a:endParaRPr lang="en-US" sz="900" dirty="0"/>
          </a:p>
        </p:txBody>
      </p:sp>
      <p:sp>
        <p:nvSpPr>
          <p:cNvPr id="32" name="Text 29"/>
          <p:cNvSpPr/>
          <p:nvPr/>
        </p:nvSpPr>
        <p:spPr>
          <a:xfrm>
            <a:off x="777240" y="4005072"/>
            <a:ext cx="3931920" cy="292608"/>
          </a:xfrm>
          <a:prstGeom prst="rect">
            <a:avLst/>
          </a:prstGeom>
          <a:noFill/>
          <a:ln/>
        </p:spPr>
        <p:txBody>
          <a:bodyPr wrap="square" lIns="0" tIns="0" rIns="0" bIns="0" rtlCol="0" anchor="t"/>
          <a:lstStyle/>
          <a:p>
            <a:pPr marL="0" indent="0">
              <a:buNone/>
            </a:pPr>
            <a:r>
              <a:rPr lang="en-US" sz="750" dirty="0">
                <a:solidFill>
                  <a:srgbClr val="2D2D2D"/>
                </a:solidFill>
                <a:latin typeface="Inter" pitchFamily="34" charset="0"/>
                <a:ea typeface="Inter" pitchFamily="34" charset="-122"/>
                <a:cs typeface="Inter" pitchFamily="34" charset="-120"/>
              </a:rPr>
              <a:t>120 334 m³ déblais, 76 735 m³ remblais à vérifier. Poste le plus sensible aux écarts budgétaires.</a:t>
            </a:r>
            <a:endParaRPr lang="en-US" sz="750" dirty="0"/>
          </a:p>
        </p:txBody>
      </p:sp>
      <p:sp>
        <p:nvSpPr>
          <p:cNvPr id="33" name="Shape 30"/>
          <p:cNvSpPr/>
          <p:nvPr/>
        </p:nvSpPr>
        <p:spPr>
          <a:xfrm>
            <a:off x="502920" y="4370832"/>
            <a:ext cx="201168" cy="201168"/>
          </a:xfrm>
          <a:prstGeom prst="rect">
            <a:avLst/>
          </a:prstGeom>
          <a:solidFill>
            <a:srgbClr val="1E3A5F"/>
          </a:solidFill>
          <a:ln/>
        </p:spPr>
      </p:sp>
      <p:sp>
        <p:nvSpPr>
          <p:cNvPr id="34" name="Text 31"/>
          <p:cNvSpPr/>
          <p:nvPr/>
        </p:nvSpPr>
        <p:spPr>
          <a:xfrm>
            <a:off x="502920" y="4370832"/>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Montserrat Bold" pitchFamily="34" charset="0"/>
                <a:ea typeface="Montserrat Bold" pitchFamily="34" charset="-122"/>
                <a:cs typeface="Montserrat Bold" pitchFamily="34" charset="-120"/>
              </a:rPr>
              <a:t>P</a:t>
            </a:r>
            <a:endParaRPr lang="en-US" sz="900" dirty="0"/>
          </a:p>
        </p:txBody>
      </p:sp>
      <p:sp>
        <p:nvSpPr>
          <p:cNvPr id="35" name="Text 32"/>
          <p:cNvSpPr/>
          <p:nvPr/>
        </p:nvSpPr>
        <p:spPr>
          <a:xfrm>
            <a:off x="777240" y="4352544"/>
            <a:ext cx="3931920" cy="292608"/>
          </a:xfrm>
          <a:prstGeom prst="rect">
            <a:avLst/>
          </a:prstGeom>
          <a:noFill/>
          <a:ln/>
        </p:spPr>
        <p:txBody>
          <a:bodyPr wrap="square" lIns="0" tIns="0" rIns="0" bIns="0" rtlCol="0" anchor="t"/>
          <a:lstStyle/>
          <a:p>
            <a:pPr marL="0" indent="0">
              <a:buNone/>
            </a:pPr>
            <a:r>
              <a:rPr lang="en-US" sz="750" dirty="0">
                <a:solidFill>
                  <a:srgbClr val="2D2D2D"/>
                </a:solidFill>
                <a:latin typeface="Inter" pitchFamily="34" charset="0"/>
                <a:ea typeface="Inter" pitchFamily="34" charset="-122"/>
                <a:cs typeface="Inter" pitchFamily="34" charset="-120"/>
              </a:rPr>
              <a:t>Au-delà du PK12, calcaire fracturé : 5 000 m³ reclassés (+285 000 DH). 3 dalots non prévus. Écart cumulé +8%.</a:t>
            </a:r>
            <a:endParaRPr lang="en-US" sz="750" dirty="0"/>
          </a:p>
        </p:txBody>
      </p:sp>
      <p:sp>
        <p:nvSpPr>
          <p:cNvPr id="36" name="Shape 33"/>
          <p:cNvSpPr/>
          <p:nvPr/>
        </p:nvSpPr>
        <p:spPr>
          <a:xfrm>
            <a:off x="4617720" y="4023360"/>
            <a:ext cx="201168" cy="201168"/>
          </a:xfrm>
          <a:prstGeom prst="rect">
            <a:avLst/>
          </a:prstGeom>
          <a:solidFill>
            <a:srgbClr val="48B4AC"/>
          </a:solidFill>
          <a:ln/>
        </p:spPr>
      </p:sp>
      <p:sp>
        <p:nvSpPr>
          <p:cNvPr id="37" name="Text 34"/>
          <p:cNvSpPr/>
          <p:nvPr/>
        </p:nvSpPr>
        <p:spPr>
          <a:xfrm>
            <a:off x="4617720" y="4023360"/>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Montserrat Bold" pitchFamily="34" charset="0"/>
                <a:ea typeface="Montserrat Bold" pitchFamily="34" charset="-122"/>
                <a:cs typeface="Montserrat Bold" pitchFamily="34" charset="-120"/>
              </a:rPr>
              <a:t>A</a:t>
            </a:r>
            <a:endParaRPr lang="en-US" sz="900" dirty="0"/>
          </a:p>
        </p:txBody>
      </p:sp>
      <p:sp>
        <p:nvSpPr>
          <p:cNvPr id="38" name="Text 35"/>
          <p:cNvSpPr/>
          <p:nvPr/>
        </p:nvSpPr>
        <p:spPr>
          <a:xfrm>
            <a:off x="4892040" y="4005072"/>
            <a:ext cx="4114800" cy="292608"/>
          </a:xfrm>
          <a:prstGeom prst="rect">
            <a:avLst/>
          </a:prstGeom>
          <a:noFill/>
          <a:ln/>
        </p:spPr>
        <p:txBody>
          <a:bodyPr wrap="square" lIns="0" tIns="0" rIns="0" bIns="0" rtlCol="0" anchor="t"/>
          <a:lstStyle/>
          <a:p>
            <a:pPr marL="0" indent="0">
              <a:buNone/>
            </a:pPr>
            <a:r>
              <a:rPr lang="en-US" sz="750" dirty="0">
                <a:solidFill>
                  <a:srgbClr val="2D2D2D"/>
                </a:solidFill>
                <a:latin typeface="Inter" pitchFamily="34" charset="0"/>
                <a:ea typeface="Inter" pitchFamily="34" charset="-122"/>
                <a:cs typeface="Inter" pitchFamily="34" charset="-120"/>
              </a:rPr>
              <a:t>Contrôle contradictoire GPS /500 ml. Dimensionnement 3 dalots BA avec BET. Reclassification formalisée par attachement signé.</a:t>
            </a:r>
            <a:endParaRPr lang="en-US" sz="750" dirty="0"/>
          </a:p>
        </p:txBody>
      </p:sp>
      <p:sp>
        <p:nvSpPr>
          <p:cNvPr id="39" name="Shape 36"/>
          <p:cNvSpPr/>
          <p:nvPr/>
        </p:nvSpPr>
        <p:spPr>
          <a:xfrm>
            <a:off x="4617720" y="4370832"/>
            <a:ext cx="201168" cy="201168"/>
          </a:xfrm>
          <a:prstGeom prst="rect">
            <a:avLst/>
          </a:prstGeom>
          <a:solidFill>
            <a:srgbClr val="48B4AC"/>
          </a:solidFill>
          <a:ln/>
        </p:spPr>
      </p:sp>
      <p:sp>
        <p:nvSpPr>
          <p:cNvPr id="40" name="Text 37"/>
          <p:cNvSpPr/>
          <p:nvPr/>
        </p:nvSpPr>
        <p:spPr>
          <a:xfrm>
            <a:off x="4617720" y="4370832"/>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Montserrat Bold" pitchFamily="34" charset="0"/>
                <a:ea typeface="Montserrat Bold" pitchFamily="34" charset="-122"/>
                <a:cs typeface="Montserrat Bold" pitchFamily="34" charset="-120"/>
              </a:rPr>
              <a:t>R</a:t>
            </a:r>
            <a:endParaRPr lang="en-US" sz="900" dirty="0"/>
          </a:p>
        </p:txBody>
      </p:sp>
      <p:sp>
        <p:nvSpPr>
          <p:cNvPr id="41" name="Text 38"/>
          <p:cNvSpPr/>
          <p:nvPr/>
        </p:nvSpPr>
        <p:spPr>
          <a:xfrm>
            <a:off x="4892040" y="4352544"/>
            <a:ext cx="4114800" cy="292608"/>
          </a:xfrm>
          <a:prstGeom prst="rect">
            <a:avLst/>
          </a:prstGeom>
          <a:noFill/>
          <a:ln/>
        </p:spPr>
        <p:txBody>
          <a:bodyPr wrap="square" lIns="0" tIns="0" rIns="0" bIns="0" rtlCol="0" anchor="t"/>
          <a:lstStyle/>
          <a:p>
            <a:pPr marL="0" indent="0">
              <a:buNone/>
            </a:pPr>
            <a:r>
              <a:rPr lang="en-US" sz="750" dirty="0">
                <a:solidFill>
                  <a:srgbClr val="2D2D2D"/>
                </a:solidFill>
                <a:latin typeface="Inter" pitchFamily="34" charset="0"/>
                <a:ea typeface="Inter" pitchFamily="34" charset="-122"/>
                <a:cs typeface="Inter" pitchFamily="34" charset="-120"/>
              </a:rPr>
              <a:t>Surcoût 285 000 DH absorbé par compensation (remblais réels &lt; prévisions). Réception dans les délais, sans avenant.</a:t>
            </a:r>
            <a:endParaRPr lang="en-US" sz="750" dirty="0"/>
          </a:p>
        </p:txBody>
      </p:sp>
      <p:sp>
        <p:nvSpPr>
          <p:cNvPr id="42" name="Text 39"/>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8/15</a:t>
            </a:r>
            <a:endParaRPr lang="en-US" sz="700" dirty="0"/>
          </a:p>
        </p:txBody>
      </p:sp>
      <p:sp>
        <p:nvSpPr>
          <p:cNvPr id="43" name="Shape 40"/>
          <p:cNvSpPr/>
          <p:nvPr/>
        </p:nvSpPr>
        <p:spPr>
          <a:xfrm>
            <a:off x="0" y="5029200"/>
            <a:ext cx="9144000" cy="114300"/>
          </a:xfrm>
          <a:prstGeom prst="rect">
            <a:avLst/>
          </a:prstGeom>
          <a:solidFill>
            <a:srgbClr val="F39200"/>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ACTIVITÉS COMPLÉMENTAIRES</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Shape 3"/>
          <p:cNvSpPr/>
          <p:nvPr/>
        </p:nvSpPr>
        <p:spPr>
          <a:xfrm>
            <a:off x="457200" y="868680"/>
            <a:ext cx="4389120" cy="3657600"/>
          </a:xfrm>
          <a:prstGeom prst="rect">
            <a:avLst/>
          </a:prstGeom>
          <a:solidFill>
            <a:srgbClr val="FFFFFF"/>
          </a:solidFill>
          <a:ln/>
          <a:effectLst>
            <a:outerShdw blurRad="50800" dist="25400" dir="8100000" algn="bl" rotWithShape="0">
              <a:srgbClr val="000000">
                <a:alpha val="12000"/>
              </a:srgbClr>
            </a:outerShdw>
          </a:effectLst>
        </p:spPr>
      </p:sp>
      <p:sp>
        <p:nvSpPr>
          <p:cNvPr id="6" name="Text 4"/>
          <p:cNvSpPr/>
          <p:nvPr/>
        </p:nvSpPr>
        <p:spPr>
          <a:xfrm>
            <a:off x="640080" y="914400"/>
            <a:ext cx="4023360" cy="274320"/>
          </a:xfrm>
          <a:prstGeom prst="rect">
            <a:avLst/>
          </a:prstGeom>
          <a:noFill/>
          <a:ln/>
        </p:spPr>
        <p:txBody>
          <a:bodyPr wrap="square" lIns="0" tIns="0" rIns="0" bIns="0" rtlCol="0" anchor="ctr"/>
          <a:lstStyle/>
          <a:p>
            <a:pPr marL="0" indent="0">
              <a:buNone/>
            </a:pPr>
            <a:r>
              <a:rPr lang="en-US" sz="1100" b="1" dirty="0">
                <a:solidFill>
                  <a:srgbClr val="1E3A5F"/>
                </a:solidFill>
                <a:latin typeface="Montserrat Bold" pitchFamily="34" charset="0"/>
                <a:ea typeface="Montserrat Bold" pitchFamily="34" charset="-122"/>
                <a:cs typeface="Montserrat Bold" pitchFamily="34" charset="-120"/>
              </a:rPr>
              <a:t>5 AUTRES MARCHÉS AU CONSEIL RÉGIONAL</a:t>
            </a:r>
            <a:endParaRPr lang="en-US" sz="1100" dirty="0"/>
          </a:p>
        </p:txBody>
      </p:sp>
      <p:sp>
        <p:nvSpPr>
          <p:cNvPr id="7" name="Shape 5"/>
          <p:cNvSpPr/>
          <p:nvPr/>
        </p:nvSpPr>
        <p:spPr>
          <a:xfrm>
            <a:off x="640080" y="1188720"/>
            <a:ext cx="914400" cy="36576"/>
          </a:xfrm>
          <a:prstGeom prst="rect">
            <a:avLst/>
          </a:prstGeom>
          <a:solidFill>
            <a:srgbClr val="F39200"/>
          </a:solidFill>
          <a:ln/>
        </p:spPr>
      </p:sp>
      <p:graphicFrame>
        <p:nvGraphicFramePr>
          <p:cNvPr id="10" name="Table 0"/>
          <p:cNvGraphicFramePr>
            <a:graphicFrameLocks noGrp="1"/>
          </p:cNvGraphicFramePr>
          <p:nvPr>
            <p:extLst>
              <p:ext uri="{D42A27DB-BD31-4B8C-83A1-F6EECF244321}">
                <p14:modId xmlns:p14="http://schemas.microsoft.com/office/powerpoint/2010/main" val="1917291028"/>
              </p:ext>
            </p:extLst>
          </p:nvPr>
        </p:nvGraphicFramePr>
        <p:xfrm>
          <a:off x="640080" y="1277874"/>
          <a:ext cx="4023360" cy="1303020"/>
        </p:xfrm>
        <a:graphic>
          <a:graphicData uri="http://schemas.openxmlformats.org/drawingml/2006/table">
            <a:tbl>
              <a:tblPr/>
              <a:tblGrid>
                <a:gridCol w="10058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182880">
                <a:tc>
                  <a:txBody>
                    <a:bodyPr/>
                    <a:lstStyle/>
                    <a:p>
                      <a:pPr marL="0" indent="0">
                        <a:buNone/>
                      </a:pPr>
                      <a:r>
                        <a:rPr lang="en-US" sz="750" b="1" dirty="0">
                          <a:solidFill>
                            <a:srgbClr val="FFFFFF"/>
                          </a:solidFill>
                          <a:latin typeface="Montserrat Bold" pitchFamily="34" charset="0"/>
                          <a:ea typeface="Montserrat Bold" pitchFamily="34" charset="-122"/>
                          <a:cs typeface="Montserrat Bold" pitchFamily="34" charset="-120"/>
                        </a:rPr>
                        <a:t>N° Marché</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1E3A5F"/>
                    </a:solidFill>
                  </a:tcPr>
                </a:tc>
                <a:tc>
                  <a:txBody>
                    <a:bodyPr/>
                    <a:lstStyle/>
                    <a:p>
                      <a:pPr marL="0" indent="0">
                        <a:buNone/>
                      </a:pPr>
                      <a:r>
                        <a:rPr lang="en-US" sz="750" b="1" dirty="0">
                          <a:solidFill>
                            <a:srgbClr val="FFFFFF"/>
                          </a:solidFill>
                          <a:latin typeface="Montserrat Bold" pitchFamily="34" charset="0"/>
                          <a:ea typeface="Montserrat Bold" pitchFamily="34" charset="-122"/>
                          <a:cs typeface="Montserrat Bold" pitchFamily="34" charset="-120"/>
                        </a:rPr>
                        <a:t>Objet</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1E3A5F"/>
                    </a:solidFill>
                  </a:tcPr>
                </a:tc>
                <a:tc>
                  <a:txBody>
                    <a:bodyPr/>
                    <a:lstStyle/>
                    <a:p>
                      <a:pPr marL="0" indent="0">
                        <a:buNone/>
                      </a:pPr>
                      <a:r>
                        <a:rPr lang="en-US" sz="750" b="1" dirty="0">
                          <a:solidFill>
                            <a:srgbClr val="FFFFFF"/>
                          </a:solidFill>
                          <a:latin typeface="Montserrat Bold" pitchFamily="34" charset="0"/>
                          <a:ea typeface="Montserrat Bold" pitchFamily="34" charset="-122"/>
                          <a:cs typeface="Montserrat Bold" pitchFamily="34" charset="-120"/>
                        </a:rPr>
                        <a:t>Montant</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164592">
                <a:tc>
                  <a:txBody>
                    <a:bodyPr/>
                    <a:lstStyle/>
                    <a:p>
                      <a:pPr marL="0" indent="0">
                        <a:buNone/>
                      </a:pPr>
                      <a:r>
                        <a:rPr lang="en-US" sz="700" dirty="0">
                          <a:solidFill>
                            <a:srgbClr val="F39200"/>
                          </a:solidFill>
                          <a:latin typeface="Montserrat Bold" pitchFamily="34" charset="0"/>
                          <a:ea typeface="Montserrat Bold" pitchFamily="34" charset="-122"/>
                          <a:cs typeface="Montserrat Bold" pitchFamily="34" charset="-120"/>
                        </a:rPr>
                        <a:t>27-RBK-2017</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00" dirty="0">
                          <a:solidFill>
                            <a:srgbClr val="2D2D2D"/>
                          </a:solidFill>
                          <a:latin typeface="Inter" pitchFamily="34" charset="0"/>
                          <a:ea typeface="Inter" pitchFamily="34" charset="-122"/>
                          <a:cs typeface="Inter" pitchFamily="34" charset="-120"/>
                        </a:rPr>
                        <a:t>Route Sidi Bouabbad → Oued Grou (12 km)</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00" dirty="0">
                          <a:solidFill>
                            <a:srgbClr val="2D2D2D"/>
                          </a:solidFill>
                          <a:latin typeface="Inter" pitchFamily="34" charset="0"/>
                          <a:ea typeface="Inter" pitchFamily="34" charset="-122"/>
                          <a:cs typeface="Inter" pitchFamily="34" charset="-120"/>
                        </a:rPr>
                        <a:t>8,2 M DH</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64592">
                <a:tc>
                  <a:txBody>
                    <a:bodyPr/>
                    <a:lstStyle/>
                    <a:p>
                      <a:pPr marL="0" indent="0">
                        <a:buNone/>
                      </a:pPr>
                      <a:r>
                        <a:rPr lang="en-US" sz="700" dirty="0">
                          <a:solidFill>
                            <a:srgbClr val="F39200"/>
                          </a:solidFill>
                          <a:latin typeface="Montserrat Bold" pitchFamily="34" charset="0"/>
                          <a:ea typeface="Montserrat Bold" pitchFamily="34" charset="-122"/>
                          <a:cs typeface="Montserrat Bold" pitchFamily="34" charset="-120"/>
                        </a:rPr>
                        <a:t>28-RBK-2017</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700" dirty="0">
                          <a:solidFill>
                            <a:srgbClr val="2D2D2D"/>
                          </a:solidFill>
                          <a:latin typeface="Inter" pitchFamily="34" charset="0"/>
                          <a:ea typeface="Inter" pitchFamily="34" charset="-122"/>
                          <a:cs typeface="Inter" pitchFamily="34" charset="-120"/>
                        </a:rPr>
                        <a:t>Route Ajdir-Ayoun + Piste Lijon</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700" dirty="0">
                          <a:solidFill>
                            <a:srgbClr val="2D2D2D"/>
                          </a:solidFill>
                          <a:latin typeface="Inter" pitchFamily="34" charset="0"/>
                          <a:ea typeface="Inter" pitchFamily="34" charset="-122"/>
                          <a:cs typeface="Inter" pitchFamily="34" charset="-120"/>
                        </a:rPr>
                        <a:t>6,5 M DH</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164592">
                <a:tc>
                  <a:txBody>
                    <a:bodyPr/>
                    <a:lstStyle/>
                    <a:p>
                      <a:pPr marL="0" indent="0">
                        <a:buNone/>
                      </a:pPr>
                      <a:r>
                        <a:rPr lang="en-US" sz="700" dirty="0">
                          <a:solidFill>
                            <a:srgbClr val="F39200"/>
                          </a:solidFill>
                          <a:latin typeface="Montserrat Bold" pitchFamily="34" charset="0"/>
                          <a:ea typeface="Montserrat Bold" pitchFamily="34" charset="-122"/>
                          <a:cs typeface="Montserrat Bold" pitchFamily="34" charset="-120"/>
                        </a:rPr>
                        <a:t>30-RBK-2017</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00" dirty="0">
                          <a:solidFill>
                            <a:srgbClr val="2D2D2D"/>
                          </a:solidFill>
                          <a:latin typeface="Inter" pitchFamily="34" charset="0"/>
                          <a:ea typeface="Inter" pitchFamily="34" charset="-122"/>
                          <a:cs typeface="Inter" pitchFamily="34" charset="-120"/>
                        </a:rPr>
                        <a:t>Adduction Eau Potable El Borj-El Hamam (18 km)</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00" dirty="0">
                          <a:solidFill>
                            <a:srgbClr val="2D2D2D"/>
                          </a:solidFill>
                          <a:latin typeface="Inter" pitchFamily="34" charset="0"/>
                          <a:ea typeface="Inter" pitchFamily="34" charset="-122"/>
                          <a:cs typeface="Inter" pitchFamily="34" charset="-120"/>
                        </a:rPr>
                        <a:t>4,8 M DH</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64592">
                <a:tc>
                  <a:txBody>
                    <a:bodyPr/>
                    <a:lstStyle/>
                    <a:p>
                      <a:pPr marL="0" indent="0">
                        <a:buNone/>
                      </a:pPr>
                      <a:r>
                        <a:rPr lang="en-US" sz="700" dirty="0">
                          <a:solidFill>
                            <a:srgbClr val="F39200"/>
                          </a:solidFill>
                          <a:latin typeface="Montserrat Bold" pitchFamily="34" charset="0"/>
                          <a:ea typeface="Montserrat Bold" pitchFamily="34" charset="-122"/>
                          <a:cs typeface="Montserrat Bold" pitchFamily="34" charset="-120"/>
                        </a:rPr>
                        <a:t>39-RBK-2017</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700" dirty="0">
                          <a:solidFill>
                            <a:srgbClr val="2D2D2D"/>
                          </a:solidFill>
                          <a:latin typeface="Inter" pitchFamily="34" charset="0"/>
                          <a:ea typeface="Inter" pitchFamily="34" charset="-122"/>
                          <a:cs typeface="Inter" pitchFamily="34" charset="-120"/>
                        </a:rPr>
                        <a:t>Pistes Hartaf → Sebt Ait Rahou (9 km)</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700" dirty="0">
                          <a:solidFill>
                            <a:srgbClr val="2D2D2D"/>
                          </a:solidFill>
                          <a:latin typeface="Inter" pitchFamily="34" charset="0"/>
                          <a:ea typeface="Inter" pitchFamily="34" charset="-122"/>
                          <a:cs typeface="Inter" pitchFamily="34" charset="-120"/>
                        </a:rPr>
                        <a:t>3,1 M DH</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164592">
                <a:tc>
                  <a:txBody>
                    <a:bodyPr/>
                    <a:lstStyle/>
                    <a:p>
                      <a:pPr marL="0" indent="0">
                        <a:buNone/>
                      </a:pPr>
                      <a:r>
                        <a:rPr lang="en-US" sz="700" dirty="0">
                          <a:solidFill>
                            <a:srgbClr val="F39200"/>
                          </a:solidFill>
                          <a:latin typeface="Montserrat Bold" pitchFamily="34" charset="0"/>
                          <a:ea typeface="Montserrat Bold" pitchFamily="34" charset="-122"/>
                          <a:cs typeface="Montserrat Bold" pitchFamily="34" charset="-120"/>
                        </a:rPr>
                        <a:t>49-RBK-2016</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00" dirty="0">
                          <a:solidFill>
                            <a:srgbClr val="2D2D2D"/>
                          </a:solidFill>
                          <a:latin typeface="Inter" pitchFamily="34" charset="0"/>
                          <a:ea typeface="Inter" pitchFamily="34" charset="-122"/>
                          <a:cs typeface="Inter" pitchFamily="34" charset="-120"/>
                        </a:rPr>
                        <a:t>Aménagement voie Amghass → Bouchbel</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00" dirty="0">
                          <a:solidFill>
                            <a:srgbClr val="2D2D2D"/>
                          </a:solidFill>
                          <a:latin typeface="Inter" pitchFamily="34" charset="0"/>
                          <a:ea typeface="Inter" pitchFamily="34" charset="-122"/>
                          <a:cs typeface="Inter" pitchFamily="34" charset="-120"/>
                        </a:rPr>
                        <a:t>5,9 M DH</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6"/>
          <p:cNvSpPr/>
          <p:nvPr/>
        </p:nvSpPr>
        <p:spPr>
          <a:xfrm>
            <a:off x="548640" y="2718054"/>
            <a:ext cx="4023360" cy="182880"/>
          </a:xfrm>
          <a:prstGeom prst="rect">
            <a:avLst/>
          </a:prstGeom>
          <a:noFill/>
          <a:ln/>
        </p:spPr>
        <p:txBody>
          <a:bodyPr wrap="square" lIns="0" tIns="0" rIns="0" bIns="0" rtlCol="0" anchor="ctr"/>
          <a:lstStyle/>
          <a:p>
            <a:pPr marL="0" indent="0">
              <a:buNone/>
            </a:pPr>
            <a:r>
              <a:rPr lang="en-US" sz="800" b="1" dirty="0">
                <a:solidFill>
                  <a:srgbClr val="48B4AC"/>
                </a:solidFill>
                <a:latin typeface="Inter" pitchFamily="34" charset="0"/>
                <a:ea typeface="Inter" pitchFamily="34" charset="-122"/>
                <a:cs typeface="Inter" pitchFamily="34" charset="-120"/>
              </a:rPr>
              <a:t>4 types d'infrastructures maîtrisées : routes, VRD, adduction d'eau potable, voirie urbaine</a:t>
            </a:r>
            <a:endParaRPr lang="en-US" sz="800" dirty="0"/>
          </a:p>
        </p:txBody>
      </p:sp>
      <p:sp>
        <p:nvSpPr>
          <p:cNvPr id="8" name="Shape 7"/>
          <p:cNvSpPr/>
          <p:nvPr/>
        </p:nvSpPr>
        <p:spPr>
          <a:xfrm>
            <a:off x="5120640" y="868680"/>
            <a:ext cx="3566160" cy="3657600"/>
          </a:xfrm>
          <a:prstGeom prst="rect">
            <a:avLst/>
          </a:prstGeom>
          <a:solidFill>
            <a:srgbClr val="FFFFFF"/>
          </a:solidFill>
          <a:ln/>
          <a:effectLst>
            <a:outerShdw blurRad="50800" dist="25400" dir="8100000" algn="bl" rotWithShape="0">
              <a:srgbClr val="000000">
                <a:alpha val="12000"/>
              </a:srgbClr>
            </a:outerShdw>
          </a:effectLst>
        </p:spPr>
      </p:sp>
      <p:sp>
        <p:nvSpPr>
          <p:cNvPr id="11" name="Text 8"/>
          <p:cNvSpPr/>
          <p:nvPr/>
        </p:nvSpPr>
        <p:spPr>
          <a:xfrm>
            <a:off x="5303520" y="914400"/>
            <a:ext cx="3200400" cy="274320"/>
          </a:xfrm>
          <a:prstGeom prst="rect">
            <a:avLst/>
          </a:prstGeom>
          <a:noFill/>
          <a:ln/>
        </p:spPr>
        <p:txBody>
          <a:bodyPr wrap="square" lIns="0" tIns="0" rIns="0" bIns="0" rtlCol="0" anchor="ctr"/>
          <a:lstStyle/>
          <a:p>
            <a:pPr marL="0" indent="0">
              <a:buNone/>
            </a:pPr>
            <a:r>
              <a:rPr lang="en-US" sz="1100" b="1" dirty="0">
                <a:solidFill>
                  <a:srgbClr val="1E3A5F"/>
                </a:solidFill>
                <a:latin typeface="Montserrat Bold" pitchFamily="34" charset="0"/>
                <a:ea typeface="Montserrat Bold" pitchFamily="34" charset="-122"/>
                <a:cs typeface="Montserrat Bold" pitchFamily="34" charset="-120"/>
              </a:rPr>
              <a:t>EXPÉRIENCE TERRAIN EN FRANCE</a:t>
            </a:r>
            <a:endParaRPr lang="en-US" sz="1100" dirty="0"/>
          </a:p>
        </p:txBody>
      </p:sp>
      <p:sp>
        <p:nvSpPr>
          <p:cNvPr id="12" name="Shape 9"/>
          <p:cNvSpPr/>
          <p:nvPr/>
        </p:nvSpPr>
        <p:spPr>
          <a:xfrm>
            <a:off x="5303520" y="1188720"/>
            <a:ext cx="914400" cy="36576"/>
          </a:xfrm>
          <a:prstGeom prst="rect">
            <a:avLst/>
          </a:prstGeom>
          <a:solidFill>
            <a:srgbClr val="5CC8C0"/>
          </a:solidFill>
          <a:ln/>
        </p:spPr>
      </p:sp>
      <p:sp>
        <p:nvSpPr>
          <p:cNvPr id="13" name="Text 10"/>
          <p:cNvSpPr/>
          <p:nvPr/>
        </p:nvSpPr>
        <p:spPr>
          <a:xfrm>
            <a:off x="5303520" y="1325880"/>
            <a:ext cx="3200400" cy="548640"/>
          </a:xfrm>
          <a:prstGeom prst="rect">
            <a:avLst/>
          </a:prstGeom>
          <a:noFill/>
          <a:ln/>
        </p:spPr>
        <p:txBody>
          <a:bodyPr wrap="square" lIns="0" tIns="0" rIns="0" bIns="0" rtlCol="0" anchor="ctr"/>
          <a:lstStyle/>
          <a:p>
            <a:pPr marL="0" indent="0">
              <a:buNone/>
            </a:pPr>
            <a:r>
              <a:rPr lang="en-US" sz="850" dirty="0">
                <a:solidFill>
                  <a:srgbClr val="555555"/>
                </a:solidFill>
                <a:latin typeface="Inter" pitchFamily="34" charset="0"/>
                <a:ea typeface="Inter" pitchFamily="34" charset="-122"/>
                <a:cs typeface="Inter" pitchFamily="34" charset="-120"/>
              </a:rPr>
              <a:t>Cette expérience terrain m'a appris les coûts réels de production : main-d'œuvre, rendements, matériaux, matériel. Connaître le chantier de l'intérieur change profondément la façon d'estimer.</a:t>
            </a:r>
            <a:endParaRPr lang="en-US" sz="850" dirty="0"/>
          </a:p>
        </p:txBody>
      </p:sp>
      <p:sp>
        <p:nvSpPr>
          <p:cNvPr id="14" name="Shape 11"/>
          <p:cNvSpPr/>
          <p:nvPr/>
        </p:nvSpPr>
        <p:spPr>
          <a:xfrm>
            <a:off x="5303520" y="1965960"/>
            <a:ext cx="3200400" cy="548640"/>
          </a:xfrm>
          <a:prstGeom prst="rect">
            <a:avLst/>
          </a:prstGeom>
          <a:solidFill>
            <a:srgbClr val="1E3A5F"/>
          </a:solidFill>
          <a:ln/>
        </p:spPr>
      </p:sp>
      <p:sp>
        <p:nvSpPr>
          <p:cNvPr id="15" name="Text 12"/>
          <p:cNvSpPr/>
          <p:nvPr/>
        </p:nvSpPr>
        <p:spPr>
          <a:xfrm>
            <a:off x="5394960" y="1984248"/>
            <a:ext cx="3017520" cy="228600"/>
          </a:xfrm>
          <a:prstGeom prst="rect">
            <a:avLst/>
          </a:prstGeom>
          <a:noFill/>
          <a:ln/>
        </p:spPr>
        <p:txBody>
          <a:bodyPr wrap="square" lIns="0" tIns="0" rIns="0" bIns="0" rtlCol="0" anchor="ctr"/>
          <a:lstStyle/>
          <a:p>
            <a:pPr marL="0" indent="0">
              <a:buNone/>
            </a:pPr>
            <a:r>
              <a:rPr lang="en-US" sz="1000" b="1" dirty="0">
                <a:solidFill>
                  <a:srgbClr val="F39200"/>
                </a:solidFill>
                <a:latin typeface="Montserrat Bold" pitchFamily="34" charset="0"/>
                <a:ea typeface="Montserrat Bold" pitchFamily="34" charset="-122"/>
                <a:cs typeface="Montserrat Bold" pitchFamily="34" charset="-120"/>
              </a:rPr>
              <a:t>2024 - Chef de chantier</a:t>
            </a:r>
            <a:endParaRPr lang="en-US" sz="1000" dirty="0"/>
          </a:p>
        </p:txBody>
      </p:sp>
      <p:sp>
        <p:nvSpPr>
          <p:cNvPr id="16" name="Text 13"/>
          <p:cNvSpPr/>
          <p:nvPr/>
        </p:nvSpPr>
        <p:spPr>
          <a:xfrm>
            <a:off x="5394960" y="2194560"/>
            <a:ext cx="3017520" cy="27432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Minssieux et Fils, Mornant (Rhône)</a:t>
            </a:r>
            <a:endParaRPr lang="en-US" sz="750" dirty="0"/>
          </a:p>
          <a:p>
            <a:pPr marL="0" indent="0">
              <a:buNone/>
            </a:pPr>
            <a:r>
              <a:rPr lang="en-US" sz="750" dirty="0">
                <a:solidFill>
                  <a:srgbClr val="FFFFFF"/>
                </a:solidFill>
                <a:latin typeface="Inter" pitchFamily="34" charset="0"/>
                <a:ea typeface="Inter" pitchFamily="34" charset="-122"/>
                <a:cs typeface="Inter" pitchFamily="34" charset="-120"/>
              </a:rPr>
              <a:t>Encadrement, planning, contrôle qualité béton et maçonnerie</a:t>
            </a:r>
            <a:endParaRPr lang="en-US" sz="750" dirty="0"/>
          </a:p>
        </p:txBody>
      </p:sp>
      <p:sp>
        <p:nvSpPr>
          <p:cNvPr id="17" name="Shape 14"/>
          <p:cNvSpPr/>
          <p:nvPr/>
        </p:nvSpPr>
        <p:spPr>
          <a:xfrm>
            <a:off x="5303520" y="2606040"/>
            <a:ext cx="3200400" cy="548640"/>
          </a:xfrm>
          <a:prstGeom prst="rect">
            <a:avLst/>
          </a:prstGeom>
          <a:solidFill>
            <a:srgbClr val="0F2B50"/>
          </a:solidFill>
          <a:ln/>
        </p:spPr>
      </p:sp>
      <p:sp>
        <p:nvSpPr>
          <p:cNvPr id="18" name="Text 15"/>
          <p:cNvSpPr/>
          <p:nvPr/>
        </p:nvSpPr>
        <p:spPr>
          <a:xfrm>
            <a:off x="5394960" y="2624328"/>
            <a:ext cx="3017520" cy="228600"/>
          </a:xfrm>
          <a:prstGeom prst="rect">
            <a:avLst/>
          </a:prstGeom>
          <a:noFill/>
          <a:ln/>
        </p:spPr>
        <p:txBody>
          <a:bodyPr wrap="square" lIns="0" tIns="0" rIns="0" bIns="0" rtlCol="0" anchor="ctr"/>
          <a:lstStyle/>
          <a:p>
            <a:pPr marL="0" indent="0">
              <a:buNone/>
            </a:pPr>
            <a:r>
              <a:rPr lang="en-US" sz="1000" b="1" dirty="0">
                <a:solidFill>
                  <a:srgbClr val="F39200"/>
                </a:solidFill>
                <a:latin typeface="Montserrat Bold" pitchFamily="34" charset="0"/>
                <a:ea typeface="Montserrat Bold" pitchFamily="34" charset="-122"/>
                <a:cs typeface="Montserrat Bold" pitchFamily="34" charset="-120"/>
              </a:rPr>
              <a:t>2022-2023 - Chef d'équipe GO</a:t>
            </a:r>
            <a:endParaRPr lang="en-US" sz="1000" dirty="0"/>
          </a:p>
        </p:txBody>
      </p:sp>
      <p:sp>
        <p:nvSpPr>
          <p:cNvPr id="19" name="Text 16"/>
          <p:cNvSpPr/>
          <p:nvPr/>
        </p:nvSpPr>
        <p:spPr>
          <a:xfrm>
            <a:off x="5394960" y="2834640"/>
            <a:ext cx="3017520" cy="274320"/>
          </a:xfrm>
          <a:prstGeom prst="rect">
            <a:avLst/>
          </a:prstGeom>
          <a:noFill/>
          <a:ln/>
        </p:spPr>
        <p:txBody>
          <a:bodyPr wrap="square" lIns="0" tIns="0" rIns="0" bIns="0" rtlCol="0" anchor="ctr"/>
          <a:lstStyle/>
          <a:p>
            <a:pPr marL="0" indent="0">
              <a:buNone/>
            </a:pPr>
            <a:r>
              <a:rPr lang="en-US" sz="750" dirty="0">
                <a:solidFill>
                  <a:srgbClr val="FFFFFF"/>
                </a:solidFill>
                <a:latin typeface="Inter" pitchFamily="34" charset="0"/>
                <a:ea typeface="Inter" pitchFamily="34" charset="-122"/>
                <a:cs typeface="Inter" pitchFamily="34" charset="-120"/>
              </a:rPr>
              <a:t>Ergalis BTP, Feurs (Loire)</a:t>
            </a:r>
            <a:endParaRPr lang="en-US" sz="750" dirty="0"/>
          </a:p>
          <a:p>
            <a:pPr marL="0" indent="0">
              <a:buNone/>
            </a:pPr>
            <a:r>
              <a:rPr lang="en-US" sz="750" dirty="0">
                <a:solidFill>
                  <a:srgbClr val="FFFFFF"/>
                </a:solidFill>
                <a:latin typeface="Inter" pitchFamily="34" charset="0"/>
                <a:ea typeface="Inter" pitchFamily="34" charset="-122"/>
                <a:cs typeface="Inter" pitchFamily="34" charset="-120"/>
              </a:rPr>
              <a:t>Banches, armatures HA, coulage, cycles coffrage - GO structurel</a:t>
            </a:r>
            <a:endParaRPr lang="en-US" sz="750" dirty="0"/>
          </a:p>
        </p:txBody>
      </p:sp>
      <p:sp>
        <p:nvSpPr>
          <p:cNvPr id="20" name="Text 17"/>
          <p:cNvSpPr/>
          <p:nvPr/>
        </p:nvSpPr>
        <p:spPr>
          <a:xfrm>
            <a:off x="5303520" y="3291840"/>
            <a:ext cx="3200400" cy="182880"/>
          </a:xfrm>
          <a:prstGeom prst="rect">
            <a:avLst/>
          </a:prstGeom>
          <a:noFill/>
          <a:ln/>
        </p:spPr>
        <p:txBody>
          <a:bodyPr wrap="square" lIns="0" tIns="0" rIns="0" bIns="0" rtlCol="0" anchor="ctr"/>
          <a:lstStyle/>
          <a:p>
            <a:pPr marL="0" indent="0">
              <a:buNone/>
            </a:pPr>
            <a:r>
              <a:rPr lang="en-US" sz="800" b="1" dirty="0">
                <a:solidFill>
                  <a:srgbClr val="1E3A5F"/>
                </a:solidFill>
                <a:latin typeface="Montserrat Bold" pitchFamily="34" charset="0"/>
                <a:ea typeface="Montserrat Bold" pitchFamily="34" charset="-122"/>
                <a:cs typeface="Montserrat Bold" pitchFamily="34" charset="-120"/>
              </a:rPr>
              <a:t>Compétences acquises :</a:t>
            </a:r>
            <a:endParaRPr lang="en-US" sz="800" dirty="0"/>
          </a:p>
        </p:txBody>
      </p:sp>
      <p:sp>
        <p:nvSpPr>
          <p:cNvPr id="21" name="Text 18"/>
          <p:cNvSpPr/>
          <p:nvPr/>
        </p:nvSpPr>
        <p:spPr>
          <a:xfrm>
            <a:off x="5303520" y="3474720"/>
            <a:ext cx="3200400" cy="914400"/>
          </a:xfrm>
          <a:prstGeom prst="rect">
            <a:avLst/>
          </a:prstGeom>
          <a:noFill/>
          <a:ln/>
        </p:spPr>
        <p:txBody>
          <a:bodyPr wrap="square" rtlCol="0" anchor="ctr"/>
          <a:lstStyle/>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Coûts réels de production</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Rendements et consommation matériaux</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Contraintes d'exécution (accès, intempéries)</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Coordination entre lots, approvisionnements</a:t>
            </a:r>
            <a:endParaRPr lang="en-US" sz="800" dirty="0"/>
          </a:p>
        </p:txBody>
      </p:sp>
      <p:sp>
        <p:nvSpPr>
          <p:cNvPr id="22" name="Text 19"/>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9/15</a:t>
            </a:r>
            <a:endParaRPr lang="en-US" sz="700" dirty="0"/>
          </a:p>
        </p:txBody>
      </p:sp>
      <p:sp>
        <p:nvSpPr>
          <p:cNvPr id="23" name="Shape 20"/>
          <p:cNvSpPr/>
          <p:nvPr/>
        </p:nvSpPr>
        <p:spPr>
          <a:xfrm>
            <a:off x="0" y="5029200"/>
            <a:ext cx="9144000" cy="114300"/>
          </a:xfrm>
          <a:prstGeom prst="rect">
            <a:avLst/>
          </a:prstGeom>
          <a:solidFill>
            <a:srgbClr val="F39200"/>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SYNTHÈSE DES ACTIVITÉS PROFESSIONNELLES</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Text 3"/>
          <p:cNvSpPr/>
          <p:nvPr/>
        </p:nvSpPr>
        <p:spPr>
          <a:xfrm>
            <a:off x="457200" y="777240"/>
            <a:ext cx="8229600" cy="274320"/>
          </a:xfrm>
          <a:prstGeom prst="rect">
            <a:avLst/>
          </a:prstGeom>
          <a:noFill/>
          <a:ln/>
        </p:spPr>
        <p:txBody>
          <a:bodyPr wrap="square" lIns="0" tIns="0" rIns="0" bIns="0" rtlCol="0" anchor="ctr"/>
          <a:lstStyle/>
          <a:p>
            <a:pPr marL="0" indent="0">
              <a:buNone/>
            </a:pPr>
            <a:r>
              <a:rPr lang="en-US" sz="800" dirty="0">
                <a:solidFill>
                  <a:srgbClr val="555555"/>
                </a:solidFill>
                <a:latin typeface="Inter" pitchFamily="34" charset="0"/>
                <a:ea typeface="Inter" pitchFamily="34" charset="-122"/>
                <a:cs typeface="Inter" pitchFamily="34" charset="-120"/>
              </a:rPr>
              <a:t>Croisement des activités réalisées avec les compétences du BTS MEC mobilisées. Niveau Maîtrise = pratique régulière et autonome. Niveau Expert = capacité à transmettre.</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6400800" cy="1988820"/>
        </p:xfrm>
        <a:graphic>
          <a:graphicData uri="http://schemas.openxmlformats.org/drawingml/2006/table">
            <a:tbl>
              <a:tblPr/>
              <a:tblGrid>
                <a:gridCol w="29260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01168">
                <a:tc>
                  <a:txBody>
                    <a:bodyPr/>
                    <a:lstStyle/>
                    <a:p>
                      <a:pPr marL="0" indent="0">
                        <a:buNone/>
                      </a:pPr>
                      <a:r>
                        <a:rPr lang="en-US" sz="750" b="1" dirty="0">
                          <a:solidFill>
                            <a:srgbClr val="FFFFFF"/>
                          </a:solidFill>
                          <a:latin typeface="Montserrat Bold" pitchFamily="34" charset="0"/>
                          <a:ea typeface="Montserrat Bold" pitchFamily="34" charset="-122"/>
                          <a:cs typeface="Montserrat Bold" pitchFamily="34" charset="-120"/>
                        </a:rPr>
                        <a:t>Activité réalisée</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1E3A5F"/>
                    </a:solidFill>
                  </a:tcPr>
                </a:tc>
                <a:tc>
                  <a:txBody>
                    <a:bodyPr/>
                    <a:lstStyle/>
                    <a:p>
                      <a:pPr marL="0" indent="0">
                        <a:buNone/>
                      </a:pPr>
                      <a:r>
                        <a:rPr lang="en-US" sz="750" b="1" dirty="0">
                          <a:solidFill>
                            <a:srgbClr val="FFFFFF"/>
                          </a:solidFill>
                          <a:latin typeface="Montserrat Bold" pitchFamily="34" charset="0"/>
                          <a:ea typeface="Montserrat Bold" pitchFamily="34" charset="-122"/>
                          <a:cs typeface="Montserrat Bold" pitchFamily="34" charset="-120"/>
                        </a:rPr>
                        <a:t>Sous-compétence BTS MEC</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1E3A5F"/>
                    </a:solidFill>
                  </a:tcPr>
                </a:tc>
                <a:tc>
                  <a:txBody>
                    <a:bodyPr/>
                    <a:lstStyle/>
                    <a:p>
                      <a:pPr marL="0" indent="0" algn="ctr">
                        <a:buNone/>
                      </a:pPr>
                      <a:r>
                        <a:rPr lang="en-US" sz="750" b="1" dirty="0">
                          <a:solidFill>
                            <a:srgbClr val="FFFFFF"/>
                          </a:solidFill>
                          <a:latin typeface="Montserrat Bold" pitchFamily="34" charset="0"/>
                          <a:ea typeface="Montserrat Bold" pitchFamily="34" charset="-122"/>
                          <a:cs typeface="Montserrat Bold" pitchFamily="34" charset="-120"/>
                        </a:rPr>
                        <a:t>Sit.</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1E3A5F"/>
                    </a:solidFill>
                  </a:tcPr>
                </a:tc>
                <a:tc>
                  <a:txBody>
                    <a:bodyPr/>
                    <a:lstStyle/>
                    <a:p>
                      <a:pPr marL="0" indent="0" algn="ctr">
                        <a:buNone/>
                      </a:pPr>
                      <a:r>
                        <a:rPr lang="en-US" sz="750" b="1" dirty="0">
                          <a:solidFill>
                            <a:srgbClr val="FFFFFF"/>
                          </a:solidFill>
                          <a:latin typeface="Montserrat Bold" pitchFamily="34" charset="0"/>
                          <a:ea typeface="Montserrat Bold" pitchFamily="34" charset="-122"/>
                          <a:cs typeface="Montserrat Bold" pitchFamily="34" charset="-120"/>
                        </a:rPr>
                        <a:t>Niveau</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182880">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Métrés détaillés : 112 prix × 4 communes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Réaliser des métrés TCE</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F39200"/>
                          </a:solidFill>
                          <a:latin typeface="Inter" pitchFamily="34" charset="0"/>
                          <a:ea typeface="Inter" pitchFamily="34" charset="-122"/>
                          <a:cs typeface="Inter" pitchFamily="34" charset="-120"/>
                        </a:rPr>
                        <a:t>S1</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48B4AC"/>
                          </a:solidFill>
                          <a:latin typeface="Montserrat Bold" pitchFamily="34" charset="0"/>
                          <a:ea typeface="Montserrat Bold" pitchFamily="34" charset="-122"/>
                          <a:cs typeface="Montserrat Bold" pitchFamily="34" charset="-120"/>
                        </a:rPr>
                        <a:t>Maîtrise</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82880">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Estimation confidentielle 15,8 M DH</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Estimer un ouvrage en phase AO</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ctr">
                        <a:buNone/>
                      </a:pPr>
                      <a:r>
                        <a:rPr lang="en-US" sz="700" dirty="0">
                          <a:solidFill>
                            <a:srgbClr val="F39200"/>
                          </a:solidFill>
                          <a:latin typeface="Inter" pitchFamily="34" charset="0"/>
                          <a:ea typeface="Inter" pitchFamily="34" charset="-122"/>
                          <a:cs typeface="Inter" pitchFamily="34" charset="-120"/>
                        </a:rPr>
                        <a:t>S1</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ctr">
                        <a:buNone/>
                      </a:pPr>
                      <a:r>
                        <a:rPr lang="en-US" sz="700" b="1" dirty="0">
                          <a:solidFill>
                            <a:srgbClr val="48B4AC"/>
                          </a:solidFill>
                          <a:latin typeface="Montserrat Bold" pitchFamily="34" charset="0"/>
                          <a:ea typeface="Montserrat Bold" pitchFamily="34" charset="-122"/>
                          <a:cs typeface="Montserrat Bold" pitchFamily="34" charset="-120"/>
                        </a:rPr>
                        <a:t>Maîtrise</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182880">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Analyse 3 offres, grille /100</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Analyser les offres en commission</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F39200"/>
                          </a:solidFill>
                          <a:latin typeface="Inter" pitchFamily="34" charset="0"/>
                          <a:ea typeface="Inter" pitchFamily="34" charset="-122"/>
                          <a:cs typeface="Inter" pitchFamily="34" charset="-120"/>
                        </a:rPr>
                        <a:t>S2</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48B4AC"/>
                          </a:solidFill>
                          <a:latin typeface="Montserrat Bold" pitchFamily="34" charset="0"/>
                          <a:ea typeface="Montserrat Bold" pitchFamily="34" charset="-122"/>
                          <a:cs typeface="Montserrat Bold" pitchFamily="34" charset="-120"/>
                        </a:rPr>
                        <a:t>Maîtrise</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2880">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Tableau de bord hebdo, compensation inter-postes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Suivre l'exécution financière</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ctr">
                        <a:buNone/>
                      </a:pPr>
                      <a:r>
                        <a:rPr lang="en-US" sz="700" dirty="0">
                          <a:solidFill>
                            <a:srgbClr val="F39200"/>
                          </a:solidFill>
                          <a:latin typeface="Inter" pitchFamily="34" charset="0"/>
                          <a:ea typeface="Inter" pitchFamily="34" charset="-122"/>
                          <a:cs typeface="Inter" pitchFamily="34" charset="-120"/>
                        </a:rPr>
                        <a:t>S3</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ctr">
                        <a:buNone/>
                      </a:pPr>
                      <a:r>
                        <a:rPr lang="en-US" sz="700" b="1" dirty="0">
                          <a:solidFill>
                            <a:srgbClr val="F39200"/>
                          </a:solidFill>
                          <a:latin typeface="Montserrat Bold" pitchFamily="34" charset="0"/>
                          <a:ea typeface="Montserrat Bold" pitchFamily="34" charset="-122"/>
                          <a:cs typeface="Montserrat Bold" pitchFamily="34" charset="-120"/>
                        </a:rPr>
                        <a:t>Expert</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182880">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Attachements contradictoires /500 ml, GPS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Vérifier les quantités exécutées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F39200"/>
                          </a:solidFill>
                          <a:latin typeface="Inter" pitchFamily="34" charset="0"/>
                          <a:ea typeface="Inter" pitchFamily="34" charset="-122"/>
                          <a:cs typeface="Inter" pitchFamily="34" charset="-120"/>
                        </a:rPr>
                        <a:t>S5</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F39200"/>
                          </a:solidFill>
                          <a:latin typeface="Montserrat Bold" pitchFamily="34" charset="0"/>
                          <a:ea typeface="Montserrat Bold" pitchFamily="34" charset="-122"/>
                          <a:cs typeface="Montserrat Bold" pitchFamily="34" charset="-120"/>
                        </a:rPr>
                        <a:t>Expert</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82880">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CR consolidé 24h, OS, notes factuelles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Communiquer par écrit</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ctr">
                        <a:buNone/>
                      </a:pPr>
                      <a:r>
                        <a:rPr lang="en-US" sz="700" dirty="0">
                          <a:solidFill>
                            <a:srgbClr val="F39200"/>
                          </a:solidFill>
                          <a:latin typeface="Inter" pitchFamily="34" charset="0"/>
                          <a:ea typeface="Inter" pitchFamily="34" charset="-122"/>
                          <a:cs typeface="Inter" pitchFamily="34" charset="-120"/>
                        </a:rPr>
                        <a:t>S4</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ctr">
                        <a:buNone/>
                      </a:pPr>
                      <a:r>
                        <a:rPr lang="en-US" sz="700" b="1" dirty="0">
                          <a:solidFill>
                            <a:srgbClr val="48B4AC"/>
                          </a:solidFill>
                          <a:latin typeface="Montserrat Bold" pitchFamily="34" charset="0"/>
                          <a:ea typeface="Montserrat Bold" pitchFamily="34" charset="-122"/>
                          <a:cs typeface="Montserrat Bold" pitchFamily="34" charset="-120"/>
                        </a:rPr>
                        <a:t>Maîtrise</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182880">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Réunions chantier, point 8h, CAO</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Communiquer oralement</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F39200"/>
                          </a:solidFill>
                          <a:latin typeface="Inter" pitchFamily="34" charset="0"/>
                          <a:ea typeface="Inter" pitchFamily="34" charset="-122"/>
                          <a:cs typeface="Inter" pitchFamily="34" charset="-120"/>
                        </a:rPr>
                        <a:t>S2,4</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48B4AC"/>
                          </a:solidFill>
                          <a:latin typeface="Montserrat Bold" pitchFamily="34" charset="0"/>
                          <a:ea typeface="Montserrat Bold" pitchFamily="34" charset="-122"/>
                          <a:cs typeface="Montserrat Bold" pitchFamily="34" charset="-120"/>
                        </a:rPr>
                        <a:t>Maîtrise</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82880">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Rédaction CPS, RC, BPDE</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Rédiger pièces de marchés publics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ctr">
                        <a:buNone/>
                      </a:pPr>
                      <a:r>
                        <a:rPr lang="en-US" sz="700" dirty="0">
                          <a:solidFill>
                            <a:srgbClr val="F39200"/>
                          </a:solidFill>
                          <a:latin typeface="Inter" pitchFamily="34" charset="0"/>
                          <a:ea typeface="Inter" pitchFamily="34" charset="-122"/>
                          <a:cs typeface="Inter" pitchFamily="34" charset="-120"/>
                        </a:rPr>
                        <a:t>S1-4</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lgn="ctr">
                        <a:buNone/>
                      </a:pPr>
                      <a:r>
                        <a:rPr lang="en-US" sz="700" b="1" dirty="0">
                          <a:solidFill>
                            <a:srgbClr val="48B4AC"/>
                          </a:solidFill>
                          <a:latin typeface="Montserrat Bold" pitchFamily="34" charset="0"/>
                          <a:ea typeface="Montserrat Bold" pitchFamily="34" charset="-122"/>
                          <a:cs typeface="Montserrat Bold" pitchFamily="34" charset="-120"/>
                        </a:rPr>
                        <a:t>Maîtrise</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8"/>
                  </a:ext>
                </a:extLst>
              </a:tr>
              <a:tr h="182880">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Convention BIM LOD 300, IFC 2x3, 78 postes</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l">
                        <a:buNone/>
                      </a:pPr>
                      <a:r>
                        <a:rPr lang="en-US" sz="700" dirty="0">
                          <a:solidFill>
                            <a:srgbClr val="2D2D2D"/>
                          </a:solidFill>
                          <a:latin typeface="Inter" pitchFamily="34" charset="0"/>
                          <a:ea typeface="Inter" pitchFamily="34" charset="-122"/>
                          <a:cs typeface="Inter" pitchFamily="34" charset="-120"/>
                        </a:rPr>
                        <a:t>Collaborer en BIM (Open BIM)</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F39200"/>
                          </a:solidFill>
                          <a:latin typeface="Inter" pitchFamily="34" charset="0"/>
                          <a:ea typeface="Inter" pitchFamily="34" charset="-122"/>
                          <a:cs typeface="Inter" pitchFamily="34" charset="-120"/>
                        </a:rPr>
                        <a:t>BIM</a:t>
                      </a:r>
                      <a:endParaRPr lang="en-US" sz="70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48B4AC"/>
                          </a:solidFill>
                          <a:latin typeface="Montserrat Bold" pitchFamily="34" charset="0"/>
                          <a:ea typeface="Montserrat Bold" pitchFamily="34" charset="-122"/>
                          <a:cs typeface="Montserrat Bold" pitchFamily="34" charset="-120"/>
                        </a:rPr>
                        <a:t>Maîtrise</a:t>
                      </a:r>
                      <a:endParaRPr lang="en-US" sz="7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Shape 4"/>
          <p:cNvSpPr/>
          <p:nvPr/>
        </p:nvSpPr>
        <p:spPr>
          <a:xfrm>
            <a:off x="457200" y="3337560"/>
            <a:ext cx="8229600" cy="502920"/>
          </a:xfrm>
          <a:prstGeom prst="rect">
            <a:avLst/>
          </a:prstGeom>
          <a:solidFill>
            <a:srgbClr val="1E3A5F"/>
          </a:solidFill>
          <a:ln/>
        </p:spPr>
      </p:sp>
      <p:sp>
        <p:nvSpPr>
          <p:cNvPr id="8" name="Text 5"/>
          <p:cNvSpPr/>
          <p:nvPr/>
        </p:nvSpPr>
        <p:spPr>
          <a:xfrm>
            <a:off x="548640" y="3355848"/>
            <a:ext cx="8046720" cy="457200"/>
          </a:xfrm>
          <a:prstGeom prst="rect">
            <a:avLst/>
          </a:prstGeom>
          <a:noFill/>
          <a:ln/>
        </p:spPr>
        <p:txBody>
          <a:bodyPr wrap="square" lIns="0" tIns="0" rIns="0" bIns="0" rtlCol="0" anchor="ctr"/>
          <a:lstStyle/>
          <a:p>
            <a:pPr marL="0" indent="0">
              <a:buNone/>
            </a:pPr>
            <a:r>
              <a:rPr lang="en-US" sz="1100" b="1" dirty="0">
                <a:solidFill>
                  <a:srgbClr val="FFFFFF"/>
                </a:solidFill>
                <a:latin typeface="Montserrat Bold" pitchFamily="34" charset="0"/>
                <a:ea typeface="Montserrat Bold" pitchFamily="34" charset="-122"/>
                <a:cs typeface="Montserrat Bold" pitchFamily="34" charset="-120"/>
              </a:rPr>
              <a:t>Triple compétence MOA + Exécution + BIM → estimations réalistes, analyse pertinente des offres, métrés BIM précis</a:t>
            </a:r>
            <a:endParaRPr lang="en-US" sz="1100" dirty="0"/>
          </a:p>
        </p:txBody>
      </p:sp>
      <p:sp>
        <p:nvSpPr>
          <p:cNvPr id="9" name="Text 6"/>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10/15</a:t>
            </a:r>
            <a:endParaRPr lang="en-US" sz="700" dirty="0"/>
          </a:p>
        </p:txBody>
      </p:sp>
      <p:sp>
        <p:nvSpPr>
          <p:cNvPr id="10" name="Shape 7"/>
          <p:cNvSpPr/>
          <p:nvPr/>
        </p:nvSpPr>
        <p:spPr>
          <a:xfrm>
            <a:off x="0" y="5029200"/>
            <a:ext cx="9144000" cy="114300"/>
          </a:xfrm>
          <a:prstGeom prst="rect">
            <a:avLst/>
          </a:prstGeom>
          <a:solidFill>
            <a:srgbClr val="F39200"/>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ANALYSE COMPARATIVE : MAROC vs FRANCE</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Text 3"/>
          <p:cNvSpPr/>
          <p:nvPr/>
        </p:nvSpPr>
        <p:spPr>
          <a:xfrm>
            <a:off x="457200" y="777240"/>
            <a:ext cx="8229600" cy="274320"/>
          </a:xfrm>
          <a:prstGeom prst="rect">
            <a:avLst/>
          </a:prstGeom>
          <a:noFill/>
          <a:ln/>
        </p:spPr>
        <p:txBody>
          <a:bodyPr wrap="square" lIns="0" tIns="0" rIns="0" bIns="0" rtlCol="0" anchor="ctr"/>
          <a:lstStyle/>
          <a:p>
            <a:pPr marL="0" indent="0">
              <a:buNone/>
            </a:pPr>
            <a:r>
              <a:rPr lang="en-US" sz="850" dirty="0">
                <a:solidFill>
                  <a:srgbClr val="555555"/>
                </a:solidFill>
                <a:latin typeface="Inter" pitchFamily="34" charset="0"/>
                <a:ea typeface="Inter" pitchFamily="34" charset="-122"/>
                <a:cs typeface="Inter" pitchFamily="34" charset="-120"/>
              </a:rPr>
              <a:t>Mêmes fondamentaux de la commande publique : transparence, égalité, mise en concurrence. Deux cadres réglementaires distincts, une seule exigence : la rigueur.</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1859280"/>
        </p:xfrm>
        <a:graphic>
          <a:graphicData uri="http://schemas.openxmlformats.org/drawingml/2006/table">
            <a:tbl>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201168">
                <a:tc>
                  <a:txBody>
                    <a:bodyPr/>
                    <a:lstStyle/>
                    <a:p>
                      <a:pPr marL="0" indent="0">
                        <a:buNone/>
                      </a:pPr>
                      <a:r>
                        <a:rPr lang="en-US" sz="800" b="1" dirty="0">
                          <a:solidFill>
                            <a:srgbClr val="FFFFFF"/>
                          </a:solidFill>
                          <a:latin typeface="Montserrat Bold" pitchFamily="34" charset="0"/>
                          <a:ea typeface="Montserrat Bold" pitchFamily="34" charset="-122"/>
                          <a:cs typeface="Montserrat Bold" pitchFamily="34" charset="-120"/>
                        </a:rPr>
                        <a:t>Aspect</a:t>
                      </a:r>
                      <a:endParaRPr lang="en-US" sz="8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1E3A5F"/>
                    </a:solidFill>
                  </a:tcPr>
                </a:tc>
                <a:tc>
                  <a:txBody>
                    <a:bodyPr/>
                    <a:lstStyle/>
                    <a:p>
                      <a:pPr marL="0" indent="0" algn="ctr">
                        <a:buNone/>
                      </a:pPr>
                      <a:r>
                        <a:rPr lang="en-US" sz="800" b="1" dirty="0">
                          <a:solidFill>
                            <a:srgbClr val="FFFFFF"/>
                          </a:solidFill>
                          <a:latin typeface="Montserrat Bold" pitchFamily="34" charset="0"/>
                          <a:ea typeface="Montserrat Bold" pitchFamily="34" charset="-122"/>
                          <a:cs typeface="Montserrat Bold" pitchFamily="34" charset="-120"/>
                        </a:rPr>
                        <a:t>Maroc</a:t>
                      </a:r>
                      <a:endParaRPr lang="en-US" sz="8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9200"/>
                    </a:solidFill>
                  </a:tcPr>
                </a:tc>
                <a:tc>
                  <a:txBody>
                    <a:bodyPr/>
                    <a:lstStyle/>
                    <a:p>
                      <a:pPr marL="0" indent="0" algn="ctr">
                        <a:buNone/>
                      </a:pPr>
                      <a:r>
                        <a:rPr lang="en-US" sz="800" b="1" dirty="0">
                          <a:solidFill>
                            <a:srgbClr val="FFFFFF"/>
                          </a:solidFill>
                          <a:latin typeface="Montserrat Bold" pitchFamily="34" charset="0"/>
                          <a:ea typeface="Montserrat Bold" pitchFamily="34" charset="-122"/>
                          <a:cs typeface="Montserrat Bold" pitchFamily="34" charset="-120"/>
                        </a:rPr>
                        <a:t>France</a:t>
                      </a:r>
                      <a:endParaRPr lang="en-US" sz="80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48B4AC"/>
                    </a:solidFill>
                  </a:tcPr>
                </a:tc>
                <a:extLst>
                  <a:ext uri="{0D108BD9-81ED-4DB2-BD59-A6C34878D82A}">
                    <a16:rowId xmlns:a16="http://schemas.microsoft.com/office/drawing/2014/main" val="10000"/>
                  </a:ext>
                </a:extLst>
              </a:tr>
              <a:tr h="173736">
                <a:tc>
                  <a:txBody>
                    <a:bodyPr/>
                    <a:lstStyle/>
                    <a:p>
                      <a:pPr marL="0" indent="0">
                        <a:buNone/>
                      </a:pPr>
                      <a:r>
                        <a:rPr lang="en-US" sz="750" b="1" dirty="0">
                          <a:solidFill>
                            <a:srgbClr val="1E3A5F"/>
                          </a:solidFill>
                          <a:latin typeface="Montserrat Bold" pitchFamily="34" charset="0"/>
                          <a:ea typeface="Montserrat Bold" pitchFamily="34" charset="-122"/>
                          <a:cs typeface="Montserrat Bold" pitchFamily="34" charset="-120"/>
                        </a:rPr>
                        <a:t>Réglementation</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Décret n°2-12-349 (20/03/2013)</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Code de la commande publique</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73736">
                <a:tc>
                  <a:txBody>
                    <a:bodyPr/>
                    <a:lstStyle/>
                    <a:p>
                      <a:pPr marL="0" indent="0">
                        <a:buNone/>
                      </a:pPr>
                      <a:r>
                        <a:rPr lang="en-US" sz="750" b="1" dirty="0">
                          <a:solidFill>
                            <a:srgbClr val="1E3A5F"/>
                          </a:solidFill>
                          <a:latin typeface="Montserrat Bold" pitchFamily="34" charset="0"/>
                          <a:ea typeface="Montserrat Bold" pitchFamily="34" charset="-122"/>
                          <a:cs typeface="Montserrat Bold" pitchFamily="34" charset="-120"/>
                        </a:rPr>
                        <a:t>Seuils procédure</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AO ouvert &gt; 500 000 DH</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AO &gt; seuils européens</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173736">
                <a:tc>
                  <a:txBody>
                    <a:bodyPr/>
                    <a:lstStyle/>
                    <a:p>
                      <a:pPr marL="0" indent="0">
                        <a:buNone/>
                      </a:pPr>
                      <a:r>
                        <a:rPr lang="en-US" sz="750" b="1" dirty="0">
                          <a:solidFill>
                            <a:srgbClr val="1E3A5F"/>
                          </a:solidFill>
                          <a:latin typeface="Montserrat Bold" pitchFamily="34" charset="0"/>
                          <a:ea typeface="Montserrat Bold" pitchFamily="34" charset="-122"/>
                          <a:cs typeface="Montserrat Bold" pitchFamily="34" charset="-120"/>
                        </a:rPr>
                        <a:t>Pièces marché</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CPS + RC + BPDE</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CCAP + CCTP + BPU/DQE ou DPGF</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73736">
                <a:tc>
                  <a:txBody>
                    <a:bodyPr/>
                    <a:lstStyle/>
                    <a:p>
                      <a:pPr marL="0" indent="0">
                        <a:buNone/>
                      </a:pPr>
                      <a:r>
                        <a:rPr lang="en-US" sz="750" b="1" dirty="0">
                          <a:solidFill>
                            <a:srgbClr val="1E3A5F"/>
                          </a:solidFill>
                          <a:latin typeface="Montserrat Bold" pitchFamily="34" charset="0"/>
                          <a:ea typeface="Montserrat Bold" pitchFamily="34" charset="-122"/>
                          <a:cs typeface="Montserrat Bold" pitchFamily="34" charset="-120"/>
                        </a:rPr>
                        <a:t>Estimation</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Estimation confidentielle obligatoire</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Estimation du maître d'ouvrage</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173736">
                <a:tc>
                  <a:txBody>
                    <a:bodyPr/>
                    <a:lstStyle/>
                    <a:p>
                      <a:pPr marL="0" indent="0">
                        <a:buNone/>
                      </a:pPr>
                      <a:r>
                        <a:rPr lang="en-US" sz="750" b="1" dirty="0">
                          <a:solidFill>
                            <a:srgbClr val="1E3A5F"/>
                          </a:solidFill>
                          <a:latin typeface="Montserrat Bold" pitchFamily="34" charset="0"/>
                          <a:ea typeface="Montserrat Bold" pitchFamily="34" charset="-122"/>
                          <a:cs typeface="Montserrat Bold" pitchFamily="34" charset="-120"/>
                        </a:rPr>
                        <a:t>Normes construction</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Normes marocaines, RPS 2000</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DTU, Eurocodes, RE2020</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73736">
                <a:tc>
                  <a:txBody>
                    <a:bodyPr/>
                    <a:lstStyle/>
                    <a:p>
                      <a:pPr marL="0" indent="0">
                        <a:buNone/>
                      </a:pPr>
                      <a:r>
                        <a:rPr lang="en-US" sz="750" b="1" dirty="0">
                          <a:solidFill>
                            <a:srgbClr val="1E3A5F"/>
                          </a:solidFill>
                          <a:latin typeface="Montserrat Bold" pitchFamily="34" charset="0"/>
                          <a:ea typeface="Montserrat Bold" pitchFamily="34" charset="-122"/>
                          <a:cs typeface="Montserrat Bold" pitchFamily="34" charset="-120"/>
                        </a:rPr>
                        <a:t>Suivi financier</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Attachements contradictoires, décomptes</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Situations mensuelles</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173736">
                <a:tc>
                  <a:txBody>
                    <a:bodyPr/>
                    <a:lstStyle/>
                    <a:p>
                      <a:pPr marL="0" indent="0">
                        <a:buNone/>
                      </a:pPr>
                      <a:r>
                        <a:rPr lang="en-US" sz="750" b="1" dirty="0">
                          <a:solidFill>
                            <a:srgbClr val="1E3A5F"/>
                          </a:solidFill>
                          <a:latin typeface="Montserrat Bold" pitchFamily="34" charset="0"/>
                          <a:ea typeface="Montserrat Bold" pitchFamily="34" charset="-122"/>
                          <a:cs typeface="Montserrat Bold" pitchFamily="34" charset="-120"/>
                        </a:rPr>
                        <a:t>Révision des prix</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Formule de révision contractuelle</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Actualisation et révision (CCAP)</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73736">
                <a:tc>
                  <a:txBody>
                    <a:bodyPr/>
                    <a:lstStyle/>
                    <a:p>
                      <a:pPr marL="0" indent="0">
                        <a:buNone/>
                      </a:pPr>
                      <a:r>
                        <a:rPr lang="en-US" sz="750" b="1" dirty="0">
                          <a:solidFill>
                            <a:srgbClr val="1E3A5F"/>
                          </a:solidFill>
                          <a:latin typeface="Montserrat Bold" pitchFamily="34" charset="0"/>
                          <a:ea typeface="Montserrat Bold" pitchFamily="34" charset="-122"/>
                          <a:cs typeface="Montserrat Bold" pitchFamily="34" charset="-120"/>
                        </a:rPr>
                        <a:t>Commission</a:t>
                      </a:r>
                      <a:endParaRPr lang="en-US" sz="750" dirty="0">
                        <a:latin typeface="Montserrat Bold" charset="0"/>
                        <a:ea typeface="Montserrat Bold" charset="0"/>
                        <a:cs typeface="Montserrat Bold"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Commission d'Appel d'Offres (CAO)</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750" dirty="0">
                          <a:solidFill>
                            <a:srgbClr val="2D2D2D"/>
                          </a:solidFill>
                          <a:latin typeface="Inter" pitchFamily="34" charset="0"/>
                          <a:ea typeface="Inter" pitchFamily="34" charset="-122"/>
                          <a:cs typeface="Inter" pitchFamily="34" charset="-120"/>
                        </a:rPr>
                        <a:t>Commission d'Appel d'Offres</a:t>
                      </a:r>
                      <a:endParaRPr lang="en-US" sz="750" dirty="0">
                        <a:latin typeface="Inter" charset="0"/>
                        <a:ea typeface="Inter" charset="0"/>
                        <a:cs typeface="Inter" charset="0"/>
                      </a:endParaRPr>
                    </a:p>
                  </a:txBody>
                  <a:tcP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8"/>
                  </a:ext>
                </a:extLst>
              </a:tr>
            </a:tbl>
          </a:graphicData>
        </a:graphic>
      </p:graphicFrame>
      <p:sp>
        <p:nvSpPr>
          <p:cNvPr id="7" name="Text 4"/>
          <p:cNvSpPr/>
          <p:nvPr/>
        </p:nvSpPr>
        <p:spPr>
          <a:xfrm>
            <a:off x="457200" y="2880360"/>
            <a:ext cx="8229600" cy="228600"/>
          </a:xfrm>
          <a:prstGeom prst="rect">
            <a:avLst/>
          </a:prstGeom>
          <a:noFill/>
          <a:ln/>
        </p:spPr>
        <p:txBody>
          <a:bodyPr wrap="square" lIns="0" tIns="0" rIns="0" bIns="0" rtlCol="0" anchor="ctr"/>
          <a:lstStyle/>
          <a:p>
            <a:pPr marL="0" indent="0">
              <a:buNone/>
            </a:pPr>
            <a:r>
              <a:rPr lang="en-US" sz="1000" b="1" dirty="0">
                <a:solidFill>
                  <a:srgbClr val="1E3A5F"/>
                </a:solidFill>
                <a:latin typeface="Montserrat Bold" pitchFamily="34" charset="0"/>
                <a:ea typeface="Montserrat Bold" pitchFamily="34" charset="-122"/>
                <a:cs typeface="Montserrat Bold" pitchFamily="34" charset="-120"/>
              </a:rPr>
              <a:t>CE QUE CETTE DOUBLE EXPÉRIENCE M'APPORTE</a:t>
            </a:r>
            <a:endParaRPr lang="en-US" sz="1000" dirty="0"/>
          </a:p>
        </p:txBody>
      </p:sp>
      <p:sp>
        <p:nvSpPr>
          <p:cNvPr id="8" name="Shape 5"/>
          <p:cNvSpPr/>
          <p:nvPr/>
        </p:nvSpPr>
        <p:spPr>
          <a:xfrm>
            <a:off x="457200" y="3154680"/>
            <a:ext cx="2651760" cy="914400"/>
          </a:xfrm>
          <a:prstGeom prst="rect">
            <a:avLst/>
          </a:prstGeom>
          <a:solidFill>
            <a:srgbClr val="FFFFFF"/>
          </a:solidFill>
          <a:ln/>
          <a:effectLst>
            <a:outerShdw blurRad="50800" dist="25400" dir="8100000" algn="bl" rotWithShape="0">
              <a:srgbClr val="000000">
                <a:alpha val="12000"/>
              </a:srgbClr>
            </a:outerShdw>
          </a:effectLst>
        </p:spPr>
      </p:sp>
      <p:sp>
        <p:nvSpPr>
          <p:cNvPr id="9" name="Shape 6"/>
          <p:cNvSpPr/>
          <p:nvPr/>
        </p:nvSpPr>
        <p:spPr>
          <a:xfrm>
            <a:off x="457200" y="3154680"/>
            <a:ext cx="2651760" cy="36576"/>
          </a:xfrm>
          <a:prstGeom prst="rect">
            <a:avLst/>
          </a:prstGeom>
          <a:solidFill>
            <a:srgbClr val="48B4AC"/>
          </a:solidFill>
          <a:ln/>
        </p:spPr>
      </p:sp>
      <p:sp>
        <p:nvSpPr>
          <p:cNvPr id="10" name="Text 7"/>
          <p:cNvSpPr/>
          <p:nvPr/>
        </p:nvSpPr>
        <p:spPr>
          <a:xfrm>
            <a:off x="548640" y="3246120"/>
            <a:ext cx="2468880" cy="228600"/>
          </a:xfrm>
          <a:prstGeom prst="rect">
            <a:avLst/>
          </a:prstGeom>
          <a:noFill/>
          <a:ln/>
        </p:spPr>
        <p:txBody>
          <a:bodyPr wrap="square" lIns="0" tIns="0" rIns="0" bIns="0" rtlCol="0" anchor="ctr"/>
          <a:lstStyle/>
          <a:p>
            <a:pPr marL="0" indent="0">
              <a:buNone/>
            </a:pPr>
            <a:r>
              <a:rPr lang="en-US" sz="900" b="1" dirty="0">
                <a:solidFill>
                  <a:srgbClr val="1E3A5F"/>
                </a:solidFill>
                <a:latin typeface="Montserrat Bold" pitchFamily="34" charset="0"/>
                <a:ea typeface="Montserrat Bold" pitchFamily="34" charset="-122"/>
                <a:cs typeface="Montserrat Bold" pitchFamily="34" charset="-120"/>
              </a:rPr>
              <a:t>Côté MOA - Maroc</a:t>
            </a:r>
            <a:endParaRPr lang="en-US" sz="900" dirty="0"/>
          </a:p>
        </p:txBody>
      </p:sp>
      <p:sp>
        <p:nvSpPr>
          <p:cNvPr id="11" name="Text 8"/>
          <p:cNvSpPr/>
          <p:nvPr/>
        </p:nvSpPr>
        <p:spPr>
          <a:xfrm>
            <a:off x="548640" y="3474720"/>
            <a:ext cx="2468880" cy="502920"/>
          </a:xfrm>
          <a:prstGeom prst="rect">
            <a:avLst/>
          </a:prstGeom>
          <a:noFill/>
          <a:ln/>
        </p:spPr>
        <p:txBody>
          <a:bodyPr wrap="square" lIns="0" tIns="0" rIns="0" bIns="0" rtlCol="0" anchor="ctr"/>
          <a:lstStyle/>
          <a:p>
            <a:pPr marL="0" indent="0">
              <a:buNone/>
            </a:pPr>
            <a:r>
              <a:rPr lang="en-US" sz="750" dirty="0">
                <a:solidFill>
                  <a:srgbClr val="2D2D2D"/>
                </a:solidFill>
                <a:latin typeface="Inter" pitchFamily="34" charset="0"/>
                <a:ea typeface="Inter" pitchFamily="34" charset="-122"/>
                <a:cs typeface="Inter" pitchFamily="34" charset="-120"/>
              </a:rPr>
              <a:t>Concevoir marchés, rédiger CPS/RC/BPDE, piloter CAO, émettre OS. 7 marchés, 100 M DH.</a:t>
            </a:r>
            <a:endParaRPr lang="en-US" sz="750" dirty="0"/>
          </a:p>
        </p:txBody>
      </p:sp>
      <p:sp>
        <p:nvSpPr>
          <p:cNvPr id="6" name="Shape 9"/>
          <p:cNvSpPr/>
          <p:nvPr/>
        </p:nvSpPr>
        <p:spPr>
          <a:xfrm>
            <a:off x="3291840" y="3154680"/>
            <a:ext cx="2651760" cy="914400"/>
          </a:xfrm>
          <a:prstGeom prst="rect">
            <a:avLst/>
          </a:prstGeom>
          <a:solidFill>
            <a:srgbClr val="FFFFFF"/>
          </a:solidFill>
          <a:ln/>
          <a:effectLst>
            <a:outerShdw blurRad="50800" dist="25400" dir="8100000" algn="bl" rotWithShape="0">
              <a:srgbClr val="000000">
                <a:alpha val="12000"/>
              </a:srgbClr>
            </a:outerShdw>
          </a:effectLst>
        </p:spPr>
      </p:sp>
      <p:sp>
        <p:nvSpPr>
          <p:cNvPr id="13" name="Shape 10"/>
          <p:cNvSpPr/>
          <p:nvPr/>
        </p:nvSpPr>
        <p:spPr>
          <a:xfrm>
            <a:off x="3291840" y="3154680"/>
            <a:ext cx="2651760" cy="36576"/>
          </a:xfrm>
          <a:prstGeom prst="rect">
            <a:avLst/>
          </a:prstGeom>
          <a:solidFill>
            <a:srgbClr val="F39200"/>
          </a:solidFill>
          <a:ln/>
        </p:spPr>
      </p:sp>
      <p:sp>
        <p:nvSpPr>
          <p:cNvPr id="14" name="Text 11"/>
          <p:cNvSpPr/>
          <p:nvPr/>
        </p:nvSpPr>
        <p:spPr>
          <a:xfrm>
            <a:off x="3383280" y="3246120"/>
            <a:ext cx="2468880" cy="228600"/>
          </a:xfrm>
          <a:prstGeom prst="rect">
            <a:avLst/>
          </a:prstGeom>
          <a:noFill/>
          <a:ln/>
        </p:spPr>
        <p:txBody>
          <a:bodyPr wrap="square" lIns="0" tIns="0" rIns="0" bIns="0" rtlCol="0" anchor="ctr"/>
          <a:lstStyle/>
          <a:p>
            <a:pPr marL="0" indent="0">
              <a:buNone/>
            </a:pPr>
            <a:r>
              <a:rPr lang="en-US" sz="900" b="1" dirty="0">
                <a:solidFill>
                  <a:srgbClr val="1E3A5F"/>
                </a:solidFill>
                <a:latin typeface="Montserrat Bold" pitchFamily="34" charset="0"/>
                <a:ea typeface="Montserrat Bold" pitchFamily="34" charset="-122"/>
                <a:cs typeface="Montserrat Bold" pitchFamily="34" charset="-120"/>
              </a:rPr>
              <a:t>Côté Exécution - France</a:t>
            </a:r>
            <a:endParaRPr lang="en-US" sz="900" dirty="0"/>
          </a:p>
        </p:txBody>
      </p:sp>
      <p:sp>
        <p:nvSpPr>
          <p:cNvPr id="15" name="Text 12"/>
          <p:cNvSpPr/>
          <p:nvPr/>
        </p:nvSpPr>
        <p:spPr>
          <a:xfrm>
            <a:off x="3383280" y="3474720"/>
            <a:ext cx="2468880" cy="502920"/>
          </a:xfrm>
          <a:prstGeom prst="rect">
            <a:avLst/>
          </a:prstGeom>
          <a:noFill/>
          <a:ln/>
        </p:spPr>
        <p:txBody>
          <a:bodyPr wrap="square" lIns="0" tIns="0" rIns="0" bIns="0" rtlCol="0" anchor="ctr"/>
          <a:lstStyle/>
          <a:p>
            <a:pPr marL="0" indent="0">
              <a:buNone/>
            </a:pPr>
            <a:r>
              <a:rPr lang="en-US" sz="750" dirty="0">
                <a:solidFill>
                  <a:srgbClr val="2D2D2D"/>
                </a:solidFill>
                <a:latin typeface="Inter" pitchFamily="34" charset="0"/>
                <a:ea typeface="Inter" pitchFamily="34" charset="-122"/>
                <a:cs typeface="Inter" pitchFamily="34" charset="-120"/>
              </a:rPr>
              <a:t>Coûts réels, rendements, contraintes terrain. Estimations ancrées dans la réalité.</a:t>
            </a:r>
            <a:endParaRPr lang="en-US" sz="750" dirty="0"/>
          </a:p>
        </p:txBody>
      </p:sp>
      <p:sp>
        <p:nvSpPr>
          <p:cNvPr id="16" name="Shape 13"/>
          <p:cNvSpPr/>
          <p:nvPr/>
        </p:nvSpPr>
        <p:spPr>
          <a:xfrm>
            <a:off x="6126480" y="3154680"/>
            <a:ext cx="2651760" cy="914400"/>
          </a:xfrm>
          <a:prstGeom prst="rect">
            <a:avLst/>
          </a:prstGeom>
          <a:solidFill>
            <a:srgbClr val="FFFFFF"/>
          </a:solidFill>
          <a:ln/>
          <a:effectLst>
            <a:outerShdw blurRad="50800" dist="25400" dir="8100000" algn="bl" rotWithShape="0">
              <a:srgbClr val="000000">
                <a:alpha val="12000"/>
              </a:srgbClr>
            </a:outerShdw>
          </a:effectLst>
        </p:spPr>
      </p:sp>
      <p:sp>
        <p:nvSpPr>
          <p:cNvPr id="17" name="Shape 14"/>
          <p:cNvSpPr/>
          <p:nvPr/>
        </p:nvSpPr>
        <p:spPr>
          <a:xfrm>
            <a:off x="6126480" y="3154680"/>
            <a:ext cx="2651760" cy="36576"/>
          </a:xfrm>
          <a:prstGeom prst="rect">
            <a:avLst/>
          </a:prstGeom>
          <a:solidFill>
            <a:srgbClr val="1E3A5F"/>
          </a:solidFill>
          <a:ln/>
        </p:spPr>
      </p:sp>
      <p:sp>
        <p:nvSpPr>
          <p:cNvPr id="18" name="Text 15"/>
          <p:cNvSpPr/>
          <p:nvPr/>
        </p:nvSpPr>
        <p:spPr>
          <a:xfrm>
            <a:off x="6217920" y="3246120"/>
            <a:ext cx="2468880" cy="228600"/>
          </a:xfrm>
          <a:prstGeom prst="rect">
            <a:avLst/>
          </a:prstGeom>
          <a:noFill/>
          <a:ln/>
        </p:spPr>
        <p:txBody>
          <a:bodyPr wrap="square" lIns="0" tIns="0" rIns="0" bIns="0" rtlCol="0" anchor="ctr"/>
          <a:lstStyle/>
          <a:p>
            <a:pPr marL="0" indent="0">
              <a:buNone/>
            </a:pPr>
            <a:r>
              <a:rPr lang="en-US" sz="900" b="1" dirty="0">
                <a:solidFill>
                  <a:srgbClr val="1E3A5F"/>
                </a:solidFill>
                <a:latin typeface="Montserrat Bold" pitchFamily="34" charset="0"/>
                <a:ea typeface="Montserrat Bold" pitchFamily="34" charset="-122"/>
                <a:cs typeface="Montserrat Bold" pitchFamily="34" charset="-120"/>
              </a:rPr>
              <a:t>Synthèse : Triple compétence</a:t>
            </a:r>
            <a:endParaRPr lang="en-US" sz="900" dirty="0"/>
          </a:p>
        </p:txBody>
      </p:sp>
      <p:sp>
        <p:nvSpPr>
          <p:cNvPr id="19" name="Text 16"/>
          <p:cNvSpPr/>
          <p:nvPr/>
        </p:nvSpPr>
        <p:spPr>
          <a:xfrm>
            <a:off x="6217920" y="3474720"/>
            <a:ext cx="2468880" cy="502920"/>
          </a:xfrm>
          <a:prstGeom prst="rect">
            <a:avLst/>
          </a:prstGeom>
          <a:noFill/>
          <a:ln/>
        </p:spPr>
        <p:txBody>
          <a:bodyPr wrap="square" lIns="0" tIns="0" rIns="0" bIns="0" rtlCol="0" anchor="ctr"/>
          <a:lstStyle/>
          <a:p>
            <a:pPr marL="0" indent="0">
              <a:buNone/>
            </a:pPr>
            <a:r>
              <a:rPr lang="en-US" sz="750" dirty="0">
                <a:solidFill>
                  <a:srgbClr val="2D2D2D"/>
                </a:solidFill>
                <a:latin typeface="Inter" pitchFamily="34" charset="0"/>
                <a:ea typeface="Inter" pitchFamily="34" charset="-122"/>
                <a:cs typeface="Inter" pitchFamily="34" charset="-120"/>
              </a:rPr>
              <a:t>MOA + Exécution + BIM. Estimations réalistes, analyse pertinente, métrés BIM précis. C'est BIMCO.</a:t>
            </a:r>
            <a:endParaRPr lang="en-US" sz="750" dirty="0"/>
          </a:p>
        </p:txBody>
      </p:sp>
      <p:sp>
        <p:nvSpPr>
          <p:cNvPr id="20" name="Text 17"/>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11/15</a:t>
            </a:r>
            <a:endParaRPr lang="en-US" sz="700" dirty="0"/>
          </a:p>
        </p:txBody>
      </p:sp>
      <p:sp>
        <p:nvSpPr>
          <p:cNvPr id="21" name="Shape 18"/>
          <p:cNvSpPr/>
          <p:nvPr/>
        </p:nvSpPr>
        <p:spPr>
          <a:xfrm>
            <a:off x="0" y="5029200"/>
            <a:ext cx="9144000" cy="114300"/>
          </a:xfrm>
          <a:prstGeom prst="rect">
            <a:avLst/>
          </a:prstGeom>
          <a:solidFill>
            <a:srgbClr val="F39200"/>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PROTOCOLE DE COLLABORATION BIM</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Text 3"/>
          <p:cNvSpPr/>
          <p:nvPr/>
        </p:nvSpPr>
        <p:spPr>
          <a:xfrm>
            <a:off x="457200" y="777240"/>
            <a:ext cx="8229600" cy="228600"/>
          </a:xfrm>
          <a:prstGeom prst="rect">
            <a:avLst/>
          </a:prstGeom>
          <a:noFill/>
          <a:ln/>
        </p:spPr>
        <p:txBody>
          <a:bodyPr wrap="square" lIns="0" tIns="0" rIns="0" bIns="0" rtlCol="0" anchor="ctr"/>
          <a:lstStyle/>
          <a:p>
            <a:pPr marL="0" indent="0">
              <a:buNone/>
            </a:pPr>
            <a:r>
              <a:rPr lang="en-US" sz="900" dirty="0">
                <a:solidFill>
                  <a:srgbClr val="555555"/>
                </a:solidFill>
                <a:latin typeface="Inter" pitchFamily="34" charset="0"/>
                <a:ea typeface="Inter" pitchFamily="34" charset="-122"/>
                <a:cs typeface="Inter" pitchFamily="34" charset="-120"/>
              </a:rPr>
              <a:t>Le BIM transforme la chaîne métré → estimation → chiffrage. Formation AFPA Colmar (8 mois, Technicien Modeleur BIM).</a:t>
            </a:r>
            <a:endParaRPr lang="en-US" sz="900" dirty="0"/>
          </a:p>
        </p:txBody>
      </p:sp>
      <p:sp>
        <p:nvSpPr>
          <p:cNvPr id="6" name="Shape 4"/>
          <p:cNvSpPr/>
          <p:nvPr/>
        </p:nvSpPr>
        <p:spPr>
          <a:xfrm>
            <a:off x="457200" y="1097280"/>
            <a:ext cx="3931920" cy="2286000"/>
          </a:xfrm>
          <a:prstGeom prst="rect">
            <a:avLst/>
          </a:prstGeom>
          <a:solidFill>
            <a:srgbClr val="FFFFFF"/>
          </a:solidFill>
          <a:ln/>
          <a:effectLst>
            <a:outerShdw blurRad="50800" dist="25400" dir="8100000" algn="bl" rotWithShape="0">
              <a:srgbClr val="000000">
                <a:alpha val="12000"/>
              </a:srgbClr>
            </a:outerShdw>
          </a:effectLst>
        </p:spPr>
      </p:sp>
      <p:sp>
        <p:nvSpPr>
          <p:cNvPr id="7" name="Text 5"/>
          <p:cNvSpPr/>
          <p:nvPr/>
        </p:nvSpPr>
        <p:spPr>
          <a:xfrm>
            <a:off x="640080" y="1143000"/>
            <a:ext cx="3566160" cy="228600"/>
          </a:xfrm>
          <a:prstGeom prst="rect">
            <a:avLst/>
          </a:prstGeom>
          <a:noFill/>
          <a:ln/>
        </p:spPr>
        <p:txBody>
          <a:bodyPr wrap="square" lIns="0" tIns="0" rIns="0" bIns="0" rtlCol="0" anchor="ctr"/>
          <a:lstStyle/>
          <a:p>
            <a:pPr marL="0" indent="0">
              <a:buNone/>
            </a:pPr>
            <a:r>
              <a:rPr lang="en-US" sz="1000" b="1" dirty="0">
                <a:solidFill>
                  <a:srgbClr val="1E3A5F"/>
                </a:solidFill>
                <a:latin typeface="Montserrat Bold" pitchFamily="34" charset="0"/>
                <a:ea typeface="Montserrat Bold" pitchFamily="34" charset="-122"/>
                <a:cs typeface="Montserrat Bold" pitchFamily="34" charset="-120"/>
              </a:rPr>
              <a:t>CONVENTION BIM APPLIQUÉE</a:t>
            </a:r>
            <a:endParaRPr lang="en-US" sz="1000" dirty="0"/>
          </a:p>
        </p:txBody>
      </p:sp>
      <p:sp>
        <p:nvSpPr>
          <p:cNvPr id="8" name="Text 6"/>
          <p:cNvSpPr/>
          <p:nvPr/>
        </p:nvSpPr>
        <p:spPr>
          <a:xfrm>
            <a:off x="640080" y="1463040"/>
            <a:ext cx="1371600" cy="274320"/>
          </a:xfrm>
          <a:prstGeom prst="rect">
            <a:avLst/>
          </a:prstGeom>
          <a:noFill/>
          <a:ln/>
        </p:spPr>
        <p:txBody>
          <a:bodyPr wrap="square" lIns="0" tIns="0" rIns="0" bIns="0" rtlCol="0" anchor="ctr"/>
          <a:lstStyle/>
          <a:p>
            <a:pPr marL="0" indent="0">
              <a:buNone/>
            </a:pPr>
            <a:r>
              <a:rPr lang="en-US" sz="800" b="1" dirty="0">
                <a:solidFill>
                  <a:srgbClr val="F39200"/>
                </a:solidFill>
                <a:latin typeface="Montserrat Bold" pitchFamily="34" charset="0"/>
                <a:ea typeface="Montserrat Bold" pitchFamily="34" charset="-122"/>
                <a:cs typeface="Montserrat Bold" pitchFamily="34" charset="-120"/>
              </a:rPr>
              <a:t>Niveaux détail</a:t>
            </a:r>
            <a:endParaRPr lang="en-US" sz="800" dirty="0"/>
          </a:p>
        </p:txBody>
      </p:sp>
      <p:sp>
        <p:nvSpPr>
          <p:cNvPr id="9" name="Text 7"/>
          <p:cNvSpPr/>
          <p:nvPr/>
        </p:nvSpPr>
        <p:spPr>
          <a:xfrm>
            <a:off x="2011680" y="1463040"/>
            <a:ext cx="2194560" cy="274320"/>
          </a:xfrm>
          <a:prstGeom prst="rect">
            <a:avLst/>
          </a:prstGeom>
          <a:noFill/>
          <a:ln/>
        </p:spPr>
        <p:txBody>
          <a:bodyPr wrap="square" lIns="0" tIns="0" rIns="0" bIns="0" rtlCol="0" anchor="ctr"/>
          <a:lstStyle/>
          <a:p>
            <a:pPr marL="0" indent="0">
              <a:buNone/>
            </a:pPr>
            <a:r>
              <a:rPr lang="en-US" sz="750" dirty="0">
                <a:solidFill>
                  <a:srgbClr val="2D2D2D"/>
                </a:solidFill>
                <a:latin typeface="Inter" pitchFamily="34" charset="0"/>
                <a:ea typeface="Inter" pitchFamily="34" charset="-122"/>
                <a:cs typeface="Inter" pitchFamily="34" charset="-120"/>
              </a:rPr>
              <a:t>LOD 300 (géométrie) / LOI 3 (matériaux)</a:t>
            </a:r>
            <a:endParaRPr lang="en-US" sz="750" dirty="0"/>
          </a:p>
        </p:txBody>
      </p:sp>
      <p:sp>
        <p:nvSpPr>
          <p:cNvPr id="10" name="Text 8"/>
          <p:cNvSpPr/>
          <p:nvPr/>
        </p:nvSpPr>
        <p:spPr>
          <a:xfrm>
            <a:off x="640080" y="1828800"/>
            <a:ext cx="1371600" cy="274320"/>
          </a:xfrm>
          <a:prstGeom prst="rect">
            <a:avLst/>
          </a:prstGeom>
          <a:noFill/>
          <a:ln/>
        </p:spPr>
        <p:txBody>
          <a:bodyPr wrap="square" lIns="0" tIns="0" rIns="0" bIns="0" rtlCol="0" anchor="ctr"/>
          <a:lstStyle/>
          <a:p>
            <a:pPr marL="0" indent="0">
              <a:buNone/>
            </a:pPr>
            <a:r>
              <a:rPr lang="en-US" sz="800" b="1" dirty="0">
                <a:solidFill>
                  <a:srgbClr val="F39200"/>
                </a:solidFill>
                <a:latin typeface="Montserrat Bold" pitchFamily="34" charset="0"/>
                <a:ea typeface="Montserrat Bold" pitchFamily="34" charset="-122"/>
                <a:cs typeface="Montserrat Bold" pitchFamily="34" charset="-120"/>
              </a:rPr>
              <a:t>Format échange</a:t>
            </a:r>
            <a:endParaRPr lang="en-US" sz="800" dirty="0"/>
          </a:p>
        </p:txBody>
      </p:sp>
      <p:sp>
        <p:nvSpPr>
          <p:cNvPr id="11" name="Text 9"/>
          <p:cNvSpPr/>
          <p:nvPr/>
        </p:nvSpPr>
        <p:spPr>
          <a:xfrm>
            <a:off x="2011680" y="1828800"/>
            <a:ext cx="2194560" cy="274320"/>
          </a:xfrm>
          <a:prstGeom prst="rect">
            <a:avLst/>
          </a:prstGeom>
          <a:noFill/>
          <a:ln/>
        </p:spPr>
        <p:txBody>
          <a:bodyPr wrap="square" lIns="0" tIns="0" rIns="0" bIns="0" rtlCol="0" anchor="ctr"/>
          <a:lstStyle/>
          <a:p>
            <a:pPr marL="0" indent="0">
              <a:buNone/>
            </a:pPr>
            <a:r>
              <a:rPr lang="en-US" sz="750" dirty="0">
                <a:solidFill>
                  <a:srgbClr val="2D2D2D"/>
                </a:solidFill>
                <a:latin typeface="Inter" pitchFamily="34" charset="0"/>
                <a:ea typeface="Inter" pitchFamily="34" charset="-122"/>
                <a:cs typeface="Inter" pitchFamily="34" charset="-120"/>
              </a:rPr>
              <a:t>IFC 2x3 - Open BIM | MVD Coordination View 2.0</a:t>
            </a:r>
            <a:endParaRPr lang="en-US" sz="750" dirty="0"/>
          </a:p>
        </p:txBody>
      </p:sp>
      <p:sp>
        <p:nvSpPr>
          <p:cNvPr id="12" name="Text 10"/>
          <p:cNvSpPr/>
          <p:nvPr/>
        </p:nvSpPr>
        <p:spPr>
          <a:xfrm>
            <a:off x="640080" y="2194560"/>
            <a:ext cx="1371600" cy="274320"/>
          </a:xfrm>
          <a:prstGeom prst="rect">
            <a:avLst/>
          </a:prstGeom>
          <a:noFill/>
          <a:ln/>
        </p:spPr>
        <p:txBody>
          <a:bodyPr wrap="square" lIns="0" tIns="0" rIns="0" bIns="0" rtlCol="0" anchor="ctr"/>
          <a:lstStyle/>
          <a:p>
            <a:pPr marL="0" indent="0">
              <a:buNone/>
            </a:pPr>
            <a:r>
              <a:rPr lang="en-US" sz="800" b="1" dirty="0">
                <a:solidFill>
                  <a:srgbClr val="F39200"/>
                </a:solidFill>
                <a:latin typeface="Montserrat Bold" pitchFamily="34" charset="0"/>
                <a:ea typeface="Montserrat Bold" pitchFamily="34" charset="-122"/>
                <a:cs typeface="Montserrat Bold" pitchFamily="34" charset="-120"/>
              </a:rPr>
              <a:t>Plateforme</a:t>
            </a:r>
            <a:endParaRPr lang="en-US" sz="800" dirty="0"/>
          </a:p>
        </p:txBody>
      </p:sp>
      <p:sp>
        <p:nvSpPr>
          <p:cNvPr id="13" name="Text 11"/>
          <p:cNvSpPr/>
          <p:nvPr/>
        </p:nvSpPr>
        <p:spPr>
          <a:xfrm>
            <a:off x="2011680" y="2194560"/>
            <a:ext cx="2194560" cy="274320"/>
          </a:xfrm>
          <a:prstGeom prst="rect">
            <a:avLst/>
          </a:prstGeom>
          <a:noFill/>
          <a:ln/>
        </p:spPr>
        <p:txBody>
          <a:bodyPr wrap="square" lIns="0" tIns="0" rIns="0" bIns="0" rtlCol="0" anchor="ctr"/>
          <a:lstStyle/>
          <a:p>
            <a:pPr marL="0" indent="0">
              <a:buNone/>
            </a:pPr>
            <a:r>
              <a:rPr lang="en-US" sz="750" dirty="0">
                <a:solidFill>
                  <a:srgbClr val="2D2D2D"/>
                </a:solidFill>
                <a:latin typeface="Inter" pitchFamily="34" charset="0"/>
                <a:ea typeface="Inter" pitchFamily="34" charset="-122"/>
                <a:cs typeface="Inter" pitchFamily="34" charset="-120"/>
              </a:rPr>
              <a:t>BIM360, gestion droits et historique versions</a:t>
            </a:r>
            <a:endParaRPr lang="en-US" sz="750" dirty="0"/>
          </a:p>
        </p:txBody>
      </p:sp>
      <p:sp>
        <p:nvSpPr>
          <p:cNvPr id="14" name="Text 12"/>
          <p:cNvSpPr/>
          <p:nvPr/>
        </p:nvSpPr>
        <p:spPr>
          <a:xfrm>
            <a:off x="640080" y="2560320"/>
            <a:ext cx="1371600" cy="274320"/>
          </a:xfrm>
          <a:prstGeom prst="rect">
            <a:avLst/>
          </a:prstGeom>
          <a:noFill/>
          <a:ln/>
        </p:spPr>
        <p:txBody>
          <a:bodyPr wrap="square" lIns="0" tIns="0" rIns="0" bIns="0" rtlCol="0" anchor="ctr"/>
          <a:lstStyle/>
          <a:p>
            <a:pPr marL="0" indent="0">
              <a:buNone/>
            </a:pPr>
            <a:r>
              <a:rPr lang="en-US" sz="800" b="1" dirty="0">
                <a:solidFill>
                  <a:srgbClr val="F39200"/>
                </a:solidFill>
                <a:latin typeface="Montserrat Bold" pitchFamily="34" charset="0"/>
                <a:ea typeface="Montserrat Bold" pitchFamily="34" charset="-122"/>
                <a:cs typeface="Montserrat Bold" pitchFamily="34" charset="-120"/>
              </a:rPr>
              <a:t>Nomenclature</a:t>
            </a:r>
            <a:endParaRPr lang="en-US" sz="800" dirty="0"/>
          </a:p>
        </p:txBody>
      </p:sp>
      <p:sp>
        <p:nvSpPr>
          <p:cNvPr id="15" name="Text 13"/>
          <p:cNvSpPr/>
          <p:nvPr/>
        </p:nvSpPr>
        <p:spPr>
          <a:xfrm>
            <a:off x="2011680" y="2560320"/>
            <a:ext cx="2194560" cy="274320"/>
          </a:xfrm>
          <a:prstGeom prst="rect">
            <a:avLst/>
          </a:prstGeom>
          <a:noFill/>
          <a:ln/>
        </p:spPr>
        <p:txBody>
          <a:bodyPr wrap="square" lIns="0" tIns="0" rIns="0" bIns="0" rtlCol="0" anchor="ctr"/>
          <a:lstStyle/>
          <a:p>
            <a:pPr marL="0" indent="0">
              <a:buNone/>
            </a:pPr>
            <a:r>
              <a:rPr lang="en-US" sz="750" dirty="0">
                <a:solidFill>
                  <a:srgbClr val="2D2D2D"/>
                </a:solidFill>
                <a:latin typeface="Inter" pitchFamily="34" charset="0"/>
                <a:ea typeface="Inter" pitchFamily="34" charset="-122"/>
                <a:cs typeface="Inter" pitchFamily="34" charset="-120"/>
              </a:rPr>
              <a:t>Phase_Discipline_Lot_Niveau (ex: EXE_STR_LOT02_R+1)</a:t>
            </a:r>
            <a:endParaRPr lang="en-US" sz="750" dirty="0"/>
          </a:p>
        </p:txBody>
      </p:sp>
      <p:sp>
        <p:nvSpPr>
          <p:cNvPr id="16" name="Text 14"/>
          <p:cNvSpPr/>
          <p:nvPr/>
        </p:nvSpPr>
        <p:spPr>
          <a:xfrm>
            <a:off x="640080" y="2834640"/>
            <a:ext cx="3566160" cy="182880"/>
          </a:xfrm>
          <a:prstGeom prst="rect">
            <a:avLst/>
          </a:prstGeom>
          <a:noFill/>
          <a:ln/>
        </p:spPr>
        <p:txBody>
          <a:bodyPr wrap="square" lIns="0" tIns="0" rIns="0" bIns="0" rtlCol="0" anchor="ctr"/>
          <a:lstStyle/>
          <a:p>
            <a:pPr marL="0" indent="0">
              <a:buNone/>
            </a:pPr>
            <a:r>
              <a:rPr lang="en-US" sz="800" b="1" dirty="0">
                <a:solidFill>
                  <a:srgbClr val="1E3A5F"/>
                </a:solidFill>
                <a:latin typeface="Montserrat Bold" pitchFamily="34" charset="0"/>
                <a:ea typeface="Montserrat Bold" pitchFamily="34" charset="-122"/>
                <a:cs typeface="Montserrat Bold" pitchFamily="34" charset="-120"/>
              </a:rPr>
              <a:t>Workflow BIM :</a:t>
            </a:r>
            <a:endParaRPr lang="en-US" sz="800" dirty="0"/>
          </a:p>
        </p:txBody>
      </p:sp>
      <p:sp>
        <p:nvSpPr>
          <p:cNvPr id="17" name="Text 15"/>
          <p:cNvSpPr/>
          <p:nvPr/>
        </p:nvSpPr>
        <p:spPr>
          <a:xfrm>
            <a:off x="640080" y="3017520"/>
            <a:ext cx="3566160" cy="1097280"/>
          </a:xfrm>
          <a:prstGeom prst="rect">
            <a:avLst/>
          </a:prstGeom>
          <a:noFill/>
          <a:ln/>
        </p:spPr>
        <p:txBody>
          <a:bodyPr wrap="square" rtlCol="0" anchor="ctr"/>
          <a:lstStyle/>
          <a:p>
            <a:pPr marL="0" indent="0">
              <a:spcAft>
                <a:spcPts val="200"/>
              </a:spcAft>
              <a:buNone/>
            </a:pPr>
            <a:r>
              <a:rPr lang="en-US" sz="700" dirty="0">
                <a:solidFill>
                  <a:srgbClr val="2D2D2D"/>
                </a:solidFill>
                <a:latin typeface="Inter" pitchFamily="34" charset="0"/>
                <a:ea typeface="Inter" pitchFamily="34" charset="-122"/>
                <a:cs typeface="Inter" pitchFamily="34" charset="-120"/>
              </a:rPr>
              <a:t>1. Modélisation Revit Architecture + Structure</a:t>
            </a:r>
            <a:endParaRPr lang="en-US" sz="700" dirty="0"/>
          </a:p>
          <a:p>
            <a:pPr marL="0" indent="0">
              <a:spcAft>
                <a:spcPts val="200"/>
              </a:spcAft>
              <a:buNone/>
            </a:pPr>
            <a:r>
              <a:rPr lang="en-US" sz="700" dirty="0">
                <a:solidFill>
                  <a:srgbClr val="2D2D2D"/>
                </a:solidFill>
                <a:latin typeface="Inter" pitchFamily="34" charset="0"/>
                <a:ea typeface="Inter" pitchFamily="34" charset="-122"/>
                <a:cs typeface="Inter" pitchFamily="34" charset="-120"/>
              </a:rPr>
              <a:t>2. Export IFC et vérification de conformité</a:t>
            </a:r>
            <a:endParaRPr lang="en-US" sz="700" dirty="0"/>
          </a:p>
          <a:p>
            <a:pPr marL="0" indent="0">
              <a:spcAft>
                <a:spcPts val="200"/>
              </a:spcAft>
              <a:buNone/>
            </a:pPr>
            <a:r>
              <a:rPr lang="en-US" sz="700" dirty="0">
                <a:solidFill>
                  <a:srgbClr val="2D2D2D"/>
                </a:solidFill>
                <a:latin typeface="Inter" pitchFamily="34" charset="0"/>
                <a:ea typeface="Inter" pitchFamily="34" charset="-122"/>
                <a:cs typeface="Inter" pitchFamily="34" charset="-120"/>
              </a:rPr>
              <a:t>3. Coordination et détection clashs (Navisworks)</a:t>
            </a:r>
            <a:endParaRPr lang="en-US" sz="700" dirty="0"/>
          </a:p>
          <a:p>
            <a:pPr marL="0" indent="0">
              <a:spcAft>
                <a:spcPts val="200"/>
              </a:spcAft>
              <a:buNone/>
            </a:pPr>
            <a:r>
              <a:rPr lang="en-US" sz="700" dirty="0">
                <a:solidFill>
                  <a:srgbClr val="2D2D2D"/>
                </a:solidFill>
                <a:latin typeface="Inter" pitchFamily="34" charset="0"/>
                <a:ea typeface="Inter" pitchFamily="34" charset="-122"/>
                <a:cs typeface="Inter" pitchFamily="34" charset="-120"/>
              </a:rPr>
              <a:t>4. Résolution conflits entre disciplines</a:t>
            </a:r>
            <a:endParaRPr lang="en-US" sz="700" dirty="0"/>
          </a:p>
          <a:p>
            <a:pPr marL="0" indent="0">
              <a:spcAft>
                <a:spcPts val="200"/>
              </a:spcAft>
              <a:buNone/>
            </a:pPr>
            <a:r>
              <a:rPr lang="en-US" sz="700" dirty="0">
                <a:solidFill>
                  <a:srgbClr val="2D2D2D"/>
                </a:solidFill>
                <a:latin typeface="Inter" pitchFamily="34" charset="0"/>
                <a:ea typeface="Inter" pitchFamily="34" charset="-122"/>
                <a:cs typeface="Inter" pitchFamily="34" charset="-120"/>
              </a:rPr>
              <a:t>5. Extraction automatique quantités (Revit + Dynamo)</a:t>
            </a:r>
            <a:endParaRPr lang="en-US" sz="700" dirty="0"/>
          </a:p>
          <a:p>
            <a:pPr marL="0" indent="0">
              <a:spcAft>
                <a:spcPts val="200"/>
              </a:spcAft>
              <a:buNone/>
            </a:pPr>
            <a:r>
              <a:rPr lang="en-US" sz="700" dirty="0">
                <a:solidFill>
                  <a:srgbClr val="2D2D2D"/>
                </a:solidFill>
                <a:latin typeface="Inter" pitchFamily="34" charset="0"/>
                <a:ea typeface="Inter" pitchFamily="34" charset="-122"/>
                <a:cs typeface="Inter" pitchFamily="34" charset="-120"/>
              </a:rPr>
              <a:t>6. Chiffrage et reporting avec traçabilité maquette</a:t>
            </a:r>
            <a:endParaRPr lang="en-US" sz="700" dirty="0"/>
          </a:p>
        </p:txBody>
      </p:sp>
      <p:sp>
        <p:nvSpPr>
          <p:cNvPr id="18" name="Shape 16"/>
          <p:cNvSpPr/>
          <p:nvPr/>
        </p:nvSpPr>
        <p:spPr>
          <a:xfrm>
            <a:off x="4663440" y="1097280"/>
            <a:ext cx="4023360" cy="2286000"/>
          </a:xfrm>
          <a:prstGeom prst="rect">
            <a:avLst/>
          </a:prstGeom>
          <a:solidFill>
            <a:srgbClr val="FFFFFF"/>
          </a:solidFill>
          <a:ln/>
          <a:effectLst>
            <a:outerShdw blurRad="50800" dist="25400" dir="8100000" algn="bl" rotWithShape="0">
              <a:srgbClr val="000000">
                <a:alpha val="12000"/>
              </a:srgbClr>
            </a:outerShdw>
          </a:effectLst>
        </p:spPr>
      </p:sp>
      <p:sp>
        <p:nvSpPr>
          <p:cNvPr id="19" name="Text 17"/>
          <p:cNvSpPr/>
          <p:nvPr/>
        </p:nvSpPr>
        <p:spPr>
          <a:xfrm>
            <a:off x="4846320" y="1143000"/>
            <a:ext cx="3657600" cy="228600"/>
          </a:xfrm>
          <a:prstGeom prst="rect">
            <a:avLst/>
          </a:prstGeom>
          <a:noFill/>
          <a:ln/>
        </p:spPr>
        <p:txBody>
          <a:bodyPr wrap="square" lIns="0" tIns="0" rIns="0" bIns="0" rtlCol="0" anchor="ctr"/>
          <a:lstStyle/>
          <a:p>
            <a:pPr marL="0" indent="0">
              <a:buNone/>
            </a:pPr>
            <a:r>
              <a:rPr lang="en-US" sz="1000" b="1" dirty="0">
                <a:solidFill>
                  <a:srgbClr val="1E3A5F"/>
                </a:solidFill>
                <a:latin typeface="Montserrat Bold" pitchFamily="34" charset="0"/>
                <a:ea typeface="Montserrat Bold" pitchFamily="34" charset="-122"/>
                <a:cs typeface="Montserrat Bold" pitchFamily="34" charset="-120"/>
              </a:rPr>
              <a:t>CAS APPLIQUÉ : Bâtiment R+2 (AFPA Colmar)</a:t>
            </a:r>
            <a:endParaRPr lang="en-US" sz="1000" dirty="0"/>
          </a:p>
        </p:txBody>
      </p:sp>
      <p:sp>
        <p:nvSpPr>
          <p:cNvPr id="20" name="Text 18"/>
          <p:cNvSpPr/>
          <p:nvPr/>
        </p:nvSpPr>
        <p:spPr>
          <a:xfrm>
            <a:off x="4846320" y="1417320"/>
            <a:ext cx="3657600" cy="548640"/>
          </a:xfrm>
          <a:prstGeom prst="rect">
            <a:avLst/>
          </a:prstGeom>
          <a:noFill/>
          <a:ln/>
        </p:spPr>
        <p:txBody>
          <a:bodyPr wrap="square" lIns="0" tIns="0" rIns="0" bIns="0" rtlCol="0" anchor="ctr"/>
          <a:lstStyle/>
          <a:p>
            <a:pPr marL="0" indent="0">
              <a:buNone/>
            </a:pPr>
            <a:r>
              <a:rPr lang="en-US" sz="800" dirty="0">
                <a:solidFill>
                  <a:srgbClr val="2D2D2D"/>
                </a:solidFill>
                <a:latin typeface="Inter" pitchFamily="34" charset="0"/>
                <a:ea typeface="Inter" pitchFamily="34" charset="-122"/>
                <a:cs typeface="Inter" pitchFamily="34" charset="-120"/>
              </a:rPr>
              <a:t>Maquette Revit d'un bâtiment R+2 (logements collectifs, 850 m² SHAB). Extraction automatique de 78 postes de métrés : surfaces de planchers, volumes béton (fondations, poteaux, poutres), linéaires de murs et quantités d'acier.</a:t>
            </a:r>
            <a:endParaRPr lang="en-US" sz="800" dirty="0"/>
          </a:p>
        </p:txBody>
      </p:sp>
      <p:sp>
        <p:nvSpPr>
          <p:cNvPr id="21" name="Shape 19"/>
          <p:cNvSpPr/>
          <p:nvPr/>
        </p:nvSpPr>
        <p:spPr>
          <a:xfrm>
            <a:off x="4846320" y="2057400"/>
            <a:ext cx="1737360" cy="438912"/>
          </a:xfrm>
          <a:prstGeom prst="rect">
            <a:avLst/>
          </a:prstGeom>
          <a:solidFill>
            <a:srgbClr val="1E3A5F"/>
          </a:solidFill>
          <a:ln/>
        </p:spPr>
      </p:sp>
      <p:sp>
        <p:nvSpPr>
          <p:cNvPr id="22" name="Text 20"/>
          <p:cNvSpPr/>
          <p:nvPr/>
        </p:nvSpPr>
        <p:spPr>
          <a:xfrm>
            <a:off x="4919472" y="2075688"/>
            <a:ext cx="1591056" cy="219456"/>
          </a:xfrm>
          <a:prstGeom prst="rect">
            <a:avLst/>
          </a:prstGeom>
          <a:noFill/>
          <a:ln/>
        </p:spPr>
        <p:txBody>
          <a:bodyPr wrap="square" lIns="0" tIns="0" rIns="0" bIns="0" rtlCol="0" anchor="ctr"/>
          <a:lstStyle/>
          <a:p>
            <a:pPr marL="0" indent="0">
              <a:buNone/>
            </a:pPr>
            <a:r>
              <a:rPr lang="en-US" sz="1300" b="1" dirty="0">
                <a:solidFill>
                  <a:srgbClr val="F39200"/>
                </a:solidFill>
                <a:latin typeface="Montserrat Bold" pitchFamily="34" charset="0"/>
                <a:ea typeface="Montserrat Bold" pitchFamily="34" charset="-122"/>
                <a:cs typeface="Montserrat Bold" pitchFamily="34" charset="-120"/>
              </a:rPr>
              <a:t>78 postes</a:t>
            </a:r>
            <a:endParaRPr lang="en-US" sz="1300" dirty="0"/>
          </a:p>
        </p:txBody>
      </p:sp>
      <p:sp>
        <p:nvSpPr>
          <p:cNvPr id="23" name="Text 21"/>
          <p:cNvSpPr/>
          <p:nvPr/>
        </p:nvSpPr>
        <p:spPr>
          <a:xfrm>
            <a:off x="4919472" y="2295144"/>
            <a:ext cx="1591056" cy="164592"/>
          </a:xfrm>
          <a:prstGeom prst="rect">
            <a:avLst/>
          </a:prstGeom>
          <a:noFill/>
          <a:ln/>
        </p:spPr>
        <p:txBody>
          <a:bodyPr wrap="square" lIns="0" tIns="0" rIns="0" bIns="0" rtlCol="0" anchor="ctr"/>
          <a:lstStyle/>
          <a:p>
            <a:pPr marL="0" indent="0">
              <a:buNone/>
            </a:pPr>
            <a:r>
              <a:rPr lang="en-US" sz="700" dirty="0">
                <a:solidFill>
                  <a:srgbClr val="5CC8C0"/>
                </a:solidFill>
                <a:latin typeface="Inter" pitchFamily="34" charset="0"/>
                <a:ea typeface="Inter" pitchFamily="34" charset="-122"/>
                <a:cs typeface="Inter" pitchFamily="34" charset="-120"/>
              </a:rPr>
              <a:t>extraits automatiquement</a:t>
            </a:r>
            <a:endParaRPr lang="en-US" sz="700" dirty="0"/>
          </a:p>
        </p:txBody>
      </p:sp>
      <p:sp>
        <p:nvSpPr>
          <p:cNvPr id="24" name="Shape 22"/>
          <p:cNvSpPr/>
          <p:nvPr/>
        </p:nvSpPr>
        <p:spPr>
          <a:xfrm>
            <a:off x="6720840" y="2057400"/>
            <a:ext cx="1737360" cy="438912"/>
          </a:xfrm>
          <a:prstGeom prst="rect">
            <a:avLst/>
          </a:prstGeom>
          <a:solidFill>
            <a:srgbClr val="1E3A5F"/>
          </a:solidFill>
          <a:ln/>
        </p:spPr>
      </p:sp>
      <p:sp>
        <p:nvSpPr>
          <p:cNvPr id="25" name="Text 23"/>
          <p:cNvSpPr/>
          <p:nvPr/>
        </p:nvSpPr>
        <p:spPr>
          <a:xfrm>
            <a:off x="6793992" y="2075688"/>
            <a:ext cx="1591056" cy="219456"/>
          </a:xfrm>
          <a:prstGeom prst="rect">
            <a:avLst/>
          </a:prstGeom>
          <a:noFill/>
          <a:ln/>
        </p:spPr>
        <p:txBody>
          <a:bodyPr wrap="square" lIns="0" tIns="0" rIns="0" bIns="0" rtlCol="0" anchor="ctr"/>
          <a:lstStyle/>
          <a:p>
            <a:pPr marL="0" indent="0">
              <a:buNone/>
            </a:pPr>
            <a:r>
              <a:rPr lang="en-US" sz="1300" b="1" dirty="0">
                <a:solidFill>
                  <a:srgbClr val="F39200"/>
                </a:solidFill>
                <a:latin typeface="Montserrat Bold" pitchFamily="34" charset="0"/>
                <a:ea typeface="Montserrat Bold" pitchFamily="34" charset="-122"/>
                <a:cs typeface="Montserrat Bold" pitchFamily="34" charset="-120"/>
              </a:rPr>
              <a:t>1,8%</a:t>
            </a:r>
            <a:endParaRPr lang="en-US" sz="1300" dirty="0"/>
          </a:p>
        </p:txBody>
      </p:sp>
      <p:sp>
        <p:nvSpPr>
          <p:cNvPr id="26" name="Text 24"/>
          <p:cNvSpPr/>
          <p:nvPr/>
        </p:nvSpPr>
        <p:spPr>
          <a:xfrm>
            <a:off x="6793992" y="2295144"/>
            <a:ext cx="1591056" cy="164592"/>
          </a:xfrm>
          <a:prstGeom prst="rect">
            <a:avLst/>
          </a:prstGeom>
          <a:noFill/>
          <a:ln/>
        </p:spPr>
        <p:txBody>
          <a:bodyPr wrap="square" lIns="0" tIns="0" rIns="0" bIns="0" rtlCol="0" anchor="ctr"/>
          <a:lstStyle/>
          <a:p>
            <a:pPr marL="0" indent="0">
              <a:buNone/>
            </a:pPr>
            <a:r>
              <a:rPr lang="en-US" sz="700" dirty="0">
                <a:solidFill>
                  <a:srgbClr val="5CC8C0"/>
                </a:solidFill>
                <a:latin typeface="Inter" pitchFamily="34" charset="0"/>
                <a:ea typeface="Inter" pitchFamily="34" charset="-122"/>
                <a:cs typeface="Inter" pitchFamily="34" charset="-120"/>
              </a:rPr>
              <a:t>écart vs métré manuel</a:t>
            </a:r>
            <a:endParaRPr lang="en-US" sz="700" dirty="0"/>
          </a:p>
        </p:txBody>
      </p:sp>
      <p:sp>
        <p:nvSpPr>
          <p:cNvPr id="27" name="Shape 25"/>
          <p:cNvSpPr/>
          <p:nvPr/>
        </p:nvSpPr>
        <p:spPr>
          <a:xfrm>
            <a:off x="4846320" y="2560320"/>
            <a:ext cx="1737360" cy="438912"/>
          </a:xfrm>
          <a:prstGeom prst="rect">
            <a:avLst/>
          </a:prstGeom>
          <a:solidFill>
            <a:srgbClr val="1E3A5F"/>
          </a:solidFill>
          <a:ln/>
        </p:spPr>
      </p:sp>
      <p:sp>
        <p:nvSpPr>
          <p:cNvPr id="28" name="Text 26"/>
          <p:cNvSpPr/>
          <p:nvPr/>
        </p:nvSpPr>
        <p:spPr>
          <a:xfrm>
            <a:off x="4919472" y="2578608"/>
            <a:ext cx="1591056" cy="219456"/>
          </a:xfrm>
          <a:prstGeom prst="rect">
            <a:avLst/>
          </a:prstGeom>
          <a:noFill/>
          <a:ln/>
        </p:spPr>
        <p:txBody>
          <a:bodyPr wrap="square" lIns="0" tIns="0" rIns="0" bIns="0" rtlCol="0" anchor="ctr"/>
          <a:lstStyle/>
          <a:p>
            <a:pPr marL="0" indent="0">
              <a:buNone/>
            </a:pPr>
            <a:r>
              <a:rPr lang="en-US" sz="1300" b="1" dirty="0">
                <a:solidFill>
                  <a:srgbClr val="F39200"/>
                </a:solidFill>
                <a:latin typeface="Montserrat Bold" pitchFamily="34" charset="0"/>
                <a:ea typeface="Montserrat Bold" pitchFamily="34" charset="-122"/>
                <a:cs typeface="Montserrat Bold" pitchFamily="34" charset="-120"/>
              </a:rPr>
              <a:t>12 clashs</a:t>
            </a:r>
            <a:endParaRPr lang="en-US" sz="1300" dirty="0"/>
          </a:p>
        </p:txBody>
      </p:sp>
      <p:sp>
        <p:nvSpPr>
          <p:cNvPr id="29" name="Text 27"/>
          <p:cNvSpPr/>
          <p:nvPr/>
        </p:nvSpPr>
        <p:spPr>
          <a:xfrm>
            <a:off x="4919472" y="2798064"/>
            <a:ext cx="1591056" cy="164592"/>
          </a:xfrm>
          <a:prstGeom prst="rect">
            <a:avLst/>
          </a:prstGeom>
          <a:noFill/>
          <a:ln/>
        </p:spPr>
        <p:txBody>
          <a:bodyPr wrap="square" lIns="0" tIns="0" rIns="0" bIns="0" rtlCol="0" anchor="ctr"/>
          <a:lstStyle/>
          <a:p>
            <a:pPr marL="0" indent="0">
              <a:buNone/>
            </a:pPr>
            <a:r>
              <a:rPr lang="en-US" sz="700" dirty="0">
                <a:solidFill>
                  <a:srgbClr val="5CC8C0"/>
                </a:solidFill>
                <a:latin typeface="Inter" pitchFamily="34" charset="0"/>
                <a:ea typeface="Inter" pitchFamily="34" charset="-122"/>
                <a:cs typeface="Inter" pitchFamily="34" charset="-120"/>
              </a:rPr>
              <a:t>structure/réseaux détectés</a:t>
            </a:r>
            <a:endParaRPr lang="en-US" sz="700" dirty="0"/>
          </a:p>
        </p:txBody>
      </p:sp>
      <p:sp>
        <p:nvSpPr>
          <p:cNvPr id="30" name="Shape 28"/>
          <p:cNvSpPr/>
          <p:nvPr/>
        </p:nvSpPr>
        <p:spPr>
          <a:xfrm>
            <a:off x="6720840" y="2560320"/>
            <a:ext cx="1737360" cy="438912"/>
          </a:xfrm>
          <a:prstGeom prst="rect">
            <a:avLst/>
          </a:prstGeom>
          <a:solidFill>
            <a:srgbClr val="1E3A5F"/>
          </a:solidFill>
          <a:ln/>
        </p:spPr>
      </p:sp>
      <p:sp>
        <p:nvSpPr>
          <p:cNvPr id="31" name="Text 29"/>
          <p:cNvSpPr/>
          <p:nvPr/>
        </p:nvSpPr>
        <p:spPr>
          <a:xfrm>
            <a:off x="6793992" y="2578608"/>
            <a:ext cx="1591056" cy="219456"/>
          </a:xfrm>
          <a:prstGeom prst="rect">
            <a:avLst/>
          </a:prstGeom>
          <a:noFill/>
          <a:ln/>
        </p:spPr>
        <p:txBody>
          <a:bodyPr wrap="square" lIns="0" tIns="0" rIns="0" bIns="0" rtlCol="0" anchor="ctr"/>
          <a:lstStyle/>
          <a:p>
            <a:pPr marL="0" indent="0">
              <a:buNone/>
            </a:pPr>
            <a:r>
              <a:rPr lang="en-US" sz="1300" b="1" dirty="0">
                <a:solidFill>
                  <a:srgbClr val="F39200"/>
                </a:solidFill>
                <a:latin typeface="Montserrat Bold" pitchFamily="34" charset="0"/>
                <a:ea typeface="Montserrat Bold" pitchFamily="34" charset="-122"/>
                <a:cs typeface="Montserrat Bold" pitchFamily="34" charset="-120"/>
              </a:rPr>
              <a:t>2h vs 2j</a:t>
            </a:r>
            <a:endParaRPr lang="en-US" sz="1300" dirty="0"/>
          </a:p>
        </p:txBody>
      </p:sp>
      <p:sp>
        <p:nvSpPr>
          <p:cNvPr id="32" name="Text 30"/>
          <p:cNvSpPr/>
          <p:nvPr/>
        </p:nvSpPr>
        <p:spPr>
          <a:xfrm>
            <a:off x="6793992" y="2798064"/>
            <a:ext cx="1591056" cy="164592"/>
          </a:xfrm>
          <a:prstGeom prst="rect">
            <a:avLst/>
          </a:prstGeom>
          <a:noFill/>
          <a:ln/>
        </p:spPr>
        <p:txBody>
          <a:bodyPr wrap="square" lIns="0" tIns="0" rIns="0" bIns="0" rtlCol="0" anchor="ctr"/>
          <a:lstStyle/>
          <a:p>
            <a:pPr marL="0" indent="0">
              <a:buNone/>
            </a:pPr>
            <a:r>
              <a:rPr lang="en-US" sz="700" dirty="0">
                <a:solidFill>
                  <a:srgbClr val="5CC8C0"/>
                </a:solidFill>
                <a:latin typeface="Inter" pitchFamily="34" charset="0"/>
                <a:ea typeface="Inter" pitchFamily="34" charset="-122"/>
                <a:cs typeface="Inter" pitchFamily="34" charset="-120"/>
              </a:rPr>
              <a:t>extraction vs métré traditionnel</a:t>
            </a:r>
            <a:endParaRPr lang="en-US" sz="700" dirty="0"/>
          </a:p>
        </p:txBody>
      </p:sp>
      <p:sp>
        <p:nvSpPr>
          <p:cNvPr id="33" name="Shape 31"/>
          <p:cNvSpPr/>
          <p:nvPr/>
        </p:nvSpPr>
        <p:spPr>
          <a:xfrm>
            <a:off x="4663440" y="3108960"/>
            <a:ext cx="4023360" cy="320040"/>
          </a:xfrm>
          <a:prstGeom prst="rect">
            <a:avLst/>
          </a:prstGeom>
          <a:solidFill>
            <a:srgbClr val="48B4AC"/>
          </a:solidFill>
          <a:ln/>
        </p:spPr>
      </p:sp>
      <p:sp>
        <p:nvSpPr>
          <p:cNvPr id="34" name="Text 32"/>
          <p:cNvSpPr/>
          <p:nvPr/>
        </p:nvSpPr>
        <p:spPr>
          <a:xfrm>
            <a:off x="4754880" y="3108960"/>
            <a:ext cx="3840480" cy="320040"/>
          </a:xfrm>
          <a:prstGeom prst="rect">
            <a:avLst/>
          </a:prstGeom>
          <a:noFill/>
          <a:ln/>
        </p:spPr>
        <p:txBody>
          <a:bodyPr wrap="square" lIns="0" tIns="0" rIns="0" bIns="0" rtlCol="0" anchor="ctr"/>
          <a:lstStyle/>
          <a:p>
            <a:pPr marL="0" indent="0">
              <a:buNone/>
            </a:pPr>
            <a:r>
              <a:rPr lang="en-US" sz="1000" b="1" dirty="0">
                <a:solidFill>
                  <a:srgbClr val="FFFFFF"/>
                </a:solidFill>
                <a:latin typeface="Montserrat Bold" pitchFamily="34" charset="0"/>
                <a:ea typeface="Montserrat Bold" pitchFamily="34" charset="-122"/>
                <a:cs typeface="Montserrat Bold" pitchFamily="34" charset="-120"/>
              </a:rPr>
              <a:t>Apport BIM pour le MEC</a:t>
            </a:r>
            <a:endParaRPr lang="en-US" sz="1000" dirty="0"/>
          </a:p>
        </p:txBody>
      </p:sp>
      <p:sp>
        <p:nvSpPr>
          <p:cNvPr id="35" name="Shape 33"/>
          <p:cNvSpPr/>
          <p:nvPr/>
        </p:nvSpPr>
        <p:spPr>
          <a:xfrm>
            <a:off x="457200" y="3566160"/>
            <a:ext cx="8229600" cy="731520"/>
          </a:xfrm>
          <a:prstGeom prst="rect">
            <a:avLst/>
          </a:prstGeom>
          <a:solidFill>
            <a:srgbClr val="FFFFFF"/>
          </a:solidFill>
          <a:ln/>
          <a:effectLst>
            <a:outerShdw blurRad="50800" dist="25400" dir="8100000" algn="bl" rotWithShape="0">
              <a:srgbClr val="000000">
                <a:alpha val="12000"/>
              </a:srgbClr>
            </a:outerShdw>
          </a:effectLst>
        </p:spPr>
      </p:sp>
      <p:sp>
        <p:nvSpPr>
          <p:cNvPr id="36" name="Text 34"/>
          <p:cNvSpPr/>
          <p:nvPr/>
        </p:nvSpPr>
        <p:spPr>
          <a:xfrm>
            <a:off x="548640" y="3611880"/>
            <a:ext cx="1920240" cy="274320"/>
          </a:xfrm>
          <a:prstGeom prst="rect">
            <a:avLst/>
          </a:prstGeom>
          <a:noFill/>
          <a:ln/>
        </p:spPr>
        <p:txBody>
          <a:bodyPr wrap="square" lIns="0" tIns="0" rIns="0" bIns="0" rtlCol="0" anchor="ctr"/>
          <a:lstStyle/>
          <a:p>
            <a:pPr marL="0" indent="0">
              <a:buNone/>
            </a:pPr>
            <a:r>
              <a:rPr lang="en-US" sz="900" b="1" dirty="0">
                <a:solidFill>
                  <a:srgbClr val="1E3A5F"/>
                </a:solidFill>
                <a:latin typeface="Montserrat Bold" pitchFamily="34" charset="0"/>
                <a:ea typeface="Montserrat Bold" pitchFamily="34" charset="-122"/>
                <a:cs typeface="Montserrat Bold" pitchFamily="34" charset="-120"/>
              </a:rPr>
              <a:t>Estimations fiables</a:t>
            </a:r>
            <a:endParaRPr lang="en-US" sz="900" dirty="0"/>
          </a:p>
        </p:txBody>
      </p:sp>
      <p:sp>
        <p:nvSpPr>
          <p:cNvPr id="37" name="Text 35"/>
          <p:cNvSpPr/>
          <p:nvPr/>
        </p:nvSpPr>
        <p:spPr>
          <a:xfrm>
            <a:off x="548640" y="3886200"/>
            <a:ext cx="1920240" cy="274320"/>
          </a:xfrm>
          <a:prstGeom prst="rect">
            <a:avLst/>
          </a:prstGeom>
          <a:noFill/>
          <a:ln/>
        </p:spPr>
        <p:txBody>
          <a:bodyPr wrap="square" lIns="0" tIns="0" rIns="0" bIns="0" rtlCol="0" anchor="ctr"/>
          <a:lstStyle/>
          <a:p>
            <a:pPr marL="0" indent="0">
              <a:buNone/>
            </a:pPr>
            <a:r>
              <a:rPr lang="en-US" sz="750" dirty="0">
                <a:solidFill>
                  <a:srgbClr val="555555"/>
                </a:solidFill>
                <a:latin typeface="Inter" pitchFamily="34" charset="0"/>
                <a:ea typeface="Inter" pitchFamily="34" charset="-122"/>
                <a:cs typeface="Inter" pitchFamily="34" charset="-120"/>
              </a:rPr>
              <a:t>Données issues du modèle 3D</a:t>
            </a:r>
            <a:endParaRPr lang="en-US" sz="750" dirty="0"/>
          </a:p>
        </p:txBody>
      </p:sp>
      <p:sp>
        <p:nvSpPr>
          <p:cNvPr id="38" name="Text 36"/>
          <p:cNvSpPr/>
          <p:nvPr/>
        </p:nvSpPr>
        <p:spPr>
          <a:xfrm>
            <a:off x="2606040" y="3611880"/>
            <a:ext cx="1920240" cy="274320"/>
          </a:xfrm>
          <a:prstGeom prst="rect">
            <a:avLst/>
          </a:prstGeom>
          <a:noFill/>
          <a:ln/>
        </p:spPr>
        <p:txBody>
          <a:bodyPr wrap="square" lIns="0" tIns="0" rIns="0" bIns="0" rtlCol="0" anchor="ctr"/>
          <a:lstStyle/>
          <a:p>
            <a:pPr marL="0" indent="0">
              <a:buNone/>
            </a:pPr>
            <a:r>
              <a:rPr lang="en-US" sz="900" b="1" dirty="0">
                <a:solidFill>
                  <a:srgbClr val="1E3A5F"/>
                </a:solidFill>
                <a:latin typeface="Montserrat Bold" pitchFamily="34" charset="0"/>
                <a:ea typeface="Montserrat Bold" pitchFamily="34" charset="-122"/>
                <a:cs typeface="Montserrat Bold" pitchFamily="34" charset="-120"/>
              </a:rPr>
              <a:t>Traçabilité totale</a:t>
            </a:r>
            <a:endParaRPr lang="en-US" sz="900" dirty="0"/>
          </a:p>
        </p:txBody>
      </p:sp>
      <p:sp>
        <p:nvSpPr>
          <p:cNvPr id="39" name="Text 37"/>
          <p:cNvSpPr/>
          <p:nvPr/>
        </p:nvSpPr>
        <p:spPr>
          <a:xfrm>
            <a:off x="2606040" y="3886200"/>
            <a:ext cx="1920240" cy="274320"/>
          </a:xfrm>
          <a:prstGeom prst="rect">
            <a:avLst/>
          </a:prstGeom>
          <a:noFill/>
          <a:ln/>
        </p:spPr>
        <p:txBody>
          <a:bodyPr wrap="square" lIns="0" tIns="0" rIns="0" bIns="0" rtlCol="0" anchor="ctr"/>
          <a:lstStyle/>
          <a:p>
            <a:pPr marL="0" indent="0">
              <a:buNone/>
            </a:pPr>
            <a:r>
              <a:rPr lang="en-US" sz="750" dirty="0">
                <a:solidFill>
                  <a:srgbClr val="555555"/>
                </a:solidFill>
                <a:latin typeface="Inter" pitchFamily="34" charset="0"/>
                <a:ea typeface="Inter" pitchFamily="34" charset="-122"/>
                <a:cs typeface="Inter" pitchFamily="34" charset="-120"/>
              </a:rPr>
              <a:t>Chaque quantité liée à un objet BIM</a:t>
            </a:r>
            <a:endParaRPr lang="en-US" sz="750" dirty="0"/>
          </a:p>
        </p:txBody>
      </p:sp>
      <p:sp>
        <p:nvSpPr>
          <p:cNvPr id="40" name="Text 38"/>
          <p:cNvSpPr/>
          <p:nvPr/>
        </p:nvSpPr>
        <p:spPr>
          <a:xfrm>
            <a:off x="4663440" y="3611880"/>
            <a:ext cx="1920240" cy="274320"/>
          </a:xfrm>
          <a:prstGeom prst="rect">
            <a:avLst/>
          </a:prstGeom>
          <a:noFill/>
          <a:ln/>
        </p:spPr>
        <p:txBody>
          <a:bodyPr wrap="square" lIns="0" tIns="0" rIns="0" bIns="0" rtlCol="0" anchor="ctr"/>
          <a:lstStyle/>
          <a:p>
            <a:pPr marL="0" indent="0">
              <a:buNone/>
            </a:pPr>
            <a:r>
              <a:rPr lang="en-US" sz="900" b="1" dirty="0">
                <a:solidFill>
                  <a:srgbClr val="1E3A5F"/>
                </a:solidFill>
                <a:latin typeface="Montserrat Bold" pitchFamily="34" charset="0"/>
                <a:ea typeface="Montserrat Bold" pitchFamily="34" charset="-122"/>
                <a:cs typeface="Montserrat Bold" pitchFamily="34" charset="-120"/>
              </a:rPr>
              <a:t>Mise à jour instantanée</a:t>
            </a:r>
            <a:endParaRPr lang="en-US" sz="900" dirty="0"/>
          </a:p>
        </p:txBody>
      </p:sp>
      <p:sp>
        <p:nvSpPr>
          <p:cNvPr id="41" name="Text 39"/>
          <p:cNvSpPr/>
          <p:nvPr/>
        </p:nvSpPr>
        <p:spPr>
          <a:xfrm>
            <a:off x="4663440" y="3886200"/>
            <a:ext cx="1920240" cy="274320"/>
          </a:xfrm>
          <a:prstGeom prst="rect">
            <a:avLst/>
          </a:prstGeom>
          <a:noFill/>
          <a:ln/>
        </p:spPr>
        <p:txBody>
          <a:bodyPr wrap="square" lIns="0" tIns="0" rIns="0" bIns="0" rtlCol="0" anchor="ctr"/>
          <a:lstStyle/>
          <a:p>
            <a:pPr marL="0" indent="0">
              <a:buNone/>
            </a:pPr>
            <a:r>
              <a:rPr lang="en-US" sz="750" dirty="0">
                <a:solidFill>
                  <a:srgbClr val="555555"/>
                </a:solidFill>
                <a:latin typeface="Inter" pitchFamily="34" charset="0"/>
                <a:ea typeface="Inter" pitchFamily="34" charset="-122"/>
                <a:cs typeface="Inter" pitchFamily="34" charset="-120"/>
              </a:rPr>
              <a:t>Modification modèle → recalcul auto</a:t>
            </a:r>
            <a:endParaRPr lang="en-US" sz="750" dirty="0"/>
          </a:p>
        </p:txBody>
      </p:sp>
      <p:sp>
        <p:nvSpPr>
          <p:cNvPr id="42" name="Text 40"/>
          <p:cNvSpPr/>
          <p:nvPr/>
        </p:nvSpPr>
        <p:spPr>
          <a:xfrm>
            <a:off x="6720840" y="3611880"/>
            <a:ext cx="1920240" cy="274320"/>
          </a:xfrm>
          <a:prstGeom prst="rect">
            <a:avLst/>
          </a:prstGeom>
          <a:noFill/>
          <a:ln/>
        </p:spPr>
        <p:txBody>
          <a:bodyPr wrap="square" lIns="0" tIns="0" rIns="0" bIns="0" rtlCol="0" anchor="ctr"/>
          <a:lstStyle/>
          <a:p>
            <a:pPr marL="0" indent="0">
              <a:buNone/>
            </a:pPr>
            <a:r>
              <a:rPr lang="en-US" sz="900" b="1" dirty="0">
                <a:solidFill>
                  <a:srgbClr val="1E3A5F"/>
                </a:solidFill>
                <a:latin typeface="Montserrat Bold" pitchFamily="34" charset="0"/>
                <a:ea typeface="Montserrat Bold" pitchFamily="34" charset="-122"/>
                <a:cs typeface="Montserrat Bold" pitchFamily="34" charset="-120"/>
              </a:rPr>
              <a:t>Vision BIMCO</a:t>
            </a:r>
            <a:endParaRPr lang="en-US" sz="900" dirty="0"/>
          </a:p>
        </p:txBody>
      </p:sp>
      <p:sp>
        <p:nvSpPr>
          <p:cNvPr id="43" name="Text 41"/>
          <p:cNvSpPr/>
          <p:nvPr/>
        </p:nvSpPr>
        <p:spPr>
          <a:xfrm>
            <a:off x="6720840" y="3886200"/>
            <a:ext cx="1920240" cy="274320"/>
          </a:xfrm>
          <a:prstGeom prst="rect">
            <a:avLst/>
          </a:prstGeom>
          <a:noFill/>
          <a:ln/>
        </p:spPr>
        <p:txBody>
          <a:bodyPr wrap="square" lIns="0" tIns="0" rIns="0" bIns="0" rtlCol="0" anchor="ctr"/>
          <a:lstStyle/>
          <a:p>
            <a:pPr marL="0" indent="0">
              <a:buNone/>
            </a:pPr>
            <a:r>
              <a:rPr lang="en-US" sz="750" dirty="0">
                <a:solidFill>
                  <a:srgbClr val="555555"/>
                </a:solidFill>
                <a:latin typeface="Inter" pitchFamily="34" charset="0"/>
                <a:ea typeface="Inter" pitchFamily="34" charset="-122"/>
                <a:cs typeface="Inter" pitchFamily="34" charset="-120"/>
              </a:rPr>
              <a:t>Plugins Revit/Dynamo : maquette → DPGF</a:t>
            </a:r>
            <a:endParaRPr lang="en-US" sz="750" dirty="0"/>
          </a:p>
        </p:txBody>
      </p:sp>
      <p:sp>
        <p:nvSpPr>
          <p:cNvPr id="44" name="Text 42"/>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12/15</a:t>
            </a:r>
            <a:endParaRPr lang="en-US" sz="700" dirty="0"/>
          </a:p>
        </p:txBody>
      </p:sp>
      <p:sp>
        <p:nvSpPr>
          <p:cNvPr id="45" name="Shape 43"/>
          <p:cNvSpPr/>
          <p:nvPr/>
        </p:nvSpPr>
        <p:spPr>
          <a:xfrm>
            <a:off x="0" y="5029200"/>
            <a:ext cx="9144000" cy="114300"/>
          </a:xfrm>
          <a:prstGeom prst="rect">
            <a:avLst/>
          </a:prstGeom>
          <a:solidFill>
            <a:srgbClr val="F39200"/>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BILAN RÉFLEXIF</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Shape 3"/>
          <p:cNvSpPr/>
          <p:nvPr/>
        </p:nvSpPr>
        <p:spPr>
          <a:xfrm>
            <a:off x="457200" y="822960"/>
            <a:ext cx="8229600" cy="123444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457200" y="822960"/>
            <a:ext cx="73152" cy="1234440"/>
          </a:xfrm>
          <a:prstGeom prst="rect">
            <a:avLst/>
          </a:prstGeom>
          <a:solidFill>
            <a:srgbClr val="48B4AC"/>
          </a:solidFill>
          <a:ln/>
        </p:spPr>
      </p:sp>
      <p:sp>
        <p:nvSpPr>
          <p:cNvPr id="7" name="Text 5"/>
          <p:cNvSpPr/>
          <p:nvPr/>
        </p:nvSpPr>
        <p:spPr>
          <a:xfrm>
            <a:off x="685800" y="868680"/>
            <a:ext cx="7863840" cy="274320"/>
          </a:xfrm>
          <a:prstGeom prst="rect">
            <a:avLst/>
          </a:prstGeom>
          <a:noFill/>
          <a:ln/>
        </p:spPr>
        <p:txBody>
          <a:bodyPr wrap="square" lIns="0" tIns="0" rIns="0" bIns="0" rtlCol="0" anchor="ctr"/>
          <a:lstStyle/>
          <a:p>
            <a:pPr marL="0" indent="0">
              <a:buNone/>
            </a:pPr>
            <a:r>
              <a:rPr lang="en-US" sz="1300" b="1" dirty="0">
                <a:solidFill>
                  <a:srgbClr val="48B4AC"/>
                </a:solidFill>
                <a:latin typeface="Montserrat Bold" pitchFamily="34" charset="0"/>
                <a:ea typeface="Montserrat Bold" pitchFamily="34" charset="-122"/>
                <a:cs typeface="Montserrat Bold" pitchFamily="34" charset="-120"/>
              </a:rPr>
              <a:t>Ce que j'ai appris</a:t>
            </a:r>
            <a:endParaRPr lang="en-US" sz="1300" dirty="0"/>
          </a:p>
        </p:txBody>
      </p:sp>
      <p:sp>
        <p:nvSpPr>
          <p:cNvPr id="8" name="Text 6"/>
          <p:cNvSpPr/>
          <p:nvPr/>
        </p:nvSpPr>
        <p:spPr>
          <a:xfrm>
            <a:off x="685800" y="1188720"/>
            <a:ext cx="7863840" cy="777240"/>
          </a:xfrm>
          <a:prstGeom prst="rect">
            <a:avLst/>
          </a:prstGeom>
          <a:noFill/>
          <a:ln/>
        </p:spPr>
        <p:txBody>
          <a:bodyPr wrap="square" lIns="0" tIns="0" rIns="0" bIns="0" rtlCol="0" anchor="ctr"/>
          <a:lstStyle/>
          <a:p>
            <a:pPr marL="0" indent="0">
              <a:buNone/>
            </a:pPr>
            <a:r>
              <a:rPr lang="en-US" sz="900" dirty="0">
                <a:solidFill>
                  <a:srgbClr val="2D2D2D"/>
                </a:solidFill>
                <a:latin typeface="Inter" pitchFamily="34" charset="0"/>
                <a:ea typeface="Inter" pitchFamily="34" charset="-122"/>
                <a:cs typeface="Inter" pitchFamily="34" charset="-120"/>
              </a:rPr>
              <a:t>La leçon la plus forte vient de la semaine 23 : 3 crises sur 4 chantiers. L'écrit systématique (OS, attachements, CR) est le seul rempart contre les litiges. Croiser 3 sources de prix m'a donné un écart de 3,2% là où la région dépassait souvent 10%. Visualiser les contraintes terrain rend les estimations infiniment plus justes.</a:t>
            </a:r>
            <a:endParaRPr lang="en-US" sz="900" dirty="0"/>
          </a:p>
        </p:txBody>
      </p:sp>
      <p:sp>
        <p:nvSpPr>
          <p:cNvPr id="9" name="Shape 7"/>
          <p:cNvSpPr/>
          <p:nvPr/>
        </p:nvSpPr>
        <p:spPr>
          <a:xfrm>
            <a:off x="457200" y="2194560"/>
            <a:ext cx="8229600" cy="1234440"/>
          </a:xfrm>
          <a:prstGeom prst="rect">
            <a:avLst/>
          </a:prstGeom>
          <a:solidFill>
            <a:srgbClr val="FFFFFF"/>
          </a:solidFill>
          <a:ln/>
          <a:effectLst>
            <a:outerShdw blurRad="50800" dist="25400" dir="8100000" algn="bl" rotWithShape="0">
              <a:srgbClr val="000000">
                <a:alpha val="12000"/>
              </a:srgbClr>
            </a:outerShdw>
          </a:effectLst>
        </p:spPr>
      </p:sp>
      <p:sp>
        <p:nvSpPr>
          <p:cNvPr id="10" name="Shape 8"/>
          <p:cNvSpPr/>
          <p:nvPr/>
        </p:nvSpPr>
        <p:spPr>
          <a:xfrm>
            <a:off x="457200" y="2194560"/>
            <a:ext cx="73152" cy="1234440"/>
          </a:xfrm>
          <a:prstGeom prst="rect">
            <a:avLst/>
          </a:prstGeom>
          <a:solidFill>
            <a:srgbClr val="F39200"/>
          </a:solidFill>
          <a:ln/>
        </p:spPr>
      </p:sp>
      <p:sp>
        <p:nvSpPr>
          <p:cNvPr id="11" name="Text 9"/>
          <p:cNvSpPr/>
          <p:nvPr/>
        </p:nvSpPr>
        <p:spPr>
          <a:xfrm>
            <a:off x="685800" y="2240280"/>
            <a:ext cx="7863840" cy="274320"/>
          </a:xfrm>
          <a:prstGeom prst="rect">
            <a:avLst/>
          </a:prstGeom>
          <a:noFill/>
          <a:ln/>
        </p:spPr>
        <p:txBody>
          <a:bodyPr wrap="square" lIns="0" tIns="0" rIns="0" bIns="0" rtlCol="0" anchor="ctr"/>
          <a:lstStyle/>
          <a:p>
            <a:pPr marL="0" indent="0">
              <a:buNone/>
            </a:pPr>
            <a:r>
              <a:rPr lang="en-US" sz="1300" b="1" dirty="0">
                <a:solidFill>
                  <a:srgbClr val="F39200"/>
                </a:solidFill>
                <a:latin typeface="Montserrat Bold" pitchFamily="34" charset="0"/>
                <a:ea typeface="Montserrat Bold" pitchFamily="34" charset="-122"/>
                <a:cs typeface="Montserrat Bold" pitchFamily="34" charset="-120"/>
              </a:rPr>
              <a:t>Ce que je ferais différemment</a:t>
            </a:r>
            <a:endParaRPr lang="en-US" sz="1300" dirty="0"/>
          </a:p>
        </p:txBody>
      </p:sp>
      <p:sp>
        <p:nvSpPr>
          <p:cNvPr id="12" name="Text 10"/>
          <p:cNvSpPr/>
          <p:nvPr/>
        </p:nvSpPr>
        <p:spPr>
          <a:xfrm>
            <a:off x="685800" y="2560320"/>
            <a:ext cx="7863840" cy="777240"/>
          </a:xfrm>
          <a:prstGeom prst="rect">
            <a:avLst/>
          </a:prstGeom>
          <a:noFill/>
          <a:ln/>
        </p:spPr>
        <p:txBody>
          <a:bodyPr wrap="square" lIns="0" tIns="0" rIns="0" bIns="0" rtlCol="0" anchor="ctr"/>
          <a:lstStyle/>
          <a:p>
            <a:pPr marL="0" indent="0">
              <a:buNone/>
            </a:pPr>
            <a:r>
              <a:rPr lang="en-US" sz="900" dirty="0">
                <a:solidFill>
                  <a:srgbClr val="2D2D2D"/>
                </a:solidFill>
                <a:latin typeface="Inter" pitchFamily="34" charset="0"/>
                <a:ea typeface="Inter" pitchFamily="34" charset="-122"/>
                <a:cs typeface="Inter" pitchFamily="34" charset="-120"/>
              </a:rPr>
              <a:t>Déployer le tableau de bord dès le 1er mois (pas au 9e, quand l'alerte était à +4,8%). Insister pour une étude géotechnique complémentaire avant les terrassements : 5 000 m³ reclassés (285 000 DH) auraient pu être anticipés. Standardiser les CR dès le démarrage du chantier.</a:t>
            </a:r>
            <a:endParaRPr lang="en-US" sz="900" dirty="0"/>
          </a:p>
        </p:txBody>
      </p:sp>
      <p:sp>
        <p:nvSpPr>
          <p:cNvPr id="13" name="Shape 11"/>
          <p:cNvSpPr/>
          <p:nvPr/>
        </p:nvSpPr>
        <p:spPr>
          <a:xfrm>
            <a:off x="457200" y="3566160"/>
            <a:ext cx="8229600" cy="1234440"/>
          </a:xfrm>
          <a:prstGeom prst="rect">
            <a:avLst/>
          </a:prstGeom>
          <a:solidFill>
            <a:srgbClr val="FFFFFF"/>
          </a:solidFill>
          <a:ln/>
          <a:effectLst>
            <a:outerShdw blurRad="50800" dist="25400" dir="8100000" algn="bl" rotWithShape="0">
              <a:srgbClr val="000000">
                <a:alpha val="12000"/>
              </a:srgbClr>
            </a:outerShdw>
          </a:effectLst>
        </p:spPr>
      </p:sp>
      <p:sp>
        <p:nvSpPr>
          <p:cNvPr id="14" name="Shape 12"/>
          <p:cNvSpPr/>
          <p:nvPr/>
        </p:nvSpPr>
        <p:spPr>
          <a:xfrm>
            <a:off x="457200" y="3566160"/>
            <a:ext cx="73152" cy="1234440"/>
          </a:xfrm>
          <a:prstGeom prst="rect">
            <a:avLst/>
          </a:prstGeom>
          <a:solidFill>
            <a:srgbClr val="1E3A5F"/>
          </a:solidFill>
          <a:ln/>
        </p:spPr>
      </p:sp>
      <p:sp>
        <p:nvSpPr>
          <p:cNvPr id="15" name="Text 13"/>
          <p:cNvSpPr/>
          <p:nvPr/>
        </p:nvSpPr>
        <p:spPr>
          <a:xfrm>
            <a:off x="685800" y="3611880"/>
            <a:ext cx="7863840" cy="274320"/>
          </a:xfrm>
          <a:prstGeom prst="rect">
            <a:avLst/>
          </a:prstGeom>
          <a:noFill/>
          <a:ln/>
        </p:spPr>
        <p:txBody>
          <a:bodyPr wrap="square" lIns="0" tIns="0" rIns="0" bIns="0" rtlCol="0" anchor="ctr"/>
          <a:lstStyle/>
          <a:p>
            <a:pPr marL="0" indent="0">
              <a:buNone/>
            </a:pPr>
            <a:r>
              <a:rPr lang="en-US" sz="1300" b="1" dirty="0">
                <a:solidFill>
                  <a:srgbClr val="1E3A5F"/>
                </a:solidFill>
                <a:latin typeface="Montserrat Bold" pitchFamily="34" charset="0"/>
                <a:ea typeface="Montserrat Bold" pitchFamily="34" charset="-122"/>
                <a:cs typeface="Montserrat Bold" pitchFamily="34" charset="-120"/>
              </a:rPr>
              <a:t>Ce que j'apporte au BTS MEC</a:t>
            </a:r>
            <a:endParaRPr lang="en-US" sz="1300" dirty="0"/>
          </a:p>
        </p:txBody>
      </p:sp>
      <p:sp>
        <p:nvSpPr>
          <p:cNvPr id="16" name="Text 14"/>
          <p:cNvSpPr/>
          <p:nvPr/>
        </p:nvSpPr>
        <p:spPr>
          <a:xfrm>
            <a:off x="685800" y="3931920"/>
            <a:ext cx="7863840" cy="777240"/>
          </a:xfrm>
          <a:prstGeom prst="rect">
            <a:avLst/>
          </a:prstGeom>
          <a:noFill/>
          <a:ln/>
        </p:spPr>
        <p:txBody>
          <a:bodyPr wrap="square" lIns="0" tIns="0" rIns="0" bIns="0" rtlCol="0" anchor="ctr"/>
          <a:lstStyle/>
          <a:p>
            <a:pPr marL="0" indent="0">
              <a:buNone/>
            </a:pPr>
            <a:r>
              <a:rPr lang="en-US" sz="900" dirty="0">
                <a:solidFill>
                  <a:srgbClr val="2D2D2D"/>
                </a:solidFill>
                <a:latin typeface="Inter" pitchFamily="34" charset="0"/>
                <a:ea typeface="Inter" pitchFamily="34" charset="-122"/>
                <a:cs typeface="Inter" pitchFamily="34" charset="-120"/>
              </a:rPr>
              <a:t>L'estimation confidentielle est l'acte fondateur de tout marché public. En France, mêmes fondamentaux (DQE, DPGF). Peu de professionnels combinent MOA + exécution + BIM. Le BTS MEC formalise ce que j'ai appris sur le terrain : la chaîne du métré au décompte. Le BIM permet d'automatiser et fiabiliser cette chaîne. C'est BIMCO.</a:t>
            </a:r>
            <a:endParaRPr lang="en-US" sz="900" dirty="0"/>
          </a:p>
        </p:txBody>
      </p:sp>
      <p:sp>
        <p:nvSpPr>
          <p:cNvPr id="17" name="Text 15"/>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13/15</a:t>
            </a:r>
            <a:endParaRPr lang="en-US" sz="700" dirty="0"/>
          </a:p>
        </p:txBody>
      </p:sp>
      <p:sp>
        <p:nvSpPr>
          <p:cNvPr id="18" name="Shape 16"/>
          <p:cNvSpPr/>
          <p:nvPr/>
        </p:nvSpPr>
        <p:spPr>
          <a:xfrm>
            <a:off x="0" y="5029200"/>
            <a:ext cx="9144000" cy="114300"/>
          </a:xfrm>
          <a:prstGeom prst="rect">
            <a:avLst/>
          </a:prstGeom>
          <a:solidFill>
            <a:srgbClr val="F39200"/>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200" b="1" dirty="0">
                <a:solidFill>
                  <a:srgbClr val="1E3A5F"/>
                </a:solidFill>
                <a:latin typeface="Montserrat Bold" pitchFamily="34" charset="0"/>
                <a:ea typeface="Montserrat Bold" pitchFamily="34" charset="-122"/>
                <a:cs typeface="Montserrat Bold" pitchFamily="34" charset="-120"/>
              </a:rPr>
              <a:t>MON PROJET PROFESSIONNEL</a:t>
            </a:r>
            <a:endParaRPr lang="en-US" sz="2200" dirty="0"/>
          </a:p>
        </p:txBody>
      </p:sp>
      <p:sp>
        <p:nvSpPr>
          <p:cNvPr id="4" name="Shape 2"/>
          <p:cNvSpPr/>
          <p:nvPr/>
        </p:nvSpPr>
        <p:spPr>
          <a:xfrm>
            <a:off x="457200" y="640080"/>
            <a:ext cx="1371600" cy="45720"/>
          </a:xfrm>
          <a:prstGeom prst="rect">
            <a:avLst/>
          </a:prstGeom>
          <a:solidFill>
            <a:srgbClr val="F39200"/>
          </a:solidFill>
          <a:ln/>
        </p:spPr>
      </p:sp>
      <p:sp>
        <p:nvSpPr>
          <p:cNvPr id="5" name="Text 3"/>
          <p:cNvSpPr/>
          <p:nvPr/>
        </p:nvSpPr>
        <p:spPr>
          <a:xfrm>
            <a:off x="457200" y="777240"/>
            <a:ext cx="8229600" cy="365760"/>
          </a:xfrm>
          <a:prstGeom prst="rect">
            <a:avLst/>
          </a:prstGeom>
          <a:noFill/>
          <a:ln/>
        </p:spPr>
        <p:txBody>
          <a:bodyPr wrap="square" lIns="0" tIns="0" rIns="0" bIns="0" rtlCol="0" anchor="ctr"/>
          <a:lstStyle/>
          <a:p>
            <a:pPr marL="0" indent="0">
              <a:buNone/>
            </a:pPr>
            <a:r>
              <a:rPr lang="en-US" sz="900" dirty="0">
                <a:solidFill>
                  <a:srgbClr val="555555"/>
                </a:solidFill>
                <a:latin typeface="Inter" pitchFamily="34" charset="0"/>
                <a:ea typeface="Inter" pitchFamily="34" charset="-122"/>
                <a:cs typeface="Inter" pitchFamily="34" charset="-120"/>
              </a:rPr>
              <a:t>Les outils numériques doivent être au service de l'économiste de la construction, et non l'inverse. BIMCO occupe un créneau rare : la rigueur de l'économiste combinée aux outils du BIM.</a:t>
            </a:r>
            <a:endParaRPr lang="en-US" sz="900" dirty="0"/>
          </a:p>
        </p:txBody>
      </p:sp>
      <p:sp>
        <p:nvSpPr>
          <p:cNvPr id="6" name="Shape 4"/>
          <p:cNvSpPr/>
          <p:nvPr/>
        </p:nvSpPr>
        <p:spPr>
          <a:xfrm>
            <a:off x="457200" y="1234440"/>
            <a:ext cx="2651760" cy="2130552"/>
          </a:xfrm>
          <a:prstGeom prst="rect">
            <a:avLst/>
          </a:prstGeom>
          <a:solidFill>
            <a:srgbClr val="FFFFFF"/>
          </a:solidFill>
          <a:ln/>
          <a:effectLst>
            <a:outerShdw blurRad="50800" dist="25400" dir="8100000" algn="bl" rotWithShape="0">
              <a:srgbClr val="000000">
                <a:alpha val="12000"/>
              </a:srgbClr>
            </a:outerShdw>
          </a:effectLst>
        </p:spPr>
      </p:sp>
      <p:sp>
        <p:nvSpPr>
          <p:cNvPr id="7" name="Shape 5"/>
          <p:cNvSpPr/>
          <p:nvPr/>
        </p:nvSpPr>
        <p:spPr>
          <a:xfrm>
            <a:off x="457200" y="1234440"/>
            <a:ext cx="2651760" cy="502920"/>
          </a:xfrm>
          <a:prstGeom prst="rect">
            <a:avLst/>
          </a:prstGeom>
          <a:solidFill>
            <a:srgbClr val="1E3A5F"/>
          </a:solidFill>
          <a:ln/>
        </p:spPr>
      </p:sp>
      <p:sp>
        <p:nvSpPr>
          <p:cNvPr id="8" name="Text 6"/>
          <p:cNvSpPr/>
          <p:nvPr/>
        </p:nvSpPr>
        <p:spPr>
          <a:xfrm>
            <a:off x="548640" y="1252728"/>
            <a:ext cx="914400" cy="228600"/>
          </a:xfrm>
          <a:prstGeom prst="rect">
            <a:avLst/>
          </a:prstGeom>
          <a:noFill/>
          <a:ln/>
        </p:spPr>
        <p:txBody>
          <a:bodyPr wrap="square" lIns="0" tIns="0" rIns="0" bIns="0" rtlCol="0" anchor="ctr"/>
          <a:lstStyle/>
          <a:p>
            <a:pPr marL="0" indent="0">
              <a:buNone/>
            </a:pPr>
            <a:r>
              <a:rPr lang="en-US" sz="1400" b="1" dirty="0">
                <a:solidFill>
                  <a:srgbClr val="F39200"/>
                </a:solidFill>
                <a:latin typeface="Montserrat Bold" pitchFamily="34" charset="0"/>
                <a:ea typeface="Montserrat Bold" pitchFamily="34" charset="-122"/>
                <a:cs typeface="Montserrat Bold" pitchFamily="34" charset="-120"/>
              </a:rPr>
              <a:t>2026</a:t>
            </a:r>
            <a:endParaRPr lang="en-US" sz="1400" dirty="0"/>
          </a:p>
        </p:txBody>
      </p:sp>
      <p:sp>
        <p:nvSpPr>
          <p:cNvPr id="9" name="Text 7"/>
          <p:cNvSpPr/>
          <p:nvPr/>
        </p:nvSpPr>
        <p:spPr>
          <a:xfrm>
            <a:off x="1463040" y="1252728"/>
            <a:ext cx="1554480" cy="228600"/>
          </a:xfrm>
          <a:prstGeom prst="rect">
            <a:avLst/>
          </a:prstGeom>
          <a:noFill/>
          <a:ln/>
        </p:spPr>
        <p:txBody>
          <a:bodyPr wrap="square" lIns="0" tIns="0" rIns="0" bIns="0" rtlCol="0" anchor="ctr"/>
          <a:lstStyle/>
          <a:p>
            <a:pPr marL="0" indent="0">
              <a:buNone/>
            </a:pPr>
            <a:r>
              <a:rPr lang="en-US" sz="900" b="1" dirty="0">
                <a:solidFill>
                  <a:srgbClr val="5CC8C0"/>
                </a:solidFill>
                <a:latin typeface="Montserrat Bold" pitchFamily="34" charset="0"/>
                <a:ea typeface="Montserrat Bold" pitchFamily="34" charset="-122"/>
                <a:cs typeface="Montserrat Bold" pitchFamily="34" charset="-120"/>
              </a:rPr>
              <a:t>COURT TERME</a:t>
            </a:r>
            <a:endParaRPr lang="en-US" sz="900" dirty="0"/>
          </a:p>
        </p:txBody>
      </p:sp>
      <p:sp>
        <p:nvSpPr>
          <p:cNvPr id="10" name="Text 8"/>
          <p:cNvSpPr/>
          <p:nvPr/>
        </p:nvSpPr>
        <p:spPr>
          <a:xfrm>
            <a:off x="594360" y="1828800"/>
            <a:ext cx="2377440" cy="1828800"/>
          </a:xfrm>
          <a:prstGeom prst="rect">
            <a:avLst/>
          </a:prstGeom>
          <a:noFill/>
          <a:ln/>
        </p:spPr>
        <p:txBody>
          <a:bodyPr wrap="square" rtlCol="0" anchor="ctr"/>
          <a:lstStyle/>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Obtenir le BTS MEC</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App 'Gestion Chantiers' livrée (React/Node.js/PostgreSQL)</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Premières prestations BIMCO</a:t>
            </a:r>
            <a:endParaRPr lang="en-US" sz="800" dirty="0"/>
          </a:p>
        </p:txBody>
      </p:sp>
      <p:sp>
        <p:nvSpPr>
          <p:cNvPr id="11" name="Shape 9"/>
          <p:cNvSpPr/>
          <p:nvPr/>
        </p:nvSpPr>
        <p:spPr>
          <a:xfrm>
            <a:off x="3291840" y="1234440"/>
            <a:ext cx="2651760" cy="2148840"/>
          </a:xfrm>
          <a:prstGeom prst="rect">
            <a:avLst/>
          </a:prstGeom>
          <a:solidFill>
            <a:srgbClr val="FFFFFF"/>
          </a:solidFill>
          <a:ln/>
          <a:effectLst>
            <a:outerShdw blurRad="50800" dist="25400" dir="8100000" algn="bl" rotWithShape="0">
              <a:srgbClr val="000000">
                <a:alpha val="12000"/>
              </a:srgbClr>
            </a:outerShdw>
          </a:effectLst>
        </p:spPr>
      </p:sp>
      <p:sp>
        <p:nvSpPr>
          <p:cNvPr id="12" name="Shape 10"/>
          <p:cNvSpPr/>
          <p:nvPr/>
        </p:nvSpPr>
        <p:spPr>
          <a:xfrm>
            <a:off x="3291840" y="1234440"/>
            <a:ext cx="2651760" cy="502920"/>
          </a:xfrm>
          <a:prstGeom prst="rect">
            <a:avLst/>
          </a:prstGeom>
          <a:solidFill>
            <a:srgbClr val="1E3A5F"/>
          </a:solidFill>
          <a:ln/>
        </p:spPr>
      </p:sp>
      <p:sp>
        <p:nvSpPr>
          <p:cNvPr id="13" name="Text 11"/>
          <p:cNvSpPr/>
          <p:nvPr/>
        </p:nvSpPr>
        <p:spPr>
          <a:xfrm>
            <a:off x="3383280" y="1252728"/>
            <a:ext cx="914400" cy="228600"/>
          </a:xfrm>
          <a:prstGeom prst="rect">
            <a:avLst/>
          </a:prstGeom>
          <a:noFill/>
          <a:ln/>
        </p:spPr>
        <p:txBody>
          <a:bodyPr wrap="square" lIns="0" tIns="0" rIns="0" bIns="0" rtlCol="0" anchor="ctr"/>
          <a:lstStyle/>
          <a:p>
            <a:pPr marL="0" indent="0">
              <a:buNone/>
            </a:pPr>
            <a:r>
              <a:rPr lang="en-US" sz="1400" b="1" dirty="0">
                <a:solidFill>
                  <a:srgbClr val="F39200"/>
                </a:solidFill>
                <a:latin typeface="Montserrat Bold" pitchFamily="34" charset="0"/>
                <a:ea typeface="Montserrat Bold" pitchFamily="34" charset="-122"/>
                <a:cs typeface="Montserrat Bold" pitchFamily="34" charset="-120"/>
              </a:rPr>
              <a:t>2027-28</a:t>
            </a:r>
            <a:endParaRPr lang="en-US" sz="1400" dirty="0"/>
          </a:p>
        </p:txBody>
      </p:sp>
      <p:sp>
        <p:nvSpPr>
          <p:cNvPr id="14" name="Text 12"/>
          <p:cNvSpPr/>
          <p:nvPr/>
        </p:nvSpPr>
        <p:spPr>
          <a:xfrm>
            <a:off x="4297680" y="1252728"/>
            <a:ext cx="1554480" cy="228600"/>
          </a:xfrm>
          <a:prstGeom prst="rect">
            <a:avLst/>
          </a:prstGeom>
          <a:noFill/>
          <a:ln/>
        </p:spPr>
        <p:txBody>
          <a:bodyPr wrap="square" lIns="0" tIns="0" rIns="0" bIns="0" rtlCol="0" anchor="ctr"/>
          <a:lstStyle/>
          <a:p>
            <a:pPr marL="0" indent="0">
              <a:buNone/>
            </a:pPr>
            <a:r>
              <a:rPr lang="en-US" sz="900" b="1" dirty="0">
                <a:solidFill>
                  <a:srgbClr val="5CC8C0"/>
                </a:solidFill>
                <a:latin typeface="Montserrat Bold" pitchFamily="34" charset="0"/>
                <a:ea typeface="Montserrat Bold" pitchFamily="34" charset="-122"/>
                <a:cs typeface="Montserrat Bold" pitchFamily="34" charset="-120"/>
              </a:rPr>
              <a:t>MOYEN TERME</a:t>
            </a:r>
            <a:endParaRPr lang="en-US" sz="900" dirty="0"/>
          </a:p>
        </p:txBody>
      </p:sp>
      <p:sp>
        <p:nvSpPr>
          <p:cNvPr id="15" name="Text 13"/>
          <p:cNvSpPr/>
          <p:nvPr/>
        </p:nvSpPr>
        <p:spPr>
          <a:xfrm>
            <a:off x="3429000" y="1828800"/>
            <a:ext cx="2377440" cy="1828800"/>
          </a:xfrm>
          <a:prstGeom prst="rect">
            <a:avLst/>
          </a:prstGeom>
          <a:noFill/>
          <a:ln/>
        </p:spPr>
        <p:txBody>
          <a:bodyPr wrap="square" rtlCol="0" anchor="ctr"/>
          <a:lstStyle/>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Métrés BIM et traditionnels</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Études de prix, DPGF, estimations</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Suivi financier de marchés</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Premiers plugins Revit/Dynamo</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3 à 5 clients récurrents visés</a:t>
            </a:r>
            <a:endParaRPr lang="en-US" sz="800" dirty="0"/>
          </a:p>
        </p:txBody>
      </p:sp>
      <p:sp>
        <p:nvSpPr>
          <p:cNvPr id="16" name="Shape 14"/>
          <p:cNvSpPr/>
          <p:nvPr/>
        </p:nvSpPr>
        <p:spPr>
          <a:xfrm>
            <a:off x="6126480" y="1234440"/>
            <a:ext cx="2651760" cy="2148840"/>
          </a:xfrm>
          <a:prstGeom prst="rect">
            <a:avLst/>
          </a:prstGeom>
          <a:solidFill>
            <a:srgbClr val="FFFFFF"/>
          </a:solidFill>
          <a:ln/>
          <a:effectLst>
            <a:outerShdw blurRad="50800" dist="25400" dir="8100000" algn="bl" rotWithShape="0">
              <a:srgbClr val="000000">
                <a:alpha val="12000"/>
              </a:srgbClr>
            </a:outerShdw>
          </a:effectLst>
        </p:spPr>
      </p:sp>
      <p:sp>
        <p:nvSpPr>
          <p:cNvPr id="17" name="Shape 15"/>
          <p:cNvSpPr/>
          <p:nvPr/>
        </p:nvSpPr>
        <p:spPr>
          <a:xfrm>
            <a:off x="6126480" y="1234440"/>
            <a:ext cx="2651760" cy="502920"/>
          </a:xfrm>
          <a:prstGeom prst="rect">
            <a:avLst/>
          </a:prstGeom>
          <a:solidFill>
            <a:srgbClr val="1E3A5F"/>
          </a:solidFill>
          <a:ln/>
        </p:spPr>
      </p:sp>
      <p:sp>
        <p:nvSpPr>
          <p:cNvPr id="18" name="Text 16"/>
          <p:cNvSpPr/>
          <p:nvPr/>
        </p:nvSpPr>
        <p:spPr>
          <a:xfrm>
            <a:off x="6217920" y="1252728"/>
            <a:ext cx="914400" cy="228600"/>
          </a:xfrm>
          <a:prstGeom prst="rect">
            <a:avLst/>
          </a:prstGeom>
          <a:noFill/>
          <a:ln/>
        </p:spPr>
        <p:txBody>
          <a:bodyPr wrap="square" lIns="0" tIns="0" rIns="0" bIns="0" rtlCol="0" anchor="ctr"/>
          <a:lstStyle/>
          <a:p>
            <a:pPr marL="0" indent="0">
              <a:buNone/>
            </a:pPr>
            <a:r>
              <a:rPr lang="en-US" sz="1400" b="1" dirty="0">
                <a:solidFill>
                  <a:srgbClr val="F39200"/>
                </a:solidFill>
                <a:latin typeface="Montserrat Bold" pitchFamily="34" charset="0"/>
                <a:ea typeface="Montserrat Bold" pitchFamily="34" charset="-122"/>
                <a:cs typeface="Montserrat Bold" pitchFamily="34" charset="-120"/>
              </a:rPr>
              <a:t>2029+</a:t>
            </a:r>
            <a:endParaRPr lang="en-US" sz="1400" dirty="0"/>
          </a:p>
        </p:txBody>
      </p:sp>
      <p:sp>
        <p:nvSpPr>
          <p:cNvPr id="19" name="Text 17"/>
          <p:cNvSpPr/>
          <p:nvPr/>
        </p:nvSpPr>
        <p:spPr>
          <a:xfrm>
            <a:off x="7132320" y="1252728"/>
            <a:ext cx="1554480" cy="228600"/>
          </a:xfrm>
          <a:prstGeom prst="rect">
            <a:avLst/>
          </a:prstGeom>
          <a:noFill/>
          <a:ln/>
        </p:spPr>
        <p:txBody>
          <a:bodyPr wrap="square" lIns="0" tIns="0" rIns="0" bIns="0" rtlCol="0" anchor="ctr"/>
          <a:lstStyle/>
          <a:p>
            <a:pPr marL="0" indent="0">
              <a:buNone/>
            </a:pPr>
            <a:r>
              <a:rPr lang="en-US" sz="900" b="1" dirty="0">
                <a:solidFill>
                  <a:srgbClr val="5CC8C0"/>
                </a:solidFill>
                <a:latin typeface="Montserrat Bold" pitchFamily="34" charset="0"/>
                <a:ea typeface="Montserrat Bold" pitchFamily="34" charset="-122"/>
                <a:cs typeface="Montserrat Bold" pitchFamily="34" charset="-120"/>
              </a:rPr>
              <a:t>LONG TERME</a:t>
            </a:r>
            <a:endParaRPr lang="en-US" sz="900" dirty="0"/>
          </a:p>
        </p:txBody>
      </p:sp>
      <p:sp>
        <p:nvSpPr>
          <p:cNvPr id="20" name="Text 18"/>
          <p:cNvSpPr/>
          <p:nvPr/>
        </p:nvSpPr>
        <p:spPr>
          <a:xfrm>
            <a:off x="6263640" y="1828800"/>
            <a:ext cx="2377440" cy="1828800"/>
          </a:xfrm>
          <a:prstGeom prst="rect">
            <a:avLst/>
          </a:prstGeom>
          <a:noFill/>
          <a:ln/>
        </p:spPr>
        <p:txBody>
          <a:bodyPr wrap="square" rtlCol="0" anchor="ctr"/>
          <a:lstStyle/>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Plugin Revit → DPGF automatisé</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Chiffrage assisté par maquette</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Base prix connectée (Batiprix)</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App web suivi économique interactif</a:t>
            </a:r>
            <a:endParaRPr lang="en-US" sz="800" dirty="0"/>
          </a:p>
          <a:p>
            <a:pPr marL="342900" indent="-342900">
              <a:spcAft>
                <a:spcPts val="300"/>
              </a:spcAft>
              <a:buSzPct val="100000"/>
              <a:buChar char="•"/>
            </a:pPr>
            <a:r>
              <a:rPr lang="en-US" sz="800" dirty="0">
                <a:solidFill>
                  <a:srgbClr val="2D2D2D"/>
                </a:solidFill>
                <a:latin typeface="Inter" pitchFamily="34" charset="0"/>
                <a:ea typeface="Inter" pitchFamily="34" charset="-122"/>
                <a:cs typeface="Inter" pitchFamily="34" charset="-120"/>
              </a:rPr>
              <a:t>Équipe 3-5 · CA 200-300 k€/an</a:t>
            </a:r>
            <a:endParaRPr lang="en-US" sz="800" dirty="0"/>
          </a:p>
        </p:txBody>
      </p:sp>
      <p:sp>
        <p:nvSpPr>
          <p:cNvPr id="21" name="Shape 19"/>
          <p:cNvSpPr/>
          <p:nvPr/>
        </p:nvSpPr>
        <p:spPr>
          <a:xfrm>
            <a:off x="457200" y="3977640"/>
            <a:ext cx="8229600" cy="502920"/>
          </a:xfrm>
          <a:prstGeom prst="rect">
            <a:avLst/>
          </a:prstGeom>
          <a:solidFill>
            <a:srgbClr val="1E3A5F"/>
          </a:solidFill>
          <a:ln/>
        </p:spPr>
      </p:sp>
      <p:sp>
        <p:nvSpPr>
          <p:cNvPr id="22" name="Text 20"/>
          <p:cNvSpPr/>
          <p:nvPr/>
        </p:nvSpPr>
        <p:spPr>
          <a:xfrm>
            <a:off x="548640" y="3995928"/>
            <a:ext cx="8046720" cy="457200"/>
          </a:xfrm>
          <a:prstGeom prst="rect">
            <a:avLst/>
          </a:prstGeom>
          <a:noFill/>
          <a:ln/>
        </p:spPr>
        <p:txBody>
          <a:bodyPr wrap="square" lIns="0" tIns="0" rIns="0" bIns="0" rtlCol="0" anchor="ctr"/>
          <a:lstStyle/>
          <a:p>
            <a:pPr marL="0" indent="0">
              <a:buNone/>
            </a:pPr>
            <a:r>
              <a:rPr lang="en-US" sz="1100" b="1" dirty="0">
                <a:solidFill>
                  <a:srgbClr val="FFFFFF"/>
                </a:solidFill>
                <a:latin typeface="Montserrat Bold" pitchFamily="34" charset="0"/>
                <a:ea typeface="Montserrat Bold" pitchFamily="34" charset="-122"/>
                <a:cs typeface="Montserrat Bold" pitchFamily="34" charset="-120"/>
              </a:rPr>
              <a:t>MA DOUBLE COMPÉTENCE : Économiste terrain + Développeur BIM · Un avantage rare sur le marché de l'ingénierie</a:t>
            </a:r>
            <a:endParaRPr lang="en-US" sz="1100" dirty="0"/>
          </a:p>
        </p:txBody>
      </p:sp>
      <p:sp>
        <p:nvSpPr>
          <p:cNvPr id="23" name="Text 21"/>
          <p:cNvSpPr/>
          <p:nvPr/>
        </p:nvSpPr>
        <p:spPr>
          <a:xfrm>
            <a:off x="457200" y="4800600"/>
            <a:ext cx="8229600" cy="274320"/>
          </a:xfrm>
          <a:prstGeom prst="rect">
            <a:avLst/>
          </a:prstGeom>
          <a:noFill/>
          <a:ln/>
        </p:spPr>
        <p:txBody>
          <a:bodyPr wrap="square" rtlCol="0" anchor="ctr"/>
          <a:lstStyle/>
          <a:p>
            <a:pPr marL="0" indent="0">
              <a:buNone/>
            </a:pPr>
            <a:r>
              <a:rPr lang="en-US" sz="700" dirty="0">
                <a:solidFill>
                  <a:srgbClr val="888888"/>
                </a:solidFill>
                <a:latin typeface="Inter" pitchFamily="34" charset="0"/>
                <a:ea typeface="Inter" pitchFamily="34" charset="-122"/>
                <a:cs typeface="Inter" pitchFamily="34" charset="-120"/>
              </a:rPr>
              <a:t>BAHAFID Mohamed  |  Rapport U62  |  BTS MEC 2026  |  14/15</a:t>
            </a:r>
            <a:endParaRPr lang="en-US" sz="700" dirty="0"/>
          </a:p>
        </p:txBody>
      </p:sp>
      <p:sp>
        <p:nvSpPr>
          <p:cNvPr id="24" name="Shape 22"/>
          <p:cNvSpPr/>
          <p:nvPr/>
        </p:nvSpPr>
        <p:spPr>
          <a:xfrm>
            <a:off x="0" y="5029200"/>
            <a:ext cx="9144000" cy="114300"/>
          </a:xfrm>
          <a:prstGeom prst="rect">
            <a:avLst/>
          </a:prstGeom>
          <a:solidFill>
            <a:srgbClr val="F39200"/>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39200"/>
          </a:solidFill>
          <a:ln/>
        </p:spPr>
      </p:sp>
      <p:sp>
        <p:nvSpPr>
          <p:cNvPr id="3" name="Text 1"/>
          <p:cNvSpPr/>
          <p:nvPr/>
        </p:nvSpPr>
        <p:spPr>
          <a:xfrm>
            <a:off x="457200" y="274320"/>
            <a:ext cx="8229600" cy="457200"/>
          </a:xfrm>
          <a:prstGeom prst="rect">
            <a:avLst/>
          </a:prstGeom>
          <a:noFill/>
          <a:ln/>
        </p:spPr>
        <p:txBody>
          <a:bodyPr wrap="square" lIns="0" tIns="0" rIns="0" bIns="0" rtlCol="0" anchor="ctr"/>
          <a:lstStyle/>
          <a:p>
            <a:pPr marL="0" indent="0">
              <a:buNone/>
            </a:pPr>
            <a:r>
              <a:rPr lang="en-US" sz="2800" b="1" dirty="0">
                <a:solidFill>
                  <a:srgbClr val="FFFFFF"/>
                </a:solidFill>
                <a:latin typeface="Montserrat Bold" pitchFamily="34" charset="0"/>
                <a:ea typeface="Montserrat Bold" pitchFamily="34" charset="-122"/>
                <a:cs typeface="Montserrat Bold" pitchFamily="34" charset="-120"/>
              </a:rPr>
              <a:t>CONCLUSION</a:t>
            </a:r>
            <a:endParaRPr lang="en-US" sz="2800" dirty="0"/>
          </a:p>
        </p:txBody>
      </p:sp>
      <p:sp>
        <p:nvSpPr>
          <p:cNvPr id="4" name="Shape 2"/>
          <p:cNvSpPr/>
          <p:nvPr/>
        </p:nvSpPr>
        <p:spPr>
          <a:xfrm>
            <a:off x="457200" y="731520"/>
            <a:ext cx="1371600" cy="45720"/>
          </a:xfrm>
          <a:prstGeom prst="rect">
            <a:avLst/>
          </a:prstGeom>
          <a:solidFill>
            <a:srgbClr val="F39200"/>
          </a:solidFill>
          <a:ln/>
        </p:spPr>
      </p:sp>
      <p:sp>
        <p:nvSpPr>
          <p:cNvPr id="5" name="Text 3"/>
          <p:cNvSpPr/>
          <p:nvPr/>
        </p:nvSpPr>
        <p:spPr>
          <a:xfrm>
            <a:off x="457200" y="914400"/>
            <a:ext cx="8229600" cy="548640"/>
          </a:xfrm>
          <a:prstGeom prst="rect">
            <a:avLst/>
          </a:prstGeom>
          <a:noFill/>
          <a:ln/>
        </p:spPr>
        <p:txBody>
          <a:bodyPr wrap="square" lIns="0" tIns="0" rIns="0" bIns="0" rtlCol="0" anchor="ctr"/>
          <a:lstStyle/>
          <a:p>
            <a:pPr marL="0" indent="0">
              <a:buNone/>
            </a:pPr>
            <a:r>
              <a:rPr lang="en-US" sz="1100" dirty="0">
                <a:solidFill>
                  <a:srgbClr val="5CC8C0"/>
                </a:solidFill>
                <a:latin typeface="Inter" pitchFamily="34" charset="0"/>
                <a:ea typeface="Inter" pitchFamily="34" charset="-122"/>
                <a:cs typeface="Inter" pitchFamily="34" charset="-120"/>
              </a:rPr>
              <a:t>Ce rapport est avant tout une démonstration. Non pas de ce que je sais, mais de comment je résous un problème sous contrainte. Ce que j'ai construit en huit ans, c'est une méthode. Le BTS MEC lui donne un cadre formel. BIMCO lui donne une continuation.</a:t>
            </a:r>
            <a:endParaRPr lang="en-US" sz="1100" dirty="0"/>
          </a:p>
        </p:txBody>
      </p:sp>
      <p:sp>
        <p:nvSpPr>
          <p:cNvPr id="6" name="Shape 4"/>
          <p:cNvSpPr/>
          <p:nvPr/>
        </p:nvSpPr>
        <p:spPr>
          <a:xfrm>
            <a:off x="457200" y="1600200"/>
            <a:ext cx="8229600" cy="640080"/>
          </a:xfrm>
          <a:prstGeom prst="rect">
            <a:avLst/>
          </a:prstGeom>
          <a:solidFill>
            <a:srgbClr val="0F2B50"/>
          </a:solidFill>
          <a:ln/>
        </p:spPr>
      </p:sp>
      <p:sp>
        <p:nvSpPr>
          <p:cNvPr id="7" name="Shape 5"/>
          <p:cNvSpPr/>
          <p:nvPr/>
        </p:nvSpPr>
        <p:spPr>
          <a:xfrm>
            <a:off x="457200" y="1600200"/>
            <a:ext cx="457200" cy="640080"/>
          </a:xfrm>
          <a:prstGeom prst="rect">
            <a:avLst/>
          </a:prstGeom>
          <a:solidFill>
            <a:srgbClr val="F39200"/>
          </a:solidFill>
          <a:ln/>
        </p:spPr>
      </p:sp>
      <p:sp>
        <p:nvSpPr>
          <p:cNvPr id="8" name="Text 6"/>
          <p:cNvSpPr/>
          <p:nvPr/>
        </p:nvSpPr>
        <p:spPr>
          <a:xfrm>
            <a:off x="457200" y="1600200"/>
            <a:ext cx="45720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Bold" pitchFamily="34" charset="0"/>
                <a:ea typeface="Montserrat Bold" pitchFamily="34" charset="-122"/>
                <a:cs typeface="Montserrat Bold" pitchFamily="34" charset="-120"/>
              </a:rPr>
              <a:t>1</a:t>
            </a:r>
            <a:endParaRPr lang="en-US" sz="2200" dirty="0"/>
          </a:p>
        </p:txBody>
      </p:sp>
      <p:sp>
        <p:nvSpPr>
          <p:cNvPr id="9" name="Text 7"/>
          <p:cNvSpPr/>
          <p:nvPr/>
        </p:nvSpPr>
        <p:spPr>
          <a:xfrm>
            <a:off x="1051560" y="1645920"/>
            <a:ext cx="7498080" cy="274320"/>
          </a:xfrm>
          <a:prstGeom prst="rect">
            <a:avLst/>
          </a:prstGeom>
          <a:noFill/>
          <a:ln/>
        </p:spPr>
        <p:txBody>
          <a:bodyPr wrap="square" lIns="0" tIns="0" rIns="0" bIns="0" rtlCol="0" anchor="ctr"/>
          <a:lstStyle/>
          <a:p>
            <a:pPr marL="0" indent="0">
              <a:buNone/>
            </a:pPr>
            <a:r>
              <a:rPr lang="en-US" sz="1100" b="1" dirty="0">
                <a:solidFill>
                  <a:srgbClr val="F39200"/>
                </a:solidFill>
                <a:latin typeface="Montserrat Bold" pitchFamily="34" charset="0"/>
                <a:ea typeface="Montserrat Bold" pitchFamily="34" charset="-122"/>
                <a:cs typeface="Montserrat Bold" pitchFamily="34" charset="-120"/>
              </a:rPr>
              <a:t>Cinq compétences construites sur le terrain</a:t>
            </a:r>
            <a:endParaRPr lang="en-US" sz="1100" dirty="0"/>
          </a:p>
        </p:txBody>
      </p:sp>
      <p:sp>
        <p:nvSpPr>
          <p:cNvPr id="10" name="Text 8"/>
          <p:cNvSpPr/>
          <p:nvPr/>
        </p:nvSpPr>
        <p:spPr>
          <a:xfrm>
            <a:off x="1051560" y="1920240"/>
            <a:ext cx="7498080" cy="274320"/>
          </a:xfrm>
          <a:prstGeom prst="rect">
            <a:avLst/>
          </a:prstGeom>
          <a:noFill/>
          <a:ln/>
        </p:spPr>
        <p:txBody>
          <a:bodyPr wrap="square" lIns="0" tIns="0" rIns="0" bIns="0" rtlCol="0" anchor="ctr"/>
          <a:lstStyle/>
          <a:p>
            <a:pPr marL="0" indent="0">
              <a:buNone/>
            </a:pPr>
            <a:r>
              <a:rPr lang="en-US" sz="850" dirty="0">
                <a:solidFill>
                  <a:srgbClr val="FFFFFF"/>
                </a:solidFill>
                <a:latin typeface="Inter" pitchFamily="34" charset="0"/>
                <a:ea typeface="Inter" pitchFamily="34" charset="-122"/>
                <a:cs typeface="Inter" pitchFamily="34" charset="-120"/>
              </a:rPr>
              <a:t>Estimer, analyser les offres, suivre financièrement, coordonner en crise, contrôler les quantités — cinq réflexes professionnels acquis par la pratique, pas par la théorie.</a:t>
            </a:r>
            <a:endParaRPr lang="en-US" sz="850" dirty="0"/>
          </a:p>
        </p:txBody>
      </p:sp>
      <p:sp>
        <p:nvSpPr>
          <p:cNvPr id="11" name="Shape 9"/>
          <p:cNvSpPr/>
          <p:nvPr/>
        </p:nvSpPr>
        <p:spPr>
          <a:xfrm>
            <a:off x="457200" y="2331720"/>
            <a:ext cx="8229600" cy="640080"/>
          </a:xfrm>
          <a:prstGeom prst="rect">
            <a:avLst/>
          </a:prstGeom>
          <a:solidFill>
            <a:srgbClr val="0F2B50"/>
          </a:solidFill>
          <a:ln/>
        </p:spPr>
      </p:sp>
      <p:sp>
        <p:nvSpPr>
          <p:cNvPr id="12" name="Shape 10"/>
          <p:cNvSpPr/>
          <p:nvPr/>
        </p:nvSpPr>
        <p:spPr>
          <a:xfrm>
            <a:off x="457200" y="2331720"/>
            <a:ext cx="457200" cy="640080"/>
          </a:xfrm>
          <a:prstGeom prst="rect">
            <a:avLst/>
          </a:prstGeom>
          <a:solidFill>
            <a:srgbClr val="F39200"/>
          </a:solidFill>
          <a:ln/>
        </p:spPr>
      </p:sp>
      <p:sp>
        <p:nvSpPr>
          <p:cNvPr id="13" name="Text 11"/>
          <p:cNvSpPr/>
          <p:nvPr/>
        </p:nvSpPr>
        <p:spPr>
          <a:xfrm>
            <a:off x="457200" y="2331720"/>
            <a:ext cx="45720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Bold" pitchFamily="34" charset="0"/>
                <a:ea typeface="Montserrat Bold" pitchFamily="34" charset="-122"/>
                <a:cs typeface="Montserrat Bold" pitchFamily="34" charset="-120"/>
              </a:rPr>
              <a:t>2</a:t>
            </a:r>
            <a:endParaRPr lang="en-US" sz="2200" dirty="0"/>
          </a:p>
        </p:txBody>
      </p:sp>
      <p:sp>
        <p:nvSpPr>
          <p:cNvPr id="14" name="Text 12"/>
          <p:cNvSpPr/>
          <p:nvPr/>
        </p:nvSpPr>
        <p:spPr>
          <a:xfrm>
            <a:off x="1051560" y="2377440"/>
            <a:ext cx="7498080" cy="274320"/>
          </a:xfrm>
          <a:prstGeom prst="rect">
            <a:avLst/>
          </a:prstGeom>
          <a:noFill/>
          <a:ln/>
        </p:spPr>
        <p:txBody>
          <a:bodyPr wrap="square" lIns="0" tIns="0" rIns="0" bIns="0" rtlCol="0" anchor="ctr"/>
          <a:lstStyle/>
          <a:p>
            <a:pPr marL="0" indent="0">
              <a:buNone/>
            </a:pPr>
            <a:r>
              <a:rPr lang="en-US" sz="1100" b="1" dirty="0">
                <a:solidFill>
                  <a:srgbClr val="F39200"/>
                </a:solidFill>
                <a:latin typeface="Montserrat Bold" pitchFamily="34" charset="0"/>
                <a:ea typeface="Montserrat Bold" pitchFamily="34" charset="-122"/>
                <a:cs typeface="Montserrat Bold" pitchFamily="34" charset="-120"/>
              </a:rPr>
              <a:t>Une double lecture des projets</a:t>
            </a:r>
            <a:endParaRPr lang="en-US" sz="1100" dirty="0"/>
          </a:p>
        </p:txBody>
      </p:sp>
      <p:sp>
        <p:nvSpPr>
          <p:cNvPr id="15" name="Text 13"/>
          <p:cNvSpPr/>
          <p:nvPr/>
        </p:nvSpPr>
        <p:spPr>
          <a:xfrm>
            <a:off x="1051560" y="2651760"/>
            <a:ext cx="7498080" cy="274320"/>
          </a:xfrm>
          <a:prstGeom prst="rect">
            <a:avLst/>
          </a:prstGeom>
          <a:noFill/>
          <a:ln/>
        </p:spPr>
        <p:txBody>
          <a:bodyPr wrap="square" lIns="0" tIns="0" rIns="0" bIns="0" rtlCol="0" anchor="ctr"/>
          <a:lstStyle/>
          <a:p>
            <a:pPr marL="0" indent="0">
              <a:buNone/>
            </a:pPr>
            <a:r>
              <a:rPr lang="en-US" sz="850" dirty="0">
                <a:solidFill>
                  <a:srgbClr val="FFFFFF"/>
                </a:solidFill>
                <a:latin typeface="Inter" pitchFamily="34" charset="0"/>
                <a:ea typeface="Inter" pitchFamily="34" charset="-122"/>
                <a:cs typeface="Inter" pitchFamily="34" charset="-120"/>
              </a:rPr>
              <a:t>Côté maîtrise d'ouvrage au Maroc, côté exécution en France — comprendre les enjeux des deux côtés de la table change profondément la façon d'estimer et de négocier.</a:t>
            </a:r>
            <a:endParaRPr lang="en-US" sz="850" dirty="0"/>
          </a:p>
        </p:txBody>
      </p:sp>
      <p:sp>
        <p:nvSpPr>
          <p:cNvPr id="16" name="Shape 14"/>
          <p:cNvSpPr/>
          <p:nvPr/>
        </p:nvSpPr>
        <p:spPr>
          <a:xfrm>
            <a:off x="457200" y="3063240"/>
            <a:ext cx="8229600" cy="640080"/>
          </a:xfrm>
          <a:prstGeom prst="rect">
            <a:avLst/>
          </a:prstGeom>
          <a:solidFill>
            <a:srgbClr val="0F2B50"/>
          </a:solidFill>
          <a:ln/>
        </p:spPr>
      </p:sp>
      <p:sp>
        <p:nvSpPr>
          <p:cNvPr id="17" name="Shape 15"/>
          <p:cNvSpPr/>
          <p:nvPr/>
        </p:nvSpPr>
        <p:spPr>
          <a:xfrm>
            <a:off x="457200" y="3063240"/>
            <a:ext cx="457200" cy="640080"/>
          </a:xfrm>
          <a:prstGeom prst="rect">
            <a:avLst/>
          </a:prstGeom>
          <a:solidFill>
            <a:srgbClr val="F39200"/>
          </a:solidFill>
          <a:ln/>
        </p:spPr>
      </p:sp>
      <p:sp>
        <p:nvSpPr>
          <p:cNvPr id="18" name="Text 16"/>
          <p:cNvSpPr/>
          <p:nvPr/>
        </p:nvSpPr>
        <p:spPr>
          <a:xfrm>
            <a:off x="457200" y="3063240"/>
            <a:ext cx="45720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Bold" pitchFamily="34" charset="0"/>
                <a:ea typeface="Montserrat Bold" pitchFamily="34" charset="-122"/>
                <a:cs typeface="Montserrat Bold" pitchFamily="34" charset="-120"/>
              </a:rPr>
              <a:t>3</a:t>
            </a:r>
            <a:endParaRPr lang="en-US" sz="2200" dirty="0"/>
          </a:p>
        </p:txBody>
      </p:sp>
      <p:sp>
        <p:nvSpPr>
          <p:cNvPr id="19" name="Text 17"/>
          <p:cNvSpPr/>
          <p:nvPr/>
        </p:nvSpPr>
        <p:spPr>
          <a:xfrm>
            <a:off x="1051560" y="3108960"/>
            <a:ext cx="7498080" cy="274320"/>
          </a:xfrm>
          <a:prstGeom prst="rect">
            <a:avLst/>
          </a:prstGeom>
          <a:noFill/>
          <a:ln/>
        </p:spPr>
        <p:txBody>
          <a:bodyPr wrap="square" lIns="0" tIns="0" rIns="0" bIns="0" rtlCol="0" anchor="ctr"/>
          <a:lstStyle/>
          <a:p>
            <a:pPr marL="0" indent="0">
              <a:buNone/>
            </a:pPr>
            <a:r>
              <a:rPr lang="en-US" sz="1100" b="1" dirty="0">
                <a:solidFill>
                  <a:srgbClr val="F39200"/>
                </a:solidFill>
                <a:latin typeface="Montserrat Bold" pitchFamily="34" charset="0"/>
                <a:ea typeface="Montserrat Bold" pitchFamily="34" charset="-122"/>
                <a:cs typeface="Montserrat Bold" pitchFamily="34" charset="-120"/>
              </a:rPr>
              <a:t>La rigueur de l'écrit comme protection</a:t>
            </a:r>
            <a:endParaRPr lang="en-US" sz="1100" dirty="0"/>
          </a:p>
        </p:txBody>
      </p:sp>
      <p:sp>
        <p:nvSpPr>
          <p:cNvPr id="20" name="Text 18"/>
          <p:cNvSpPr/>
          <p:nvPr/>
        </p:nvSpPr>
        <p:spPr>
          <a:xfrm>
            <a:off x="1051560" y="3383280"/>
            <a:ext cx="7498080" cy="274320"/>
          </a:xfrm>
          <a:prstGeom prst="rect">
            <a:avLst/>
          </a:prstGeom>
          <a:noFill/>
          <a:ln/>
        </p:spPr>
        <p:txBody>
          <a:bodyPr wrap="square" lIns="0" tIns="0" rIns="0" bIns="0" rtlCol="0" anchor="ctr"/>
          <a:lstStyle/>
          <a:p>
            <a:pPr marL="0" indent="0">
              <a:buNone/>
            </a:pPr>
            <a:r>
              <a:rPr lang="en-US" sz="850" dirty="0">
                <a:solidFill>
                  <a:srgbClr val="FFFFFF"/>
                </a:solidFill>
                <a:latin typeface="Inter" pitchFamily="34" charset="0"/>
                <a:ea typeface="Inter" pitchFamily="34" charset="-122"/>
                <a:cs typeface="Inter" pitchFamily="34" charset="-120"/>
              </a:rPr>
              <a:t>Ordres de service, attachements contradictoires, comptes-rendus consolidés : la trace écrite est le seul rempart réel contre les litiges en cours de chantier.</a:t>
            </a:r>
            <a:endParaRPr lang="en-US" sz="850" dirty="0"/>
          </a:p>
        </p:txBody>
      </p:sp>
      <p:sp>
        <p:nvSpPr>
          <p:cNvPr id="21" name="Shape 19"/>
          <p:cNvSpPr/>
          <p:nvPr/>
        </p:nvSpPr>
        <p:spPr>
          <a:xfrm>
            <a:off x="457200" y="3794760"/>
            <a:ext cx="8229600" cy="640080"/>
          </a:xfrm>
          <a:prstGeom prst="rect">
            <a:avLst/>
          </a:prstGeom>
          <a:solidFill>
            <a:srgbClr val="0F2B50"/>
          </a:solidFill>
          <a:ln/>
        </p:spPr>
      </p:sp>
      <p:sp>
        <p:nvSpPr>
          <p:cNvPr id="22" name="Shape 20"/>
          <p:cNvSpPr/>
          <p:nvPr/>
        </p:nvSpPr>
        <p:spPr>
          <a:xfrm>
            <a:off x="457200" y="3794760"/>
            <a:ext cx="457200" cy="640080"/>
          </a:xfrm>
          <a:prstGeom prst="rect">
            <a:avLst/>
          </a:prstGeom>
          <a:solidFill>
            <a:srgbClr val="F39200"/>
          </a:solidFill>
          <a:ln/>
        </p:spPr>
      </p:sp>
      <p:sp>
        <p:nvSpPr>
          <p:cNvPr id="23" name="Text 21"/>
          <p:cNvSpPr/>
          <p:nvPr/>
        </p:nvSpPr>
        <p:spPr>
          <a:xfrm>
            <a:off x="457200" y="3794760"/>
            <a:ext cx="45720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Bold" pitchFamily="34" charset="0"/>
                <a:ea typeface="Montserrat Bold" pitchFamily="34" charset="-122"/>
                <a:cs typeface="Montserrat Bold" pitchFamily="34" charset="-120"/>
              </a:rPr>
              <a:t>4</a:t>
            </a:r>
            <a:endParaRPr lang="en-US" sz="2200" dirty="0"/>
          </a:p>
        </p:txBody>
      </p:sp>
      <p:sp>
        <p:nvSpPr>
          <p:cNvPr id="24" name="Text 22"/>
          <p:cNvSpPr/>
          <p:nvPr/>
        </p:nvSpPr>
        <p:spPr>
          <a:xfrm>
            <a:off x="1051560" y="3840480"/>
            <a:ext cx="7498080" cy="274320"/>
          </a:xfrm>
          <a:prstGeom prst="rect">
            <a:avLst/>
          </a:prstGeom>
          <a:noFill/>
          <a:ln/>
        </p:spPr>
        <p:txBody>
          <a:bodyPr wrap="square" lIns="0" tIns="0" rIns="0" bIns="0" rtlCol="0" anchor="ctr"/>
          <a:lstStyle/>
          <a:p>
            <a:pPr marL="0" indent="0">
              <a:buNone/>
            </a:pPr>
            <a:r>
              <a:rPr lang="en-US" sz="1100" b="1" dirty="0">
                <a:solidFill>
                  <a:srgbClr val="F39200"/>
                </a:solidFill>
                <a:latin typeface="Montserrat Bold" pitchFamily="34" charset="0"/>
                <a:ea typeface="Montserrat Bold" pitchFamily="34" charset="-122"/>
                <a:cs typeface="Montserrat Bold" pitchFamily="34" charset="-120"/>
              </a:rPr>
              <a:t>BIMCO : la traduction de ce parcours</a:t>
            </a:r>
            <a:endParaRPr lang="en-US" sz="1100" dirty="0"/>
          </a:p>
        </p:txBody>
      </p:sp>
      <p:sp>
        <p:nvSpPr>
          <p:cNvPr id="25" name="Text 23"/>
          <p:cNvSpPr/>
          <p:nvPr/>
        </p:nvSpPr>
        <p:spPr>
          <a:xfrm>
            <a:off x="1051560" y="4114800"/>
            <a:ext cx="7498080" cy="274320"/>
          </a:xfrm>
          <a:prstGeom prst="rect">
            <a:avLst/>
          </a:prstGeom>
          <a:noFill/>
          <a:ln/>
        </p:spPr>
        <p:txBody>
          <a:bodyPr wrap="square" lIns="0" tIns="0" rIns="0" bIns="0" rtlCol="0" anchor="ctr"/>
          <a:lstStyle/>
          <a:p>
            <a:pPr marL="0" indent="0">
              <a:buNone/>
            </a:pPr>
            <a:r>
              <a:rPr lang="en-US" sz="850" dirty="0">
                <a:solidFill>
                  <a:srgbClr val="FFFFFF"/>
                </a:solidFill>
                <a:latin typeface="Inter" pitchFamily="34" charset="0"/>
                <a:ea typeface="Inter" pitchFamily="34" charset="-122"/>
                <a:cs typeface="Inter" pitchFamily="34" charset="-120"/>
              </a:rPr>
              <a:t>Un bureau où la rigueur du terrain rencontre les outils numériques — parce que le chiffrage mérite d'être aussi précis que la construction.</a:t>
            </a:r>
            <a:endParaRPr lang="en-US" sz="850" dirty="0"/>
          </a:p>
        </p:txBody>
      </p:sp>
      <p:sp>
        <p:nvSpPr>
          <p:cNvPr id="26" name="Shape 24"/>
          <p:cNvSpPr/>
          <p:nvPr/>
        </p:nvSpPr>
        <p:spPr>
          <a:xfrm>
            <a:off x="0" y="4892040"/>
            <a:ext cx="9144000" cy="251460"/>
          </a:xfrm>
          <a:prstGeom prst="rect">
            <a:avLst/>
          </a:prstGeom>
          <a:solidFill>
            <a:srgbClr val="F39200"/>
          </a:solidFill>
          <a:ln/>
        </p:spPr>
      </p:sp>
      <p:sp>
        <p:nvSpPr>
          <p:cNvPr id="27" name="Text 25"/>
          <p:cNvSpPr/>
          <p:nvPr/>
        </p:nvSpPr>
        <p:spPr>
          <a:xfrm>
            <a:off x="457200" y="4663440"/>
            <a:ext cx="8229600" cy="182880"/>
          </a:xfrm>
          <a:prstGeom prst="rect">
            <a:avLst/>
          </a:prstGeom>
          <a:noFill/>
          <a:ln/>
        </p:spPr>
        <p:txBody>
          <a:bodyPr wrap="square" lIns="0" tIns="0" rIns="0" bIns="0" rtlCol="0" anchor="ctr"/>
          <a:lstStyle/>
          <a:p>
            <a:pPr marL="0" indent="0" algn="ctr">
              <a:buNone/>
            </a:pPr>
            <a:r>
              <a:rPr lang="en-US" sz="900" dirty="0">
                <a:solidFill>
                  <a:srgbClr val="5CC8C0"/>
                </a:solidFill>
                <a:latin typeface="Inter" pitchFamily="34" charset="0"/>
                <a:ea typeface="Inter" pitchFamily="34" charset="-122"/>
                <a:cs typeface="Inter" pitchFamily="34" charset="-120"/>
              </a:rPr>
              <a:t>BAHAFID Mohamed  |  BIMCO  |  BTS MEC Session 2026  |  Académie de Lyon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3073</Words>
  <Application>Microsoft Office PowerPoint</Application>
  <PresentationFormat>Affichage à l'écran (16:9)</PresentationFormat>
  <Paragraphs>418</Paragraphs>
  <Slides>15</Slides>
  <Notes>15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Arial</vt:lpstr>
      <vt:lpstr>Inter</vt:lpstr>
      <vt:lpstr>Montserrat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U62 - BTS MEC 2026</dc:title>
  <dc:subject>PptxGenJS Presentation</dc:subject>
  <dc:creator>BAHAFID Mohamed</dc:creator>
  <cp:lastModifiedBy>amandine grizonnet</cp:lastModifiedBy>
  <cp:revision>2</cp:revision>
  <dcterms:created xsi:type="dcterms:W3CDTF">2026-03-25T06:38:16Z</dcterms:created>
  <dcterms:modified xsi:type="dcterms:W3CDTF">2026-03-25T06:45:41Z</dcterms:modified>
</cp:coreProperties>
</file>