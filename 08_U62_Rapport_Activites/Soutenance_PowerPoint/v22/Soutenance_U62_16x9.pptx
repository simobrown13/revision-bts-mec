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(M DH HT)</c:v>
                </c:pt>
              </c:strCache>
            </c:strRef>
          </c:tx>
          <c:spPr>
            <a:solidFill>
              <a:srgbClr val="F392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3A5F"/>
                    </a:solidFill>
                    <a:latin typeface="Montserrat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Ouaoumana</c:v>
                  </c:pt>
                  <c:pt idx="1">
                    <c:v>Sebt Ait Rahou</c:v>
                  </c:pt>
                  <c:pt idx="2">
                    <c:v>Kerrouchen</c:v>
                  </c:pt>
                  <c:pt idx="3">
                    <c:v>El Hammam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15.8</c:v>
                </c:pt>
                <c:pt idx="1">
                  <c:v>14.8</c:v>
                </c:pt>
                <c:pt idx="2">
                  <c:v>7.3</c:v>
                </c:pt>
                <c:pt idx="3">
                  <c:v>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3A5F"/>
                  </a:solidFill>
                  <a:latin typeface="Montserrat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consommé (%)</c:v>
                </c:pt>
              </c:strCache>
            </c:strRef>
          </c:tx>
          <c:spPr>
            <a:solidFill>
              <a:srgbClr val="F39200"/>
            </a:solidFill>
            <a:ln w="25400" cap="flat">
              <a:solidFill>
                <a:srgbClr val="F392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9200"/>
              </a:solidFill>
              <a:ln w="9525" cap="flat">
                <a:solidFill>
                  <a:srgbClr val="F392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M15</c:v>
                  </c:pt>
                  <c:pt idx="6">
                    <c:v>M18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18</c:v>
                </c:pt>
                <c:pt idx="2">
                  <c:v>35</c:v>
                </c:pt>
                <c:pt idx="3">
                  <c:v>52</c:v>
                </c:pt>
                <c:pt idx="4">
                  <c:v>70</c:v>
                </c:pt>
                <c:pt idx="5">
                  <c:v>88</c:v>
                </c:pt>
                <c:pt idx="6">
                  <c:v>100.8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prévu (%)</c:v>
                </c:pt>
              </c:strCache>
            </c:strRef>
          </c:tx>
          <c:spPr>
            <a:solidFill>
              <a:srgbClr val="5CC8C0"/>
            </a:solidFill>
            <a:ln w="25400" cap="flat">
              <a:solidFill>
                <a:srgbClr val="5CC8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CC8C0"/>
              </a:solidFill>
              <a:ln w="9525" cap="flat">
                <a:solidFill>
                  <a:srgbClr val="5CC8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M15</c:v>
                  </c:pt>
                  <c:pt idx="6">
                    <c:v>M18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5.5</c:v>
                </c:pt>
                <c:pt idx="1">
                  <c:v>16.5</c:v>
                </c:pt>
                <c:pt idx="2">
                  <c:v>33</c:v>
                </c:pt>
                <c:pt idx="3">
                  <c:v>50</c:v>
                </c:pt>
                <c:pt idx="4">
                  <c:v>66</c:v>
                </c:pt>
                <c:pt idx="5">
                  <c:v>83</c:v>
                </c:pt>
                <c:pt idx="6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bubble3D val="0"/>
            <c:spPr>
              <a:solidFill>
                <a:srgbClr val="F39200"/>
              </a:solidFill>
              <a:effectLst/>
            </c:spPr>
          </c:dPt>
          <c:dPt>
            <c:idx val="2"/>
            <c:bubble3D val="0"/>
            <c:spPr>
              <a:solidFill>
                <a:srgbClr val="5CC8C0"/>
              </a:solidFill>
              <a:effectLst/>
            </c:spPr>
          </c:dPt>
          <c:dPt>
            <c:idx val="3"/>
            <c:bubble3D val="0"/>
            <c:spPr>
              <a:solidFill>
                <a:srgbClr val="48B4AC"/>
              </a:solidFill>
              <a:effectLst/>
            </c:spPr>
          </c:dPt>
          <c:dPt>
            <c:idx val="4"/>
            <c:bubble3D val="0"/>
            <c:spPr>
              <a:solidFill>
                <a:srgbClr val="555555"/>
              </a:solidFill>
              <a:effectLst/>
            </c:spPr>
          </c:dPt>
          <c:dPt>
            <c:idx val="5"/>
            <c:bubble3D val="0"/>
            <c:spPr>
              <a:solidFill>
                <a:srgbClr val="0F2B5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Terrassement</c:v>
                </c:pt>
                <c:pt idx="1">
                  <c:v>Corps chaussée</c:v>
                </c:pt>
                <c:pt idx="2">
                  <c:v>Revêtement</c:v>
                </c:pt>
                <c:pt idx="3">
                  <c:v>Ouvrages hydr.</c:v>
                </c:pt>
                <c:pt idx="4">
                  <c:v>Soutènement</c:v>
                </c:pt>
                <c:pt idx="5">
                  <c:v>Bretelles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17.9</c:v>
                </c:pt>
                <c:pt idx="1">
                  <c:v>30.1</c:v>
                </c:pt>
                <c:pt idx="2">
                  <c:v>10.7</c:v>
                </c:pt>
                <c:pt idx="3">
                  <c:v>28.1</c:v>
                </c:pt>
                <c:pt idx="4">
                  <c:v>1.9</c:v>
                </c:pt>
                <c:pt idx="5">
                  <c:v>11.3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2026  |  Académie de Lyon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RAPPORT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D'ACTIVITÉS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PROFESSIONNELLES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2286000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BAHAFID Mohamed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BE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BTS Management Économique de la Construction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N° 02537399911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822960"/>
          </a:xfrm>
          <a:prstGeom prst="rect">
            <a:avLst/>
          </a:prstGeom>
          <a:solidFill>
            <a:srgbClr val="0F2B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1704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 ans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508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Expérience BTP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560320" cy="822960"/>
          </a:xfrm>
          <a:prstGeom prst="rect">
            <a:avLst/>
          </a:prstGeom>
          <a:solidFill>
            <a:srgbClr val="0F2B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1305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 pays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508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Maroc + France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2560320" cy="822960"/>
          </a:xfrm>
          <a:prstGeom prst="rect">
            <a:avLst/>
          </a:prstGeom>
          <a:solidFill>
            <a:srgbClr val="0F2B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3090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Marchés publics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2560320" cy="822960"/>
          </a:xfrm>
          <a:prstGeom prst="rect">
            <a:avLst/>
          </a:prstGeom>
          <a:solidFill>
            <a:srgbClr val="0F2B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4050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+10 M€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Investissements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FICHE D'IDENTITÉ DU CANDIDAT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Candidat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Académie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Lyon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Conseil Régional Béni Mellal-Khénifra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Technicien études et suivi des travaux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Expérience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ans BTP (3 ans Maroc + 5 ans France)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Formation BIM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Modeleur BIM - AFPA Colmar (8 mois)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Activité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BIMCO - Projeteur BIM / Économiste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 PARCOURS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600200"/>
            <a:ext cx="73152" cy="5029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B4A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2017-2022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 publique au Maroc - Technicien études et suivi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2286000"/>
            <a:ext cx="73152" cy="5029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2022-2024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Exécution terrain en France - Chef de chantier GO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2971800"/>
            <a:ext cx="731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BIM Modeleur - AFPA Colmar (8 mois)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3657600"/>
            <a:ext cx="73152" cy="502920"/>
          </a:xfrm>
          <a:prstGeom prst="rect">
            <a:avLst/>
          </a:prstGeom>
          <a:solidFill>
            <a:srgbClr val="002F6C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F6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BIMCO - Bureau BIM + Économie de la construction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2/14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SOMMAIRE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Cadre professionnel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d'accueil, BIMCO, outils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031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1 : Mise à niveau 4 communes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423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53,5 M DH - 8 corps d'état - Situations 1 à 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175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2 : Route Lehri-Kerrouchen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337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M DH - 25 km zone montagneuse - Situation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Bilan et analyse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4251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Synthèse, comparaison Maroc/France, BIM, projet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3/14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926080" y="10972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CADRE PROFESSIONNEL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5603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Conseil Régional de Béni Mellal-Khénifra  |  Mon activité BIMCO  |  Outils &amp; méthodes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CADRE PROFESSIONNEL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CONSEIL RÉGIONAL BMK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914400" cy="36576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avant-projet et estimation confidentielle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des DCE : CPS, RC, BPDE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des offres en Commission AO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financier : situations, décomptes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Visites terrain, attachements contradictoires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provinces  |  2,5 M habitants  |  Maîtrise d'ouvrage publique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 activité indépendante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914400" cy="36576"/>
          </a:xfrm>
          <a:prstGeom prst="rect">
            <a:avLst/>
          </a:prstGeom>
          <a:solidFill>
            <a:srgbClr val="5CC8C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BIM par extraction de maquette numérique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Études de prix ancrées dans les coûts réels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plugins Revit/Dynamo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Automatisation chaîne métré → DPGF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3246120"/>
            <a:ext cx="36576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2644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 &amp; CAO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32644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Revit, Navisworks, Dynamo, AutoCAD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3657600"/>
            <a:ext cx="3657600" cy="36576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675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Développement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36758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C#, React, Node.js, PostgreSQL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4069080"/>
            <a:ext cx="3657600" cy="36576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40873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Gestion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40873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 Project, Excel avancé, IFC, BIM360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5/14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926080" y="10972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1 : MISE À NIVEAU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 4 COMMUNES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5603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53,5 M DH TTC  |  8 corps d'état  |  Province de Khénifra  |  5 situations professionnelles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1 : BUDGET &amp; CORPS D'ÉTAT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2286000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86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44,6 M DH 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soit 4,86 M€ | Lot unique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017520" y="777240"/>
          <a:ext cx="56692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 CORPS D'ÉTAT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54864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N°</a:t>
                      </a:r>
                      <a:endParaRPr lang="en-US" sz="9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Désignation</a:t>
                      </a:r>
                      <a:endParaRPr lang="en-US" sz="9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Exemple de travaux</a:t>
                      </a:r>
                      <a:endParaRPr lang="en-US" sz="9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01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Assainissement &amp; réseaux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Tranchées, buses PEHD, regards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02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Travaux de chaussée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Terrassement, GNF1, GNA, enrobés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03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Aménagement trottoirs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Bordures, béton, carreaux, pavés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04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Signalisation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Marquage, panneaux réglementaires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05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Éclairage public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Tranchées, candélabres (163 U), câbles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06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Murs &amp; ouvrages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Béton armé, maçonnerie, gabions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07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Aménagement paysager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Terre végétale, arrosage, plantation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08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Mobilier urbain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Corbeilles, bancs granite, bornes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7/14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SITUATIONS 1 &amp; 2 : ESTIMATION ET ANALYSE DES OFFRES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39319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S1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Estimation confidentielle - Ouaoumana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3,2%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01168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d'écart avec l'offre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retenue (vs 5-10% habituel)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15,8 M DH HT (35% du budget global), 112 prix, délai 3 semaines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incohérents + mercuriale obsolète (2014, dérive 15-22%)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AutoCAD + 4 visites terrain + croisement 3 sources de prix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Écart de 3,2% - Méthode adoptée pour les 3 autres communes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86868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68680"/>
            <a:ext cx="40233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868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S2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Analyse offres &amp; Commission AO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94/100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49224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entreprise retenue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Zéro recours déposé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24028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entreprises, analyse comparative, rapport d'attribution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78892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erreurs arithmétiques + prix anormalement bas (25-33% sur 42% du montant)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333756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3337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Vérification conformité, correction arithmétique, grille /100 pts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886200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94/100 - Attribution en 15 jours - Zéro recours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8/14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SITUATION 3 : SUIVI FINANCIER - KERROUCHEN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201168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+0,8%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Dépassement final maîtrisé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0" y="777240"/>
          <a:ext cx="59436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29260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9260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Chantier Kerrouchen 7,3 M DH sur 18 mois. Terrain rocheux imprévu en cours de chantier.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Chaussée +12%, murs +15%. Dépassement extrapolé +4,8% (349 000 DH). Seuil d'avenant à 5%.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00600" y="301752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B4A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hebdomadaire (3 indicateurs). Compensation inter-postes : -56 000 DH dégagés.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8B4A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Dépassement ramené à +0,8%. Aucun avenant. Tableau de bord répliqué sur les 3 autres communes.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9/14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SITUATION 4 : COORDINATION DE 4 CHANTIERS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1965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86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 sites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à 80 km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868680"/>
            <a:ext cx="1965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886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 crises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semaine 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1965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86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48h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tout résoudre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868680"/>
            <a:ext cx="1965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886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2,3%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9516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écart bordures (vs 15%)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822960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075688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075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057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Relais unique du Directeur pour 4 chantiers VRD. Interface entre entreprise, BET, laboratoire et hiérarchie régionale. Chaque décision tracée par écrit.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269748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26791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Semaine 23 : retard enrobés Ouaoumana + alerte météo Kerrouchen + litige bordures Sebt Ait Rahou (15% d'écart contesté). Paiement mensuel bloqué.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319272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319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30098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fronts traités en 48h : note factuelle + OS d'arrêt avec photos + re-mesurage contradictoire. Point quotidien 8h avec 4 chefs de chantier. CR consolidé sous 24h.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3941064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9410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392277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Retard rattrapé en 2 semaines. Écart bordures ramené de 15% à 2,3%. Modèle de CR adopté comme standard par l'Agence.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10/14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926080" y="10972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2 : ROUTE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LEHRI-KERROUCHEN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5603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M DH TTC  |  25 km en zone montagneuse  |  Programme National Routes Rurales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2 &amp; SITUATION 5 : CONTRÔLE DES CUBATURES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24,2 M DH HT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0" y="777240"/>
            <a:ext cx="45720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0" y="777240"/>
            <a:ext cx="45720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4251960" y="777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S5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Contrôle cubatures terrassement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5196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120 334 m³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déblais vérifiés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51960" y="1874520"/>
            <a:ext cx="2743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42519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1772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km Moyen Atlas, 120 334 m³ déblais, 76 735 m³ remblais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51960" y="2221992"/>
            <a:ext cx="2743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425196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17720" y="2221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Calcaire fracturé au PK12 : 5 000 m³ reclassés (+285 000 DH)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51960" y="2569464"/>
            <a:ext cx="274320" cy="2743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19" name="Text 16"/>
          <p:cNvSpPr/>
          <p:nvPr/>
        </p:nvSpPr>
        <p:spPr>
          <a:xfrm>
            <a:off x="425196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17720" y="2569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 GPS /500 ml, 3 dalots dimensionnés avec BET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251960" y="2916936"/>
            <a:ext cx="274320" cy="2743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2" name="Text 19"/>
          <p:cNvSpPr/>
          <p:nvPr/>
        </p:nvSpPr>
        <p:spPr>
          <a:xfrm>
            <a:off x="425196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17720" y="29169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Surcoût absorbé par compensation. Réception sans avenant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MÉTRÉS CLÉS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4864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120 334 m³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Déblais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19456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228600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76 735 m³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28600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Remblais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93192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02336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19 989 m³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02336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Couche GNB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66928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76072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794 ml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76072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Buses Ø1000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40664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49808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789 m³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49808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Gabions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12/14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926080" y="10972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BILAN ET ANALYSE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5603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Synthèse des acquis  |  Comparaison Maroc/France  |  Protocole BIM  |  Projet professionnel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BILAN &amp; PROJET PROFESSIONNEL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2697480" cy="21031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69748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TRIPLE COMPÉTENCE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 publique (7 marchés, 100 M DH)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Exécution terrain (chef de chantier GO)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 (Modeleur AFPA, plugins Revit)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Estimations réalistes et ancrées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868680"/>
            <a:ext cx="2697480" cy="21031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868680"/>
            <a:ext cx="269748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005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MAROC vs FRANCE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716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Mêmes fondamentaux de commande publique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CPS/RC/BPDE ↔ CCAP/CCTP/BPU-DQE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Capacité d'adaptation internationale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Double lecture des projets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868680"/>
            <a:ext cx="2697480" cy="21031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868680"/>
            <a:ext cx="269748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005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 &amp; INNOVATION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3716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 BIM LOD 300 / IFC 2x3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 postes extraits, écart 1,8%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clashs détectés en amont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Chaîne métré-DPGF automatisée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PROFESSIONNEL : BIMCO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2697480" cy="100584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84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584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C8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Court terme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BTS MEC + App Gestion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Chantiers livrée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3566160"/>
            <a:ext cx="2697480" cy="100584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584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2027-28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34840" y="3584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C8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Moyen terme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886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Prestations métrés BIM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premiers plugins Revit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3566160"/>
            <a:ext cx="2697480" cy="100584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584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2029+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0" y="3584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C8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Long terme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886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Cabinet BIM + Économie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pour MEC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BIMCO  |  BTS MEC Session 2026  |  Académie de Lyon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U62 - BTS MEC 2026</dc:title>
  <dc:subject>PptxGenJS Presentation</dc:subject>
  <dc:creator>BAHAFID Mohamed</dc:creator>
  <cp:lastModifiedBy>BAHAFID Mohamed</cp:lastModifiedBy>
  <cp:revision>1</cp:revision>
  <dcterms:created xsi:type="dcterms:W3CDTF">2026-03-25T06:17:41Z</dcterms:created>
  <dcterms:modified xsi:type="dcterms:W3CDTF">2026-03-25T06:17:41Z</dcterms:modified>
</cp:coreProperties>
</file>