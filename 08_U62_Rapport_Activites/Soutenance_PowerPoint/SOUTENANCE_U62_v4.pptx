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A7F"/>
              </a:solidFill>
              <a:effectLst/>
            </c:spPr>
          </c:dPt>
          <c:dPt>
            <c:idx val="1"/>
            <c:bubble3D val="0"/>
            <c:spPr>
              <a:solidFill>
                <a:srgbClr val="00A3A8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bubble3D val="0"/>
            <c:spPr>
              <a:solidFill>
                <a:srgbClr val="80CED1"/>
              </a:solidFill>
              <a:effectLst/>
            </c:spPr>
          </c:dPt>
          <c:dPt>
            <c:idx val="4"/>
            <c:bubble3D val="0"/>
            <c:spPr>
              <a:solidFill>
                <a:srgbClr val="B3E4E6"/>
              </a:solidFill>
              <a:effectLst/>
            </c:spPr>
          </c:dPt>
          <c:dPt>
            <c:idx val="5"/>
            <c:bubble3D val="0"/>
            <c:spPr>
              <a:solidFill>
                <a:srgbClr val="E0F4F5"/>
              </a:solidFill>
              <a:effectLst/>
            </c:spPr>
          </c:dPt>
          <c:dPt>
            <c:idx val="6"/>
            <c:bubble3D val="0"/>
            <c:spPr>
              <a:solidFill>
                <a:srgbClr val="2A3D5E"/>
              </a:solidFill>
              <a:effectLst/>
            </c:spPr>
          </c:dPt>
          <c:dPt>
            <c:idx val="7"/>
            <c:bubble3D val="0"/>
            <c:spPr>
              <a:solidFill>
                <a:srgbClr val="F5DEB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C1C1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C1C1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C1C1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C1C1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C1C1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C1C1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C1C1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C1C1C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Assainissement</c:v>
                </c:pt>
                <c:pt idx="1">
                  <c:v>Chaussée</c:v>
                </c:pt>
                <c:pt idx="2">
                  <c:v>Éclairage</c:v>
                </c:pt>
                <c:pt idx="3">
                  <c:v>Trottoirs</c:v>
                </c:pt>
                <c:pt idx="4">
                  <c:v>Murs</c:v>
                </c:pt>
                <c:pt idx="5">
                  <c:v>Signal.</c:v>
                </c:pt>
                <c:pt idx="6">
                  <c:v>Paysager</c:v>
                </c:pt>
                <c:pt idx="7">
                  <c:v>Mobilier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22</c:v>
                </c:pt>
                <c:pt idx="1">
                  <c:v>19</c:v>
                </c:pt>
                <c:pt idx="2">
                  <c:v>16</c:v>
                </c:pt>
                <c:pt idx="3">
                  <c:v>14</c:v>
                </c:pt>
                <c:pt idx="4">
                  <c:v>14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%</c:v>
                </c:pt>
              </c:strCache>
            </c:strRef>
          </c:tx>
          <c:spPr>
            <a:solidFill>
              <a:srgbClr val="007A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Corps chaussée</c:v>
                  </c:pt>
                  <c:pt idx="1">
                    <c:v>Ouv. hydrauliques</c:v>
                  </c:pt>
                  <c:pt idx="2">
                    <c:v>Terrassement</c:v>
                  </c:pt>
                  <c:pt idx="3">
                    <c:v>Bretelles</c:v>
                  </c:pt>
                  <c:pt idx="4">
                    <c:v>Revêtement</c:v>
                  </c:pt>
                  <c:pt idx="5">
                    <c:v>Soutènement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30.1</c:v>
                </c:pt>
                <c:pt idx="1">
                  <c:v>28.1</c:v>
                </c:pt>
                <c:pt idx="2">
                  <c:v>17.9</c:v>
                </c:pt>
                <c:pt idx="3">
                  <c:v>11.3</c:v>
                </c:pt>
                <c:pt idx="4">
                  <c:v>10.7</c:v>
                </c:pt>
                <c:pt idx="5">
                  <c:v>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Bonjour, Mohamed BAHAFID, candidat libre BTS MEC, session 2026, academie de Lyon.</a:t>
            </a:r>
          </a:p>
          <a:p>
            <a:r>
              <a:rPr lang="fr-FR" dirty="0"/>
              <a:t>8 ans dans le BTP - j'ai bosse des deux cotes : 3 ans cote maitrise d'ouvrage au Maroc, puis 5 ans cote execution ici en France.</a:t>
            </a:r>
          </a:p>
          <a:p>
            <a:r>
              <a:rPr lang="fr-FR" dirty="0"/>
              <a:t>C'est cette double casquette qui structure mon rapport.</a:t>
            </a:r>
          </a:p>
          <a:p>
            <a:r>
              <a:rPr lang="fr-FR" dirty="0"/>
              <a:t>Au total, 82,5 millions de dirhams d'investissements, 7 marches publics.</a:t>
            </a:r>
          </a:p>
          <a:p>
            <a:r>
              <a:rPr lang="fr-FR" dirty="0"/>
              <a:t>Aujourd'hui je suis a mon compte avec BIMCO, sur le BIM et l'economie de la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Mon parcours, en gros c'est 4 etapes.</a:t>
            </a:r>
          </a:p>
          <a:p>
            <a:r>
              <a:rPr lang="fr-FR" dirty="0"/>
              <a:t>D'abord le Maroc, 2017-2022 : technicien etudes au Conseil Regional BMK. J'ai touche a 7 marches publics, plus de 100 millions de dirhams.</a:t>
            </a:r>
          </a:p>
          <a:p>
            <a:r>
              <a:rPr lang="fr-FR" dirty="0"/>
              <a:t>Ensuite la France, 2022-2024 : chef d'equipe GO chez Ergalis a Feurs, puis chef de chantier chez Minssieux a Mornant. La c'etait le terrain pur.</a:t>
            </a:r>
          </a:p>
          <a:p>
            <a:r>
              <a:rPr lang="fr-FR" dirty="0"/>
              <a:t>Apres, formation BIM a l'AFPA Colmar pendant 8 mois, titre Modeleur BIM.</a:t>
            </a:r>
          </a:p>
          <a:p>
            <a:r>
              <a:rPr lang="fr-FR" dirty="0"/>
              <a:t>Et maintenant : BIMCO depuis janvier 2026 + candidat libre BTS MEC.</a:t>
            </a:r>
          </a:p>
          <a:p>
            <a:r>
              <a:rPr lang="fr-FR" dirty="0"/>
              <a:t>Ca fait 8 ans BTP, 3 au Maroc + 5 en France.</a:t>
            </a:r>
          </a:p>
          <a:p>
            <a:r>
              <a:rPr lang="fr-FR" dirty="0"/>
              <a:t>(Si question du jury : les 5 ans France = execution 2022-2024 + BIM 2024-2025 + BIMCO depuis 2025)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Conseil Regional BMK, c'est 5 provinces, 2,5 millions d'habitants.</a:t>
            </a:r>
          </a:p>
          <a:p>
            <a:r>
              <a:rPr lang="fr-FR" dirty="0"/>
              <a:t>J'etais rattache a l'Agence d'Execution des Projets, sous M. DOGHMANI.</a:t>
            </a:r>
          </a:p>
          <a:p>
            <a:r>
              <a:rPr lang="fr-FR" dirty="0"/>
              <a:t>Mon poste : technicien etudes et suivi. En clair, je faisais l'estimation confidentielle, la redaction des DCE, et le suivi sur le terrain.</a:t>
            </a:r>
          </a:p>
          <a:p>
            <a:r>
              <a:rPr lang="fr-FR" dirty="0"/>
              <a:t>Les 5 missions sont sur la slide.</a:t>
            </a:r>
          </a:p>
          <a:p>
            <a:r>
              <a:rPr lang="fr-FR" dirty="0"/>
              <a:t>Point important pour le jury : l'estimation confidentielle, c'est obligatoire avant tout appel d'offres - c'est elle qui fixe le prix plafond.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BIMCO, ca part d'un constat simple : les outils BIM sont penses pour les archis, pas pour celui qui doit chiffrer derriere.</a:t>
            </a:r>
          </a:p>
          <a:p>
            <a:r>
              <a:rPr lang="fr-FR" dirty="0"/>
              <a:t>Cree en janvier 2026. L'idee : extraire les metres directement depuis la maquette, faire les etudes de prix, et automatiser toute la chaine metre vers DPGF avec des plugins Revit/Dynamo.</a:t>
            </a:r>
          </a:p>
          <a:p>
            <a:r>
              <a:rPr lang="fr-FR" dirty="0"/>
              <a:t>Le workflow c'est 5 etapes : maquette Revit, export IFC, extraction des quantites, etude de prix, DPGF automatise.</a:t>
            </a:r>
          </a:p>
          <a:p>
            <a:r>
              <a:rPr lang="fr-FR" dirty="0"/>
              <a:t>Ce qui fait la difference c'est la triple competence : MOA + execution + BIM.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Premier projet : mise a niveau de 4 communes dans la province de Khenifra.</a:t>
            </a:r>
          </a:p>
          <a:p>
            <a:r>
              <a:rPr lang="fr-FR" dirty="0"/>
              <a:t>Budget 53,5 millions DH TTC, soit environ 4,8 millions d'euros. 8 corps d'etat, 18 mois de suivi, et les 4 chantiers etaient etales sur 20 a 80 km.</a:t>
            </a:r>
          </a:p>
          <a:p>
            <a:r>
              <a:rPr lang="fr-FR" dirty="0"/>
              <a:t>Assainissement et chaussee a eux seuls c'est 41% du budget.</a:t>
            </a:r>
          </a:p>
          <a:p>
            <a:r>
              <a:rPr lang="fr-FR" dirty="0"/>
              <a:t>Les 4 premieres situations que je vais presenter viennent de ce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Situation 1 - l'estimation confidentielle pour Ouaoumana. 15,8 millions DH, ca representait 35% du budget, et j'avais 3 semaines.</a:t>
            </a:r>
          </a:p>
          <a:p>
            <a:r>
              <a:rPr lang="fr-FR" dirty="0"/>
              <a:t>Le souci c'est que la mercuriale datait de 2014, donc completement decalee - des ecarts de 15 a 22% sur les prix.</a:t>
            </a:r>
          </a:p>
          <a:p>
            <a:r>
              <a:rPr lang="fr-FR" dirty="0"/>
              <a:t>Ce que j'ai fait : j'ai croise 3 sources differentes pour recaler les prix. Resultat, 3,2% d'ecart final contre 5 a 10% en moyenne dans la region.</a:t>
            </a:r>
          </a:p>
          <a:p>
            <a:r>
              <a:rPr lang="fr-FR" dirty="0"/>
              <a:t/>
            </a:r>
          </a:p>
          <a:p>
            <a:r>
              <a:rPr lang="fr-FR" dirty="0"/>
              <a:t>Situation 2 - l'analyse des offres en commission d'AO. 3 entreprises avaient repondu.</a:t>
            </a:r>
          </a:p>
          <a:p>
            <a:r>
              <a:rPr lang="fr-FR" dirty="0"/>
              <a:t>J'ai repere 7 erreurs arithmetiques et des prix anormalement bas sur 42% du montant. J'ai monte une grille sur 100 points, 60 technique et 40 financier, avec justification ecrite pour chaque note.</a:t>
            </a:r>
          </a:p>
          <a:p>
            <a:r>
              <a:rPr lang="fr-FR" dirty="0"/>
              <a:t>Attribution en 15 jours, zero recours.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Situation 3 - le suivi financier a Kerrouchen. 7,3 millions DH sur 18 mois.</a:t>
            </a:r>
          </a:p>
          <a:p>
            <a:r>
              <a:rPr lang="fr-FR" dirty="0"/>
              <a:t>Au bout de quelques mois, la chaussee derivait de +12%, les murs +15%. Mon extrapolation donnait +4,8% - le seuil pour un avenant c'est 5%, donc on y etait presque.</a:t>
            </a:r>
          </a:p>
          <a:p>
            <a:r>
              <a:rPr lang="fr-FR" dirty="0"/>
              <a:t>J'ai mis en place un tableau de bord hebdomadaire avec 3 indicateurs, et j'ai compense en reduisant le paysager et le mobilier, environ 56 000 DH recuperes. Resultat final : +0,8%, pas d'avenant. Le TdB a ete repris sur 3 autres communes.</a:t>
            </a:r>
          </a:p>
          <a:p>
            <a:r>
              <a:rPr lang="fr-FR" dirty="0"/>
              <a:t/>
            </a:r>
          </a:p>
          <a:p>
            <a:r>
              <a:rPr lang="fr-FR" dirty="0"/>
              <a:t>Situation 4 - la semaine 23, la semaine de crise. 3 problemes en 48h.</a:t>
            </a:r>
          </a:p>
          <a:p>
            <a:r>
              <a:rPr lang="fr-FR" dirty="0"/>
              <a:t>Retard sur les enrobes, une alerte meteo, et un litige sur les bordures a 15%.</a:t>
            </a:r>
          </a:p>
          <a:p>
            <a:r>
              <a:rPr lang="fr-FR" dirty="0"/>
              <a:t>J'ai redige une note au Directeur, fait un OS d'arret avec photos, et organise un re-mesurage contradictoire. Le litige est passe de 15% a 2,3%. Mon modele de CR a ete repris comme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Deuxieme projet : la route Lehri-Kerrouchen, 25 km en plein Moyen Atlas.</a:t>
            </a:r>
          </a:p>
          <a:p>
            <a:r>
              <a:rPr lang="fr-FR" dirty="0"/>
              <a:t>29 millions DH dans le cadre du PRR3. Zone montagneuse, 400 m de denivele, pentes a 12%.</a:t>
            </a:r>
          </a:p>
          <a:p>
            <a:r>
              <a:rPr lang="fr-FR" dirty="0"/>
              <a:t>53 prix au bordereau, 120 000 m3 de deblais a verifier.</a:t>
            </a:r>
          </a:p>
          <a:p>
            <a:r>
              <a:rPr lang="fr-FR" dirty="0"/>
              <a:t>A noter : le ratio drainage/chaussee est 2,5 fois plus eleve que sur une route en plaine, ca donne une idee de la complexite.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Au PK 12, on tombe sur du calcaire fracture que la geotechnique n'avait pas detecte.</a:t>
            </a:r>
          </a:p>
          <a:p>
            <a:r>
              <a:rPr lang="fr-FR" dirty="0"/>
              <a:t>5 000 m3 a reclassifier d'un coup. Le prix unitaire passe de 28 a 85 DH/m3, soit un surcout de 285 000 DH - ecart cumule de +8%.</a:t>
            </a:r>
          </a:p>
          <a:p>
            <a:r>
              <a:rPr lang="fr-FR" dirty="0"/>
              <a:t>Pour cadrer ca, j'ai fait des profils en travers tous les 25 m, des releves GPS contradictoires tous les 500 ml, et on a concu 3 dalots en BA avec le BET NOVEC.</a:t>
            </a:r>
          </a:p>
          <a:p>
            <a:r>
              <a:rPr lang="fr-FR" dirty="0"/>
              <a:t>Au final, le surcout a ete 100% absorbe par compensation entre postes. Pas d'avenant, pas de reclamation.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complement, j'ai travaille sur 5 autres marches : routes, pistes, AEP, voirie urbaine - 4 types d'infra differents.</a:t>
            </a:r>
          </a:p>
          <a:p>
            <a:r>
              <a:rPr lang="fr-FR" dirty="0"/>
              <a:t>Cote France : chef d'equipe GO chez Ergalis, puis chef de chantier chez Minssieux.</a:t>
            </a:r>
          </a:p>
          <a:p>
            <a:r>
              <a:rPr lang="fr-FR" dirty="0"/>
              <a:t>Ce que ca m'a apporte concretement, c'est la connaissance des couts reels de production. Quand tu as coule du beton toi-meme, tu chiffres pas 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synthese, 8 sous-competences du BTS MEC mobilisees, toutes en situation reelle.</a:t>
            </a:r>
          </a:p>
          <a:p>
            <a:r>
              <a:rPr lang="fr-FR" dirty="0"/>
              <a:t>Deux sont au niveau Expert : le suivi financier et le controle des quantites.</a:t>
            </a:r>
          </a:p>
          <a:p>
            <a:r>
              <a:rPr lang="fr-FR" dirty="0"/>
              <a:t>Le BIM c'est a 80% - c'est ma competence la plus recente, elle progresse.</a:t>
            </a:r>
          </a:p>
          <a:p>
            <a:r>
              <a:rPr lang="fr-FR" dirty="0"/>
              <a:t>Le detail complet est page 23 du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qui est interessant c'est que les fondamentaux sont les memes dans les deux pays : transparence, egalite de traitement, mise en concurrence.</a:t>
            </a:r>
          </a:p>
          <a:p>
            <a:r>
              <a:rPr lang="fr-FR" dirty="0"/>
              <a:t>Les outils changent de nom - le CPS devient le CCAP, l'estimation confidentielle c'est l'estimation MOA, les attachements deviennent des situations - mais la logique est identique.</a:t>
            </a:r>
          </a:p>
          <a:p>
            <a:r>
              <a:rPr lang="fr-FR" dirty="0"/>
              <a:t>Cote Maroc j'etais MOA : concevoir les marches, rediger, analyser. Cote France j'etais en execution : les couts reels, les rendements.</a:t>
            </a:r>
          </a:p>
          <a:p>
            <a:r>
              <a:rPr lang="fr-FR" dirty="0"/>
              <a:t>C'est la combinaison des deux qui rend mes estimations realistes.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C'est la slide importante - le jury attend du recul ici.</a:t>
            </a:r>
          </a:p>
          <a:p>
            <a:r>
              <a:rPr lang="fr-FR" dirty="0"/>
              <a:t>Meme structure ADM que dans le rapport page 26.</a:t>
            </a:r>
          </a:p>
          <a:p>
            <a:r>
              <a:rPr lang="fr-FR" dirty="0"/>
              <a:t/>
            </a:r>
          </a:p>
          <a:p>
            <a:r>
              <a:rPr lang="fr-FR" dirty="0"/>
              <a:t>Ce que j'ai appris : la semaine 23 m'a montre que l'ecrit systematique - OS, attachements, CR - c'est le seul rempart quand ca derape. Et croiser 3 sources de prix, ca donne 3,2% d'ecart au lieu de 10%.</a:t>
            </a:r>
          </a:p>
          <a:p>
            <a:r>
              <a:rPr lang="fr-FR" dirty="0"/>
              <a:t/>
            </a:r>
          </a:p>
          <a:p>
            <a:r>
              <a:rPr lang="fr-FR" dirty="0"/>
              <a:t>Ce que je ferais differemment : le tableau de bord, je l'aurais mis en place des le premier mois, pas au neuvieme quand la derive etait deja a +4,8%. Pareil pour la geotech complementaire avant les terrassements. Et les CR, les standardiser tout de suite au lieu d'improviser dans l'urgence.</a:t>
            </a:r>
          </a:p>
          <a:p>
            <a:r>
              <a:rPr lang="fr-FR" dirty="0"/>
              <a:t/>
            </a:r>
          </a:p>
          <a:p>
            <a:r>
              <a:rPr lang="fr-FR" dirty="0"/>
              <a:t>Ce que j'en retire : la triple competence MOA + execution + BIM, c'est ce qui a donne naissance a BIMCO. Le BIM permet d'industrialiser la methode qu'on appliquait a la main sur le terrain.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protocole BIM qu'on a fait a l'AFPA : modelisation LOD 300, 78 postes, extraction en 2h au lieu de 2 jours, ecart de 1,8% seulement, 12 clashs detectes.</a:t>
            </a:r>
          </a:p>
          <a:p>
            <a:r>
              <a:rPr lang="fr-FR" dirty="0"/>
              <a:t>Le workflow en 5 etapes : modelisation, export IFC, detection de clashs, extraction, chiffrage.</a:t>
            </a:r>
          </a:p>
          <a:p>
            <a:r>
              <a:rPr lang="fr-FR" dirty="0"/>
              <a:t>Pour la suite : 2026 c'est le BTS + les premieres prestations BIMCO. En 2027-2028, developper le plugin Revit vers DPGF et l'appli web, viser 3 a 5 clients. Et a horizon 2029, monter un vrai cabinet avec du SaaS.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conclure, 4 choses a retenir.</a:t>
            </a:r>
          </a:p>
          <a:p>
            <a:r>
              <a:rPr lang="fr-FR" dirty="0"/>
              <a:t>Les 5 competences du BTS MEC, je les ai toutes pratiquees en situation reelle.</a:t>
            </a:r>
          </a:p>
          <a:p>
            <a:r>
              <a:rPr lang="fr-FR" dirty="0"/>
              <a:t>La double lecture MOA Maroc et execution France, c'est ma valeur ajoutee.</a:t>
            </a:r>
          </a:p>
          <a:p>
            <a:r>
              <a:rPr lang="fr-FR" dirty="0"/>
              <a:t>La rigueur de l'ecrit, c'est le seul vrai rempart contre les litiges - je l'ai vecu.</a:t>
            </a:r>
          </a:p>
          <a:p>
            <a:r>
              <a:rPr lang="fr-FR" dirty="0"/>
              <a:t>Et BIMCO, c'est la suite logique : la rigueur du terrain combinee aux outils numeriques.</a:t>
            </a:r>
          </a:p>
          <a:p>
            <a:r>
              <a:rPr lang="fr-FR" dirty="0"/>
              <a:t>Merci, je suis disponible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2A3D5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2A3D5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548640"/>
            <a:ext cx="45720" cy="237744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d’Activités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Professionnelles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MEC  ·  SESSION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0" y="502920"/>
            <a:ext cx="2377440" cy="868680"/>
          </a:xfrm>
          <a:prstGeom prst="rect">
            <a:avLst>
              <a:gd name="adj" fmla="val 6316"/>
            </a:avLst>
          </a:prstGeom>
          <a:solidFill>
            <a:srgbClr val="2A3D5E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594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03720" y="5760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ans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03720" y="978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BTP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0" y="1527048"/>
            <a:ext cx="2377440" cy="868680"/>
          </a:xfrm>
          <a:prstGeom prst="rect">
            <a:avLst>
              <a:gd name="adj" fmla="val 6316"/>
            </a:avLst>
          </a:prstGeom>
          <a:solidFill>
            <a:srgbClr val="2A3D5E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1600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pays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2002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Maroc + France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0" y="2551176"/>
            <a:ext cx="2377440" cy="868680"/>
          </a:xfrm>
          <a:prstGeom prst="rect">
            <a:avLst>
              <a:gd name="adj" fmla="val 6316"/>
            </a:avLst>
          </a:prstGeom>
          <a:solidFill>
            <a:srgbClr val="2A3D5E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26243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82,5 M DH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03720" y="3026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0" y="3575304"/>
            <a:ext cx="2377440" cy="868680"/>
          </a:xfrm>
          <a:prstGeom prst="rect">
            <a:avLst>
              <a:gd name="adj" fmla="val 6316"/>
            </a:avLst>
          </a:prstGeom>
          <a:solidFill>
            <a:srgbClr val="2A3D5E"/>
          </a:solidFill>
          <a:ln w="10160">
            <a:solidFill>
              <a:srgbClr val="007A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3648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marchés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3720" y="4050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4206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02537399911  ·  Académie de Lyon  ·  BIMCO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960120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2/15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SUIS-JE 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profil construit en trois phases : MOA publique, exécution terrain, BIM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397764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07008"/>
            <a:ext cx="397764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3716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3716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BAHAFID Mohamed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22960" y="1682496"/>
            <a:ext cx="3200400" cy="365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72364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72364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Candidat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02537399911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22960" y="2034540"/>
            <a:ext cx="3200400" cy="365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0756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075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Académie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Lyon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22960" y="2386584"/>
            <a:ext cx="3200400" cy="365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42773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4277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Conseil Régional BMK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22960" y="2738628"/>
            <a:ext cx="3200400" cy="365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277977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277977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Technicien études et suivi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22960" y="3090672"/>
            <a:ext cx="3200400" cy="365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1318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1318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 ans (3 Maroc + 5 France)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22960" y="3442716"/>
            <a:ext cx="3200400" cy="365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34838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48386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BIM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Modeleur BIM – AFPA (8 mois)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22960" y="3794760"/>
            <a:ext cx="3200400" cy="365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38359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8359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BIMCO – Projeteur BIM / éco.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22960" y="4146804"/>
            <a:ext cx="3200400" cy="365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418795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41879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999 580 053 / 7112B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1207008"/>
            <a:ext cx="416052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1207008"/>
            <a:ext cx="4160520" cy="41148"/>
          </a:xfrm>
          <a:prstGeom prst="rect">
            <a:avLst>
              <a:gd name="adj" fmla="val 44444"/>
            </a:avLst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1325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65192" y="1755648"/>
            <a:ext cx="22860" cy="2697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1755648"/>
            <a:ext cx="274320" cy="27432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🇲🇦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0368" y="1719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2017–2022  </a:t>
            </a:r>
            <a:pPr indent="0" marL="0">
              <a:buNone/>
            </a:pPr>
            <a:r>
              <a:rPr lang="en-US" sz="8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 publique – Maroc (3 ans)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marchés, +100 M DH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2432304"/>
            <a:ext cx="274320" cy="274320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30368" y="23957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  </a:t>
            </a:r>
            <a:pPr indent="0" marL="0">
              <a:buNone/>
            </a:pPr>
            <a:r>
              <a:rPr lang="en-US" sz="8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terrain – France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GO Ergalis + Minssieux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46320" y="310896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30368" y="307238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 </a:t>
            </a:r>
            <a:pPr indent="0" marL="0">
              <a:buNone/>
            </a:pPr>
            <a:r>
              <a:rPr lang="en-US" sz="8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BIM – AFPA Colmar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Modeleur BIM, 78 postes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3785616"/>
            <a:ext cx="274320" cy="2743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30368" y="3749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</a:t>
            </a:r>
            <a:pPr indent="0" marL="0">
              <a:buNone/>
            </a:pPr>
            <a:r>
              <a:rPr lang="en-US" sz="8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BIMCO + BTS MEC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Micro-entreprise + candidat libre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234440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Cadre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3/15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D’ACCUEIL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Régional de Béni Mellal-Khénifra – Agence d’Exécution des Projets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512064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07008"/>
            <a:ext cx="512064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533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Collectivité territoriale  ·  5 provinces  ·  2,5 millions d’habitants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: Technicien études et suivi des travaux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PRINCIPALES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310896" cy="310896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22677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Métrés avant-projet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confidentielle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761488"/>
            <a:ext cx="310896" cy="310896"/>
          </a:xfrm>
          <a:prstGeom prst="ellipse">
            <a:avLst/>
          </a:prstGeom>
          <a:solidFill>
            <a:srgbClr val="005F6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50976" y="27432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DCE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CPS, RC, BPDE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236976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0976" y="32186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offres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712464"/>
            <a:ext cx="310896" cy="3108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0976" y="369417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financier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Mensuel, décomptes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0976" y="416966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terrain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Attachements contradictoires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15000" y="1207008"/>
            <a:ext cx="3063240" cy="3474720"/>
          </a:xfrm>
          <a:prstGeom prst="rect">
            <a:avLst>
              <a:gd name="adj" fmla="val 1791"/>
            </a:avLst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97880" y="13716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CADRE RÉGLEMENTAIRE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80760" y="178308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AO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+ RC + BPDE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22585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d’offres ouvert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80760" y="27340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Confidentielle obligatoire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80760" y="32095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 marocaines, RPS 2000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80760" y="36850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Attachements contradictoires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234440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BIMCO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4/15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BIMCO – MON ACTIVITÉ INDÉPENDANTE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 en janvier 2026 – BIM au service de l’économiste de la construction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457200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07008"/>
            <a:ext cx="457200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258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MISSION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5727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 BIM aux métiers de l’économiste. Métrés par extraction de maquette, études de prix ancrées coûts réels, plugins Revit/Dynamo pour automatiser mètre → DPGF.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84124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78608"/>
            <a:ext cx="8412480" cy="41148"/>
          </a:xfrm>
          <a:prstGeom prst="rect">
            <a:avLst>
              <a:gd name="adj" fmla="val 44444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70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WORKFLOW BIMCO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2971800"/>
            <a:ext cx="329184" cy="32918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978408" y="3136392"/>
            <a:ext cx="1207008" cy="0"/>
          </a:xfrm>
          <a:prstGeom prst="line">
            <a:avLst/>
          </a:prstGeom>
          <a:noFill/>
          <a:ln w="15240">
            <a:solidFill>
              <a:srgbClr val="007A7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40280" y="2971800"/>
            <a:ext cx="329184" cy="32918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03120" y="33375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624328" y="3136392"/>
            <a:ext cx="1207008" cy="0"/>
          </a:xfrm>
          <a:prstGeom prst="line">
            <a:avLst/>
          </a:prstGeom>
          <a:noFill/>
          <a:ln w="15240">
            <a:solidFill>
              <a:srgbClr val="007A7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86200" y="2971800"/>
            <a:ext cx="329184" cy="32918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749040" y="33375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270248" y="3136392"/>
            <a:ext cx="1207008" cy="0"/>
          </a:xfrm>
          <a:prstGeom prst="line">
            <a:avLst/>
          </a:prstGeom>
          <a:noFill/>
          <a:ln w="15240">
            <a:solidFill>
              <a:srgbClr val="007A7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32120" y="2971800"/>
            <a:ext cx="329184" cy="329184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94960" y="33375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Prix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916168" y="3136392"/>
            <a:ext cx="1207008" cy="0"/>
          </a:xfrm>
          <a:prstGeom prst="line">
            <a:avLst/>
          </a:prstGeom>
          <a:noFill/>
          <a:ln w="15240">
            <a:solidFill>
              <a:srgbClr val="007A7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78040" y="2971800"/>
            <a:ext cx="329184" cy="3291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717804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40880" y="33375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DPGF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212080" y="1207008"/>
            <a:ext cx="3566160" cy="1188720"/>
          </a:xfrm>
          <a:prstGeom prst="rect">
            <a:avLst>
              <a:gd name="adj" fmla="val 4615"/>
            </a:avLst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394960" y="1298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POSITIONNEMENT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15727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🇲🇦  MOA publique – vision globale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94960" y="18196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Exécution – réalité chantier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94960" y="20665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BIM – conception ↔ chiffrage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3840480"/>
            <a:ext cx="8412480" cy="7772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840480"/>
            <a:ext cx="8412480" cy="41148"/>
          </a:xfrm>
          <a:prstGeom prst="rect">
            <a:avLst>
              <a:gd name="adj" fmla="val 44444"/>
            </a:avLst>
          </a:prstGeom>
          <a:solidFill>
            <a:srgbClr val="005F63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931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STACK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554480" y="4160520"/>
            <a:ext cx="1078992" cy="274320"/>
          </a:xfrm>
          <a:prstGeom prst="rect">
            <a:avLst>
              <a:gd name="adj" fmla="val 50000"/>
            </a:avLst>
          </a:prstGeom>
          <a:solidFill>
            <a:srgbClr val="E0F4F5"/>
          </a:solidFill>
          <a:ln/>
        </p:spPr>
      </p:sp>
      <p:sp>
        <p:nvSpPr>
          <p:cNvPr id="43" name="Text 41"/>
          <p:cNvSpPr/>
          <p:nvPr/>
        </p:nvSpPr>
        <p:spPr>
          <a:xfrm>
            <a:off x="1554480" y="41605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Revit API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743200" y="4160520"/>
            <a:ext cx="1078992" cy="274320"/>
          </a:xfrm>
          <a:prstGeom prst="rect">
            <a:avLst>
              <a:gd name="adj" fmla="val 50000"/>
            </a:avLst>
          </a:prstGeom>
          <a:solidFill>
            <a:srgbClr val="E0F4F5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0" y="41605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931920" y="4160520"/>
            <a:ext cx="1078992" cy="274320"/>
          </a:xfrm>
          <a:prstGeom prst="rect">
            <a:avLst>
              <a:gd name="adj" fmla="val 50000"/>
            </a:avLst>
          </a:prstGeom>
          <a:solidFill>
            <a:srgbClr val="E0F4F5"/>
          </a:solidFill>
          <a:ln/>
        </p:spPr>
      </p:sp>
      <p:sp>
        <p:nvSpPr>
          <p:cNvPr id="47" name="Text 45"/>
          <p:cNvSpPr/>
          <p:nvPr/>
        </p:nvSpPr>
        <p:spPr>
          <a:xfrm>
            <a:off x="3931920" y="41605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120640" y="4160520"/>
            <a:ext cx="1078992" cy="274320"/>
          </a:xfrm>
          <a:prstGeom prst="rect">
            <a:avLst>
              <a:gd name="adj" fmla="val 50000"/>
            </a:avLst>
          </a:prstGeom>
          <a:solidFill>
            <a:srgbClr val="E0F4F5"/>
          </a:solidFill>
          <a:ln/>
        </p:spPr>
      </p:sp>
      <p:sp>
        <p:nvSpPr>
          <p:cNvPr id="49" name="Text 47"/>
          <p:cNvSpPr/>
          <p:nvPr/>
        </p:nvSpPr>
        <p:spPr>
          <a:xfrm>
            <a:off x="5120640" y="41605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309360" y="4160520"/>
            <a:ext cx="1078992" cy="274320"/>
          </a:xfrm>
          <a:prstGeom prst="rect">
            <a:avLst>
              <a:gd name="adj" fmla="val 50000"/>
            </a:avLst>
          </a:prstGeom>
          <a:solidFill>
            <a:srgbClr val="E0F4F5"/>
          </a:solidFill>
          <a:ln/>
        </p:spPr>
      </p:sp>
      <p:sp>
        <p:nvSpPr>
          <p:cNvPr id="51" name="Text 49"/>
          <p:cNvSpPr/>
          <p:nvPr/>
        </p:nvSpPr>
        <p:spPr>
          <a:xfrm>
            <a:off x="6309360" y="41605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/ BIM360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498080" y="4160520"/>
            <a:ext cx="1078992" cy="274320"/>
          </a:xfrm>
          <a:prstGeom prst="rect">
            <a:avLst>
              <a:gd name="adj" fmla="val 50000"/>
            </a:avLst>
          </a:prstGeom>
          <a:solidFill>
            <a:srgbClr val="E0F4F5"/>
          </a:solidFill>
          <a:ln/>
        </p:spPr>
      </p:sp>
      <p:sp>
        <p:nvSpPr>
          <p:cNvPr id="53" name="Text 51"/>
          <p:cNvSpPr/>
          <p:nvPr/>
        </p:nvSpPr>
        <p:spPr>
          <a:xfrm>
            <a:off x="7498080" y="41605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Node.js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481328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– Projet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5/15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NIVEAU DE 4 COMMUNES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n°38-RBK-2017 – Province de Khénifra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1965960" cy="82296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07008"/>
            <a:ext cx="196596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53,5 M DH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TTC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14600" y="1207008"/>
            <a:ext cx="1965960" cy="82296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207008"/>
            <a:ext cx="1965960" cy="41148"/>
          </a:xfrm>
          <a:prstGeom prst="rect">
            <a:avLst>
              <a:gd name="adj" fmla="val 44444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communes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2608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Khénifra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63440" y="1207008"/>
            <a:ext cx="1965960" cy="82296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207008"/>
            <a:ext cx="1965960" cy="41148"/>
          </a:xfrm>
          <a:prstGeom prst="rect">
            <a:avLst>
              <a:gd name="adj" fmla="val 44444"/>
            </a:avLst>
          </a:prstGeom>
          <a:solidFill>
            <a:srgbClr val="005F63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7492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corps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7492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d’état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12280" y="1207008"/>
            <a:ext cx="1965960" cy="82296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207008"/>
            <a:ext cx="1965960" cy="41148"/>
          </a:xfrm>
          <a:prstGeom prst="rect">
            <a:avLst>
              <a:gd name="adj" fmla="val 44444"/>
            </a:avLst>
          </a:prstGeom>
          <a:solidFill>
            <a:srgbClr val="1A274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mois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suivi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39319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5029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Lot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Désignation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01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Assainissement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22%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02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Chaussée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19%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Trottoirs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14%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04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Signalisation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6%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05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Éclairage public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16%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06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Murs &amp; ouvrages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14%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07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Paysager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5%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08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Mobilier urbain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4%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Chart 0" descr=""/>
          <p:cNvGraphicFramePr/>
          <p:nvPr/>
        </p:nvGraphicFramePr>
        <p:xfrm>
          <a:off x="4663440" y="210312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645920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– Sit. 1 &amp;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6/15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CONFIDENTIELLE &amp; ANALYSE DES OFFRES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C18 – Métrer, estimer, analyser les offres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411480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07008"/>
            <a:ext cx="411480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25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1 – ESTIMATION CONFIDENTIELLE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Ouaoumana – 15,8 M DH HT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3,2%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48640" y="1901952"/>
            <a:ext cx="3749040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192024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plafond avant AO. 35% du budget. Délai 3 semaines.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48640" y="2432304"/>
            <a:ext cx="3749040" cy="457200"/>
          </a:xfrm>
          <a:prstGeom prst="rect">
            <a:avLst>
              <a:gd name="adj" fmla="val 8000"/>
            </a:avLst>
          </a:prstGeom>
          <a:solidFill>
            <a:srgbClr val="FAFAF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45059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Mercuriale 2014 obsolète : prix dérivés de 15 à 22%.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48640" y="2962656"/>
            <a:ext cx="3749040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98094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lignes AutoCAD + 4 visites terrain + 3 sources croisées.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3749040" cy="457200"/>
          </a:xfrm>
          <a:prstGeom prst="rect">
            <a:avLst>
              <a:gd name="adj" fmla="val 8000"/>
            </a:avLst>
          </a:prstGeom>
          <a:solidFill>
            <a:srgbClr val="FAFAF7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51129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3,2% vs 5-10% norme. Méthode adoptée standard.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663440" y="1207008"/>
            <a:ext cx="411480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207008"/>
            <a:ext cx="4114800" cy="41148"/>
          </a:xfrm>
          <a:prstGeom prst="rect">
            <a:avLst>
              <a:gd name="adj" fmla="val 44444"/>
            </a:avLst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325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2 – ANALYSE DES OFFRES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CAO – 3 offres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0664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94/100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4846320" y="1901952"/>
            <a:ext cx="3749040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192024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technique commission. Analyse comparative 3 dossiers.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846320" y="2432304"/>
            <a:ext cx="3749040" cy="457200"/>
          </a:xfrm>
          <a:prstGeom prst="rect">
            <a:avLst>
              <a:gd name="adj" fmla="val 8000"/>
            </a:avLst>
          </a:prstGeom>
          <a:solidFill>
            <a:srgbClr val="FAFAF7"/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245059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erreurs arithmétiques + prix bas anormaux sur 42% du montant.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846320" y="2962656"/>
            <a:ext cx="3749040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298094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100 pts (tech 60 + fin 40). Justification écrite.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846320" y="3493008"/>
            <a:ext cx="3749040" cy="457200"/>
          </a:xfrm>
          <a:prstGeom prst="rect">
            <a:avLst>
              <a:gd name="adj" fmla="val 8000"/>
            </a:avLst>
          </a:prstGeom>
          <a:solidFill>
            <a:srgbClr val="FAFAF7"/>
          </a:solidFill>
          <a:ln/>
        </p:spPr>
      </p:sp>
      <p:sp>
        <p:nvSpPr>
          <p:cNvPr id="40" name="Text 38"/>
          <p:cNvSpPr/>
          <p:nvPr/>
        </p:nvSpPr>
        <p:spPr>
          <a:xfrm>
            <a:off x="486460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351129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15 jours. Zéro recours. Rapport validé sans réserve.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645920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– Sit. 3 &amp;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7/15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FINANCIER &amp; COORDINATION MULTI-SITES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C18 (suivi budget) et C19 (coordonner, communiquer)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411480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07008"/>
            <a:ext cx="411480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25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3 – SUIVI FINANCIER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Kerrouchen – 7,3 M DH – 18 mois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+0,8%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48640" y="1901952"/>
            <a:ext cx="3749040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192024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mensuel complet : situations, quantités, décomptes.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48640" y="2432304"/>
            <a:ext cx="3749040" cy="457200"/>
          </a:xfrm>
          <a:prstGeom prst="rect">
            <a:avLst>
              <a:gd name="adj" fmla="val 8000"/>
            </a:avLst>
          </a:prstGeom>
          <a:solidFill>
            <a:srgbClr val="FAFAF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45059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Chaussée +12%, murs +15%. Dérive +4,8% (seuil avenant = 5%).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48640" y="2962656"/>
            <a:ext cx="3749040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98094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TdB hebdo 3 indicateurs. Compensation paysager −44k + mobilier −12k.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3749040" cy="457200"/>
          </a:xfrm>
          <a:prstGeom prst="rect">
            <a:avLst>
              <a:gd name="adj" fmla="val 8000"/>
            </a:avLst>
          </a:prstGeom>
          <a:solidFill>
            <a:srgbClr val="FAFAF7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51129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final +0,8%. Aucun avenant. TdB adopté 3 communes.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663440" y="1207008"/>
            <a:ext cx="411480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207008"/>
            <a:ext cx="4114800" cy="41148"/>
          </a:xfrm>
          <a:prstGeom prst="rect">
            <a:avLst>
              <a:gd name="adj" fmla="val 44444"/>
            </a:avLst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325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4 – COORDINATION 4 CHANTIERS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de Khénifra – 20 à 80 km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06640" y="1280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48h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4846320" y="1901952"/>
            <a:ext cx="3749040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192024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Relais unique Directeur. Interface entreprise/BET/labo/hiérarchie.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846320" y="2432304"/>
            <a:ext cx="3749040" cy="457200"/>
          </a:xfrm>
          <a:prstGeom prst="rect">
            <a:avLst>
              <a:gd name="adj" fmla="val 8000"/>
            </a:avLst>
          </a:prstGeom>
          <a:solidFill>
            <a:srgbClr val="FAFAF7"/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245059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 : retard enrobés + alerte météo + litige bordures 15%.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846320" y="2962656"/>
            <a:ext cx="3749040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298094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Directeur + OS arrêt photos + re-mesurage contradictoire.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846320" y="3493008"/>
            <a:ext cx="3749040" cy="457200"/>
          </a:xfrm>
          <a:prstGeom prst="rect">
            <a:avLst>
              <a:gd name="adj" fmla="val 8000"/>
            </a:avLst>
          </a:prstGeom>
          <a:solidFill>
            <a:srgbClr val="FAFAF7"/>
          </a:solidFill>
          <a:ln/>
        </p:spPr>
      </p:sp>
      <p:sp>
        <p:nvSpPr>
          <p:cNvPr id="40" name="Text 38"/>
          <p:cNvSpPr/>
          <p:nvPr/>
        </p:nvSpPr>
        <p:spPr>
          <a:xfrm>
            <a:off x="486460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351129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</a:t>
            </a:r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crises résolues. Litige 15% → 2,3%. Modèle CR adopté.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481328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– Projet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8/15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LEHRI-KERROUCHEN – 25 KM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PRR3 – 29 M DH TTC – Zone montagneuse du Moyen Atlas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1965960" cy="82296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07008"/>
            <a:ext cx="196596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M DH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TTC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14600" y="1207008"/>
            <a:ext cx="1965960" cy="82296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207008"/>
            <a:ext cx="1965960" cy="41148"/>
          </a:xfrm>
          <a:prstGeom prst="rect">
            <a:avLst>
              <a:gd name="adj" fmla="val 44444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⛰️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km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2608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montagneuse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63440" y="1207008"/>
            <a:ext cx="1965960" cy="82296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207008"/>
            <a:ext cx="1965960" cy="41148"/>
          </a:xfrm>
          <a:prstGeom prst="rect">
            <a:avLst>
              <a:gd name="adj" fmla="val 44444"/>
            </a:avLst>
          </a:prstGeom>
          <a:solidFill>
            <a:srgbClr val="005F63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7492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120 334 m³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7492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Déblais vérifiés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12280" y="1207008"/>
            <a:ext cx="1965960" cy="82296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207008"/>
            <a:ext cx="1965960" cy="41148"/>
          </a:xfrm>
          <a:prstGeom prst="rect">
            <a:avLst>
              <a:gd name="adj" fmla="val 44444"/>
            </a:avLst>
          </a:prstGeom>
          <a:solidFill>
            <a:srgbClr val="1A274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prix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bordereau</a:t>
            </a:r>
            <a:endParaRPr lang="en-US" sz="7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365760" y="2240280"/>
          <a:ext cx="8412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316736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316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– Sit.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9/15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CONTRÔLE DES CUBATURES DE TERRASSEMENT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C18 – Vérifier les quantités exécutées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4023360" cy="777240"/>
          </a:xfrm>
          <a:prstGeom prst="rect">
            <a:avLst>
              <a:gd name="adj" fmla="val 7059"/>
            </a:avLst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07008"/>
            <a:ext cx="4023360" cy="41148"/>
          </a:xfrm>
          <a:prstGeom prst="rect">
            <a:avLst>
              <a:gd name="adj" fmla="val 44444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1261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1261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cumulé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 et corrigé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207008"/>
            <a:ext cx="4023360" cy="777240"/>
          </a:xfrm>
          <a:prstGeom prst="rect">
            <a:avLst>
              <a:gd name="adj" fmla="val 7059"/>
            </a:avLst>
          </a:prstGeom>
          <a:solidFill>
            <a:srgbClr val="D1FAE5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07008"/>
            <a:ext cx="4023360" cy="41148"/>
          </a:xfrm>
          <a:prstGeom prst="rect">
            <a:avLst>
              <a:gd name="adj" fmla="val 44444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03520" y="1261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285 000 DH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0" y="12618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Surcoût absorbé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avenant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194560"/>
            <a:ext cx="2743200" cy="2468880"/>
          </a:xfrm>
          <a:prstGeom prst="rect">
            <a:avLst>
              <a:gd name="adj" fmla="val 2222"/>
            </a:avLst>
          </a:prstGeom>
          <a:solidFill>
            <a:srgbClr val="FEE2E2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194560"/>
            <a:ext cx="2743200" cy="41148"/>
          </a:xfrm>
          <a:prstGeom prst="rect">
            <a:avLst>
              <a:gd name="adj" fmla="val 44444"/>
            </a:avLst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PROBLÈME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Calcaire fracturé au PK 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2990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5 000 m³ à reclassifier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33741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Coût 28 → 85 DH/m³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7581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Écart cumulé +8%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91840" y="2194560"/>
            <a:ext cx="2743200" cy="2468880"/>
          </a:xfrm>
          <a:prstGeom prst="rect">
            <a:avLst>
              <a:gd name="adj" fmla="val 2222"/>
            </a:avLst>
          </a:prstGeom>
          <a:solidFill>
            <a:srgbClr val="E0F4F5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194560"/>
            <a:ext cx="274320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ACTION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2900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Profils en travers /25 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29000" y="2990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Relevés GPS /500 ml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29000" y="33741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dalots BA avec BET NOVEC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29000" y="37581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Compensation inter-postes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17920" y="2194560"/>
            <a:ext cx="2560320" cy="2468880"/>
          </a:xfrm>
          <a:prstGeom prst="rect">
            <a:avLst>
              <a:gd name="adj" fmla="val 2222"/>
            </a:avLst>
          </a:prstGeom>
          <a:solidFill>
            <a:srgbClr val="D1FAE5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2194560"/>
            <a:ext cx="2560320" cy="41148"/>
          </a:xfrm>
          <a:prstGeom prst="rect">
            <a:avLst>
              <a:gd name="adj" fmla="val 44444"/>
            </a:avLst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2304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RÉSULTAT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550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Surcoût 100% absorbé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5508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Réception sans avenant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55080" y="33741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Traçabilité complète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55080" y="3758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Zéro réclamation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54680" y="3291840"/>
            <a:ext cx="109728" cy="0"/>
          </a:xfrm>
          <a:prstGeom prst="line">
            <a:avLst/>
          </a:prstGeom>
          <a:noFill/>
          <a:ln w="25400">
            <a:solidFill>
              <a:srgbClr val="007A7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080760" y="3291840"/>
            <a:ext cx="109728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316736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316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– Compl.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10/15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ACTIVITÉS COMPLÉMENTAIRES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autres marchés publics + expérience terrain en France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4754880" cy="2560320"/>
          </a:xfrm>
          <a:prstGeom prst="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07008"/>
            <a:ext cx="475488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25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🇲🇦  5 AUTRES MARCHÉS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4389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914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N°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Objet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Montant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27-RBK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Route Sidi Bouabbad → Oued Grou (12 km)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8,2 M DH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28-RBK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Route Ajdir-Ayoun + Piste Lijon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6,5 M DH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30-RBK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AEP El Borj – El Hamam (18 km)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4,8 M DH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39-RBK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Pistes Hartaf – Sebt Ait Rahou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3,1 M DH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F63"/>
                          </a:solidFill>
                        </a:rPr>
                        <a:t>49-RBK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Voirie Amghass – Bouchbel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</a:rPr>
                        <a:t>5,9 M DH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394960" y="1207008"/>
            <a:ext cx="3383280" cy="2560320"/>
          </a:xfrm>
          <a:prstGeom prst="rect">
            <a:avLst>
              <a:gd name="adj" fmla="val 2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94960" y="1207008"/>
            <a:ext cx="3383280" cy="41148"/>
          </a:xfrm>
          <a:prstGeom prst="rect">
            <a:avLst>
              <a:gd name="adj" fmla="val 44444"/>
            </a:avLst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5577840" y="1325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EXPÉRIENCE FRANCE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577840" y="16642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0" y="1645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d’équipe GO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Ergalis BTP – Feurs (Loire)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Banches, armatures, coulage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577840" y="25328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943600" y="2514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chantier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Minssieux &amp; Fils – Mornant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contrôle qualité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3246120"/>
            <a:ext cx="3017520" cy="36576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Apport : coûts réels, rendements, contraintes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5760" y="3977640"/>
            <a:ext cx="8412480" cy="502920"/>
          </a:xfrm>
          <a:prstGeom prst="rect">
            <a:avLst>
              <a:gd name="adj" fmla="val 10909"/>
            </a:avLst>
          </a:prstGeom>
          <a:solidFill>
            <a:srgbClr val="E0F4F5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4 types d’infrastructures : routes  ·  VRD  ·  AEP  ·  voirie urbaine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234440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– Bilan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11/15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DES COMPÉTENCES BTS MEC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mobilisées sur 5 situations professionnelles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530352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07008"/>
            <a:ext cx="530352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25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NIVEAUX DE COMPÉTENCE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70078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Métrés TCA (112 prix, 4 communes)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11880" y="1700784"/>
            <a:ext cx="411480" cy="155448"/>
          </a:xfrm>
          <a:prstGeom prst="rect">
            <a:avLst>
              <a:gd name="adj" fmla="val 47059"/>
            </a:avLst>
          </a:prstGeom>
          <a:solidFill>
            <a:srgbClr val="E0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700784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Sit.1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4114800" y="1719072"/>
            <a:ext cx="1280160" cy="109728"/>
          </a:xfrm>
          <a:prstGeom prst="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0" y="1719072"/>
            <a:ext cx="1152144" cy="109728"/>
          </a:xfrm>
          <a:prstGeom prst="rect">
            <a:avLst>
              <a:gd name="adj" fmla="val 50000"/>
            </a:avLst>
          </a:prstGeom>
          <a:solidFill>
            <a:srgbClr val="007A7F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6824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48640" y="20574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en AO (15,8 M DH, 3 sources)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11880" y="2057400"/>
            <a:ext cx="411480" cy="155448"/>
          </a:xfrm>
          <a:prstGeom prst="rect">
            <a:avLst>
              <a:gd name="adj" fmla="val 47059"/>
            </a:avLst>
          </a:prstGeom>
          <a:solidFill>
            <a:srgbClr val="E0F4F5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205740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Sit.1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4114800" y="2075688"/>
            <a:ext cx="1280160" cy="109728"/>
          </a:xfrm>
          <a:prstGeom prst="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0" y="2075688"/>
            <a:ext cx="1152144" cy="109728"/>
          </a:xfrm>
          <a:prstGeom prst="rect">
            <a:avLst>
              <a:gd name="adj" fmla="val 50000"/>
            </a:avLst>
          </a:prstGeom>
          <a:solidFill>
            <a:srgbClr val="007A7F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20391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48640" y="24140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offres (grille /100)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11880" y="2414016"/>
            <a:ext cx="411480" cy="155448"/>
          </a:xfrm>
          <a:prstGeom prst="rect">
            <a:avLst>
              <a:gd name="adj" fmla="val 47059"/>
            </a:avLst>
          </a:prstGeom>
          <a:solidFill>
            <a:srgbClr val="E0F4F5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2414016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Sit.2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4114800" y="2432304"/>
            <a:ext cx="1280160" cy="109728"/>
          </a:xfrm>
          <a:prstGeom prst="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0" y="2432304"/>
            <a:ext cx="1088136" cy="109728"/>
          </a:xfrm>
          <a:prstGeom prst="rect">
            <a:avLst>
              <a:gd name="adj" fmla="val 50000"/>
            </a:avLst>
          </a:prstGeom>
          <a:solidFill>
            <a:srgbClr val="007A7F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23957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48640" y="27706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financier (TdB hebdo)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611880" y="2770632"/>
            <a:ext cx="411480" cy="155448"/>
          </a:xfrm>
          <a:prstGeom prst="rect">
            <a:avLst>
              <a:gd name="adj" fmla="val 47059"/>
            </a:avLst>
          </a:prstGeom>
          <a:solidFill>
            <a:srgbClr val="E0F4F5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2770632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Sit.3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4114800" y="2788920"/>
            <a:ext cx="1280160" cy="109728"/>
          </a:xfrm>
          <a:prstGeom prst="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33" name="Shape 31"/>
          <p:cNvSpPr/>
          <p:nvPr/>
        </p:nvSpPr>
        <p:spPr>
          <a:xfrm>
            <a:off x="4114800" y="2788920"/>
            <a:ext cx="1216152" cy="109728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27523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★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48640" y="3127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quantités (GPS)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11880" y="3127248"/>
            <a:ext cx="411480" cy="155448"/>
          </a:xfrm>
          <a:prstGeom prst="rect">
            <a:avLst>
              <a:gd name="adj" fmla="val 47059"/>
            </a:avLst>
          </a:prstGeom>
          <a:solidFill>
            <a:srgbClr val="E0F4F5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312724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Sit.5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4114800" y="3145536"/>
            <a:ext cx="1280160" cy="109728"/>
          </a:xfrm>
          <a:prstGeom prst="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39" name="Shape 37"/>
          <p:cNvSpPr/>
          <p:nvPr/>
        </p:nvSpPr>
        <p:spPr>
          <a:xfrm>
            <a:off x="4114800" y="3145536"/>
            <a:ext cx="1177747" cy="109728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3108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★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548640" y="34838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écrite (OS, CR)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611880" y="3483864"/>
            <a:ext cx="411480" cy="155448"/>
          </a:xfrm>
          <a:prstGeom prst="rect">
            <a:avLst>
              <a:gd name="adj" fmla="val 47059"/>
            </a:avLst>
          </a:prstGeom>
          <a:solidFill>
            <a:srgbClr val="E0F4F5"/>
          </a:solidFill>
          <a:ln/>
        </p:spPr>
      </p:sp>
      <p:sp>
        <p:nvSpPr>
          <p:cNvPr id="43" name="Text 41"/>
          <p:cNvSpPr/>
          <p:nvPr/>
        </p:nvSpPr>
        <p:spPr>
          <a:xfrm>
            <a:off x="3611880" y="3483864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Sit.4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4114800" y="3502152"/>
            <a:ext cx="1280160" cy="109728"/>
          </a:xfrm>
          <a:prstGeom prst="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45" name="Shape 43"/>
          <p:cNvSpPr/>
          <p:nvPr/>
        </p:nvSpPr>
        <p:spPr>
          <a:xfrm>
            <a:off x="4114800" y="3502152"/>
            <a:ext cx="1126541" cy="109728"/>
          </a:xfrm>
          <a:prstGeom prst="rect">
            <a:avLst>
              <a:gd name="adj" fmla="val 50000"/>
            </a:avLst>
          </a:prstGeom>
          <a:solidFill>
            <a:srgbClr val="007A7F"/>
          </a:solidFill>
          <a:ln/>
        </p:spPr>
      </p:sp>
      <p:sp>
        <p:nvSpPr>
          <p:cNvPr id="46" name="Text 44"/>
          <p:cNvSpPr/>
          <p:nvPr/>
        </p:nvSpPr>
        <p:spPr>
          <a:xfrm>
            <a:off x="5440680" y="34655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48640" y="38404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orale (CAO, réunions)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611880" y="3840480"/>
            <a:ext cx="411480" cy="155448"/>
          </a:xfrm>
          <a:prstGeom prst="rect">
            <a:avLst>
              <a:gd name="adj" fmla="val 47059"/>
            </a:avLst>
          </a:prstGeom>
          <a:solidFill>
            <a:srgbClr val="E0F4F5"/>
          </a:solidFill>
          <a:ln/>
        </p:spPr>
      </p:sp>
      <p:sp>
        <p:nvSpPr>
          <p:cNvPr id="49" name="Text 47"/>
          <p:cNvSpPr/>
          <p:nvPr/>
        </p:nvSpPr>
        <p:spPr>
          <a:xfrm>
            <a:off x="3611880" y="38404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Sit.2,4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4114800" y="3858768"/>
            <a:ext cx="1280160" cy="109728"/>
          </a:xfrm>
          <a:prstGeom prst="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51" name="Shape 49"/>
          <p:cNvSpPr/>
          <p:nvPr/>
        </p:nvSpPr>
        <p:spPr>
          <a:xfrm>
            <a:off x="4114800" y="3858768"/>
            <a:ext cx="1088136" cy="109728"/>
          </a:xfrm>
          <a:prstGeom prst="rect">
            <a:avLst>
              <a:gd name="adj" fmla="val 50000"/>
            </a:avLst>
          </a:prstGeom>
          <a:solidFill>
            <a:srgbClr val="007A7F"/>
          </a:solidFill>
          <a:ln/>
        </p:spPr>
      </p:sp>
      <p:sp>
        <p:nvSpPr>
          <p:cNvPr id="52" name="Text 50"/>
          <p:cNvSpPr/>
          <p:nvPr/>
        </p:nvSpPr>
        <p:spPr>
          <a:xfrm>
            <a:off x="5440680" y="38221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548640" y="41970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BIM (IFC, 78 postes)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611880" y="4197096"/>
            <a:ext cx="411480" cy="155448"/>
          </a:xfrm>
          <a:prstGeom prst="rect">
            <a:avLst>
              <a:gd name="adj" fmla="val 47059"/>
            </a:avLst>
          </a:prstGeom>
          <a:solidFill>
            <a:srgbClr val="E0F4F5"/>
          </a:solidFill>
          <a:ln/>
        </p:spPr>
      </p:sp>
      <p:sp>
        <p:nvSpPr>
          <p:cNvPr id="55" name="Text 53"/>
          <p:cNvSpPr/>
          <p:nvPr/>
        </p:nvSpPr>
        <p:spPr>
          <a:xfrm>
            <a:off x="3611880" y="4197096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4114800" y="4215384"/>
            <a:ext cx="1280160" cy="109728"/>
          </a:xfrm>
          <a:prstGeom prst="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57" name="Shape 55"/>
          <p:cNvSpPr/>
          <p:nvPr/>
        </p:nvSpPr>
        <p:spPr>
          <a:xfrm>
            <a:off x="4114800" y="4215384"/>
            <a:ext cx="1024128" cy="109728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58" name="Text 56"/>
          <p:cNvSpPr/>
          <p:nvPr/>
        </p:nvSpPr>
        <p:spPr>
          <a:xfrm>
            <a:off x="5440680" y="4178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943600" y="1207008"/>
            <a:ext cx="2834640" cy="3474720"/>
          </a:xfrm>
          <a:prstGeom prst="rect">
            <a:avLst>
              <a:gd name="adj" fmla="val 1935"/>
            </a:avLst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126480" y="13533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CHIFFRES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126480" y="1737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67665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sous-compétences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mobilisées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126480" y="23957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6766560" y="2441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Expert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(suivi + cubatures)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26480" y="30540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66" name="Text 64"/>
          <p:cNvSpPr/>
          <p:nvPr/>
        </p:nvSpPr>
        <p:spPr>
          <a:xfrm>
            <a:off x="6766560" y="3099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professionnelles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126480" y="371246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6766560" y="37581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pratiquées sous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réelle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399032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– Analyse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12/15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COMPARATIVE MAROC / FRANCE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fondamentaux – deux cadres réglementaires – une seule exigence : la rigueur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2918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🇲🇦  Maroc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🇫🇷  France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📜 Réglementation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Décret n°2-12-349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Code commande publique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📄 Pièces marché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CPS + RC + BPDE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CCAP + CCTP + BPU/DQE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💰 Estimation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Confidentielle obligatoire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Estimation MOA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📏 Normes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Normes marocaines, RPS 2000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DTU, Eurocodes, RE2020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📊 Suivi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Attachements contradictoires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Situations mensuelles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👥 Commission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Commission d’AO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611880"/>
            <a:ext cx="3931920" cy="1005840"/>
          </a:xfrm>
          <a:prstGeom prst="rect">
            <a:avLst>
              <a:gd name="adj" fmla="val 5455"/>
            </a:avLst>
          </a:prstGeom>
          <a:solidFill>
            <a:srgbClr val="E0F4F5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3611880"/>
            <a:ext cx="393192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703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🇲🇦  Côté MOA – Maroc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les marchés, rédiger les pièces, piloter la CAO. 7 marchés, 100 M DH.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46320" y="3611880"/>
            <a:ext cx="3931920" cy="1005840"/>
          </a:xfrm>
          <a:prstGeom prst="rect">
            <a:avLst>
              <a:gd name="adj" fmla="val 5455"/>
            </a:avLst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3611880"/>
            <a:ext cx="3931920" cy="41148"/>
          </a:xfrm>
          <a:prstGeom prst="rect">
            <a:avLst>
              <a:gd name="adj" fmla="val 44444"/>
            </a:avLst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3703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Côté exécution – France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Banches, ferraillage, planning, contrôle qualité. Coûts réels et rendements.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481328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– Réflexif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13/15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RÉFLEXIF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terrain m’a appris – 8 ans de pratique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1005840"/>
          </a:xfrm>
          <a:prstGeom prst="rect">
            <a:avLst>
              <a:gd name="adj" fmla="val 5455"/>
            </a:avLst>
          </a:prstGeom>
          <a:solidFill>
            <a:srgbClr val="E0F4F5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841248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298448"/>
            <a:ext cx="347472" cy="347472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26187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J’AI APPRIS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153619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L’écrit systématique – OS, attachements, CR – est le seul rempart contre les litiges. Croiser 3 sources de prix = écart 3,2% vs 10% norme régionale. Voir le projet depuis le terrain rend les estimations justes.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359152"/>
            <a:ext cx="8412480" cy="1005840"/>
          </a:xfrm>
          <a:prstGeom prst="rect">
            <a:avLst>
              <a:gd name="adj" fmla="val 5455"/>
            </a:avLst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59152"/>
            <a:ext cx="8412480" cy="41148"/>
          </a:xfrm>
          <a:prstGeom prst="rect">
            <a:avLst>
              <a:gd name="adj" fmla="val 44444"/>
            </a:avLst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46888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243230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FERAIS DIFFÉREMMENT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270662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TdB dès le 1er mois, pas au 9ème (+4,8%). Étude géotechnique complémentaire avant terrassements. Standardiser les CR dès le démarrage – pas dans l’urgence de la semaine 23.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529584"/>
            <a:ext cx="8412480" cy="1005840"/>
          </a:xfrm>
          <a:prstGeom prst="rect">
            <a:avLst>
              <a:gd name="adj" fmla="val 5455"/>
            </a:avLst>
          </a:prstGeom>
          <a:solidFill>
            <a:srgbClr val="FAFAF7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29584"/>
            <a:ext cx="8412480" cy="41148"/>
          </a:xfrm>
          <a:prstGeom prst="rect">
            <a:avLst>
              <a:gd name="adj" fmla="val 44444"/>
            </a:avLst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639312"/>
            <a:ext cx="347472" cy="34747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36027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J’APPORTE AU BTS MEC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387705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confidentielle = acte fondateur du marché public. En France, mêmes fondamentaux (DQE/DPGF). Triple compétence MOA + Exécution + BIM = positionnement rare. BIMCO est né de ce parcours.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1069848" cy="301752"/>
          </a:xfrm>
          <a:prstGeom prst="rect">
            <a:avLst>
              <a:gd name="adj" fmla="val 12121"/>
            </a:avLst>
          </a:prstGeom>
          <a:solidFill>
            <a:srgbClr val="E0F4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1069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– BIM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Rapport U62  ·  BTS MEC 2026  ·  14/15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BIM &amp; PERSPECTIVES BIMCO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AFPA Colmar + Projet professionnel 2026–2029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1480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4114800" cy="41148"/>
          </a:xfrm>
          <a:prstGeom prst="rect">
            <a:avLst>
              <a:gd name="adj" fmla="val 44444"/>
            </a:avLst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298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PROTOCOLE BIM – CAS AFPA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1143000" cy="502920"/>
          </a:xfrm>
          <a:prstGeom prst="rect">
            <a:avLst>
              <a:gd name="adj" fmla="val 7273"/>
            </a:avLst>
          </a:prstGeom>
          <a:solidFill>
            <a:srgbClr val="E0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09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1901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28800" y="1600200"/>
            <a:ext cx="1143000" cy="502920"/>
          </a:xfrm>
          <a:prstGeom prst="rect">
            <a:avLst>
              <a:gd name="adj" fmla="val 7273"/>
            </a:avLst>
          </a:prstGeom>
          <a:solidFill>
            <a:srgbClr val="E0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1609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1901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108960" y="1600200"/>
            <a:ext cx="1143000" cy="502920"/>
          </a:xfrm>
          <a:prstGeom prst="rect">
            <a:avLst>
              <a:gd name="adj" fmla="val 7273"/>
            </a:avLst>
          </a:prstGeom>
          <a:solidFill>
            <a:srgbClr val="E0F4F5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0" y="1609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08960" y="19019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58368" y="2331720"/>
            <a:ext cx="18288" cy="2103120"/>
          </a:xfrm>
          <a:prstGeom prst="rect">
            <a:avLst/>
          </a:prstGeom>
          <a:solidFill>
            <a:srgbClr val="E0F4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2322576"/>
            <a:ext cx="256032" cy="256032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3042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Revit (LOD 300)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" y="2743200"/>
            <a:ext cx="256032" cy="256032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27249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IFC 2x3 – MVD Coord. View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0352" y="3163824"/>
            <a:ext cx="256032" cy="256032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1455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clashs Navisworks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0352" y="3584448"/>
            <a:ext cx="256032" cy="256032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❹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3566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Revit + Dynamo (2h vs 2j)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0352" y="4005072"/>
            <a:ext cx="256032" cy="256032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4005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❺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39867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Chiffrage avec traçabilité maquette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1188720"/>
            <a:ext cx="4114800" cy="3474720"/>
          </a:xfrm>
          <a:prstGeom prst="rect">
            <a:avLst>
              <a:gd name="adj" fmla="val 1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188720"/>
            <a:ext cx="4114800" cy="41148"/>
          </a:xfrm>
          <a:prstGeom prst="rect">
            <a:avLst>
              <a:gd name="adj" fmla="val 44444"/>
            </a:avLst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1298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PROJET PROFESSIONNEL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38928" y="1691640"/>
            <a:ext cx="18288" cy="26974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1627632"/>
            <a:ext cx="594360" cy="256032"/>
          </a:xfrm>
          <a:prstGeom prst="rect">
            <a:avLst>
              <a:gd name="adj" fmla="val 50000"/>
            </a:avLst>
          </a:prstGeom>
          <a:solidFill>
            <a:srgbClr val="007A7F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16276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532120" y="1627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1920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MEC + premières prestations BIMCO : métrés BIM, études de prix, DPGF. Premiers plugins Revit/Dynamo.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46320" y="2587752"/>
            <a:ext cx="594360" cy="256032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25877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2027–28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32120" y="2587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2880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Revit → DPGF automatisé. App web suivi économique. Base prix Batiprix. 3–5 clients.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46320" y="3547872"/>
            <a:ext cx="594360" cy="256032"/>
          </a:xfrm>
          <a:prstGeom prst="rect">
            <a:avLst>
              <a:gd name="adj" fmla="val 50000"/>
            </a:avLst>
          </a:prstGeom>
          <a:solidFill>
            <a:srgbClr val="1A2744"/>
          </a:solidFill>
          <a:ln/>
        </p:spPr>
      </p:sp>
      <p:sp>
        <p:nvSpPr>
          <p:cNvPr id="49" name="Text 47"/>
          <p:cNvSpPr/>
          <p:nvPr/>
        </p:nvSpPr>
        <p:spPr>
          <a:xfrm>
            <a:off x="4846320" y="35478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2029+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532120" y="3547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46320" y="3840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ingénierie BIM + éco construction. SaaS MEC. Équipe 3–5 pers. CA 200–300 k€/an.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2A3D5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A3D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BTS MEC U62  ·  Session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45720" cy="1371600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31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0" y="594360"/>
            <a:ext cx="3291840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594360"/>
            <a:ext cx="54864" cy="80467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9" name="Shape 7"/>
          <p:cNvSpPr/>
          <p:nvPr/>
        </p:nvSpPr>
        <p:spPr>
          <a:xfrm>
            <a:off x="5623560" y="704088"/>
            <a:ext cx="292608" cy="292608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10" name="Text 8"/>
          <p:cNvSpPr/>
          <p:nvPr/>
        </p:nvSpPr>
        <p:spPr>
          <a:xfrm>
            <a:off x="5623560" y="704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6858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compétences terrain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Estimer, analyser, suivre, coordonner, contrôler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554480"/>
            <a:ext cx="3291840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554480"/>
            <a:ext cx="54864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5623560" y="1664208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16459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lecture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 Maroc + exécution France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2514600"/>
            <a:ext cx="3291840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2514600"/>
            <a:ext cx="54864" cy="8046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Shape 17"/>
          <p:cNvSpPr/>
          <p:nvPr/>
        </p:nvSpPr>
        <p:spPr>
          <a:xfrm>
            <a:off x="5623560" y="2624328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26060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de l’écrit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attachements, CR – le rempart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3474720"/>
            <a:ext cx="3291840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3474720"/>
            <a:ext cx="54864" cy="804672"/>
          </a:xfrm>
          <a:prstGeom prst="rect">
            <a:avLst/>
          </a:prstGeom>
          <a:solidFill>
            <a:srgbClr val="007A7F"/>
          </a:solidFill>
          <a:ln/>
        </p:spPr>
      </p:sp>
      <p:sp>
        <p:nvSpPr>
          <p:cNvPr id="24" name="Shape 22"/>
          <p:cNvSpPr/>
          <p:nvPr/>
        </p:nvSpPr>
        <p:spPr>
          <a:xfrm>
            <a:off x="5623560" y="3584448"/>
            <a:ext cx="292608" cy="292608"/>
          </a:xfrm>
          <a:prstGeom prst="ellipse">
            <a:avLst/>
          </a:prstGeom>
          <a:solidFill>
            <a:srgbClr val="007A7F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35661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BIMCO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terrain + outils numériques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BAHAFID Mohamed  ·  N° 02537399911  ·  Académie de Lyon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7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BIMCO  |  gestion.bimco-consulting.fr  |  Bussières, Loire 42510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d’Activités Professionnelles – BTS MEC U62 – Session 2026</dc:title>
  <dc:subject>PptxGenJS Presentation</dc:subject>
  <dc:creator>BAHAFID Mohamed</dc:creator>
  <cp:lastModifiedBy>BAHAFID Mohamed</cp:lastModifiedBy>
  <cp:revision>1</cp:revision>
  <dcterms:created xsi:type="dcterms:W3CDTF">2026-03-23T16:32:12Z</dcterms:created>
  <dcterms:modified xsi:type="dcterms:W3CDTF">2026-03-23T16:32:12Z</dcterms:modified>
</cp:coreProperties>
</file>