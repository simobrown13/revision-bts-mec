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Budget</c:v>
                </c:pt>
              </c:strCache>
            </c:strRef>
          </c:tx>
          <c:spPr>
            <a:solidFill>
              <a:schemeClr val="accent1"/>
            </a:solidFill>
            <a:ln w="9525" cap="flat">
              <a:solidFill>
                <a:srgbClr val="F9F9F9"/>
              </a:solidFill>
              <a:prstDash val="solid"/>
              <a:round/>
            </a:ln>
            <a:effectLst/>
          </c:spPr>
          <c:dPt>
            <c:idx val="0"/>
            <c:bubble3D val="0"/>
            <c:spPr>
              <a:solidFill>
                <a:srgbClr val="007A7F"/>
              </a:solidFill>
              <a:effectLst/>
            </c:spPr>
          </c:dPt>
          <c:dPt>
            <c:idx val="1"/>
            <c:bubble3D val="0"/>
            <c:spPr>
              <a:solidFill>
                <a:srgbClr val="00A3A8"/>
              </a:solidFill>
              <a:effectLst/>
            </c:spPr>
          </c:dPt>
          <c:dPt>
            <c:idx val="2"/>
            <c:bubble3D val="0"/>
            <c:spPr>
              <a:solidFill>
                <a:srgbClr val="4DB8BD"/>
              </a:solidFill>
              <a:effectLst/>
            </c:spPr>
          </c:dPt>
          <c:dPt>
            <c:idx val="3"/>
            <c:bubble3D val="0"/>
            <c:spPr>
              <a:solidFill>
                <a:srgbClr val="80CED1"/>
              </a:solidFill>
              <a:effectLst/>
            </c:spPr>
          </c:dPt>
          <c:dPt>
            <c:idx val="4"/>
            <c:bubble3D val="0"/>
            <c:spPr>
              <a:solidFill>
                <a:srgbClr val="B3E4E6"/>
              </a:solidFill>
              <a:effectLst/>
            </c:spPr>
          </c:dPt>
          <c:dPt>
            <c:idx val="5"/>
            <c:bubble3D val="0"/>
            <c:spPr>
              <a:solidFill>
                <a:srgbClr val="E0F4F5"/>
              </a:solidFill>
              <a:effectLst/>
            </c:spPr>
          </c:dPt>
          <c:dPt>
            <c:idx val="6"/>
            <c:bubble3D val="0"/>
            <c:spPr>
              <a:solidFill>
                <a:srgbClr val="D97706"/>
              </a:solidFill>
              <a:effectLst/>
            </c:spPr>
          </c:dPt>
          <c:dPt>
            <c:idx val="7"/>
            <c:bubble3D val="0"/>
            <c:spPr>
              <a:solidFill>
                <a:srgbClr val="F5DEB3"/>
              </a:solidFill>
              <a:effectLst/>
            </c:spPr>
          </c:dPt>
          <c:dLbls>
            <c:dLbl>
              <c:idx val="0"/>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6"/>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7"/>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Sheet1!$A$2:$A$9</c:f>
              <c:strCache>
                <c:ptCount val="8"/>
                <c:pt idx="0">
                  <c:v>Assainissement</c:v>
                </c:pt>
                <c:pt idx="1">
                  <c:v>Chaussée</c:v>
                </c:pt>
                <c:pt idx="2">
                  <c:v>Éclairage</c:v>
                </c:pt>
                <c:pt idx="3">
                  <c:v>Trottoirs</c:v>
                </c:pt>
                <c:pt idx="4">
                  <c:v>Murs</c:v>
                </c:pt>
                <c:pt idx="5">
                  <c:v>Signalisation</c:v>
                </c:pt>
                <c:pt idx="6">
                  <c:v>Paysager</c:v>
                </c:pt>
                <c:pt idx="7">
                  <c:v>Mobilier</c:v>
                </c:pt>
              </c:strCache>
            </c:strRef>
          </c:cat>
          <c:val>
            <c:numRef>
              <c:f>Sheet1!$B$2:$B$9</c:f>
              <c:numCache>
                <c:ptCount val="8"/>
                <c:pt idx="0">
                  <c:v>22</c:v>
                </c:pt>
                <c:pt idx="1">
                  <c:v>19</c:v>
                </c:pt>
                <c:pt idx="2">
                  <c:v>16</c:v>
                </c:pt>
                <c:pt idx="3">
                  <c:v>14</c:v>
                </c:pt>
                <c:pt idx="4">
                  <c:v>14</c:v>
                </c:pt>
                <c:pt idx="5">
                  <c:v>6</c:v>
                </c:pt>
                <c:pt idx="6">
                  <c:v>5</c:v>
                </c:pt>
                <c:pt idx="7">
                  <c:v>4</c:v>
                </c:pt>
              </c:numCache>
            </c:numRef>
          </c:val>
        </c:ser>
        <c:firstSliceAng val="0"/>
      </c:pieChart>
      <c:spPr>
        <a:noFill/>
        <a:ln>
          <a:noFill/>
        </a:ln>
        <a:effectLst/>
      </c:spPr>
    </c:plotArea>
    <c:legend>
      <c:legendPos val="b"/>
      <c:overlay val="0"/>
      <c:txPr>
        <a:bodyPr/>
        <a:lstStyle/>
        <a:p>
          <a:pPr>
            <a:defRPr sz="7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Budget</c:v>
                </c:pt>
              </c:strCache>
            </c:strRef>
          </c:tx>
          <c:spPr>
            <a:solidFill>
              <a:srgbClr val="007A7F"/>
            </a:solidFill>
            <a:effectLst/>
          </c:spPr>
          <c:invertIfNegative val="0"/>
          <c:dLbls>
            <c:numFmt formatCode="#,##0" sourceLinked="0"/>
            <c:txPr>
              <a:bodyPr/>
              <a:lstStyle/>
              <a:p>
                <a:pPr>
                  <a:defRPr b="0" i="0" strike="noStrike" sz="800" u="none">
                    <a:solidFill>
                      <a:srgbClr val="1E1E1E"/>
                    </a:solidFill>
                    <a:latin typeface="Arial"/>
                  </a:defRPr>
                </a:pPr>
              </a:p>
            </c:txPr>
            <c:showLegendKey val="0"/>
            <c:showVal val="1"/>
            <c:showCatName val="0"/>
            <c:showSerName val="0"/>
            <c:showPercent val="0"/>
            <c:showBubbleSize val="0"/>
            <c:showLeaderLines val="0"/>
          </c:dLbls>
          <c:cat>
            <c:multiLvlStrRef>
              <c:f>Sheet1!$A$2:$A$7</c:f>
              <c:multiLvlStrCache>
                <c:ptCount val="6"/>
                <c:lvl>
                  <c:pt idx="0">
                    <c:v>Corps chaussée</c:v>
                  </c:pt>
                  <c:pt idx="1">
                    <c:v>Ouv. hydrauliques</c:v>
                  </c:pt>
                  <c:pt idx="2">
                    <c:v>Terrassement</c:v>
                  </c:pt>
                  <c:pt idx="3">
                    <c:v>Revêtement</c:v>
                  </c:pt>
                  <c:pt idx="4">
                    <c:v>Bretelles</c:v>
                  </c:pt>
                  <c:pt idx="5">
                    <c:v>Soutènement</c:v>
                  </c:pt>
                </c:lvl>
              </c:multiLvlStrCache>
            </c:multiLvlStrRef>
          </c:cat>
          <c:val>
            <c:numRef>
              <c:f>Sheet1!$B$2:$B$7</c:f>
              <c:numCache>
                <c:formatCode>General</c:formatCode>
                <c:ptCount val="6"/>
                <c:pt idx="0">
                  <c:v>30.1</c:v>
                </c:pt>
                <c:pt idx="1">
                  <c:v>28.1</c:v>
                </c:pt>
                <c:pt idx="2">
                  <c:v>17.9</c:v>
                </c:pt>
                <c:pt idx="3">
                  <c:v>10.7</c:v>
                </c:pt>
                <c:pt idx="4">
                  <c:v>11.3</c:v>
                </c:pt>
                <c:pt idx="5">
                  <c:v>1.9</c:v>
                </c:pt>
              </c:numCache>
            </c:numRef>
          </c:val>
        </c:ser>
        <c:dLbls>
          <c:numFmt formatCode="#,##0" sourceLinked="0"/>
          <c:txPr>
            <a:bodyPr/>
            <a:lstStyle/>
            <a:p>
              <a:pPr>
                <a:defRPr b="0" i="0" strike="noStrike" sz="800" u="none">
                  <a:solidFill>
                    <a:srgbClr val="1E1E1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777777"/>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TITRE (1 min)
Bonjour, Mohamed BAHAFID, candidat libre BTS MEC session 2026, académie de Lyon.
En 8 ans dans le BTP, j’ai travaillé des deux côtés de la table : 3 ans côté maîtrise d’ouvrage au Maroc, 5 ans côté exécution en France.
C’est cette double lecture des projets qui structure tout ce rapport.
82,5 millions de dirhams d’investissements gérés, 7 marchés publics.
Aujourd’hui je dirige BIMCO, micro-entreprise spécialisée BIM et économie de la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QUI SUIS-JE ? (1 min 30)
Mon parcours se décompose en 4 phases.
Phase 1 : au Maroc, de 2017 à 2022, technicien études et suivi au Conseil Régional de Béni Mellal. 3 ans d’activité effective sur les marchés publics – 7 marchés pour plus de 100 millions de dirhams.
Phase 2 : en France depuis 2022, chef d’équipe GO chez Ergalis à Feurs puis chef de chantier chez Minssieux à Mornant.
Phase 3 : formation BIM à l’AFPA Colmar en 2024-2025. Titre professionnel Modeleur BIM, 8 mois.
Phase 4 : création de BIMCO en janvier 2026 et candidature BTS MEC en candidat libre.
Au total : 8 ans dans le BTP, 3 ans Maroc + 5 ans France. Chaque phase a enrichi la suivante.
[Si le jury demande : les 5 ans France incluent l’exécution terrain 2022-2024, la formation BIM 2024-2025 et BIMCO 2025-2026]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STRUCTURE D'ACCUEIL (1 min 30)
Le Conseil Régional de Béni Mellal-Khénifra couvre 5 provinces, 2,5 millions d’habitants.
J’étais rattaché à l’Agence d’Exécution des Projets, dirigée par M. DOGHMANI.
Mon poste : technicien études et suivi des travaux. Quand un marché de 53 millions de dirhams devait être lancé, c’est moi qui établissais l’estimation confidentielle, rédigeais le DCE, puis suivais les travaux sur le terrain.
Le cadre réglementaire marocain impose une estimation confidentielle obligatoire avant tout AO. C’est cette pièce qui fixe le prix plafond.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BIMCO (1 min)
BIMCO est né d’un constat : les outils BIM sont faits pour les architectes, pas pour celui qui chiffre.
J’ai créé BIMCO en janvier 2026 pour corriger ce manque.
La mission : extraire les métrés directement de la maquette numérique au lieu de les compter sur plan.
Mon positionnement est rare : triple compétence MOA publique, exécution terrain, et BIM.
Côté technique : Revit API, C#, Dynamo, Python pour les plugins. React et Node.js pour les applications web.
BIMCO est le prolongement direct de 8 ans d’expérience.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PROJET 1 (1 min)
Le Projet 1 : mise à niveau de 4 communes de la province de Khénifra.
53,5 millions de dirhams TTC, soit environ 4,8 millions d’euros. Marché unique couvrant 8 corps d’état, de l’assainissement au mobilier urbain, sur 4 sites distants de 20 à 80 km.
18 mois de suivi.
L’assainissement et la chaussée concentrent 41% du budget à eux seuls.
C’est sur ce projet que se déroulent les 4 premières situations de mon rapport.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SITUATIONS 1 &amp; 2 (2 min)
SITUATION 1 – L’estimation confidentielle d’Ouaoumana.
15,8 millions de dirhams, 35% du budget global. Le problème : la mercuriale de référence datait de 2014. Les prix avaient dérivé de 15 à 22%.
J’ai croisé 3 sources : mercuriale actualisée, 5 marchés similaires, 8 devis fournisseurs.
Résultat : 3,2% d’écart. La norme c’est 5 à 10%.
SITUATION 2 – L’analyse des offres en commission.
3 soumissionnaires. Un dossier avec 7 erreurs arithmétiques. Un autre avec des prix anormalement bas sur 42% du montant.
Grille de notation sur 100 : 60 technique, 40 financier.
Résultat : 94/100, attribution en 15 jours, zéro recours.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SITUATIONS 3 &amp; 4 (2 min 30)
SITUATION 3 – Le suivi financier de Kerrouchen. C’est le cœur de mon rapport.
7,3 M DH sur 18 mois. À mi-parcours, chaussée +12%, murs +15%. Extrapolation : +4,8%. Seuil avenant = 5%.
TdB hebdomadaire à 3 indicateurs. Compensation paysager −44k, mobilier −12k.
Résultat : +0,8% final. Aucun avenant. TdB répliqué sur 3 communes.
SITUATION 4 – La semaine 23. 3 crises simultanées. Retard enrobés, alerte météo, litige bordures 15%.
Traité en 48h. Litige tombé de 15% à 2,3%. CR devenu standard de l’Agence.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PROJET 2 (1 min)
Route Lehri-Kerrouchen. 25 km en zone montagneuse du Moyen Atlas.
29 M DH TTC, programme PRR3. Dénivelé 400 m, pentes à 12% en lacets. 53 prix au bordereau.
Le poste dominant : corps de chaussée à 30%, suivi des ouvrages hydrauliques à 28%. Ce ratio drainage/chaussée dépasse de 2,5x celui d’une route en plaine.
120 334 m³ de déblais à vérifier. C’est l’objet de la situation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SITUATION 5 (1 min 30)
Au PK 12, surprise : calcaire fracturé que l’étude géotechnique n’avait pas détecté.
5 000 m³ à reclassifier en déblais rocheux. Coût 28 → 85 DH/m³. Surcoût 285 000 DH. Écart cumulé +8%.
Réponse : profils en travers /25m, relevés GPS contradictoires /500ml. 3 dalots BA avec NOVEC.
Résultat : surcoût absorbé par compensation. Réception sans avenant.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ACTIVITÉS COMPLÉMENTAIRES (1 min)
5 autres marchés couvrant routes rurales, pistes, AEP et voirie urbaine.
Côté France : chef d’équipe GO chez Ergalis, puis chef de chantier chez Minssieux.
L’apport : comprendre les coûts réels de production. Connaître le chantier de l’intérieur change la façon d’estimer.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SYNTHÈSE DES COMPÉTENCES (1 min)
8 sous-compétences du BTS MEC mobilisées, toutes en situation réelle sous contrainte.
2 au niveau Expert : suivi financier (TdB devenu référence) et contrôle quantités (méthode GPS contradictoire systématisée).
Le reste au niveau Maîtrise – pratique régulière et autonome.
Détail page 23 du rapport.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ANALYSE MAROC / FRANCE (1 min 30)
Les deux systèmes partagent les mêmes principes : transparence, égalité, mise en concurrence.
CPS au Maroc, CCAP en France – les noms changent, la logique est la même.
L’estimation confidentielle au Maroc est obligatoire. En France, même mécanisme avec l’estimation MOA.
La combinaison des deux rend mes estimations réalistes – ni trop basses, ni trop hautes.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BILAN RÉFLEXIF (2 min) – SLIDE IMPORTANTE POUR LE JURY
Structure ADM identique au rapport papier page 26.
A – CE QUE J’AI APPRIS :
La semaine 23 : l’écrit systématique est le seul rempart contre les litiges.
Croiser 3 sources de prix = écart 3,2% vs 10% de norme régionale.
D – CE QUE JE FERAIS DIFFÉREMMENT :
TdB dès le 1er mois. Étude géotech complémentaire. CR standardisés dès le démarrage.
M – CE QUE J’APPORTE AU BTS MEC :
Triple compétence MOA + Exécution + BIM. BIMCO est né de ce parcours.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PROTOCOLE BIM &amp; PERSPECTIVES (1 min 30)
À gauche : protocole BIM pratiqué à l’AFPA Colmar.
Bâtiment R+2, LOD 300. 78 postes extraits en 2h vs 2 jours. Écart 1,8%. 12 clashs résolus.
À droite : projet professionnel sur 3 horizons.
2026 : BTS MEC + début BIMCO.
2027-28 : plugin Revit → DPGF, app web, 3-5 clients.
2029+ : cabinet ingénierie BIM, SaaS, équipe 3-5 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CONCLUSION (1 min)
En synthèse, 4 messages :
1. 5 compétences du BTS MEC pratiquées en situation réelle.
2. Double lecture : MOA publique au Maroc, exécution terrain en France.
3. La rigueur de l’écrit – le seul rempart contre les litiges.
4. BIMCO – la rigueur terrain + les outils numériques.
Je suis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365760" y="457200"/>
            <a:ext cx="36576" cy="2560320"/>
          </a:xfrm>
          <a:prstGeom prst="rect">
            <a:avLst/>
          </a:prstGeom>
          <a:solidFill>
            <a:srgbClr val="007A7F"/>
          </a:solidFill>
          <a:ln/>
        </p:spPr>
      </p:sp>
      <p:sp>
        <p:nvSpPr>
          <p:cNvPr id="3" name="Text 1"/>
          <p:cNvSpPr/>
          <p:nvPr/>
        </p:nvSpPr>
        <p:spPr>
          <a:xfrm>
            <a:off x="548640" y="457200"/>
            <a:ext cx="1828800" cy="320040"/>
          </a:xfrm>
          <a:prstGeom prst="rect">
            <a:avLst/>
          </a:prstGeom>
          <a:noFill/>
          <a:ln/>
        </p:spPr>
        <p:txBody>
          <a:bodyPr wrap="square" lIns="0" tIns="0" rIns="0" bIns="0" rtlCol="0" anchor="ctr"/>
          <a:lstStyle/>
          <a:p>
            <a:pPr indent="0" marL="0">
              <a:buNone/>
            </a:pPr>
            <a:r>
              <a:rPr lang="en-US" sz="1100" spc="800" kern="0" dirty="0">
                <a:solidFill>
                  <a:srgbClr val="007A7F"/>
                </a:solidFill>
                <a:latin typeface="Calibri" pitchFamily="34" charset="0"/>
                <a:ea typeface="Calibri" pitchFamily="34" charset="-122"/>
                <a:cs typeface="Calibri" pitchFamily="34" charset="-120"/>
              </a:rPr>
              <a:t>U62</a:t>
            </a:r>
            <a:endParaRPr lang="en-US" sz="1100" dirty="0"/>
          </a:p>
        </p:txBody>
      </p:sp>
      <p:sp>
        <p:nvSpPr>
          <p:cNvPr id="4" name="Text 2"/>
          <p:cNvSpPr/>
          <p:nvPr/>
        </p:nvSpPr>
        <p:spPr>
          <a:xfrm>
            <a:off x="548640" y="822960"/>
            <a:ext cx="5486400" cy="21945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Rapport</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d’Activités</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Professionnelles</a:t>
            </a:r>
            <a:endParaRPr lang="en-US" sz="3800" dirty="0"/>
          </a:p>
        </p:txBody>
      </p:sp>
      <p:sp>
        <p:nvSpPr>
          <p:cNvPr id="5" name="Text 3"/>
          <p:cNvSpPr/>
          <p:nvPr/>
        </p:nvSpPr>
        <p:spPr>
          <a:xfrm>
            <a:off x="548640" y="3108960"/>
            <a:ext cx="4572000" cy="274320"/>
          </a:xfrm>
          <a:prstGeom prst="rect">
            <a:avLst/>
          </a:prstGeom>
          <a:noFill/>
          <a:ln/>
        </p:spPr>
        <p:txBody>
          <a:bodyPr wrap="square" lIns="0" tIns="0" rIns="0" bIns="0" rtlCol="0" anchor="ctr"/>
          <a:lstStyle/>
          <a:p>
            <a:pPr indent="0" marL="0">
              <a:buNone/>
            </a:pPr>
            <a:r>
              <a:rPr lang="en-US" sz="1000" spc="400" kern="0" dirty="0">
                <a:solidFill>
                  <a:srgbClr val="007A7F"/>
                </a:solidFill>
                <a:latin typeface="Calibri" pitchFamily="34" charset="0"/>
                <a:ea typeface="Calibri" pitchFamily="34" charset="-122"/>
                <a:cs typeface="Calibri" pitchFamily="34" charset="-120"/>
              </a:rPr>
              <a:t>BTS MEC  ·  SESSION 2026</a:t>
            </a:r>
            <a:endParaRPr lang="en-US" sz="1000" dirty="0"/>
          </a:p>
        </p:txBody>
      </p:sp>
      <p:sp>
        <p:nvSpPr>
          <p:cNvPr id="6" name="Shape 4"/>
          <p:cNvSpPr/>
          <p:nvPr/>
        </p:nvSpPr>
        <p:spPr>
          <a:xfrm>
            <a:off x="6492240" y="548640"/>
            <a:ext cx="2286000" cy="822960"/>
          </a:xfrm>
          <a:prstGeom prst="rect">
            <a:avLst>
              <a:gd name="adj" fmla="val 4444"/>
            </a:avLst>
          </a:prstGeom>
          <a:solidFill>
            <a:srgbClr val="2A3A5A"/>
          </a:solidFill>
          <a:ln w="6350">
            <a:solidFill>
              <a:srgbClr val="007A7F"/>
            </a:solidFill>
            <a:prstDash val="solid"/>
          </a:ln>
        </p:spPr>
      </p:sp>
      <p:sp>
        <p:nvSpPr>
          <p:cNvPr id="7" name="Text 5"/>
          <p:cNvSpPr/>
          <p:nvPr/>
        </p:nvSpPr>
        <p:spPr>
          <a:xfrm>
            <a:off x="6583680" y="594360"/>
            <a:ext cx="210312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8 ans</a:t>
            </a:r>
            <a:endParaRPr lang="en-US" sz="2200" dirty="0"/>
          </a:p>
        </p:txBody>
      </p:sp>
      <p:sp>
        <p:nvSpPr>
          <p:cNvPr id="8" name="Text 6"/>
          <p:cNvSpPr/>
          <p:nvPr/>
        </p:nvSpPr>
        <p:spPr>
          <a:xfrm>
            <a:off x="6583680" y="1005840"/>
            <a:ext cx="2103120" cy="274320"/>
          </a:xfrm>
          <a:prstGeom prst="rect">
            <a:avLst/>
          </a:prstGeom>
          <a:noFill/>
          <a:ln/>
        </p:spPr>
        <p:txBody>
          <a:bodyPr wrap="square" lIns="0" tIns="0" rIns="0" bIns="0" rtlCol="0" anchor="ctr"/>
          <a:lstStyle/>
          <a:p>
            <a:pPr algn="ctr" indent="0" marL="0">
              <a:buNone/>
            </a:pPr>
            <a:r>
              <a:rPr lang="en-US" sz="850" dirty="0">
                <a:solidFill>
                  <a:srgbClr val="007A7F"/>
                </a:solidFill>
                <a:latin typeface="Calibri" pitchFamily="34" charset="0"/>
                <a:ea typeface="Calibri" pitchFamily="34" charset="-122"/>
                <a:cs typeface="Calibri" pitchFamily="34" charset="-120"/>
              </a:rPr>
              <a:t>Expérience BTP</a:t>
            </a:r>
            <a:endParaRPr lang="en-US" sz="850" dirty="0"/>
          </a:p>
        </p:txBody>
      </p:sp>
      <p:sp>
        <p:nvSpPr>
          <p:cNvPr id="9" name="Shape 7"/>
          <p:cNvSpPr/>
          <p:nvPr/>
        </p:nvSpPr>
        <p:spPr>
          <a:xfrm>
            <a:off x="6492240" y="1554480"/>
            <a:ext cx="2286000" cy="822960"/>
          </a:xfrm>
          <a:prstGeom prst="rect">
            <a:avLst>
              <a:gd name="adj" fmla="val 4444"/>
            </a:avLst>
          </a:prstGeom>
          <a:solidFill>
            <a:srgbClr val="2A3A5A"/>
          </a:solidFill>
          <a:ln w="6350">
            <a:solidFill>
              <a:srgbClr val="007A7F"/>
            </a:solidFill>
            <a:prstDash val="solid"/>
          </a:ln>
        </p:spPr>
      </p:sp>
      <p:sp>
        <p:nvSpPr>
          <p:cNvPr id="10" name="Text 8"/>
          <p:cNvSpPr/>
          <p:nvPr/>
        </p:nvSpPr>
        <p:spPr>
          <a:xfrm>
            <a:off x="6583680" y="1600200"/>
            <a:ext cx="210312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 pays</a:t>
            </a:r>
            <a:endParaRPr lang="en-US" sz="2200" dirty="0"/>
          </a:p>
        </p:txBody>
      </p:sp>
      <p:sp>
        <p:nvSpPr>
          <p:cNvPr id="11" name="Text 9"/>
          <p:cNvSpPr/>
          <p:nvPr/>
        </p:nvSpPr>
        <p:spPr>
          <a:xfrm>
            <a:off x="6583680" y="2011680"/>
            <a:ext cx="2103120" cy="274320"/>
          </a:xfrm>
          <a:prstGeom prst="rect">
            <a:avLst/>
          </a:prstGeom>
          <a:noFill/>
          <a:ln/>
        </p:spPr>
        <p:txBody>
          <a:bodyPr wrap="square" lIns="0" tIns="0" rIns="0" bIns="0" rtlCol="0" anchor="ctr"/>
          <a:lstStyle/>
          <a:p>
            <a:pPr algn="ctr" indent="0" marL="0">
              <a:buNone/>
            </a:pPr>
            <a:r>
              <a:rPr lang="en-US" sz="850" dirty="0">
                <a:solidFill>
                  <a:srgbClr val="007A7F"/>
                </a:solidFill>
                <a:latin typeface="Calibri" pitchFamily="34" charset="0"/>
                <a:ea typeface="Calibri" pitchFamily="34" charset="-122"/>
                <a:cs typeface="Calibri" pitchFamily="34" charset="-120"/>
              </a:rPr>
              <a:t>Maroc + France</a:t>
            </a:r>
            <a:endParaRPr lang="en-US" sz="850" dirty="0"/>
          </a:p>
        </p:txBody>
      </p:sp>
      <p:sp>
        <p:nvSpPr>
          <p:cNvPr id="12" name="Shape 10"/>
          <p:cNvSpPr/>
          <p:nvPr/>
        </p:nvSpPr>
        <p:spPr>
          <a:xfrm>
            <a:off x="6492240" y="2560320"/>
            <a:ext cx="2286000" cy="822960"/>
          </a:xfrm>
          <a:prstGeom prst="rect">
            <a:avLst>
              <a:gd name="adj" fmla="val 4444"/>
            </a:avLst>
          </a:prstGeom>
          <a:solidFill>
            <a:srgbClr val="2A3A5A"/>
          </a:solidFill>
          <a:ln w="6350">
            <a:solidFill>
              <a:srgbClr val="007A7F"/>
            </a:solidFill>
            <a:prstDash val="solid"/>
          </a:ln>
        </p:spPr>
      </p:sp>
      <p:sp>
        <p:nvSpPr>
          <p:cNvPr id="13" name="Text 11"/>
          <p:cNvSpPr/>
          <p:nvPr/>
        </p:nvSpPr>
        <p:spPr>
          <a:xfrm>
            <a:off x="6583680" y="2606040"/>
            <a:ext cx="210312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82,5 M DH</a:t>
            </a:r>
            <a:endParaRPr lang="en-US" sz="2200" dirty="0"/>
          </a:p>
        </p:txBody>
      </p:sp>
      <p:sp>
        <p:nvSpPr>
          <p:cNvPr id="14" name="Text 12"/>
          <p:cNvSpPr/>
          <p:nvPr/>
        </p:nvSpPr>
        <p:spPr>
          <a:xfrm>
            <a:off x="6583680" y="3017520"/>
            <a:ext cx="2103120" cy="274320"/>
          </a:xfrm>
          <a:prstGeom prst="rect">
            <a:avLst/>
          </a:prstGeom>
          <a:noFill/>
          <a:ln/>
        </p:spPr>
        <p:txBody>
          <a:bodyPr wrap="square" lIns="0" tIns="0" rIns="0" bIns="0" rtlCol="0" anchor="ctr"/>
          <a:lstStyle/>
          <a:p>
            <a:pPr algn="ctr" indent="0" marL="0">
              <a:buNone/>
            </a:pPr>
            <a:r>
              <a:rPr lang="en-US" sz="850" dirty="0">
                <a:solidFill>
                  <a:srgbClr val="007A7F"/>
                </a:solidFill>
                <a:latin typeface="Calibri" pitchFamily="34" charset="0"/>
                <a:ea typeface="Calibri" pitchFamily="34" charset="-122"/>
                <a:cs typeface="Calibri" pitchFamily="34" charset="-120"/>
              </a:rPr>
              <a:t>Investissements gérés</a:t>
            </a:r>
            <a:endParaRPr lang="en-US" sz="850" dirty="0"/>
          </a:p>
        </p:txBody>
      </p:sp>
      <p:sp>
        <p:nvSpPr>
          <p:cNvPr id="15" name="Shape 13"/>
          <p:cNvSpPr/>
          <p:nvPr/>
        </p:nvSpPr>
        <p:spPr>
          <a:xfrm>
            <a:off x="6492240" y="3566160"/>
            <a:ext cx="2286000" cy="822960"/>
          </a:xfrm>
          <a:prstGeom prst="rect">
            <a:avLst>
              <a:gd name="adj" fmla="val 4444"/>
            </a:avLst>
          </a:prstGeom>
          <a:solidFill>
            <a:srgbClr val="2A3A5A"/>
          </a:solidFill>
          <a:ln w="6350">
            <a:solidFill>
              <a:srgbClr val="007A7F"/>
            </a:solidFill>
            <a:prstDash val="solid"/>
          </a:ln>
        </p:spPr>
      </p:sp>
      <p:sp>
        <p:nvSpPr>
          <p:cNvPr id="16" name="Text 14"/>
          <p:cNvSpPr/>
          <p:nvPr/>
        </p:nvSpPr>
        <p:spPr>
          <a:xfrm>
            <a:off x="6583680" y="3611880"/>
            <a:ext cx="210312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7 marchés</a:t>
            </a:r>
            <a:endParaRPr lang="en-US" sz="2200" dirty="0"/>
          </a:p>
        </p:txBody>
      </p:sp>
      <p:sp>
        <p:nvSpPr>
          <p:cNvPr id="17" name="Text 15"/>
          <p:cNvSpPr/>
          <p:nvPr/>
        </p:nvSpPr>
        <p:spPr>
          <a:xfrm>
            <a:off x="6583680" y="4023360"/>
            <a:ext cx="2103120" cy="274320"/>
          </a:xfrm>
          <a:prstGeom prst="rect">
            <a:avLst/>
          </a:prstGeom>
          <a:noFill/>
          <a:ln/>
        </p:spPr>
        <p:txBody>
          <a:bodyPr wrap="square" lIns="0" tIns="0" rIns="0" bIns="0" rtlCol="0" anchor="ctr"/>
          <a:lstStyle/>
          <a:p>
            <a:pPr algn="ctr" indent="0" marL="0">
              <a:buNone/>
            </a:pPr>
            <a:r>
              <a:rPr lang="en-US" sz="850" dirty="0">
                <a:solidFill>
                  <a:srgbClr val="007A7F"/>
                </a:solidFill>
                <a:latin typeface="Calibri" pitchFamily="34" charset="0"/>
                <a:ea typeface="Calibri" pitchFamily="34" charset="-122"/>
                <a:cs typeface="Calibri" pitchFamily="34" charset="-120"/>
              </a:rPr>
              <a:t>publics</a:t>
            </a:r>
            <a:endParaRPr lang="en-US" sz="850" dirty="0"/>
          </a:p>
        </p:txBody>
      </p:sp>
      <p:sp>
        <p:nvSpPr>
          <p:cNvPr id="18" name="Text 16"/>
          <p:cNvSpPr/>
          <p:nvPr/>
        </p:nvSpPr>
        <p:spPr>
          <a:xfrm>
            <a:off x="548640" y="4251960"/>
            <a:ext cx="5486400" cy="640080"/>
          </a:xfrm>
          <a:prstGeom prst="rect">
            <a:avLst/>
          </a:prstGeom>
          <a:noFill/>
          <a:ln/>
        </p:spPr>
        <p:txBody>
          <a:bodyPr wrap="square" lIns="0" tIns="0" rIns="0" bIns="0" rtlCol="0" anchor="ctr"/>
          <a:lstStyle/>
          <a:p>
            <a:pPr indent="0" marL="0">
              <a:buNone/>
            </a:pPr>
            <a:r>
              <a:rPr lang="en-US" sz="1100" b="1" dirty="0">
                <a:solidFill>
                  <a:srgbClr val="007A7F"/>
                </a:solidFill>
                <a:latin typeface="Calibri" pitchFamily="34" charset="0"/>
                <a:ea typeface="Calibri" pitchFamily="34" charset="-122"/>
                <a:cs typeface="Calibri" pitchFamily="34" charset="-120"/>
              </a:rPr>
              <a:t>BAHAFID Mohamed</a:t>
            </a:r>
            <a:endParaRPr lang="en-US" sz="1100" dirty="0"/>
          </a:p>
          <a:p>
            <a:pPr indent="0" marL="0">
              <a:buNone/>
            </a:pPr>
            <a:r>
              <a:rPr lang="en-US" sz="900" dirty="0">
                <a:solidFill>
                  <a:srgbClr val="007A7F"/>
                </a:solidFill>
                <a:latin typeface="Calibri" pitchFamily="34" charset="0"/>
                <a:ea typeface="Calibri" pitchFamily="34" charset="-122"/>
                <a:cs typeface="Calibri" pitchFamily="34" charset="-120"/>
              </a:rPr>
              <a:t>N° 02537399911  ·  Académie de Lyon  ·  BIMCO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A7F"/>
          </a:solidFill>
          <a:ln/>
        </p:spPr>
      </p:sp>
      <p:sp>
        <p:nvSpPr>
          <p:cNvPr id="3" name="Shape 1"/>
          <p:cNvSpPr/>
          <p:nvPr/>
        </p:nvSpPr>
        <p:spPr>
          <a:xfrm>
            <a:off x="365760" y="137160"/>
            <a:ext cx="914400" cy="329184"/>
          </a:xfrm>
          <a:prstGeom prst="rect">
            <a:avLst>
              <a:gd name="adj" fmla="val 11111"/>
            </a:avLst>
          </a:prstGeom>
          <a:solidFill>
            <a:srgbClr val="E0F4F5"/>
          </a:solidFill>
          <a:ln w="7620">
            <a:solidFill>
              <a:srgbClr val="007A7F"/>
            </a:solidFill>
            <a:prstDash val="solid"/>
          </a:ln>
        </p:spPr>
      </p:sp>
      <p:sp>
        <p:nvSpPr>
          <p:cNvPr id="4" name="Text 2"/>
          <p:cNvSpPr/>
          <p:nvPr/>
        </p:nvSpPr>
        <p:spPr>
          <a:xfrm>
            <a:off x="365760" y="137160"/>
            <a:ext cx="914400" cy="329184"/>
          </a:xfrm>
          <a:prstGeom prst="rect">
            <a:avLst/>
          </a:prstGeom>
          <a:noFill/>
          <a:ln/>
        </p:spPr>
        <p:txBody>
          <a:bodyPr wrap="square" lIns="0" tIns="0" rIns="0" bIns="0" rtlCol="0" anchor="ctr"/>
          <a:lstStyle/>
          <a:p>
            <a:pPr algn="ctr" indent="0" marL="0">
              <a:buNone/>
            </a:pPr>
            <a:r>
              <a:rPr lang="en-US" sz="850" b="1" dirty="0">
                <a:solidFill>
                  <a:srgbClr val="007A7F"/>
                </a:solidFill>
                <a:latin typeface="Calibri" pitchFamily="34" charset="0"/>
                <a:ea typeface="Calibri" pitchFamily="34" charset="-122"/>
                <a:cs typeface="Calibri" pitchFamily="34" charset="-120"/>
              </a:rPr>
              <a:t>Profil</a:t>
            </a:r>
            <a:endParaRPr lang="en-US" sz="850" dirty="0"/>
          </a:p>
        </p:txBody>
      </p:sp>
      <p:sp>
        <p:nvSpPr>
          <p:cNvPr id="5" name="Text 3"/>
          <p:cNvSpPr/>
          <p:nvPr/>
        </p:nvSpPr>
        <p:spPr>
          <a:xfrm>
            <a:off x="365760" y="4828032"/>
            <a:ext cx="8412480" cy="228600"/>
          </a:xfrm>
          <a:prstGeom prst="rect">
            <a:avLst/>
          </a:prstGeom>
          <a:noFill/>
          <a:ln/>
        </p:spPr>
        <p:txBody>
          <a:bodyPr wrap="square" rtlCol="0" anchor="ctr"/>
          <a:lstStyle/>
          <a:p>
            <a:pPr algn="r" indent="0" marL="0">
              <a:buNone/>
            </a:pPr>
            <a:r>
              <a:rPr lang="en-US" sz="700" dirty="0">
                <a:solidFill>
                  <a:srgbClr val="777777"/>
                </a:solidFill>
                <a:latin typeface="Calibri" pitchFamily="34" charset="0"/>
                <a:ea typeface="Calibri" pitchFamily="34" charset="-122"/>
                <a:cs typeface="Calibri" pitchFamily="34" charset="-120"/>
              </a:rPr>
              <a:t>BAHAFID Mohamed  ·  Rapport U62  ·  BTS MEC 2026  ·  2/15</a:t>
            </a:r>
            <a:endParaRPr lang="en-US" sz="700" dirty="0"/>
          </a:p>
        </p:txBody>
      </p:sp>
      <p:sp>
        <p:nvSpPr>
          <p:cNvPr id="6" name="Text 4"/>
          <p:cNvSpPr/>
          <p:nvPr/>
        </p:nvSpPr>
        <p:spPr>
          <a:xfrm>
            <a:off x="365760" y="530352"/>
            <a:ext cx="8412480" cy="384048"/>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QUI SUIS-JE ?</a:t>
            </a:r>
            <a:endParaRPr lang="en-US" sz="1800" dirty="0"/>
          </a:p>
        </p:txBody>
      </p:sp>
      <p:sp>
        <p:nvSpPr>
          <p:cNvPr id="7" name="Text 5"/>
          <p:cNvSpPr/>
          <p:nvPr/>
        </p:nvSpPr>
        <p:spPr>
          <a:xfrm>
            <a:off x="365760" y="896112"/>
            <a:ext cx="8412480" cy="256032"/>
          </a:xfrm>
          <a:prstGeom prst="rect">
            <a:avLst/>
          </a:prstGeom>
          <a:noFill/>
          <a:ln/>
        </p:spPr>
        <p:txBody>
          <a:bodyPr wrap="square" lIns="0" tIns="0" rIns="0" bIns="0" rtlCol="0" anchor="ctr"/>
          <a:lstStyle/>
          <a:p>
            <a:pPr indent="0" marL="0">
              <a:buNone/>
            </a:pPr>
            <a:r>
              <a:rPr lang="en-US" sz="950" dirty="0">
                <a:solidFill>
                  <a:srgbClr val="777777"/>
                </a:solidFill>
                <a:latin typeface="Calibri" pitchFamily="34" charset="0"/>
                <a:ea typeface="Calibri" pitchFamily="34" charset="-122"/>
                <a:cs typeface="Calibri" pitchFamily="34" charset="-120"/>
              </a:rPr>
              <a:t>Un profil construit en trois phases : MOA publique, exécution terrain, BIM</a:t>
            </a:r>
            <a:endParaRPr lang="en-US" sz="950" dirty="0"/>
          </a:p>
        </p:txBody>
      </p:sp>
      <p:sp>
        <p:nvSpPr>
          <p:cNvPr id="8" name="Shape 6"/>
          <p:cNvSpPr/>
          <p:nvPr/>
        </p:nvSpPr>
        <p:spPr>
          <a:xfrm>
            <a:off x="365760" y="1280160"/>
            <a:ext cx="3931920" cy="3383280"/>
          </a:xfrm>
          <a:prstGeom prst="rect">
            <a:avLst>
              <a:gd name="adj" fmla="val 1351"/>
            </a:avLst>
          </a:prstGeom>
          <a:solidFill>
            <a:srgbClr val="FFFFFF"/>
          </a:solidFill>
          <a:ln/>
          <a:effectLst>
            <a:outerShdw sx="100000" sy="100000" kx="0" ky="0" algn="bl" rotWithShape="0" blurRad="63500" dist="25400" dir="8100000">
              <a:srgbClr val="000000">
                <a:alpha val="8000"/>
              </a:srgbClr>
            </a:outerShdw>
          </a:effectLst>
        </p:spPr>
      </p:sp>
      <p:sp>
        <p:nvSpPr>
          <p:cNvPr id="9" name="Shape 7"/>
          <p:cNvSpPr/>
          <p:nvPr/>
        </p:nvSpPr>
        <p:spPr>
          <a:xfrm>
            <a:off x="365760" y="1280160"/>
            <a:ext cx="3931920" cy="36576"/>
          </a:xfrm>
          <a:prstGeom prst="rect">
            <a:avLst>
              <a:gd name="adj" fmla="val 50000"/>
            </a:avLst>
          </a:prstGeom>
          <a:solidFill>
            <a:srgbClr val="007A7F"/>
          </a:solidFill>
          <a:ln/>
        </p:spPr>
      </p:sp>
      <p:sp>
        <p:nvSpPr>
          <p:cNvPr id="10" name="Text 8"/>
          <p:cNvSpPr/>
          <p:nvPr/>
        </p:nvSpPr>
        <p:spPr>
          <a:xfrm>
            <a:off x="548640" y="1463040"/>
            <a:ext cx="3566160" cy="301752"/>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Candidat</a:t>
            </a:r>
            <a:pPr indent="0" marL="0">
              <a:buNone/>
            </a:pPr>
            <a:r>
              <a:rPr lang="en-US" sz="800" dirty="0">
                <a:solidFill>
                  <a:srgbClr val="3A3A3A"/>
                </a:solidFill>
                <a:latin typeface="Calibri" pitchFamily="34" charset="0"/>
                <a:ea typeface="Calibri" pitchFamily="34" charset="-122"/>
                <a:cs typeface="Calibri" pitchFamily="34" charset="-120"/>
              </a:rPr>
              <a:t>  BAHAFID Mohamed</a:t>
            </a:r>
            <a:endParaRPr lang="en-US" sz="800" dirty="0"/>
          </a:p>
        </p:txBody>
      </p:sp>
      <p:sp>
        <p:nvSpPr>
          <p:cNvPr id="11" name="Shape 9"/>
          <p:cNvSpPr/>
          <p:nvPr/>
        </p:nvSpPr>
        <p:spPr>
          <a:xfrm>
            <a:off x="548640" y="1755648"/>
            <a:ext cx="3383280" cy="4572"/>
          </a:xfrm>
          <a:prstGeom prst="rect">
            <a:avLst/>
          </a:prstGeom>
          <a:solidFill>
            <a:srgbClr val="EEEEEE"/>
          </a:solidFill>
          <a:ln/>
        </p:spPr>
      </p:sp>
      <p:sp>
        <p:nvSpPr>
          <p:cNvPr id="12" name="Text 10"/>
          <p:cNvSpPr/>
          <p:nvPr/>
        </p:nvSpPr>
        <p:spPr>
          <a:xfrm>
            <a:off x="548640" y="1801368"/>
            <a:ext cx="3566160" cy="301752"/>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N° Candidat</a:t>
            </a:r>
            <a:pPr indent="0" marL="0">
              <a:buNone/>
            </a:pPr>
            <a:r>
              <a:rPr lang="en-US" sz="800" dirty="0">
                <a:solidFill>
                  <a:srgbClr val="3A3A3A"/>
                </a:solidFill>
                <a:latin typeface="Calibri" pitchFamily="34" charset="0"/>
                <a:ea typeface="Calibri" pitchFamily="34" charset="-122"/>
                <a:cs typeface="Calibri" pitchFamily="34" charset="-120"/>
              </a:rPr>
              <a:t>  02537399911</a:t>
            </a:r>
            <a:endParaRPr lang="en-US" sz="800" dirty="0"/>
          </a:p>
        </p:txBody>
      </p:sp>
      <p:sp>
        <p:nvSpPr>
          <p:cNvPr id="13" name="Shape 11"/>
          <p:cNvSpPr/>
          <p:nvPr/>
        </p:nvSpPr>
        <p:spPr>
          <a:xfrm>
            <a:off x="548640" y="2093976"/>
            <a:ext cx="3383280" cy="4572"/>
          </a:xfrm>
          <a:prstGeom prst="rect">
            <a:avLst/>
          </a:prstGeom>
          <a:solidFill>
            <a:srgbClr val="EEEEEE"/>
          </a:solidFill>
          <a:ln/>
        </p:spPr>
      </p:sp>
      <p:sp>
        <p:nvSpPr>
          <p:cNvPr id="14" name="Text 12"/>
          <p:cNvSpPr/>
          <p:nvPr/>
        </p:nvSpPr>
        <p:spPr>
          <a:xfrm>
            <a:off x="548640" y="2139696"/>
            <a:ext cx="3566160" cy="301752"/>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Académie</a:t>
            </a:r>
            <a:pPr indent="0" marL="0">
              <a:buNone/>
            </a:pPr>
            <a:r>
              <a:rPr lang="en-US" sz="800" dirty="0">
                <a:solidFill>
                  <a:srgbClr val="3A3A3A"/>
                </a:solidFill>
                <a:latin typeface="Calibri" pitchFamily="34" charset="0"/>
                <a:ea typeface="Calibri" pitchFamily="34" charset="-122"/>
                <a:cs typeface="Calibri" pitchFamily="34" charset="-120"/>
              </a:rPr>
              <a:t>  Lyon</a:t>
            </a:r>
            <a:endParaRPr lang="en-US" sz="800" dirty="0"/>
          </a:p>
        </p:txBody>
      </p:sp>
      <p:sp>
        <p:nvSpPr>
          <p:cNvPr id="15" name="Shape 13"/>
          <p:cNvSpPr/>
          <p:nvPr/>
        </p:nvSpPr>
        <p:spPr>
          <a:xfrm>
            <a:off x="548640" y="2432304"/>
            <a:ext cx="3383280" cy="4572"/>
          </a:xfrm>
          <a:prstGeom prst="rect">
            <a:avLst/>
          </a:prstGeom>
          <a:solidFill>
            <a:srgbClr val="EEEEEE"/>
          </a:solidFill>
          <a:ln/>
        </p:spPr>
      </p:sp>
      <p:sp>
        <p:nvSpPr>
          <p:cNvPr id="16" name="Text 14"/>
          <p:cNvSpPr/>
          <p:nvPr/>
        </p:nvSpPr>
        <p:spPr>
          <a:xfrm>
            <a:off x="548640" y="2478024"/>
            <a:ext cx="3566160" cy="301752"/>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Structure</a:t>
            </a:r>
            <a:pPr indent="0" marL="0">
              <a:buNone/>
            </a:pPr>
            <a:r>
              <a:rPr lang="en-US" sz="800" dirty="0">
                <a:solidFill>
                  <a:srgbClr val="3A3A3A"/>
                </a:solidFill>
                <a:latin typeface="Calibri" pitchFamily="34" charset="0"/>
                <a:ea typeface="Calibri" pitchFamily="34" charset="-122"/>
                <a:cs typeface="Calibri" pitchFamily="34" charset="-120"/>
              </a:rPr>
              <a:t>  Conseil Régional de Béni Mellal-Khénifra</a:t>
            </a:r>
            <a:endParaRPr lang="en-US" sz="800" dirty="0"/>
          </a:p>
        </p:txBody>
      </p:sp>
      <p:sp>
        <p:nvSpPr>
          <p:cNvPr id="17" name="Shape 15"/>
          <p:cNvSpPr/>
          <p:nvPr/>
        </p:nvSpPr>
        <p:spPr>
          <a:xfrm>
            <a:off x="548640" y="2770632"/>
            <a:ext cx="3383280" cy="4572"/>
          </a:xfrm>
          <a:prstGeom prst="rect">
            <a:avLst/>
          </a:prstGeom>
          <a:solidFill>
            <a:srgbClr val="EEEEEE"/>
          </a:solidFill>
          <a:ln/>
        </p:spPr>
      </p:sp>
      <p:sp>
        <p:nvSpPr>
          <p:cNvPr id="18" name="Text 16"/>
          <p:cNvSpPr/>
          <p:nvPr/>
        </p:nvSpPr>
        <p:spPr>
          <a:xfrm>
            <a:off x="548640" y="2816352"/>
            <a:ext cx="3566160" cy="301752"/>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Poste</a:t>
            </a:r>
            <a:pPr indent="0" marL="0">
              <a:buNone/>
            </a:pPr>
            <a:r>
              <a:rPr lang="en-US" sz="800" dirty="0">
                <a:solidFill>
                  <a:srgbClr val="3A3A3A"/>
                </a:solidFill>
                <a:latin typeface="Calibri" pitchFamily="34" charset="0"/>
                <a:ea typeface="Calibri" pitchFamily="34" charset="-122"/>
                <a:cs typeface="Calibri" pitchFamily="34" charset="-120"/>
              </a:rPr>
              <a:t>  Technicien études et suivi des travaux</a:t>
            </a:r>
            <a:endParaRPr lang="en-US" sz="800" dirty="0"/>
          </a:p>
        </p:txBody>
      </p:sp>
      <p:sp>
        <p:nvSpPr>
          <p:cNvPr id="19" name="Shape 17"/>
          <p:cNvSpPr/>
          <p:nvPr/>
        </p:nvSpPr>
        <p:spPr>
          <a:xfrm>
            <a:off x="548640" y="3108960"/>
            <a:ext cx="3383280" cy="4572"/>
          </a:xfrm>
          <a:prstGeom prst="rect">
            <a:avLst/>
          </a:prstGeom>
          <a:solidFill>
            <a:srgbClr val="EEEEEE"/>
          </a:solidFill>
          <a:ln/>
        </p:spPr>
      </p:sp>
      <p:sp>
        <p:nvSpPr>
          <p:cNvPr id="20" name="Text 18"/>
          <p:cNvSpPr/>
          <p:nvPr/>
        </p:nvSpPr>
        <p:spPr>
          <a:xfrm>
            <a:off x="548640" y="3154680"/>
            <a:ext cx="3566160" cy="301752"/>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Expérience</a:t>
            </a:r>
            <a:pPr indent="0" marL="0">
              <a:buNone/>
            </a:pPr>
            <a:r>
              <a:rPr lang="en-US" sz="800" dirty="0">
                <a:solidFill>
                  <a:srgbClr val="3A3A3A"/>
                </a:solidFill>
                <a:latin typeface="Calibri" pitchFamily="34" charset="0"/>
                <a:ea typeface="Calibri" pitchFamily="34" charset="-122"/>
                <a:cs typeface="Calibri" pitchFamily="34" charset="-120"/>
              </a:rPr>
              <a:t>  8 ans BTP (3 ans Maroc + 5 ans France)</a:t>
            </a:r>
            <a:endParaRPr lang="en-US" sz="800" dirty="0"/>
          </a:p>
        </p:txBody>
      </p:sp>
      <p:sp>
        <p:nvSpPr>
          <p:cNvPr id="21" name="Shape 19"/>
          <p:cNvSpPr/>
          <p:nvPr/>
        </p:nvSpPr>
        <p:spPr>
          <a:xfrm>
            <a:off x="548640" y="3447288"/>
            <a:ext cx="3383280" cy="4572"/>
          </a:xfrm>
          <a:prstGeom prst="rect">
            <a:avLst/>
          </a:prstGeom>
          <a:solidFill>
            <a:srgbClr val="EEEEEE"/>
          </a:solidFill>
          <a:ln/>
        </p:spPr>
      </p:sp>
      <p:sp>
        <p:nvSpPr>
          <p:cNvPr id="22" name="Text 20"/>
          <p:cNvSpPr/>
          <p:nvPr/>
        </p:nvSpPr>
        <p:spPr>
          <a:xfrm>
            <a:off x="548640" y="3493008"/>
            <a:ext cx="3566160" cy="301752"/>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Formation BIM</a:t>
            </a:r>
            <a:pPr indent="0" marL="0">
              <a:buNone/>
            </a:pPr>
            <a:r>
              <a:rPr lang="en-US" sz="800" dirty="0">
                <a:solidFill>
                  <a:srgbClr val="3A3A3A"/>
                </a:solidFill>
                <a:latin typeface="Calibri" pitchFamily="34" charset="0"/>
                <a:ea typeface="Calibri" pitchFamily="34" charset="-122"/>
                <a:cs typeface="Calibri" pitchFamily="34" charset="-120"/>
              </a:rPr>
              <a:t>  Modeleur BIM – AFPA Colmar (8 mois)</a:t>
            </a:r>
            <a:endParaRPr lang="en-US" sz="800" dirty="0"/>
          </a:p>
        </p:txBody>
      </p:sp>
      <p:sp>
        <p:nvSpPr>
          <p:cNvPr id="23" name="Shape 21"/>
          <p:cNvSpPr/>
          <p:nvPr/>
        </p:nvSpPr>
        <p:spPr>
          <a:xfrm>
            <a:off x="548640" y="3785616"/>
            <a:ext cx="3383280" cy="4572"/>
          </a:xfrm>
          <a:prstGeom prst="rect">
            <a:avLst/>
          </a:prstGeom>
          <a:solidFill>
            <a:srgbClr val="EEEEEE"/>
          </a:solidFill>
          <a:ln/>
        </p:spPr>
      </p:sp>
      <p:sp>
        <p:nvSpPr>
          <p:cNvPr id="24" name="Text 22"/>
          <p:cNvSpPr/>
          <p:nvPr/>
        </p:nvSpPr>
        <p:spPr>
          <a:xfrm>
            <a:off x="548640" y="3831336"/>
            <a:ext cx="3566160" cy="301752"/>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Activité actuelle</a:t>
            </a:r>
            <a:pPr indent="0" marL="0">
              <a:buNone/>
            </a:pPr>
            <a:r>
              <a:rPr lang="en-US" sz="800" dirty="0">
                <a:solidFill>
                  <a:srgbClr val="3A3A3A"/>
                </a:solidFill>
                <a:latin typeface="Calibri" pitchFamily="34" charset="0"/>
                <a:ea typeface="Calibri" pitchFamily="34" charset="-122"/>
                <a:cs typeface="Calibri" pitchFamily="34" charset="-120"/>
              </a:rPr>
              <a:t>  BIMCO – Projeteur BIM / économiste</a:t>
            </a:r>
            <a:endParaRPr lang="en-US" sz="800" dirty="0"/>
          </a:p>
        </p:txBody>
      </p:sp>
      <p:sp>
        <p:nvSpPr>
          <p:cNvPr id="25" name="Shape 23"/>
          <p:cNvSpPr/>
          <p:nvPr/>
        </p:nvSpPr>
        <p:spPr>
          <a:xfrm>
            <a:off x="548640" y="4123944"/>
            <a:ext cx="3383280" cy="4572"/>
          </a:xfrm>
          <a:prstGeom prst="rect">
            <a:avLst/>
          </a:prstGeom>
          <a:solidFill>
            <a:srgbClr val="EEEEEE"/>
          </a:solidFill>
          <a:ln/>
        </p:spPr>
      </p:sp>
      <p:sp>
        <p:nvSpPr>
          <p:cNvPr id="26" name="Text 24"/>
          <p:cNvSpPr/>
          <p:nvPr/>
        </p:nvSpPr>
        <p:spPr>
          <a:xfrm>
            <a:off x="548640" y="4169664"/>
            <a:ext cx="3566160" cy="301752"/>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SIREN</a:t>
            </a:r>
            <a:pPr indent="0" marL="0">
              <a:buNone/>
            </a:pPr>
            <a:r>
              <a:rPr lang="en-US" sz="800" dirty="0">
                <a:solidFill>
                  <a:srgbClr val="3A3A3A"/>
                </a:solidFill>
                <a:latin typeface="Calibri" pitchFamily="34" charset="0"/>
                <a:ea typeface="Calibri" pitchFamily="34" charset="-122"/>
                <a:cs typeface="Calibri" pitchFamily="34" charset="-120"/>
              </a:rPr>
              <a:t>  999 580 053 / 7112B</a:t>
            </a:r>
            <a:endParaRPr lang="en-US" sz="800" dirty="0"/>
          </a:p>
        </p:txBody>
      </p:sp>
      <p:sp>
        <p:nvSpPr>
          <p:cNvPr id="27" name="Shape 25"/>
          <p:cNvSpPr/>
          <p:nvPr/>
        </p:nvSpPr>
        <p:spPr>
          <a:xfrm>
            <a:off x="4663440" y="1280160"/>
            <a:ext cx="4114800" cy="3383280"/>
          </a:xfrm>
          <a:prstGeom prst="rect">
            <a:avLst>
              <a:gd name="adj" fmla="val 1351"/>
            </a:avLst>
          </a:prstGeom>
          <a:solidFill>
            <a:srgbClr val="FFFFFF"/>
          </a:solidFill>
          <a:ln/>
          <a:effectLst>
            <a:outerShdw sx="100000" sy="100000" kx="0" ky="0" algn="bl" rotWithShape="0" blurRad="63500" dist="25400" dir="8100000">
              <a:srgbClr val="000000">
                <a:alpha val="8000"/>
              </a:srgbClr>
            </a:outerShdw>
          </a:effectLst>
        </p:spPr>
      </p:sp>
      <p:sp>
        <p:nvSpPr>
          <p:cNvPr id="28" name="Shape 26"/>
          <p:cNvSpPr/>
          <p:nvPr/>
        </p:nvSpPr>
        <p:spPr>
          <a:xfrm>
            <a:off x="4663440" y="1280160"/>
            <a:ext cx="4114800" cy="36576"/>
          </a:xfrm>
          <a:prstGeom prst="rect">
            <a:avLst>
              <a:gd name="adj" fmla="val 50000"/>
            </a:avLst>
          </a:prstGeom>
          <a:solidFill>
            <a:srgbClr val="D97706"/>
          </a:solidFill>
          <a:ln/>
        </p:spPr>
      </p:sp>
      <p:sp>
        <p:nvSpPr>
          <p:cNvPr id="29" name="Text 27"/>
          <p:cNvSpPr/>
          <p:nvPr/>
        </p:nvSpPr>
        <p:spPr>
          <a:xfrm>
            <a:off x="4846320" y="1417320"/>
            <a:ext cx="3749040" cy="256032"/>
          </a:xfrm>
          <a:prstGeom prst="rect">
            <a:avLst/>
          </a:prstGeom>
          <a:noFill/>
          <a:ln/>
        </p:spPr>
        <p:txBody>
          <a:bodyPr wrap="square" lIns="0" tIns="0" rIns="0" bIns="0" rtlCol="0" anchor="ctr"/>
          <a:lstStyle/>
          <a:p>
            <a:pPr indent="0" marL="0">
              <a:buNone/>
            </a:pPr>
            <a:r>
              <a:rPr lang="en-US" sz="900" b="1" spc="200" kern="0" dirty="0">
                <a:solidFill>
                  <a:srgbClr val="D97706"/>
                </a:solidFill>
                <a:latin typeface="Calibri" pitchFamily="34" charset="0"/>
                <a:ea typeface="Calibri" pitchFamily="34" charset="-122"/>
                <a:cs typeface="Calibri" pitchFamily="34" charset="-120"/>
              </a:rPr>
              <a:t>PARCOURS CHRONOLOGIQUE</a:t>
            </a:r>
            <a:endParaRPr lang="en-US" sz="900" dirty="0"/>
          </a:p>
        </p:txBody>
      </p:sp>
      <p:sp>
        <p:nvSpPr>
          <p:cNvPr id="30" name="Shape 28"/>
          <p:cNvSpPr/>
          <p:nvPr/>
        </p:nvSpPr>
        <p:spPr>
          <a:xfrm>
            <a:off x="4974336" y="1828800"/>
            <a:ext cx="18288" cy="2743200"/>
          </a:xfrm>
          <a:prstGeom prst="rect">
            <a:avLst/>
          </a:prstGeom>
          <a:solidFill>
            <a:srgbClr val="DDDDDD"/>
          </a:solidFill>
          <a:ln/>
        </p:spPr>
      </p:sp>
      <p:sp>
        <p:nvSpPr>
          <p:cNvPr id="31" name="Shape 29"/>
          <p:cNvSpPr/>
          <p:nvPr/>
        </p:nvSpPr>
        <p:spPr>
          <a:xfrm>
            <a:off x="4864608" y="1874520"/>
            <a:ext cx="237744" cy="237744"/>
          </a:xfrm>
          <a:prstGeom prst="ellipse">
            <a:avLst/>
          </a:prstGeom>
          <a:solidFill>
            <a:srgbClr val="007A7F"/>
          </a:solidFill>
          <a:ln/>
        </p:spPr>
      </p:sp>
      <p:sp>
        <p:nvSpPr>
          <p:cNvPr id="32" name="Text 30"/>
          <p:cNvSpPr/>
          <p:nvPr/>
        </p:nvSpPr>
        <p:spPr>
          <a:xfrm>
            <a:off x="4864608" y="187452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1</a:t>
            </a:r>
            <a:endParaRPr lang="en-US" sz="1000" dirty="0"/>
          </a:p>
        </p:txBody>
      </p:sp>
      <p:sp>
        <p:nvSpPr>
          <p:cNvPr id="33" name="Text 31"/>
          <p:cNvSpPr/>
          <p:nvPr/>
        </p:nvSpPr>
        <p:spPr>
          <a:xfrm>
            <a:off x="5212080" y="1828800"/>
            <a:ext cx="3383280" cy="621792"/>
          </a:xfrm>
          <a:prstGeom prst="rect">
            <a:avLst/>
          </a:prstGeom>
          <a:noFill/>
          <a:ln/>
        </p:spPr>
        <p:txBody>
          <a:bodyPr wrap="square" lIns="0" tIns="0" rIns="0" bIns="0" rtlCol="0" anchor="ctr"/>
          <a:lstStyle/>
          <a:p>
            <a:pPr indent="0" marL="0">
              <a:buNone/>
            </a:pPr>
            <a:r>
              <a:rPr lang="en-US" sz="850" b="1" dirty="0">
                <a:solidFill>
                  <a:srgbClr val="007A7F"/>
                </a:solidFill>
                <a:latin typeface="Calibri" pitchFamily="34" charset="0"/>
                <a:ea typeface="Calibri" pitchFamily="34" charset="-122"/>
                <a:cs typeface="Calibri" pitchFamily="34" charset="-120"/>
              </a:rPr>
              <a:t>2017–2022  </a:t>
            </a:r>
            <a:pPr indent="0" marL="0">
              <a:buNone/>
            </a:pPr>
            <a:r>
              <a:rPr lang="en-US" sz="850" b="1" dirty="0">
                <a:solidFill>
                  <a:srgbClr val="1E1E1E"/>
                </a:solidFill>
                <a:latin typeface="Calibri" pitchFamily="34" charset="0"/>
                <a:ea typeface="Calibri" pitchFamily="34" charset="-122"/>
                <a:cs typeface="Calibri" pitchFamily="34" charset="-120"/>
              </a:rPr>
              <a:t>MOA publique – Maroc (3 ans)</a:t>
            </a:r>
            <a:endParaRPr lang="en-US" sz="850" dirty="0"/>
          </a:p>
          <a:p>
            <a:pPr indent="0" marL="0">
              <a:buNone/>
            </a:pPr>
            <a:r>
              <a:rPr lang="en-US" sz="750" dirty="0">
                <a:solidFill>
                  <a:srgbClr val="777777"/>
                </a:solidFill>
                <a:latin typeface="Calibri" pitchFamily="34" charset="0"/>
                <a:ea typeface="Calibri" pitchFamily="34" charset="-122"/>
                <a:cs typeface="Calibri" pitchFamily="34" charset="-120"/>
              </a:rPr>
              <a:t>Conseil Régional BMK. 7 marchés, +100 M DH</a:t>
            </a:r>
            <a:endParaRPr lang="en-US" sz="850" dirty="0"/>
          </a:p>
        </p:txBody>
      </p:sp>
      <p:sp>
        <p:nvSpPr>
          <p:cNvPr id="34" name="Shape 32"/>
          <p:cNvSpPr/>
          <p:nvPr/>
        </p:nvSpPr>
        <p:spPr>
          <a:xfrm>
            <a:off x="4864608" y="2587752"/>
            <a:ext cx="237744" cy="237744"/>
          </a:xfrm>
          <a:prstGeom prst="ellipse">
            <a:avLst/>
          </a:prstGeom>
          <a:solidFill>
            <a:srgbClr val="007A7F"/>
          </a:solidFill>
          <a:ln/>
        </p:spPr>
      </p:sp>
      <p:sp>
        <p:nvSpPr>
          <p:cNvPr id="35" name="Text 33"/>
          <p:cNvSpPr/>
          <p:nvPr/>
        </p:nvSpPr>
        <p:spPr>
          <a:xfrm>
            <a:off x="4864608" y="258775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2</a:t>
            </a:r>
            <a:endParaRPr lang="en-US" sz="1000" dirty="0"/>
          </a:p>
        </p:txBody>
      </p:sp>
      <p:sp>
        <p:nvSpPr>
          <p:cNvPr id="36" name="Text 34"/>
          <p:cNvSpPr/>
          <p:nvPr/>
        </p:nvSpPr>
        <p:spPr>
          <a:xfrm>
            <a:off x="5212080" y="2542032"/>
            <a:ext cx="3383280" cy="621792"/>
          </a:xfrm>
          <a:prstGeom prst="rect">
            <a:avLst/>
          </a:prstGeom>
          <a:noFill/>
          <a:ln/>
        </p:spPr>
        <p:txBody>
          <a:bodyPr wrap="square" lIns="0" tIns="0" rIns="0" bIns="0" rtlCol="0" anchor="ctr"/>
          <a:lstStyle/>
          <a:p>
            <a:pPr indent="0" marL="0">
              <a:buNone/>
            </a:pPr>
            <a:r>
              <a:rPr lang="en-US" sz="850" b="1" dirty="0">
                <a:solidFill>
                  <a:srgbClr val="007A7F"/>
                </a:solidFill>
                <a:latin typeface="Calibri" pitchFamily="34" charset="0"/>
                <a:ea typeface="Calibri" pitchFamily="34" charset="-122"/>
                <a:cs typeface="Calibri" pitchFamily="34" charset="-120"/>
              </a:rPr>
              <a:t>2022–2024  </a:t>
            </a:r>
            <a:pPr indent="0" marL="0">
              <a:buNone/>
            </a:pPr>
            <a:r>
              <a:rPr lang="en-US" sz="850" b="1" dirty="0">
                <a:solidFill>
                  <a:srgbClr val="1E1E1E"/>
                </a:solidFill>
                <a:latin typeface="Calibri" pitchFamily="34" charset="0"/>
                <a:ea typeface="Calibri" pitchFamily="34" charset="-122"/>
                <a:cs typeface="Calibri" pitchFamily="34" charset="-120"/>
              </a:rPr>
              <a:t>Exécution terrain – France</a:t>
            </a:r>
            <a:endParaRPr lang="en-US" sz="850" dirty="0"/>
          </a:p>
          <a:p>
            <a:pPr indent="0" marL="0">
              <a:buNone/>
            </a:pPr>
            <a:r>
              <a:rPr lang="en-US" sz="750" dirty="0">
                <a:solidFill>
                  <a:srgbClr val="777777"/>
                </a:solidFill>
                <a:latin typeface="Calibri" pitchFamily="34" charset="0"/>
                <a:ea typeface="Calibri" pitchFamily="34" charset="-122"/>
                <a:cs typeface="Calibri" pitchFamily="34" charset="-120"/>
              </a:rPr>
              <a:t>Chef GO Ergalis + Chef chantier Minssieux</a:t>
            </a:r>
            <a:endParaRPr lang="en-US" sz="850" dirty="0"/>
          </a:p>
        </p:txBody>
      </p:sp>
      <p:sp>
        <p:nvSpPr>
          <p:cNvPr id="37" name="Shape 35"/>
          <p:cNvSpPr/>
          <p:nvPr/>
        </p:nvSpPr>
        <p:spPr>
          <a:xfrm>
            <a:off x="4864608" y="3300984"/>
            <a:ext cx="237744" cy="237744"/>
          </a:xfrm>
          <a:prstGeom prst="ellipse">
            <a:avLst/>
          </a:prstGeom>
          <a:solidFill>
            <a:srgbClr val="007A7F"/>
          </a:solidFill>
          <a:ln/>
        </p:spPr>
      </p:sp>
      <p:sp>
        <p:nvSpPr>
          <p:cNvPr id="38" name="Text 36"/>
          <p:cNvSpPr/>
          <p:nvPr/>
        </p:nvSpPr>
        <p:spPr>
          <a:xfrm>
            <a:off x="4864608" y="330098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3</a:t>
            </a:r>
            <a:endParaRPr lang="en-US" sz="1000" dirty="0"/>
          </a:p>
        </p:txBody>
      </p:sp>
      <p:sp>
        <p:nvSpPr>
          <p:cNvPr id="39" name="Text 37"/>
          <p:cNvSpPr/>
          <p:nvPr/>
        </p:nvSpPr>
        <p:spPr>
          <a:xfrm>
            <a:off x="5212080" y="3255264"/>
            <a:ext cx="3383280" cy="621792"/>
          </a:xfrm>
          <a:prstGeom prst="rect">
            <a:avLst/>
          </a:prstGeom>
          <a:noFill/>
          <a:ln/>
        </p:spPr>
        <p:txBody>
          <a:bodyPr wrap="square" lIns="0" tIns="0" rIns="0" bIns="0" rtlCol="0" anchor="ctr"/>
          <a:lstStyle/>
          <a:p>
            <a:pPr indent="0" marL="0">
              <a:buNone/>
            </a:pPr>
            <a:r>
              <a:rPr lang="en-US" sz="850" b="1" dirty="0">
                <a:solidFill>
                  <a:srgbClr val="007A7F"/>
                </a:solidFill>
                <a:latin typeface="Calibri" pitchFamily="34" charset="0"/>
                <a:ea typeface="Calibri" pitchFamily="34" charset="-122"/>
                <a:cs typeface="Calibri" pitchFamily="34" charset="-120"/>
              </a:rPr>
              <a:t>2024–2025  </a:t>
            </a:r>
            <a:pPr indent="0" marL="0">
              <a:buNone/>
            </a:pPr>
            <a:r>
              <a:rPr lang="en-US" sz="850" b="1" dirty="0">
                <a:solidFill>
                  <a:srgbClr val="1E1E1E"/>
                </a:solidFill>
                <a:latin typeface="Calibri" pitchFamily="34" charset="0"/>
                <a:ea typeface="Calibri" pitchFamily="34" charset="-122"/>
                <a:cs typeface="Calibri" pitchFamily="34" charset="-120"/>
              </a:rPr>
              <a:t>Formation BIM – AFPA Colmar</a:t>
            </a:r>
            <a:endParaRPr lang="en-US" sz="850" dirty="0"/>
          </a:p>
          <a:p>
            <a:pPr indent="0" marL="0">
              <a:buNone/>
            </a:pPr>
            <a:r>
              <a:rPr lang="en-US" sz="750" dirty="0">
                <a:solidFill>
                  <a:srgbClr val="777777"/>
                </a:solidFill>
                <a:latin typeface="Calibri" pitchFamily="34" charset="0"/>
                <a:ea typeface="Calibri" pitchFamily="34" charset="-122"/>
                <a:cs typeface="Calibri" pitchFamily="34" charset="-120"/>
              </a:rPr>
              <a:t>Titre Modeleur BIM. Bâtiment R+2, 78 postes</a:t>
            </a:r>
            <a:endParaRPr lang="en-US" sz="850" dirty="0"/>
          </a:p>
        </p:txBody>
      </p:sp>
      <p:sp>
        <p:nvSpPr>
          <p:cNvPr id="40" name="Shape 38"/>
          <p:cNvSpPr/>
          <p:nvPr/>
        </p:nvSpPr>
        <p:spPr>
          <a:xfrm>
            <a:off x="4864608" y="4014216"/>
            <a:ext cx="237744" cy="237744"/>
          </a:xfrm>
          <a:prstGeom prst="ellipse">
            <a:avLst/>
          </a:prstGeom>
          <a:solidFill>
            <a:srgbClr val="007A7F"/>
          </a:solidFill>
          <a:ln/>
        </p:spPr>
      </p:sp>
      <p:sp>
        <p:nvSpPr>
          <p:cNvPr id="41" name="Text 39"/>
          <p:cNvSpPr/>
          <p:nvPr/>
        </p:nvSpPr>
        <p:spPr>
          <a:xfrm>
            <a:off x="4864608" y="401421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4</a:t>
            </a:r>
            <a:endParaRPr lang="en-US" sz="1000" dirty="0"/>
          </a:p>
        </p:txBody>
      </p:sp>
      <p:sp>
        <p:nvSpPr>
          <p:cNvPr id="42" name="Text 40"/>
          <p:cNvSpPr/>
          <p:nvPr/>
        </p:nvSpPr>
        <p:spPr>
          <a:xfrm>
            <a:off x="5212080" y="3968496"/>
            <a:ext cx="3383280" cy="621792"/>
          </a:xfrm>
          <a:prstGeom prst="rect">
            <a:avLst/>
          </a:prstGeom>
          <a:noFill/>
          <a:ln/>
        </p:spPr>
        <p:txBody>
          <a:bodyPr wrap="square" lIns="0" tIns="0" rIns="0" bIns="0" rtlCol="0" anchor="ctr"/>
          <a:lstStyle/>
          <a:p>
            <a:pPr indent="0" marL="0">
              <a:buNone/>
            </a:pPr>
            <a:r>
              <a:rPr lang="en-US" sz="850" b="1" dirty="0">
                <a:solidFill>
                  <a:srgbClr val="007A7F"/>
                </a:solidFill>
                <a:latin typeface="Calibri" pitchFamily="34" charset="0"/>
                <a:ea typeface="Calibri" pitchFamily="34" charset="-122"/>
                <a:cs typeface="Calibri" pitchFamily="34" charset="-120"/>
              </a:rPr>
              <a:t>2026  </a:t>
            </a:r>
            <a:pPr indent="0" marL="0">
              <a:buNone/>
            </a:pPr>
            <a:r>
              <a:rPr lang="en-US" sz="850" b="1" dirty="0">
                <a:solidFill>
                  <a:srgbClr val="1E1E1E"/>
                </a:solidFill>
                <a:latin typeface="Calibri" pitchFamily="34" charset="0"/>
                <a:ea typeface="Calibri" pitchFamily="34" charset="-122"/>
                <a:cs typeface="Calibri" pitchFamily="34" charset="-120"/>
              </a:rPr>
              <a:t>BIMCO + BTS MEC</a:t>
            </a:r>
            <a:endParaRPr lang="en-US" sz="850" dirty="0"/>
          </a:p>
          <a:p>
            <a:pPr indent="0" marL="0">
              <a:buNone/>
            </a:pPr>
            <a:r>
              <a:rPr lang="en-US" sz="750" dirty="0">
                <a:solidFill>
                  <a:srgbClr val="777777"/>
                </a:solidFill>
                <a:latin typeface="Calibri" pitchFamily="34" charset="0"/>
                <a:ea typeface="Calibri" pitchFamily="34" charset="-122"/>
                <a:cs typeface="Calibri" pitchFamily="34" charset="-120"/>
              </a:rPr>
              <a:t>Micro-entreprise + candidat libre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A7F"/>
          </a:solidFill>
          <a:ln/>
        </p:spPr>
      </p:sp>
      <p:sp>
        <p:nvSpPr>
          <p:cNvPr id="3" name="Shape 1"/>
          <p:cNvSpPr/>
          <p:nvPr/>
        </p:nvSpPr>
        <p:spPr>
          <a:xfrm>
            <a:off x="365760" y="137160"/>
            <a:ext cx="1280160" cy="329184"/>
          </a:xfrm>
          <a:prstGeom prst="rect">
            <a:avLst>
              <a:gd name="adj" fmla="val 11111"/>
            </a:avLst>
          </a:prstGeom>
          <a:solidFill>
            <a:srgbClr val="E0F4F5"/>
          </a:solidFill>
          <a:ln w="7620">
            <a:solidFill>
              <a:srgbClr val="007A7F"/>
            </a:solidFill>
            <a:prstDash val="solid"/>
          </a:ln>
        </p:spPr>
      </p:sp>
      <p:sp>
        <p:nvSpPr>
          <p:cNvPr id="4" name="Text 2"/>
          <p:cNvSpPr/>
          <p:nvPr/>
        </p:nvSpPr>
        <p:spPr>
          <a:xfrm>
            <a:off x="365760" y="137160"/>
            <a:ext cx="1280160" cy="329184"/>
          </a:xfrm>
          <a:prstGeom prst="rect">
            <a:avLst/>
          </a:prstGeom>
          <a:noFill/>
          <a:ln/>
        </p:spPr>
        <p:txBody>
          <a:bodyPr wrap="square" lIns="0" tIns="0" rIns="0" bIns="0" rtlCol="0" anchor="ctr"/>
          <a:lstStyle/>
          <a:p>
            <a:pPr algn="ctr" indent="0" marL="0">
              <a:buNone/>
            </a:pPr>
            <a:r>
              <a:rPr lang="en-US" sz="850" b="1" dirty="0">
                <a:solidFill>
                  <a:srgbClr val="007A7F"/>
                </a:solidFill>
                <a:latin typeface="Calibri" pitchFamily="34" charset="0"/>
                <a:ea typeface="Calibri" pitchFamily="34" charset="-122"/>
                <a:cs typeface="Calibri" pitchFamily="34" charset="-120"/>
              </a:rPr>
              <a:t>01 – Cadre</a:t>
            </a:r>
            <a:endParaRPr lang="en-US" sz="850" dirty="0"/>
          </a:p>
        </p:txBody>
      </p:sp>
      <p:sp>
        <p:nvSpPr>
          <p:cNvPr id="5" name="Text 3"/>
          <p:cNvSpPr/>
          <p:nvPr/>
        </p:nvSpPr>
        <p:spPr>
          <a:xfrm>
            <a:off x="365760" y="4828032"/>
            <a:ext cx="8412480" cy="228600"/>
          </a:xfrm>
          <a:prstGeom prst="rect">
            <a:avLst/>
          </a:prstGeom>
          <a:noFill/>
          <a:ln/>
        </p:spPr>
        <p:txBody>
          <a:bodyPr wrap="square" rtlCol="0" anchor="ctr"/>
          <a:lstStyle/>
          <a:p>
            <a:pPr algn="r" indent="0" marL="0">
              <a:buNone/>
            </a:pPr>
            <a:r>
              <a:rPr lang="en-US" sz="700" dirty="0">
                <a:solidFill>
                  <a:srgbClr val="777777"/>
                </a:solidFill>
                <a:latin typeface="Calibri" pitchFamily="34" charset="0"/>
                <a:ea typeface="Calibri" pitchFamily="34" charset="-122"/>
                <a:cs typeface="Calibri" pitchFamily="34" charset="-120"/>
              </a:rPr>
              <a:t>BAHAFID Mohamed  ·  Rapport U62  ·  BTS MEC 2026  ·  3/15</a:t>
            </a:r>
            <a:endParaRPr lang="en-US" sz="700" dirty="0"/>
          </a:p>
        </p:txBody>
      </p:sp>
      <p:sp>
        <p:nvSpPr>
          <p:cNvPr id="6" name="Text 4"/>
          <p:cNvSpPr/>
          <p:nvPr/>
        </p:nvSpPr>
        <p:spPr>
          <a:xfrm>
            <a:off x="365760" y="530352"/>
            <a:ext cx="8412480" cy="384048"/>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STRUCTURE D’ACCUEIL</a:t>
            </a:r>
            <a:endParaRPr lang="en-US" sz="1800" dirty="0"/>
          </a:p>
        </p:txBody>
      </p:sp>
      <p:sp>
        <p:nvSpPr>
          <p:cNvPr id="7" name="Text 5"/>
          <p:cNvSpPr/>
          <p:nvPr/>
        </p:nvSpPr>
        <p:spPr>
          <a:xfrm>
            <a:off x="365760" y="896112"/>
            <a:ext cx="8412480" cy="256032"/>
          </a:xfrm>
          <a:prstGeom prst="rect">
            <a:avLst/>
          </a:prstGeom>
          <a:noFill/>
          <a:ln/>
        </p:spPr>
        <p:txBody>
          <a:bodyPr wrap="square" lIns="0" tIns="0" rIns="0" bIns="0" rtlCol="0" anchor="ctr"/>
          <a:lstStyle/>
          <a:p>
            <a:pPr indent="0" marL="0">
              <a:buNone/>
            </a:pPr>
            <a:r>
              <a:rPr lang="en-US" sz="950" dirty="0">
                <a:solidFill>
                  <a:srgbClr val="777777"/>
                </a:solidFill>
                <a:latin typeface="Calibri" pitchFamily="34" charset="0"/>
                <a:ea typeface="Calibri" pitchFamily="34" charset="-122"/>
                <a:cs typeface="Calibri" pitchFamily="34" charset="-120"/>
              </a:rPr>
              <a:t>Conseil Régional de Béni Mellal-Khénifra – Agence d’Exécution des Projets</a:t>
            </a:r>
            <a:endParaRPr lang="en-US" sz="950" dirty="0"/>
          </a:p>
        </p:txBody>
      </p:sp>
      <p:sp>
        <p:nvSpPr>
          <p:cNvPr id="8" name="Shape 6"/>
          <p:cNvSpPr/>
          <p:nvPr/>
        </p:nvSpPr>
        <p:spPr>
          <a:xfrm>
            <a:off x="365760" y="1280160"/>
            <a:ext cx="5029200" cy="3383280"/>
          </a:xfrm>
          <a:prstGeom prst="rect">
            <a:avLst>
              <a:gd name="adj" fmla="val 1351"/>
            </a:avLst>
          </a:prstGeom>
          <a:solidFill>
            <a:srgbClr val="FFFFFF"/>
          </a:solidFill>
          <a:ln/>
          <a:effectLst>
            <a:outerShdw sx="100000" sy="100000" kx="0" ky="0" algn="bl" rotWithShape="0" blurRad="63500" dist="25400" dir="8100000">
              <a:srgbClr val="000000">
                <a:alpha val="8000"/>
              </a:srgbClr>
            </a:outerShdw>
          </a:effectLst>
        </p:spPr>
      </p:sp>
      <p:sp>
        <p:nvSpPr>
          <p:cNvPr id="9" name="Shape 7"/>
          <p:cNvSpPr/>
          <p:nvPr/>
        </p:nvSpPr>
        <p:spPr>
          <a:xfrm>
            <a:off x="365760" y="1280160"/>
            <a:ext cx="5029200" cy="36576"/>
          </a:xfrm>
          <a:prstGeom prst="rect">
            <a:avLst>
              <a:gd name="adj" fmla="val 50000"/>
            </a:avLst>
          </a:prstGeom>
          <a:solidFill>
            <a:srgbClr val="007A7F"/>
          </a:solidFill>
          <a:ln/>
        </p:spPr>
      </p:sp>
      <p:sp>
        <p:nvSpPr>
          <p:cNvPr id="10" name="Text 8"/>
          <p:cNvSpPr/>
          <p:nvPr/>
        </p:nvSpPr>
        <p:spPr>
          <a:xfrm>
            <a:off x="548640" y="1463040"/>
            <a:ext cx="4663440" cy="822960"/>
          </a:xfrm>
          <a:prstGeom prst="rect">
            <a:avLst/>
          </a:prstGeom>
          <a:noFill/>
          <a:ln/>
        </p:spPr>
        <p:txBody>
          <a:bodyPr wrap="square" lIns="0" tIns="0" rIns="0" bIns="0" rtlCol="0" anchor="ctr"/>
          <a:lstStyle/>
          <a:p>
            <a:pPr indent="0" marL="0">
              <a:buNone/>
            </a:pPr>
            <a:r>
              <a:rPr lang="en-US" sz="900" dirty="0">
                <a:solidFill>
                  <a:srgbClr val="3A3A3A"/>
                </a:solidFill>
                <a:latin typeface="Calibri" pitchFamily="34" charset="0"/>
                <a:ea typeface="Calibri" pitchFamily="34" charset="-122"/>
                <a:cs typeface="Calibri" pitchFamily="34" charset="-120"/>
              </a:rPr>
              <a:t>Collectivité territoriale couvrant 5 provinces et 2,5 millions d’habitants.</a:t>
            </a:r>
            <a:endParaRPr lang="en-US" sz="900" dirty="0"/>
          </a:p>
          <a:p>
            <a:pPr indent="0" marL="0">
              <a:buNone/>
            </a:pPr>
            <a:r>
              <a:rPr lang="en-US" sz="900" b="1" dirty="0">
                <a:solidFill>
                  <a:srgbClr val="007A7F"/>
                </a:solidFill>
                <a:latin typeface="Calibri" pitchFamily="34" charset="0"/>
                <a:ea typeface="Calibri" pitchFamily="34" charset="-122"/>
                <a:cs typeface="Calibri" pitchFamily="34" charset="-120"/>
              </a:rPr>
              <a:t>Mon poste : Technicien études et suivi des travaux.</a:t>
            </a:r>
            <a:endParaRPr lang="en-US" sz="900" dirty="0"/>
          </a:p>
          <a:p>
            <a:pPr indent="0" marL="0">
              <a:buNone/>
            </a:pPr>
            <a:endParaRPr lang="en-US" sz="900" dirty="0"/>
          </a:p>
          <a:p>
            <a:pPr indent="0" marL="0">
              <a:buNone/>
            </a:pPr>
            <a:r>
              <a:rPr lang="en-US" sz="900" b="1" spc="200" kern="0" dirty="0">
                <a:solidFill>
                  <a:srgbClr val="007A7F"/>
                </a:solidFill>
                <a:latin typeface="Calibri" pitchFamily="34" charset="0"/>
                <a:ea typeface="Calibri" pitchFamily="34" charset="-122"/>
                <a:cs typeface="Calibri" pitchFamily="34" charset="-120"/>
              </a:rPr>
              <a:t>MISSIONS PRINCIPALES</a:t>
            </a:r>
            <a:endParaRPr lang="en-US" sz="900" dirty="0"/>
          </a:p>
        </p:txBody>
      </p:sp>
      <p:sp>
        <p:nvSpPr>
          <p:cNvPr id="11" name="Text 9"/>
          <p:cNvSpPr/>
          <p:nvPr/>
        </p:nvSpPr>
        <p:spPr>
          <a:xfrm>
            <a:off x="548640" y="2286000"/>
            <a:ext cx="4663440" cy="1828800"/>
          </a:xfrm>
          <a:prstGeom prst="rect">
            <a:avLst/>
          </a:prstGeom>
          <a:noFill/>
          <a:ln/>
        </p:spPr>
        <p:txBody>
          <a:bodyPr wrap="square" lIns="0" tIns="0" rIns="0" bIns="0" rtlCol="0" anchor="ctr"/>
          <a:lstStyle/>
          <a:p>
            <a:pPr marL="342900" indent="-342900">
              <a:buSzPct val="100000"/>
              <a:buChar char="•"/>
            </a:pPr>
            <a:r>
              <a:rPr lang="en-US" sz="900" dirty="0">
                <a:solidFill>
                  <a:srgbClr val="3A3A3A"/>
                </a:solidFill>
                <a:latin typeface="Calibri" pitchFamily="34" charset="0"/>
                <a:ea typeface="Calibri" pitchFamily="34" charset="-122"/>
                <a:cs typeface="Calibri" pitchFamily="34" charset="-120"/>
              </a:rPr>
              <a:t>Métrés avant-projet et estimation confidentielle</a:t>
            </a:r>
            <a:endParaRPr lang="en-US" sz="900" dirty="0"/>
          </a:p>
          <a:p>
            <a:pPr marL="342900" indent="-342900">
              <a:buSzPct val="100000"/>
              <a:buChar char="•"/>
            </a:pPr>
            <a:r>
              <a:rPr lang="en-US" sz="900" dirty="0">
                <a:solidFill>
                  <a:srgbClr val="3A3A3A"/>
                </a:solidFill>
                <a:latin typeface="Calibri" pitchFamily="34" charset="0"/>
                <a:ea typeface="Calibri" pitchFamily="34" charset="-122"/>
                <a:cs typeface="Calibri" pitchFamily="34" charset="-120"/>
              </a:rPr>
              <a:t>Rédaction des DCE : CPS, RC, BPDE</a:t>
            </a:r>
            <a:endParaRPr lang="en-US" sz="900" dirty="0"/>
          </a:p>
          <a:p>
            <a:pPr marL="342900" indent="-342900">
              <a:buSzPct val="100000"/>
              <a:buChar char="•"/>
            </a:pPr>
            <a:r>
              <a:rPr lang="en-US" sz="900" dirty="0">
                <a:solidFill>
                  <a:srgbClr val="3A3A3A"/>
                </a:solidFill>
                <a:latin typeface="Calibri" pitchFamily="34" charset="0"/>
                <a:ea typeface="Calibri" pitchFamily="34" charset="-122"/>
                <a:cs typeface="Calibri" pitchFamily="34" charset="-120"/>
              </a:rPr>
              <a:t>Analyse des offres en Commission AO</a:t>
            </a:r>
            <a:endParaRPr lang="en-US" sz="900" dirty="0"/>
          </a:p>
          <a:p>
            <a:pPr marL="342900" indent="-342900">
              <a:buSzPct val="100000"/>
              <a:buChar char="•"/>
            </a:pPr>
            <a:r>
              <a:rPr lang="en-US" sz="900" dirty="0">
                <a:solidFill>
                  <a:srgbClr val="3A3A3A"/>
                </a:solidFill>
                <a:latin typeface="Calibri" pitchFamily="34" charset="0"/>
                <a:ea typeface="Calibri" pitchFamily="34" charset="-122"/>
                <a:cs typeface="Calibri" pitchFamily="34" charset="-120"/>
              </a:rPr>
              <a:t>Suivi financier mensuel, décomptes</a:t>
            </a:r>
            <a:endParaRPr lang="en-US" sz="900" dirty="0"/>
          </a:p>
          <a:p>
            <a:pPr marL="342900" indent="-342900">
              <a:buSzPct val="100000"/>
              <a:buChar char="•"/>
            </a:pPr>
            <a:r>
              <a:rPr lang="en-US" sz="900" dirty="0">
                <a:solidFill>
                  <a:srgbClr val="3A3A3A"/>
                </a:solidFill>
                <a:latin typeface="Calibri" pitchFamily="34" charset="0"/>
                <a:ea typeface="Calibri" pitchFamily="34" charset="-122"/>
                <a:cs typeface="Calibri" pitchFamily="34" charset="-120"/>
              </a:rPr>
              <a:t>Visites terrain, attachements contradictoires</a:t>
            </a:r>
            <a:endParaRPr lang="en-US" sz="900" dirty="0"/>
          </a:p>
        </p:txBody>
      </p:sp>
      <p:sp>
        <p:nvSpPr>
          <p:cNvPr id="12" name="Shape 10"/>
          <p:cNvSpPr/>
          <p:nvPr/>
        </p:nvSpPr>
        <p:spPr>
          <a:xfrm>
            <a:off x="5669280" y="1280160"/>
            <a:ext cx="3108960" cy="3383280"/>
          </a:xfrm>
          <a:prstGeom prst="rect">
            <a:avLst>
              <a:gd name="adj" fmla="val 1471"/>
            </a:avLst>
          </a:prstGeom>
          <a:solidFill>
            <a:srgbClr val="E0F4F5"/>
          </a:solidFill>
          <a:ln/>
          <a:effectLst>
            <a:outerShdw sx="100000" sy="100000" kx="0" ky="0" algn="bl" rotWithShape="0" blurRad="63500" dist="25400" dir="8100000">
              <a:srgbClr val="000000">
                <a:alpha val="8000"/>
              </a:srgbClr>
            </a:outerShdw>
          </a:effectLst>
        </p:spPr>
      </p:sp>
      <p:sp>
        <p:nvSpPr>
          <p:cNvPr id="13" name="Shape 11"/>
          <p:cNvSpPr/>
          <p:nvPr/>
        </p:nvSpPr>
        <p:spPr>
          <a:xfrm>
            <a:off x="5669280" y="1280160"/>
            <a:ext cx="3108960" cy="36576"/>
          </a:xfrm>
          <a:prstGeom prst="rect">
            <a:avLst>
              <a:gd name="adj" fmla="val 50000"/>
            </a:avLst>
          </a:prstGeom>
          <a:solidFill>
            <a:srgbClr val="005F63"/>
          </a:solidFill>
          <a:ln/>
        </p:spPr>
      </p:sp>
      <p:sp>
        <p:nvSpPr>
          <p:cNvPr id="14" name="Text 12"/>
          <p:cNvSpPr/>
          <p:nvPr/>
        </p:nvSpPr>
        <p:spPr>
          <a:xfrm>
            <a:off x="5852160" y="1417320"/>
            <a:ext cx="2743200" cy="256032"/>
          </a:xfrm>
          <a:prstGeom prst="rect">
            <a:avLst/>
          </a:prstGeom>
          <a:noFill/>
          <a:ln/>
        </p:spPr>
        <p:txBody>
          <a:bodyPr wrap="square" lIns="0" tIns="0" rIns="0" bIns="0" rtlCol="0" anchor="ctr"/>
          <a:lstStyle/>
          <a:p>
            <a:pPr indent="0" marL="0">
              <a:buNone/>
            </a:pPr>
            <a:r>
              <a:rPr lang="en-US" sz="900" b="1" spc="200" kern="0" dirty="0">
                <a:solidFill>
                  <a:srgbClr val="005F63"/>
                </a:solidFill>
                <a:latin typeface="Calibri" pitchFamily="34" charset="0"/>
                <a:ea typeface="Calibri" pitchFamily="34" charset="-122"/>
                <a:cs typeface="Calibri" pitchFamily="34" charset="-120"/>
              </a:rPr>
              <a:t>CADRE RÉGLEMENTAIRE</a:t>
            </a:r>
            <a:endParaRPr lang="en-US" sz="900" dirty="0"/>
          </a:p>
        </p:txBody>
      </p:sp>
      <p:sp>
        <p:nvSpPr>
          <p:cNvPr id="15" name="Text 13"/>
          <p:cNvSpPr/>
          <p:nvPr/>
        </p:nvSpPr>
        <p:spPr>
          <a:xfrm>
            <a:off x="5852160" y="1828800"/>
            <a:ext cx="2743200" cy="457200"/>
          </a:xfrm>
          <a:prstGeom prst="rect">
            <a:avLst/>
          </a:prstGeom>
          <a:noFill/>
          <a:ln/>
        </p:spPr>
        <p:txBody>
          <a:bodyPr wrap="square" lIns="0" tIns="0" rIns="0" bIns="0" rtlCol="0" anchor="ctr"/>
          <a:lstStyle/>
          <a:p>
            <a:pPr indent="0" marL="0">
              <a:buNone/>
            </a:pPr>
            <a:r>
              <a:rPr lang="en-US" sz="800" b="1" dirty="0">
                <a:solidFill>
                  <a:srgbClr val="005F63"/>
                </a:solidFill>
                <a:latin typeface="Calibri" pitchFamily="34" charset="0"/>
                <a:ea typeface="Calibri" pitchFamily="34" charset="-122"/>
                <a:cs typeface="Calibri" pitchFamily="34" charset="-120"/>
              </a:rPr>
              <a:t>Pièces AO</a:t>
            </a:r>
            <a:endParaRPr lang="en-US" sz="800" dirty="0"/>
          </a:p>
          <a:p>
            <a:pPr indent="0" marL="0">
              <a:buNone/>
            </a:pPr>
            <a:r>
              <a:rPr lang="en-US" sz="800" dirty="0">
                <a:solidFill>
                  <a:srgbClr val="3A3A3A"/>
                </a:solidFill>
                <a:latin typeface="Calibri" pitchFamily="34" charset="0"/>
                <a:ea typeface="Calibri" pitchFamily="34" charset="-122"/>
                <a:cs typeface="Calibri" pitchFamily="34" charset="-120"/>
              </a:rPr>
              <a:t>CPS + RC + BPDE</a:t>
            </a:r>
            <a:endParaRPr lang="en-US" sz="800" dirty="0"/>
          </a:p>
        </p:txBody>
      </p:sp>
      <p:sp>
        <p:nvSpPr>
          <p:cNvPr id="16" name="Text 14"/>
          <p:cNvSpPr/>
          <p:nvPr/>
        </p:nvSpPr>
        <p:spPr>
          <a:xfrm>
            <a:off x="5852160" y="2331720"/>
            <a:ext cx="2743200" cy="457200"/>
          </a:xfrm>
          <a:prstGeom prst="rect">
            <a:avLst/>
          </a:prstGeom>
          <a:noFill/>
          <a:ln/>
        </p:spPr>
        <p:txBody>
          <a:bodyPr wrap="square" lIns="0" tIns="0" rIns="0" bIns="0" rtlCol="0" anchor="ctr"/>
          <a:lstStyle/>
          <a:p>
            <a:pPr indent="0" marL="0">
              <a:buNone/>
            </a:pPr>
            <a:r>
              <a:rPr lang="en-US" sz="800" b="1" dirty="0">
                <a:solidFill>
                  <a:srgbClr val="005F63"/>
                </a:solidFill>
                <a:latin typeface="Calibri" pitchFamily="34" charset="0"/>
                <a:ea typeface="Calibri" pitchFamily="34" charset="-122"/>
                <a:cs typeface="Calibri" pitchFamily="34" charset="-120"/>
              </a:rPr>
              <a:t>Procédure</a:t>
            </a:r>
            <a:endParaRPr lang="en-US" sz="800" dirty="0"/>
          </a:p>
          <a:p>
            <a:pPr indent="0" marL="0">
              <a:buNone/>
            </a:pPr>
            <a:r>
              <a:rPr lang="en-US" sz="800" dirty="0">
                <a:solidFill>
                  <a:srgbClr val="3A3A3A"/>
                </a:solidFill>
                <a:latin typeface="Calibri" pitchFamily="34" charset="0"/>
                <a:ea typeface="Calibri" pitchFamily="34" charset="-122"/>
                <a:cs typeface="Calibri" pitchFamily="34" charset="-120"/>
              </a:rPr>
              <a:t>Appel d’offres ouvert</a:t>
            </a:r>
            <a:endParaRPr lang="en-US" sz="800" dirty="0"/>
          </a:p>
        </p:txBody>
      </p:sp>
      <p:sp>
        <p:nvSpPr>
          <p:cNvPr id="17" name="Text 15"/>
          <p:cNvSpPr/>
          <p:nvPr/>
        </p:nvSpPr>
        <p:spPr>
          <a:xfrm>
            <a:off x="5852160" y="2834640"/>
            <a:ext cx="2743200" cy="457200"/>
          </a:xfrm>
          <a:prstGeom prst="rect">
            <a:avLst/>
          </a:prstGeom>
          <a:noFill/>
          <a:ln/>
        </p:spPr>
        <p:txBody>
          <a:bodyPr wrap="square" lIns="0" tIns="0" rIns="0" bIns="0" rtlCol="0" anchor="ctr"/>
          <a:lstStyle/>
          <a:p>
            <a:pPr indent="0" marL="0">
              <a:buNone/>
            </a:pPr>
            <a:r>
              <a:rPr lang="en-US" sz="800" b="1" dirty="0">
                <a:solidFill>
                  <a:srgbClr val="005F63"/>
                </a:solidFill>
                <a:latin typeface="Calibri" pitchFamily="34" charset="0"/>
                <a:ea typeface="Calibri" pitchFamily="34" charset="-122"/>
                <a:cs typeface="Calibri" pitchFamily="34" charset="-120"/>
              </a:rPr>
              <a:t>Estimation</a:t>
            </a:r>
            <a:endParaRPr lang="en-US" sz="800" dirty="0"/>
          </a:p>
          <a:p>
            <a:pPr indent="0" marL="0">
              <a:buNone/>
            </a:pPr>
            <a:r>
              <a:rPr lang="en-US" sz="800" dirty="0">
                <a:solidFill>
                  <a:srgbClr val="3A3A3A"/>
                </a:solidFill>
                <a:latin typeface="Calibri" pitchFamily="34" charset="0"/>
                <a:ea typeface="Calibri" pitchFamily="34" charset="-122"/>
                <a:cs typeface="Calibri" pitchFamily="34" charset="-120"/>
              </a:rPr>
              <a:t>Confidentielle obligatoire</a:t>
            </a:r>
            <a:endParaRPr lang="en-US" sz="800" dirty="0"/>
          </a:p>
        </p:txBody>
      </p:sp>
      <p:sp>
        <p:nvSpPr>
          <p:cNvPr id="18" name="Text 16"/>
          <p:cNvSpPr/>
          <p:nvPr/>
        </p:nvSpPr>
        <p:spPr>
          <a:xfrm>
            <a:off x="5852160" y="3337560"/>
            <a:ext cx="2743200" cy="457200"/>
          </a:xfrm>
          <a:prstGeom prst="rect">
            <a:avLst/>
          </a:prstGeom>
          <a:noFill/>
          <a:ln/>
        </p:spPr>
        <p:txBody>
          <a:bodyPr wrap="square" lIns="0" tIns="0" rIns="0" bIns="0" rtlCol="0" anchor="ctr"/>
          <a:lstStyle/>
          <a:p>
            <a:pPr indent="0" marL="0">
              <a:buNone/>
            </a:pPr>
            <a:r>
              <a:rPr lang="en-US" sz="800" b="1" dirty="0">
                <a:solidFill>
                  <a:srgbClr val="005F63"/>
                </a:solidFill>
                <a:latin typeface="Calibri" pitchFamily="34" charset="0"/>
                <a:ea typeface="Calibri" pitchFamily="34" charset="-122"/>
                <a:cs typeface="Calibri" pitchFamily="34" charset="-120"/>
              </a:rPr>
              <a:t>Normes</a:t>
            </a:r>
            <a:endParaRPr lang="en-US" sz="800" dirty="0"/>
          </a:p>
          <a:p>
            <a:pPr indent="0" marL="0">
              <a:buNone/>
            </a:pPr>
            <a:r>
              <a:rPr lang="en-US" sz="800" dirty="0">
                <a:solidFill>
                  <a:srgbClr val="3A3A3A"/>
                </a:solidFill>
                <a:latin typeface="Calibri" pitchFamily="34" charset="0"/>
                <a:ea typeface="Calibri" pitchFamily="34" charset="-122"/>
                <a:cs typeface="Calibri" pitchFamily="34" charset="-120"/>
              </a:rPr>
              <a:t>Normes marocaines, RPS 2000</a:t>
            </a:r>
            <a:endParaRPr lang="en-US" sz="800" dirty="0"/>
          </a:p>
        </p:txBody>
      </p:sp>
      <p:sp>
        <p:nvSpPr>
          <p:cNvPr id="19" name="Text 17"/>
          <p:cNvSpPr/>
          <p:nvPr/>
        </p:nvSpPr>
        <p:spPr>
          <a:xfrm>
            <a:off x="5852160" y="3840480"/>
            <a:ext cx="2743200" cy="457200"/>
          </a:xfrm>
          <a:prstGeom prst="rect">
            <a:avLst/>
          </a:prstGeom>
          <a:noFill/>
          <a:ln/>
        </p:spPr>
        <p:txBody>
          <a:bodyPr wrap="square" lIns="0" tIns="0" rIns="0" bIns="0" rtlCol="0" anchor="ctr"/>
          <a:lstStyle/>
          <a:p>
            <a:pPr indent="0" marL="0">
              <a:buNone/>
            </a:pPr>
            <a:r>
              <a:rPr lang="en-US" sz="800" b="1" dirty="0">
                <a:solidFill>
                  <a:srgbClr val="005F63"/>
                </a:solidFill>
                <a:latin typeface="Calibri" pitchFamily="34" charset="0"/>
                <a:ea typeface="Calibri" pitchFamily="34" charset="-122"/>
                <a:cs typeface="Calibri" pitchFamily="34" charset="-120"/>
              </a:rPr>
              <a:t>Suivi</a:t>
            </a:r>
            <a:endParaRPr lang="en-US" sz="800" dirty="0"/>
          </a:p>
          <a:p>
            <a:pPr indent="0" marL="0">
              <a:buNone/>
            </a:pPr>
            <a:r>
              <a:rPr lang="en-US" sz="800" dirty="0">
                <a:solidFill>
                  <a:srgbClr val="3A3A3A"/>
                </a:solidFill>
                <a:latin typeface="Calibri" pitchFamily="34" charset="0"/>
                <a:ea typeface="Calibri" pitchFamily="34" charset="-122"/>
                <a:cs typeface="Calibri" pitchFamily="34" charset="-120"/>
              </a:rPr>
              <a:t>Attachements contradictoires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A7F"/>
          </a:solidFill>
          <a:ln/>
        </p:spPr>
      </p:sp>
      <p:sp>
        <p:nvSpPr>
          <p:cNvPr id="3" name="Shape 1"/>
          <p:cNvSpPr/>
          <p:nvPr/>
        </p:nvSpPr>
        <p:spPr>
          <a:xfrm>
            <a:off x="365760" y="137160"/>
            <a:ext cx="1280160" cy="329184"/>
          </a:xfrm>
          <a:prstGeom prst="rect">
            <a:avLst>
              <a:gd name="adj" fmla="val 11111"/>
            </a:avLst>
          </a:prstGeom>
          <a:solidFill>
            <a:srgbClr val="E0F4F5"/>
          </a:solidFill>
          <a:ln w="7620">
            <a:solidFill>
              <a:srgbClr val="007A7F"/>
            </a:solidFill>
            <a:prstDash val="solid"/>
          </a:ln>
        </p:spPr>
      </p:sp>
      <p:sp>
        <p:nvSpPr>
          <p:cNvPr id="4" name="Text 2"/>
          <p:cNvSpPr/>
          <p:nvPr/>
        </p:nvSpPr>
        <p:spPr>
          <a:xfrm>
            <a:off x="365760" y="137160"/>
            <a:ext cx="1280160" cy="329184"/>
          </a:xfrm>
          <a:prstGeom prst="rect">
            <a:avLst/>
          </a:prstGeom>
          <a:noFill/>
          <a:ln/>
        </p:spPr>
        <p:txBody>
          <a:bodyPr wrap="square" lIns="0" tIns="0" rIns="0" bIns="0" rtlCol="0" anchor="ctr"/>
          <a:lstStyle/>
          <a:p>
            <a:pPr algn="ctr" indent="0" marL="0">
              <a:buNone/>
            </a:pPr>
            <a:r>
              <a:rPr lang="en-US" sz="850" b="1" dirty="0">
                <a:solidFill>
                  <a:srgbClr val="007A7F"/>
                </a:solidFill>
                <a:latin typeface="Calibri" pitchFamily="34" charset="0"/>
                <a:ea typeface="Calibri" pitchFamily="34" charset="-122"/>
                <a:cs typeface="Calibri" pitchFamily="34" charset="-120"/>
              </a:rPr>
              <a:t>01 – BIMCO</a:t>
            </a:r>
            <a:endParaRPr lang="en-US" sz="850" dirty="0"/>
          </a:p>
        </p:txBody>
      </p:sp>
      <p:sp>
        <p:nvSpPr>
          <p:cNvPr id="5" name="Text 3"/>
          <p:cNvSpPr/>
          <p:nvPr/>
        </p:nvSpPr>
        <p:spPr>
          <a:xfrm>
            <a:off x="365760" y="4828032"/>
            <a:ext cx="8412480" cy="228600"/>
          </a:xfrm>
          <a:prstGeom prst="rect">
            <a:avLst/>
          </a:prstGeom>
          <a:noFill/>
          <a:ln/>
        </p:spPr>
        <p:txBody>
          <a:bodyPr wrap="square" rtlCol="0" anchor="ctr"/>
          <a:lstStyle/>
          <a:p>
            <a:pPr algn="r" indent="0" marL="0">
              <a:buNone/>
            </a:pPr>
            <a:r>
              <a:rPr lang="en-US" sz="700" dirty="0">
                <a:solidFill>
                  <a:srgbClr val="777777"/>
                </a:solidFill>
                <a:latin typeface="Calibri" pitchFamily="34" charset="0"/>
                <a:ea typeface="Calibri" pitchFamily="34" charset="-122"/>
                <a:cs typeface="Calibri" pitchFamily="34" charset="-120"/>
              </a:rPr>
              <a:t>BAHAFID Mohamed  ·  Rapport U62  ·  BTS MEC 2026  ·  4/15</a:t>
            </a:r>
            <a:endParaRPr lang="en-US" sz="700" dirty="0"/>
          </a:p>
        </p:txBody>
      </p:sp>
      <p:sp>
        <p:nvSpPr>
          <p:cNvPr id="6" name="Text 4"/>
          <p:cNvSpPr/>
          <p:nvPr/>
        </p:nvSpPr>
        <p:spPr>
          <a:xfrm>
            <a:off x="365760" y="530352"/>
            <a:ext cx="8412480" cy="384048"/>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BIMCO – MON ACTIVITÉ INDÉPENDANTE</a:t>
            </a:r>
            <a:endParaRPr lang="en-US" sz="1800" dirty="0"/>
          </a:p>
        </p:txBody>
      </p:sp>
      <p:sp>
        <p:nvSpPr>
          <p:cNvPr id="7" name="Text 5"/>
          <p:cNvSpPr/>
          <p:nvPr/>
        </p:nvSpPr>
        <p:spPr>
          <a:xfrm>
            <a:off x="365760" y="896112"/>
            <a:ext cx="8412480" cy="256032"/>
          </a:xfrm>
          <a:prstGeom prst="rect">
            <a:avLst/>
          </a:prstGeom>
          <a:noFill/>
          <a:ln/>
        </p:spPr>
        <p:txBody>
          <a:bodyPr wrap="square" lIns="0" tIns="0" rIns="0" bIns="0" rtlCol="0" anchor="ctr"/>
          <a:lstStyle/>
          <a:p>
            <a:pPr indent="0" marL="0">
              <a:buNone/>
            </a:pPr>
            <a:r>
              <a:rPr lang="en-US" sz="950" dirty="0">
                <a:solidFill>
                  <a:srgbClr val="777777"/>
                </a:solidFill>
                <a:latin typeface="Calibri" pitchFamily="34" charset="0"/>
                <a:ea typeface="Calibri" pitchFamily="34" charset="-122"/>
                <a:cs typeface="Calibri" pitchFamily="34" charset="-120"/>
              </a:rPr>
              <a:t>Créée en janvier 2026 – BIM au service de l’économiste de la construction</a:t>
            </a:r>
            <a:endParaRPr lang="en-US" sz="950" dirty="0"/>
          </a:p>
        </p:txBody>
      </p:sp>
      <p:sp>
        <p:nvSpPr>
          <p:cNvPr id="8" name="Shape 6"/>
          <p:cNvSpPr/>
          <p:nvPr/>
        </p:nvSpPr>
        <p:spPr>
          <a:xfrm>
            <a:off x="365760" y="1280160"/>
            <a:ext cx="4572000" cy="1554480"/>
          </a:xfrm>
          <a:prstGeom prst="rect">
            <a:avLst>
              <a:gd name="adj" fmla="val 2941"/>
            </a:avLst>
          </a:prstGeom>
          <a:solidFill>
            <a:srgbClr val="FFFFFF"/>
          </a:solidFill>
          <a:ln/>
          <a:effectLst>
            <a:outerShdw sx="100000" sy="100000" kx="0" ky="0" algn="bl" rotWithShape="0" blurRad="63500" dist="25400" dir="8100000">
              <a:srgbClr val="000000">
                <a:alpha val="8000"/>
              </a:srgbClr>
            </a:outerShdw>
          </a:effectLst>
        </p:spPr>
      </p:sp>
      <p:sp>
        <p:nvSpPr>
          <p:cNvPr id="9" name="Shape 7"/>
          <p:cNvSpPr/>
          <p:nvPr/>
        </p:nvSpPr>
        <p:spPr>
          <a:xfrm>
            <a:off x="365760" y="1280160"/>
            <a:ext cx="4572000" cy="36576"/>
          </a:xfrm>
          <a:prstGeom prst="rect">
            <a:avLst>
              <a:gd name="adj" fmla="val 50000"/>
            </a:avLst>
          </a:prstGeom>
          <a:solidFill>
            <a:srgbClr val="007A7F"/>
          </a:solidFill>
          <a:ln/>
        </p:spPr>
      </p:sp>
      <p:sp>
        <p:nvSpPr>
          <p:cNvPr id="10" name="Text 8"/>
          <p:cNvSpPr/>
          <p:nvPr/>
        </p:nvSpPr>
        <p:spPr>
          <a:xfrm>
            <a:off x="548640" y="1417320"/>
            <a:ext cx="4206240" cy="201168"/>
          </a:xfrm>
          <a:prstGeom prst="rect">
            <a:avLst/>
          </a:prstGeom>
          <a:noFill/>
          <a:ln/>
        </p:spPr>
        <p:txBody>
          <a:bodyPr wrap="square" lIns="0" tIns="0" rIns="0" bIns="0" rtlCol="0" anchor="ctr"/>
          <a:lstStyle/>
          <a:p>
            <a:pPr indent="0" marL="0">
              <a:buNone/>
            </a:pPr>
            <a:r>
              <a:rPr lang="en-US" sz="900" b="1" spc="200" kern="0" dirty="0">
                <a:solidFill>
                  <a:srgbClr val="007A7F"/>
                </a:solidFill>
                <a:latin typeface="Calibri" pitchFamily="34" charset="0"/>
                <a:ea typeface="Calibri" pitchFamily="34" charset="-122"/>
                <a:cs typeface="Calibri" pitchFamily="34" charset="-120"/>
              </a:rPr>
              <a:t>MISSION</a:t>
            </a:r>
            <a:endParaRPr lang="en-US" sz="900" dirty="0"/>
          </a:p>
        </p:txBody>
      </p:sp>
      <p:sp>
        <p:nvSpPr>
          <p:cNvPr id="11" name="Text 9"/>
          <p:cNvSpPr/>
          <p:nvPr/>
        </p:nvSpPr>
        <p:spPr>
          <a:xfrm>
            <a:off x="548640" y="1664208"/>
            <a:ext cx="4206240" cy="1005840"/>
          </a:xfrm>
          <a:prstGeom prst="rect">
            <a:avLst/>
          </a:prstGeom>
          <a:noFill/>
          <a:ln/>
        </p:spPr>
        <p:txBody>
          <a:bodyPr wrap="square" lIns="0" tIns="0" rIns="0" bIns="0" rtlCol="0" anchor="ctr"/>
          <a:lstStyle/>
          <a:p>
            <a:pPr indent="0" marL="0">
              <a:buNone/>
            </a:pPr>
            <a:r>
              <a:rPr lang="en-US" sz="900" dirty="0">
                <a:solidFill>
                  <a:srgbClr val="3A3A3A"/>
                </a:solidFill>
                <a:latin typeface="Calibri" pitchFamily="34" charset="0"/>
                <a:ea typeface="Calibri" pitchFamily="34" charset="-122"/>
                <a:cs typeface="Calibri" pitchFamily="34" charset="-120"/>
              </a:rPr>
              <a:t>Appliquer le BIM aux métiers de l’économiste de la construction. Métrés par extraction de maquette numérique, études de prix ancrées dans les coûts réels, plugins Revit/Dynamo pour automatiser la chaîne mètre → DPGF.</a:t>
            </a:r>
            <a:endParaRPr lang="en-US" sz="900" dirty="0"/>
          </a:p>
        </p:txBody>
      </p:sp>
      <p:sp>
        <p:nvSpPr>
          <p:cNvPr id="12" name="Shape 10"/>
          <p:cNvSpPr/>
          <p:nvPr/>
        </p:nvSpPr>
        <p:spPr>
          <a:xfrm>
            <a:off x="365760" y="3017520"/>
            <a:ext cx="4572000" cy="1508760"/>
          </a:xfrm>
          <a:prstGeom prst="rect">
            <a:avLst>
              <a:gd name="adj" fmla="val 3030"/>
            </a:avLst>
          </a:prstGeom>
          <a:solidFill>
            <a:srgbClr val="FFFFFF"/>
          </a:solidFill>
          <a:ln/>
          <a:effectLst>
            <a:outerShdw sx="100000" sy="100000" kx="0" ky="0" algn="bl" rotWithShape="0" blurRad="63500" dist="25400" dir="8100000">
              <a:srgbClr val="000000">
                <a:alpha val="8000"/>
              </a:srgbClr>
            </a:outerShdw>
          </a:effectLst>
        </p:spPr>
      </p:sp>
      <p:sp>
        <p:nvSpPr>
          <p:cNvPr id="13" name="Shape 11"/>
          <p:cNvSpPr/>
          <p:nvPr/>
        </p:nvSpPr>
        <p:spPr>
          <a:xfrm>
            <a:off x="365760" y="3017520"/>
            <a:ext cx="4572000" cy="36576"/>
          </a:xfrm>
          <a:prstGeom prst="rect">
            <a:avLst>
              <a:gd name="adj" fmla="val 50000"/>
            </a:avLst>
          </a:prstGeom>
          <a:solidFill>
            <a:srgbClr val="D97706"/>
          </a:solidFill>
          <a:ln/>
        </p:spPr>
      </p:sp>
      <p:sp>
        <p:nvSpPr>
          <p:cNvPr id="14" name="Text 12"/>
          <p:cNvSpPr/>
          <p:nvPr/>
        </p:nvSpPr>
        <p:spPr>
          <a:xfrm>
            <a:off x="548640" y="3154680"/>
            <a:ext cx="4206240" cy="201168"/>
          </a:xfrm>
          <a:prstGeom prst="rect">
            <a:avLst/>
          </a:prstGeom>
          <a:noFill/>
          <a:ln/>
        </p:spPr>
        <p:txBody>
          <a:bodyPr wrap="square" lIns="0" tIns="0" rIns="0" bIns="0" rtlCol="0" anchor="ctr"/>
          <a:lstStyle/>
          <a:p>
            <a:pPr indent="0" marL="0">
              <a:buNone/>
            </a:pPr>
            <a:r>
              <a:rPr lang="en-US" sz="900" b="1" spc="200" kern="0" dirty="0">
                <a:solidFill>
                  <a:srgbClr val="D97706"/>
                </a:solidFill>
                <a:latin typeface="Calibri" pitchFamily="34" charset="0"/>
                <a:ea typeface="Calibri" pitchFamily="34" charset="-122"/>
                <a:cs typeface="Calibri" pitchFamily="34" charset="-120"/>
              </a:rPr>
              <a:t>STACK TECHNIQUE</a:t>
            </a:r>
            <a:endParaRPr lang="en-US" sz="900" dirty="0"/>
          </a:p>
        </p:txBody>
      </p:sp>
      <p:sp>
        <p:nvSpPr>
          <p:cNvPr id="15" name="Shape 13"/>
          <p:cNvSpPr/>
          <p:nvPr/>
        </p:nvSpPr>
        <p:spPr>
          <a:xfrm>
            <a:off x="548640" y="3474720"/>
            <a:ext cx="1280160" cy="301752"/>
          </a:xfrm>
          <a:prstGeom prst="rect">
            <a:avLst>
              <a:gd name="adj" fmla="val 9091"/>
            </a:avLst>
          </a:prstGeom>
          <a:solidFill>
            <a:srgbClr val="E0F4F5"/>
          </a:solidFill>
          <a:ln w="6350">
            <a:solidFill>
              <a:srgbClr val="007A7F"/>
            </a:solidFill>
            <a:prstDash val="solid"/>
          </a:ln>
        </p:spPr>
      </p:sp>
      <p:sp>
        <p:nvSpPr>
          <p:cNvPr id="16" name="Text 14"/>
          <p:cNvSpPr/>
          <p:nvPr/>
        </p:nvSpPr>
        <p:spPr>
          <a:xfrm>
            <a:off x="548640" y="3474720"/>
            <a:ext cx="1280160" cy="301752"/>
          </a:xfrm>
          <a:prstGeom prst="rect">
            <a:avLst/>
          </a:prstGeom>
          <a:noFill/>
          <a:ln/>
        </p:spPr>
        <p:txBody>
          <a:bodyPr wrap="square" lIns="0" tIns="0" rIns="0" bIns="0" rtlCol="0" anchor="ctr"/>
          <a:lstStyle/>
          <a:p>
            <a:pPr algn="ctr" indent="0" marL="0">
              <a:buNone/>
            </a:pPr>
            <a:r>
              <a:rPr lang="en-US" sz="800" b="1" dirty="0">
                <a:solidFill>
                  <a:srgbClr val="005F63"/>
                </a:solidFill>
                <a:latin typeface="Calibri" pitchFamily="34" charset="0"/>
                <a:ea typeface="Calibri" pitchFamily="34" charset="-122"/>
                <a:cs typeface="Calibri" pitchFamily="34" charset="-120"/>
              </a:rPr>
              <a:t>Revit API</a:t>
            </a:r>
            <a:endParaRPr lang="en-US" sz="800" dirty="0"/>
          </a:p>
        </p:txBody>
      </p:sp>
      <p:sp>
        <p:nvSpPr>
          <p:cNvPr id="17" name="Shape 15"/>
          <p:cNvSpPr/>
          <p:nvPr/>
        </p:nvSpPr>
        <p:spPr>
          <a:xfrm>
            <a:off x="1965960" y="3474720"/>
            <a:ext cx="1280160" cy="301752"/>
          </a:xfrm>
          <a:prstGeom prst="rect">
            <a:avLst>
              <a:gd name="adj" fmla="val 9091"/>
            </a:avLst>
          </a:prstGeom>
          <a:solidFill>
            <a:srgbClr val="E0F4F5"/>
          </a:solidFill>
          <a:ln w="6350">
            <a:solidFill>
              <a:srgbClr val="007A7F"/>
            </a:solidFill>
            <a:prstDash val="solid"/>
          </a:ln>
        </p:spPr>
      </p:sp>
      <p:sp>
        <p:nvSpPr>
          <p:cNvPr id="18" name="Text 16"/>
          <p:cNvSpPr/>
          <p:nvPr/>
        </p:nvSpPr>
        <p:spPr>
          <a:xfrm>
            <a:off x="1965960" y="3474720"/>
            <a:ext cx="1280160" cy="301752"/>
          </a:xfrm>
          <a:prstGeom prst="rect">
            <a:avLst/>
          </a:prstGeom>
          <a:noFill/>
          <a:ln/>
        </p:spPr>
        <p:txBody>
          <a:bodyPr wrap="square" lIns="0" tIns="0" rIns="0" bIns="0" rtlCol="0" anchor="ctr"/>
          <a:lstStyle/>
          <a:p>
            <a:pPr algn="ctr" indent="0" marL="0">
              <a:buNone/>
            </a:pPr>
            <a:r>
              <a:rPr lang="en-US" sz="800" b="1" dirty="0">
                <a:solidFill>
                  <a:srgbClr val="005F63"/>
                </a:solidFill>
                <a:latin typeface="Calibri" pitchFamily="34" charset="0"/>
                <a:ea typeface="Calibri" pitchFamily="34" charset="-122"/>
                <a:cs typeface="Calibri" pitchFamily="34" charset="-120"/>
              </a:rPr>
              <a:t>C# .NET</a:t>
            </a:r>
            <a:endParaRPr lang="en-US" sz="800" dirty="0"/>
          </a:p>
        </p:txBody>
      </p:sp>
      <p:sp>
        <p:nvSpPr>
          <p:cNvPr id="19" name="Shape 17"/>
          <p:cNvSpPr/>
          <p:nvPr/>
        </p:nvSpPr>
        <p:spPr>
          <a:xfrm>
            <a:off x="3383280" y="3474720"/>
            <a:ext cx="1280160" cy="301752"/>
          </a:xfrm>
          <a:prstGeom prst="rect">
            <a:avLst>
              <a:gd name="adj" fmla="val 9091"/>
            </a:avLst>
          </a:prstGeom>
          <a:solidFill>
            <a:srgbClr val="E0F4F5"/>
          </a:solidFill>
          <a:ln w="6350">
            <a:solidFill>
              <a:srgbClr val="007A7F"/>
            </a:solidFill>
            <a:prstDash val="solid"/>
          </a:ln>
        </p:spPr>
      </p:sp>
      <p:sp>
        <p:nvSpPr>
          <p:cNvPr id="20" name="Text 18"/>
          <p:cNvSpPr/>
          <p:nvPr/>
        </p:nvSpPr>
        <p:spPr>
          <a:xfrm>
            <a:off x="3383280" y="3474720"/>
            <a:ext cx="1280160" cy="301752"/>
          </a:xfrm>
          <a:prstGeom prst="rect">
            <a:avLst/>
          </a:prstGeom>
          <a:noFill/>
          <a:ln/>
        </p:spPr>
        <p:txBody>
          <a:bodyPr wrap="square" lIns="0" tIns="0" rIns="0" bIns="0" rtlCol="0" anchor="ctr"/>
          <a:lstStyle/>
          <a:p>
            <a:pPr algn="ctr" indent="0" marL="0">
              <a:buNone/>
            </a:pPr>
            <a:r>
              <a:rPr lang="en-US" sz="800" b="1" dirty="0">
                <a:solidFill>
                  <a:srgbClr val="005F63"/>
                </a:solidFill>
                <a:latin typeface="Calibri" pitchFamily="34" charset="0"/>
                <a:ea typeface="Calibri" pitchFamily="34" charset="-122"/>
                <a:cs typeface="Calibri" pitchFamily="34" charset="-120"/>
              </a:rPr>
              <a:t>Dynamo</a:t>
            </a:r>
            <a:endParaRPr lang="en-US" sz="800" dirty="0"/>
          </a:p>
        </p:txBody>
      </p:sp>
      <p:sp>
        <p:nvSpPr>
          <p:cNvPr id="21" name="Shape 19"/>
          <p:cNvSpPr/>
          <p:nvPr/>
        </p:nvSpPr>
        <p:spPr>
          <a:xfrm>
            <a:off x="548640" y="3886200"/>
            <a:ext cx="1280160" cy="301752"/>
          </a:xfrm>
          <a:prstGeom prst="rect">
            <a:avLst>
              <a:gd name="adj" fmla="val 9091"/>
            </a:avLst>
          </a:prstGeom>
          <a:solidFill>
            <a:srgbClr val="E0F4F5"/>
          </a:solidFill>
          <a:ln w="6350">
            <a:solidFill>
              <a:srgbClr val="007A7F"/>
            </a:solidFill>
            <a:prstDash val="solid"/>
          </a:ln>
        </p:spPr>
      </p:sp>
      <p:sp>
        <p:nvSpPr>
          <p:cNvPr id="22" name="Text 20"/>
          <p:cNvSpPr/>
          <p:nvPr/>
        </p:nvSpPr>
        <p:spPr>
          <a:xfrm>
            <a:off x="548640" y="3886200"/>
            <a:ext cx="1280160" cy="301752"/>
          </a:xfrm>
          <a:prstGeom prst="rect">
            <a:avLst/>
          </a:prstGeom>
          <a:noFill/>
          <a:ln/>
        </p:spPr>
        <p:txBody>
          <a:bodyPr wrap="square" lIns="0" tIns="0" rIns="0" bIns="0" rtlCol="0" anchor="ctr"/>
          <a:lstStyle/>
          <a:p>
            <a:pPr algn="ctr" indent="0" marL="0">
              <a:buNone/>
            </a:pPr>
            <a:r>
              <a:rPr lang="en-US" sz="800" b="1" dirty="0">
                <a:solidFill>
                  <a:srgbClr val="005F63"/>
                </a:solidFill>
                <a:latin typeface="Calibri" pitchFamily="34" charset="0"/>
                <a:ea typeface="Calibri" pitchFamily="34" charset="-122"/>
                <a:cs typeface="Calibri" pitchFamily="34" charset="-120"/>
              </a:rPr>
              <a:t>Python</a:t>
            </a:r>
            <a:endParaRPr lang="en-US" sz="800" dirty="0"/>
          </a:p>
        </p:txBody>
      </p:sp>
      <p:sp>
        <p:nvSpPr>
          <p:cNvPr id="23" name="Shape 21"/>
          <p:cNvSpPr/>
          <p:nvPr/>
        </p:nvSpPr>
        <p:spPr>
          <a:xfrm>
            <a:off x="1965960" y="3886200"/>
            <a:ext cx="1280160" cy="301752"/>
          </a:xfrm>
          <a:prstGeom prst="rect">
            <a:avLst>
              <a:gd name="adj" fmla="val 9091"/>
            </a:avLst>
          </a:prstGeom>
          <a:solidFill>
            <a:srgbClr val="E0F4F5"/>
          </a:solidFill>
          <a:ln w="6350">
            <a:solidFill>
              <a:srgbClr val="007A7F"/>
            </a:solidFill>
            <a:prstDash val="solid"/>
          </a:ln>
        </p:spPr>
      </p:sp>
      <p:sp>
        <p:nvSpPr>
          <p:cNvPr id="24" name="Text 22"/>
          <p:cNvSpPr/>
          <p:nvPr/>
        </p:nvSpPr>
        <p:spPr>
          <a:xfrm>
            <a:off x="1965960" y="3886200"/>
            <a:ext cx="1280160" cy="301752"/>
          </a:xfrm>
          <a:prstGeom prst="rect">
            <a:avLst/>
          </a:prstGeom>
          <a:noFill/>
          <a:ln/>
        </p:spPr>
        <p:txBody>
          <a:bodyPr wrap="square" lIns="0" tIns="0" rIns="0" bIns="0" rtlCol="0" anchor="ctr"/>
          <a:lstStyle/>
          <a:p>
            <a:pPr algn="ctr" indent="0" marL="0">
              <a:buNone/>
            </a:pPr>
            <a:r>
              <a:rPr lang="en-US" sz="800" b="1" dirty="0">
                <a:solidFill>
                  <a:srgbClr val="005F63"/>
                </a:solidFill>
                <a:latin typeface="Calibri" pitchFamily="34" charset="0"/>
                <a:ea typeface="Calibri" pitchFamily="34" charset="-122"/>
                <a:cs typeface="Calibri" pitchFamily="34" charset="-120"/>
              </a:rPr>
              <a:t>IFC / BIM360</a:t>
            </a:r>
            <a:endParaRPr lang="en-US" sz="800" dirty="0"/>
          </a:p>
        </p:txBody>
      </p:sp>
      <p:sp>
        <p:nvSpPr>
          <p:cNvPr id="25" name="Shape 23"/>
          <p:cNvSpPr/>
          <p:nvPr/>
        </p:nvSpPr>
        <p:spPr>
          <a:xfrm>
            <a:off x="3383280" y="3886200"/>
            <a:ext cx="1280160" cy="301752"/>
          </a:xfrm>
          <a:prstGeom prst="rect">
            <a:avLst>
              <a:gd name="adj" fmla="val 9091"/>
            </a:avLst>
          </a:prstGeom>
          <a:solidFill>
            <a:srgbClr val="E0F4F5"/>
          </a:solidFill>
          <a:ln w="6350">
            <a:solidFill>
              <a:srgbClr val="007A7F"/>
            </a:solidFill>
            <a:prstDash val="solid"/>
          </a:ln>
        </p:spPr>
      </p:sp>
      <p:sp>
        <p:nvSpPr>
          <p:cNvPr id="26" name="Text 24"/>
          <p:cNvSpPr/>
          <p:nvPr/>
        </p:nvSpPr>
        <p:spPr>
          <a:xfrm>
            <a:off x="3383280" y="3886200"/>
            <a:ext cx="1280160" cy="301752"/>
          </a:xfrm>
          <a:prstGeom prst="rect">
            <a:avLst/>
          </a:prstGeom>
          <a:noFill/>
          <a:ln/>
        </p:spPr>
        <p:txBody>
          <a:bodyPr wrap="square" lIns="0" tIns="0" rIns="0" bIns="0" rtlCol="0" anchor="ctr"/>
          <a:lstStyle/>
          <a:p>
            <a:pPr algn="ctr" indent="0" marL="0">
              <a:buNone/>
            </a:pPr>
            <a:r>
              <a:rPr lang="en-US" sz="800" b="1" dirty="0">
                <a:solidFill>
                  <a:srgbClr val="005F63"/>
                </a:solidFill>
                <a:latin typeface="Calibri" pitchFamily="34" charset="0"/>
                <a:ea typeface="Calibri" pitchFamily="34" charset="-122"/>
                <a:cs typeface="Calibri" pitchFamily="34" charset="-120"/>
              </a:rPr>
              <a:t>React / Node.js</a:t>
            </a:r>
            <a:endParaRPr lang="en-US" sz="800" dirty="0"/>
          </a:p>
        </p:txBody>
      </p:sp>
      <p:sp>
        <p:nvSpPr>
          <p:cNvPr id="27" name="Shape 25"/>
          <p:cNvSpPr/>
          <p:nvPr/>
        </p:nvSpPr>
        <p:spPr>
          <a:xfrm>
            <a:off x="5212080" y="1280160"/>
            <a:ext cx="3566160" cy="3246120"/>
          </a:xfrm>
          <a:prstGeom prst="rect">
            <a:avLst>
              <a:gd name="adj" fmla="val 1408"/>
            </a:avLst>
          </a:prstGeom>
          <a:solidFill>
            <a:srgbClr val="1A2744"/>
          </a:solidFill>
          <a:ln/>
          <a:effectLst>
            <a:outerShdw sx="100000" sy="100000" kx="0" ky="0" algn="bl" rotWithShape="0" blurRad="63500" dist="25400" dir="8100000">
              <a:srgbClr val="000000">
                <a:alpha val="8000"/>
              </a:srgbClr>
            </a:outerShdw>
          </a:effectLst>
        </p:spPr>
      </p:sp>
      <p:sp>
        <p:nvSpPr>
          <p:cNvPr id="28" name="Text 26"/>
          <p:cNvSpPr/>
          <p:nvPr/>
        </p:nvSpPr>
        <p:spPr>
          <a:xfrm>
            <a:off x="5394960" y="1417320"/>
            <a:ext cx="3200400" cy="256032"/>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POSITIONNEMENT</a:t>
            </a:r>
            <a:endParaRPr lang="en-US" sz="1000" dirty="0"/>
          </a:p>
        </p:txBody>
      </p:sp>
      <p:sp>
        <p:nvSpPr>
          <p:cNvPr id="29" name="Text 27"/>
          <p:cNvSpPr/>
          <p:nvPr/>
        </p:nvSpPr>
        <p:spPr>
          <a:xfrm>
            <a:off x="5394960" y="1719072"/>
            <a:ext cx="3200400" cy="228600"/>
          </a:xfrm>
          <a:prstGeom prst="rect">
            <a:avLst/>
          </a:prstGeom>
          <a:noFill/>
          <a:ln/>
        </p:spPr>
        <p:txBody>
          <a:bodyPr wrap="square" lIns="0" tIns="0" rIns="0" bIns="0" rtlCol="0" anchor="ctr"/>
          <a:lstStyle/>
          <a:p>
            <a:pPr indent="0" marL="0">
              <a:buNone/>
            </a:pPr>
            <a:r>
              <a:rPr lang="en-US" sz="900" dirty="0">
                <a:solidFill>
                  <a:srgbClr val="007A7F"/>
                </a:solidFill>
                <a:latin typeface="Calibri" pitchFamily="34" charset="0"/>
                <a:ea typeface="Calibri" pitchFamily="34" charset="-122"/>
                <a:cs typeface="Calibri" pitchFamily="34" charset="-120"/>
              </a:rPr>
              <a:t>Triple compétence rare :</a:t>
            </a:r>
            <a:endParaRPr lang="en-US" sz="900" dirty="0"/>
          </a:p>
        </p:txBody>
      </p:sp>
      <p:sp>
        <p:nvSpPr>
          <p:cNvPr id="30" name="Text 28"/>
          <p:cNvSpPr/>
          <p:nvPr/>
        </p:nvSpPr>
        <p:spPr>
          <a:xfrm>
            <a:off x="5394960" y="2057400"/>
            <a:ext cx="3200400" cy="1188720"/>
          </a:xfrm>
          <a:prstGeom prst="rect">
            <a:avLst/>
          </a:prstGeom>
          <a:noFill/>
          <a:ln/>
        </p:spPr>
        <p:txBody>
          <a:bodyPr wrap="square" lIns="0" tIns="0" rIns="0" bIns="0" rtlCol="0" anchor="ctr"/>
          <a:lstStyle/>
          <a:p>
            <a:pPr marL="342900" indent="-342900">
              <a:buSzPct val="100000"/>
              <a:buChar char="•"/>
            </a:pPr>
            <a:r>
              <a:rPr lang="en-US" sz="900" dirty="0">
                <a:solidFill>
                  <a:srgbClr val="FFFFFF"/>
                </a:solidFill>
                <a:latin typeface="Calibri" pitchFamily="34" charset="0"/>
                <a:ea typeface="Calibri" pitchFamily="34" charset="-122"/>
                <a:cs typeface="Calibri" pitchFamily="34" charset="-120"/>
              </a:rPr>
              <a:t>MOA publique (Maroc) – vision globale projet</a:t>
            </a:r>
            <a:endParaRPr lang="en-US" sz="900" dirty="0"/>
          </a:p>
          <a:p>
            <a:pPr marL="342900" indent="-342900">
              <a:buSzPct val="100000"/>
              <a:buChar char="•"/>
            </a:pPr>
            <a:r>
              <a:rPr lang="en-US" sz="900" dirty="0">
                <a:solidFill>
                  <a:srgbClr val="FFFFFF"/>
                </a:solidFill>
                <a:latin typeface="Calibri" pitchFamily="34" charset="0"/>
                <a:ea typeface="Calibri" pitchFamily="34" charset="-122"/>
                <a:cs typeface="Calibri" pitchFamily="34" charset="-120"/>
              </a:rPr>
              <a:t>Exécution terrain (France) – réalité chantier</a:t>
            </a:r>
            <a:endParaRPr lang="en-US" sz="900" dirty="0"/>
          </a:p>
          <a:p>
            <a:pPr marL="342900" indent="-342900">
              <a:buSzPct val="100000"/>
              <a:buChar char="•"/>
            </a:pPr>
            <a:r>
              <a:rPr lang="en-US" sz="900" dirty="0">
                <a:solidFill>
                  <a:srgbClr val="FFFFFF"/>
                </a:solidFill>
                <a:latin typeface="Calibri" pitchFamily="34" charset="0"/>
                <a:ea typeface="Calibri" pitchFamily="34" charset="-122"/>
                <a:cs typeface="Calibri" pitchFamily="34" charset="-120"/>
              </a:rPr>
              <a:t>BIM – pont entre conception et chiffrage</a:t>
            </a:r>
            <a:endParaRPr lang="en-US" sz="900" dirty="0"/>
          </a:p>
        </p:txBody>
      </p:sp>
      <p:sp>
        <p:nvSpPr>
          <p:cNvPr id="31" name="Text 29"/>
          <p:cNvSpPr/>
          <p:nvPr/>
        </p:nvSpPr>
        <p:spPr>
          <a:xfrm>
            <a:off x="5394960" y="3383280"/>
            <a:ext cx="3200400" cy="5943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BIM</a:t>
            </a:r>
            <a:pPr algn="ctr" indent="0" marL="0">
              <a:buNone/>
            </a:pPr>
            <a:r>
              <a:rPr lang="en-US" sz="2200" dirty="0">
                <a:solidFill>
                  <a:srgbClr val="007A7F"/>
                </a:solidFill>
                <a:latin typeface="Cambria" pitchFamily="34" charset="0"/>
                <a:ea typeface="Cambria" pitchFamily="34" charset="-122"/>
                <a:cs typeface="Cambria" pitchFamily="34" charset="-120"/>
              </a:rPr>
              <a:t> + </a:t>
            </a:r>
            <a:pPr algn="ctr" indent="0" marL="0">
              <a:buNone/>
            </a:pPr>
            <a:r>
              <a:rPr lang="en-US" sz="3000" b="1" dirty="0">
                <a:solidFill>
                  <a:srgbClr val="FFFFFF"/>
                </a:solidFill>
                <a:latin typeface="Cambria" pitchFamily="34" charset="0"/>
                <a:ea typeface="Cambria" pitchFamily="34" charset="-122"/>
                <a:cs typeface="Cambria" pitchFamily="34" charset="-120"/>
              </a:rPr>
              <a:t>CO</a:t>
            </a:r>
            <a:endParaRPr lang="en-US" sz="3000" dirty="0"/>
          </a:p>
        </p:txBody>
      </p:sp>
      <p:sp>
        <p:nvSpPr>
          <p:cNvPr id="32" name="Text 30"/>
          <p:cNvSpPr/>
          <p:nvPr/>
        </p:nvSpPr>
        <p:spPr>
          <a:xfrm>
            <a:off x="5394960" y="3977640"/>
            <a:ext cx="3200400" cy="274320"/>
          </a:xfrm>
          <a:prstGeom prst="rect">
            <a:avLst/>
          </a:prstGeom>
          <a:noFill/>
          <a:ln/>
        </p:spPr>
        <p:txBody>
          <a:bodyPr wrap="square" lIns="0" tIns="0" rIns="0" bIns="0" rtlCol="0" anchor="ctr"/>
          <a:lstStyle/>
          <a:p>
            <a:pPr algn="ctr" indent="0" marL="0">
              <a:buNone/>
            </a:pPr>
            <a:r>
              <a:rPr lang="en-US" sz="700" dirty="0">
                <a:solidFill>
                  <a:srgbClr val="007A7F"/>
                </a:solidFill>
                <a:latin typeface="Calibri" pitchFamily="34" charset="0"/>
                <a:ea typeface="Calibri" pitchFamily="34" charset="-122"/>
                <a:cs typeface="Calibri" pitchFamily="34" charset="-120"/>
              </a:rPr>
              <a:t>Building Information Modeling + Économie de la Construction</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A7F"/>
          </a:solidFill>
          <a:ln/>
        </p:spPr>
      </p:sp>
      <p:sp>
        <p:nvSpPr>
          <p:cNvPr id="3" name="Shape 1"/>
          <p:cNvSpPr/>
          <p:nvPr/>
        </p:nvSpPr>
        <p:spPr>
          <a:xfrm>
            <a:off x="365760" y="137160"/>
            <a:ext cx="1554480" cy="329184"/>
          </a:xfrm>
          <a:prstGeom prst="rect">
            <a:avLst>
              <a:gd name="adj" fmla="val 11111"/>
            </a:avLst>
          </a:prstGeom>
          <a:solidFill>
            <a:srgbClr val="E0F4F5"/>
          </a:solidFill>
          <a:ln w="7620">
            <a:solidFill>
              <a:srgbClr val="007A7F"/>
            </a:solidFill>
            <a:prstDash val="solid"/>
          </a:ln>
        </p:spPr>
      </p:sp>
      <p:sp>
        <p:nvSpPr>
          <p:cNvPr id="4" name="Text 2"/>
          <p:cNvSpPr/>
          <p:nvPr/>
        </p:nvSpPr>
        <p:spPr>
          <a:xfrm>
            <a:off x="365760" y="137160"/>
            <a:ext cx="1554480" cy="329184"/>
          </a:xfrm>
          <a:prstGeom prst="rect">
            <a:avLst/>
          </a:prstGeom>
          <a:noFill/>
          <a:ln/>
        </p:spPr>
        <p:txBody>
          <a:bodyPr wrap="square" lIns="0" tIns="0" rIns="0" bIns="0" rtlCol="0" anchor="ctr"/>
          <a:lstStyle/>
          <a:p>
            <a:pPr algn="ctr" indent="0" marL="0">
              <a:buNone/>
            </a:pPr>
            <a:r>
              <a:rPr lang="en-US" sz="850" b="1" dirty="0">
                <a:solidFill>
                  <a:srgbClr val="007A7F"/>
                </a:solidFill>
                <a:latin typeface="Calibri" pitchFamily="34" charset="0"/>
                <a:ea typeface="Calibri" pitchFamily="34" charset="-122"/>
                <a:cs typeface="Calibri" pitchFamily="34" charset="-120"/>
              </a:rPr>
              <a:t>02 – Projet 1</a:t>
            </a:r>
            <a:endParaRPr lang="en-US" sz="850" dirty="0"/>
          </a:p>
        </p:txBody>
      </p:sp>
      <p:sp>
        <p:nvSpPr>
          <p:cNvPr id="5" name="Text 3"/>
          <p:cNvSpPr/>
          <p:nvPr/>
        </p:nvSpPr>
        <p:spPr>
          <a:xfrm>
            <a:off x="365760" y="4828032"/>
            <a:ext cx="8412480" cy="228600"/>
          </a:xfrm>
          <a:prstGeom prst="rect">
            <a:avLst/>
          </a:prstGeom>
          <a:noFill/>
          <a:ln/>
        </p:spPr>
        <p:txBody>
          <a:bodyPr wrap="square" rtlCol="0" anchor="ctr"/>
          <a:lstStyle/>
          <a:p>
            <a:pPr algn="r" indent="0" marL="0">
              <a:buNone/>
            </a:pPr>
            <a:r>
              <a:rPr lang="en-US" sz="700" dirty="0">
                <a:solidFill>
                  <a:srgbClr val="777777"/>
                </a:solidFill>
                <a:latin typeface="Calibri" pitchFamily="34" charset="0"/>
                <a:ea typeface="Calibri" pitchFamily="34" charset="-122"/>
                <a:cs typeface="Calibri" pitchFamily="34" charset="-120"/>
              </a:rPr>
              <a:t>BAHAFID Mohamed  ·  Rapport U62  ·  BTS MEC 2026  ·  5/15</a:t>
            </a:r>
            <a:endParaRPr lang="en-US" sz="700" dirty="0"/>
          </a:p>
        </p:txBody>
      </p:sp>
      <p:sp>
        <p:nvSpPr>
          <p:cNvPr id="6" name="Text 4"/>
          <p:cNvSpPr/>
          <p:nvPr/>
        </p:nvSpPr>
        <p:spPr>
          <a:xfrm>
            <a:off x="365760" y="530352"/>
            <a:ext cx="8412480" cy="384048"/>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MISE À NIVEAU DE 4 COMMUNES</a:t>
            </a:r>
            <a:endParaRPr lang="en-US" sz="1800" dirty="0"/>
          </a:p>
        </p:txBody>
      </p:sp>
      <p:sp>
        <p:nvSpPr>
          <p:cNvPr id="7" name="Text 5"/>
          <p:cNvSpPr/>
          <p:nvPr/>
        </p:nvSpPr>
        <p:spPr>
          <a:xfrm>
            <a:off x="365760" y="896112"/>
            <a:ext cx="8412480" cy="256032"/>
          </a:xfrm>
          <a:prstGeom prst="rect">
            <a:avLst/>
          </a:prstGeom>
          <a:noFill/>
          <a:ln/>
        </p:spPr>
        <p:txBody>
          <a:bodyPr wrap="square" lIns="0" tIns="0" rIns="0" bIns="0" rtlCol="0" anchor="ctr"/>
          <a:lstStyle/>
          <a:p>
            <a:pPr indent="0" marL="0">
              <a:buNone/>
            </a:pPr>
            <a:r>
              <a:rPr lang="en-US" sz="950" dirty="0">
                <a:solidFill>
                  <a:srgbClr val="777777"/>
                </a:solidFill>
                <a:latin typeface="Calibri" pitchFamily="34" charset="0"/>
                <a:ea typeface="Calibri" pitchFamily="34" charset="-122"/>
                <a:cs typeface="Calibri" pitchFamily="34" charset="-120"/>
              </a:rPr>
              <a:t>Marché n°38-RBK-2017 – 53,5 M DH TTC – Province de Khénifra</a:t>
            </a:r>
            <a:endParaRPr lang="en-US" sz="950" dirty="0"/>
          </a:p>
        </p:txBody>
      </p:sp>
      <p:sp>
        <p:nvSpPr>
          <p:cNvPr id="8" name="Text 6"/>
          <p:cNvSpPr/>
          <p:nvPr/>
        </p:nvSpPr>
        <p:spPr>
          <a:xfrm>
            <a:off x="365760" y="1325880"/>
            <a:ext cx="2286000" cy="594360"/>
          </a:xfrm>
          <a:prstGeom prst="rect">
            <a:avLst/>
          </a:prstGeom>
          <a:noFill/>
          <a:ln/>
        </p:spPr>
        <p:txBody>
          <a:bodyPr wrap="square" lIns="0" tIns="0" rIns="0" bIns="0" rtlCol="0" anchor="ctr"/>
          <a:lstStyle/>
          <a:p>
            <a:pPr indent="0" marL="0">
              <a:buNone/>
            </a:pPr>
            <a:r>
              <a:rPr lang="en-US" sz="3600" b="1" dirty="0">
                <a:solidFill>
                  <a:srgbClr val="007A7F"/>
                </a:solidFill>
                <a:latin typeface="Cambria" pitchFamily="34" charset="0"/>
                <a:ea typeface="Cambria" pitchFamily="34" charset="-122"/>
                <a:cs typeface="Cambria" pitchFamily="34" charset="-120"/>
              </a:rPr>
              <a:t>53,5</a:t>
            </a:r>
            <a:endParaRPr lang="en-US" sz="3600" dirty="0"/>
          </a:p>
        </p:txBody>
      </p:sp>
      <p:sp>
        <p:nvSpPr>
          <p:cNvPr id="9" name="Text 7"/>
          <p:cNvSpPr/>
          <p:nvPr/>
        </p:nvSpPr>
        <p:spPr>
          <a:xfrm>
            <a:off x="2560320" y="1417320"/>
            <a:ext cx="1371600" cy="411480"/>
          </a:xfrm>
          <a:prstGeom prst="rect">
            <a:avLst/>
          </a:prstGeom>
          <a:noFill/>
          <a:ln/>
        </p:spPr>
        <p:txBody>
          <a:bodyPr wrap="square" lIns="0" tIns="0" rIns="0" bIns="0" rtlCol="0" anchor="ctr"/>
          <a:lstStyle/>
          <a:p>
            <a:pPr indent="0" marL="0">
              <a:buNone/>
            </a:pPr>
            <a:r>
              <a:rPr lang="en-US" sz="1400" dirty="0">
                <a:solidFill>
                  <a:srgbClr val="007A7F"/>
                </a:solidFill>
                <a:latin typeface="Calibri" pitchFamily="34" charset="0"/>
                <a:ea typeface="Calibri" pitchFamily="34" charset="-122"/>
                <a:cs typeface="Calibri" pitchFamily="34" charset="-120"/>
              </a:rPr>
              <a:t>M DH TTC</a:t>
            </a:r>
            <a:endParaRPr lang="en-US" sz="1400" dirty="0"/>
          </a:p>
        </p:txBody>
      </p:sp>
      <p:sp>
        <p:nvSpPr>
          <p:cNvPr id="10" name="Text 8"/>
          <p:cNvSpPr/>
          <p:nvPr/>
        </p:nvSpPr>
        <p:spPr>
          <a:xfrm>
            <a:off x="365760" y="1920240"/>
            <a:ext cx="4114800" cy="228600"/>
          </a:xfrm>
          <a:prstGeom prst="rect">
            <a:avLst/>
          </a:prstGeom>
          <a:noFill/>
          <a:ln/>
        </p:spPr>
        <p:txBody>
          <a:bodyPr wrap="square" lIns="0" tIns="0" rIns="0" bIns="0" rtlCol="0" anchor="ctr"/>
          <a:lstStyle/>
          <a:p>
            <a:pPr indent="0" marL="0">
              <a:buNone/>
            </a:pPr>
            <a:r>
              <a:rPr lang="en-US" sz="900" dirty="0">
                <a:solidFill>
                  <a:srgbClr val="777777"/>
                </a:solidFill>
                <a:latin typeface="Calibri" pitchFamily="34" charset="0"/>
                <a:ea typeface="Calibri" pitchFamily="34" charset="-122"/>
                <a:cs typeface="Calibri" pitchFamily="34" charset="-120"/>
              </a:rPr>
              <a:t>4 communes  ·  8 corps d’état  ·  18 mois</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2286000"/>
          <a:ext cx="4114800" cy="914400"/>
        </p:xfrm>
        <a:graphic>
          <a:graphicData uri="http://schemas.openxmlformats.org/drawingml/2006/table">
            <a:tbl>
              <a:tblPr/>
              <a:tblGrid>
                <a:gridCol w="457200"/>
                <a:gridCol w="2651760"/>
                <a:gridCol w="548640"/>
              </a:tblGrid>
              <a:tr h="246888">
                <a:tc>
                  <a:txBody>
                    <a:bodyPr/>
                    <a:lstStyle/>
                    <a:p>
                      <a:pPr indent="0" marL="0">
                        <a:buNone/>
                      </a:pPr>
                      <a:r>
                        <a:rPr lang="en-US" sz="750" b="1" dirty="0">
                          <a:solidFill>
                            <a:srgbClr val="FFFFFF"/>
                          </a:solidFill>
                        </a:rPr>
                        <a:t>Lot</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A7F"/>
                    </a:solidFill>
                  </a:tcPr>
                </a:tc>
                <a:tc>
                  <a:txBody>
                    <a:bodyPr/>
                    <a:lstStyle/>
                    <a:p>
                      <a:pPr indent="0" marL="0">
                        <a:buNone/>
                      </a:pPr>
                      <a:r>
                        <a:rPr lang="en-US" sz="750" b="1" dirty="0">
                          <a:solidFill>
                            <a:srgbClr val="FFFFFF"/>
                          </a:solidFill>
                        </a:rPr>
                        <a:t>Désignation</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A7F"/>
                    </a:solidFill>
                  </a:tcPr>
                </a:tc>
                <a:tc>
                  <a:txBody>
                    <a:bodyPr/>
                    <a:lstStyle/>
                    <a:p>
                      <a:pPr algn="ctr" indent="0" marL="0">
                        <a:buNone/>
                      </a:pPr>
                      <a:r>
                        <a:rPr lang="en-US" sz="750" b="1" dirty="0">
                          <a:solidFill>
                            <a:srgbClr val="FFFFFF"/>
                          </a:solidFill>
                        </a:rPr>
                        <a:t>%</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A7F"/>
                    </a:solidFill>
                  </a:tcPr>
                </a:tc>
              </a:tr>
              <a:tr h="246888">
                <a:tc>
                  <a:txBody>
                    <a:bodyPr/>
                    <a:lstStyle/>
                    <a:p>
                      <a:pPr indent="0" marL="0">
                        <a:buNone/>
                      </a:pPr>
                      <a:r>
                        <a:rPr lang="en-US" sz="750" b="1" dirty="0">
                          <a:solidFill>
                            <a:srgbClr val="007A7F"/>
                          </a:solidFill>
                        </a:rPr>
                        <a:t>01</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50" dirty="0">
                          <a:solidFill>
                            <a:srgbClr val="3A3A3A"/>
                          </a:solidFill>
                        </a:rPr>
                        <a:t>Assainissement</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dirty="0">
                          <a:solidFill>
                            <a:srgbClr val="3A3A3A"/>
                          </a:solidFill>
                        </a:rPr>
                        <a:t>22%</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46888">
                <a:tc>
                  <a:txBody>
                    <a:bodyPr/>
                    <a:lstStyle/>
                    <a:p>
                      <a:pPr indent="0" marL="0">
                        <a:buNone/>
                      </a:pPr>
                      <a:r>
                        <a:rPr lang="en-US" sz="750" b="1" dirty="0">
                          <a:solidFill>
                            <a:srgbClr val="007A7F"/>
                          </a:solidFill>
                        </a:rPr>
                        <a:t>02</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50" dirty="0">
                          <a:solidFill>
                            <a:srgbClr val="3A3A3A"/>
                          </a:solidFill>
                        </a:rPr>
                        <a:t>Chaussée</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dirty="0">
                          <a:solidFill>
                            <a:srgbClr val="3A3A3A"/>
                          </a:solidFill>
                        </a:rPr>
                        <a:t>19%</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46888">
                <a:tc>
                  <a:txBody>
                    <a:bodyPr/>
                    <a:lstStyle/>
                    <a:p>
                      <a:pPr indent="0" marL="0">
                        <a:buNone/>
                      </a:pPr>
                      <a:r>
                        <a:rPr lang="en-US" sz="750" b="1" dirty="0">
                          <a:solidFill>
                            <a:srgbClr val="007A7F"/>
                          </a:solidFill>
                        </a:rPr>
                        <a:t>03</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50" dirty="0">
                          <a:solidFill>
                            <a:srgbClr val="3A3A3A"/>
                          </a:solidFill>
                        </a:rPr>
                        <a:t>Trottoirs</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dirty="0">
                          <a:solidFill>
                            <a:srgbClr val="3A3A3A"/>
                          </a:solidFill>
                        </a:rPr>
                        <a:t>14%</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46888">
                <a:tc>
                  <a:txBody>
                    <a:bodyPr/>
                    <a:lstStyle/>
                    <a:p>
                      <a:pPr indent="0" marL="0">
                        <a:buNone/>
                      </a:pPr>
                      <a:r>
                        <a:rPr lang="en-US" sz="750" b="1" dirty="0">
                          <a:solidFill>
                            <a:srgbClr val="007A7F"/>
                          </a:solidFill>
                        </a:rPr>
                        <a:t>04</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50" dirty="0">
                          <a:solidFill>
                            <a:srgbClr val="3A3A3A"/>
                          </a:solidFill>
                        </a:rPr>
                        <a:t>Signalisation</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dirty="0">
                          <a:solidFill>
                            <a:srgbClr val="3A3A3A"/>
                          </a:solidFill>
                        </a:rPr>
                        <a:t>6%</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46888">
                <a:tc>
                  <a:txBody>
                    <a:bodyPr/>
                    <a:lstStyle/>
                    <a:p>
                      <a:pPr indent="0" marL="0">
                        <a:buNone/>
                      </a:pPr>
                      <a:r>
                        <a:rPr lang="en-US" sz="750" b="1" dirty="0">
                          <a:solidFill>
                            <a:srgbClr val="007A7F"/>
                          </a:solidFill>
                        </a:rPr>
                        <a:t>05</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50" dirty="0">
                          <a:solidFill>
                            <a:srgbClr val="3A3A3A"/>
                          </a:solidFill>
                        </a:rPr>
                        <a:t>Éclairage public</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dirty="0">
                          <a:solidFill>
                            <a:srgbClr val="3A3A3A"/>
                          </a:solidFill>
                        </a:rPr>
                        <a:t>16%</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46888">
                <a:tc>
                  <a:txBody>
                    <a:bodyPr/>
                    <a:lstStyle/>
                    <a:p>
                      <a:pPr indent="0" marL="0">
                        <a:buNone/>
                      </a:pPr>
                      <a:r>
                        <a:rPr lang="en-US" sz="750" b="1" dirty="0">
                          <a:solidFill>
                            <a:srgbClr val="007A7F"/>
                          </a:solidFill>
                        </a:rPr>
                        <a:t>06</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50" dirty="0">
                          <a:solidFill>
                            <a:srgbClr val="3A3A3A"/>
                          </a:solidFill>
                        </a:rPr>
                        <a:t>Murs &amp; ouvrages</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dirty="0">
                          <a:solidFill>
                            <a:srgbClr val="3A3A3A"/>
                          </a:solidFill>
                        </a:rPr>
                        <a:t>14%</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46888">
                <a:tc>
                  <a:txBody>
                    <a:bodyPr/>
                    <a:lstStyle/>
                    <a:p>
                      <a:pPr indent="0" marL="0">
                        <a:buNone/>
                      </a:pPr>
                      <a:r>
                        <a:rPr lang="en-US" sz="750" b="1" dirty="0">
                          <a:solidFill>
                            <a:srgbClr val="007A7F"/>
                          </a:solidFill>
                        </a:rPr>
                        <a:t>07</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50" dirty="0">
                          <a:solidFill>
                            <a:srgbClr val="3A3A3A"/>
                          </a:solidFill>
                        </a:rPr>
                        <a:t>Paysager</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dirty="0">
                          <a:solidFill>
                            <a:srgbClr val="3A3A3A"/>
                          </a:solidFill>
                        </a:rPr>
                        <a:t>5%</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46888">
                <a:tc>
                  <a:txBody>
                    <a:bodyPr/>
                    <a:lstStyle/>
                    <a:p>
                      <a:pPr indent="0" marL="0">
                        <a:buNone/>
                      </a:pPr>
                      <a:r>
                        <a:rPr lang="en-US" sz="750" b="1" dirty="0">
                          <a:solidFill>
                            <a:srgbClr val="007A7F"/>
                          </a:solidFill>
                        </a:rPr>
                        <a:t>08</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50" dirty="0">
                          <a:solidFill>
                            <a:srgbClr val="3A3A3A"/>
                          </a:solidFill>
                        </a:rPr>
                        <a:t>Mobilier urbain</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dirty="0">
                          <a:solidFill>
                            <a:srgbClr val="3A3A3A"/>
                          </a:solidFill>
                        </a:rPr>
                        <a:t>4%</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graphicFrame>
        <p:nvGraphicFramePr>
          <p:cNvPr id="12" name="Chart 0" descr=""/>
          <p:cNvGraphicFramePr/>
          <p:nvPr/>
        </p:nvGraphicFramePr>
        <p:xfrm>
          <a:off x="4754880" y="1280160"/>
          <a:ext cx="4023360" cy="34747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A7F"/>
          </a:solidFill>
          <a:ln/>
        </p:spPr>
      </p:sp>
      <p:sp>
        <p:nvSpPr>
          <p:cNvPr id="3" name="Shape 1"/>
          <p:cNvSpPr/>
          <p:nvPr/>
        </p:nvSpPr>
        <p:spPr>
          <a:xfrm>
            <a:off x="365760" y="137160"/>
            <a:ext cx="1737360" cy="329184"/>
          </a:xfrm>
          <a:prstGeom prst="rect">
            <a:avLst>
              <a:gd name="adj" fmla="val 11111"/>
            </a:avLst>
          </a:prstGeom>
          <a:solidFill>
            <a:srgbClr val="E0F4F5"/>
          </a:solidFill>
          <a:ln w="7620">
            <a:solidFill>
              <a:srgbClr val="007A7F"/>
            </a:solidFill>
            <a:prstDash val="solid"/>
          </a:ln>
        </p:spPr>
      </p:sp>
      <p:sp>
        <p:nvSpPr>
          <p:cNvPr id="4" name="Text 2"/>
          <p:cNvSpPr/>
          <p:nvPr/>
        </p:nvSpPr>
        <p:spPr>
          <a:xfrm>
            <a:off x="365760" y="137160"/>
            <a:ext cx="1737360" cy="329184"/>
          </a:xfrm>
          <a:prstGeom prst="rect">
            <a:avLst/>
          </a:prstGeom>
          <a:noFill/>
          <a:ln/>
        </p:spPr>
        <p:txBody>
          <a:bodyPr wrap="square" lIns="0" tIns="0" rIns="0" bIns="0" rtlCol="0" anchor="ctr"/>
          <a:lstStyle/>
          <a:p>
            <a:pPr algn="ctr" indent="0" marL="0">
              <a:buNone/>
            </a:pPr>
            <a:r>
              <a:rPr lang="en-US" sz="850" b="1" dirty="0">
                <a:solidFill>
                  <a:srgbClr val="007A7F"/>
                </a:solidFill>
                <a:latin typeface="Calibri" pitchFamily="34" charset="0"/>
                <a:ea typeface="Calibri" pitchFamily="34" charset="-122"/>
                <a:cs typeface="Calibri" pitchFamily="34" charset="-120"/>
              </a:rPr>
              <a:t>02 – Sit. 1 &amp; 2</a:t>
            </a:r>
            <a:endParaRPr lang="en-US" sz="850" dirty="0"/>
          </a:p>
        </p:txBody>
      </p:sp>
      <p:sp>
        <p:nvSpPr>
          <p:cNvPr id="5" name="Text 3"/>
          <p:cNvSpPr/>
          <p:nvPr/>
        </p:nvSpPr>
        <p:spPr>
          <a:xfrm>
            <a:off x="365760" y="4828032"/>
            <a:ext cx="8412480" cy="228600"/>
          </a:xfrm>
          <a:prstGeom prst="rect">
            <a:avLst/>
          </a:prstGeom>
          <a:noFill/>
          <a:ln/>
        </p:spPr>
        <p:txBody>
          <a:bodyPr wrap="square" rtlCol="0" anchor="ctr"/>
          <a:lstStyle/>
          <a:p>
            <a:pPr algn="r" indent="0" marL="0">
              <a:buNone/>
            </a:pPr>
            <a:r>
              <a:rPr lang="en-US" sz="700" dirty="0">
                <a:solidFill>
                  <a:srgbClr val="777777"/>
                </a:solidFill>
                <a:latin typeface="Calibri" pitchFamily="34" charset="0"/>
                <a:ea typeface="Calibri" pitchFamily="34" charset="-122"/>
                <a:cs typeface="Calibri" pitchFamily="34" charset="-120"/>
              </a:rPr>
              <a:t>BAHAFID Mohamed  ·  Rapport U62  ·  BTS MEC 2026  ·  6/15</a:t>
            </a:r>
            <a:endParaRPr lang="en-US" sz="700" dirty="0"/>
          </a:p>
        </p:txBody>
      </p:sp>
      <p:sp>
        <p:nvSpPr>
          <p:cNvPr id="6" name="Text 4"/>
          <p:cNvSpPr/>
          <p:nvPr/>
        </p:nvSpPr>
        <p:spPr>
          <a:xfrm>
            <a:off x="365760" y="530352"/>
            <a:ext cx="8412480" cy="384048"/>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ESTIMATION CONFIDENTIELLE &amp; ANALYSE DES OFFRES</a:t>
            </a:r>
            <a:endParaRPr lang="en-US" sz="1800" dirty="0"/>
          </a:p>
        </p:txBody>
      </p:sp>
      <p:sp>
        <p:nvSpPr>
          <p:cNvPr id="7" name="Text 5"/>
          <p:cNvSpPr/>
          <p:nvPr/>
        </p:nvSpPr>
        <p:spPr>
          <a:xfrm>
            <a:off x="365760" y="896112"/>
            <a:ext cx="8412480" cy="256032"/>
          </a:xfrm>
          <a:prstGeom prst="rect">
            <a:avLst/>
          </a:prstGeom>
          <a:noFill/>
          <a:ln/>
        </p:spPr>
        <p:txBody>
          <a:bodyPr wrap="square" lIns="0" tIns="0" rIns="0" bIns="0" rtlCol="0" anchor="ctr"/>
          <a:lstStyle/>
          <a:p>
            <a:pPr indent="0" marL="0">
              <a:buNone/>
            </a:pPr>
            <a:r>
              <a:rPr lang="en-US" sz="950" dirty="0">
                <a:solidFill>
                  <a:srgbClr val="777777"/>
                </a:solidFill>
                <a:latin typeface="Calibri" pitchFamily="34" charset="0"/>
                <a:ea typeface="Calibri" pitchFamily="34" charset="-122"/>
                <a:cs typeface="Calibri" pitchFamily="34" charset="-120"/>
              </a:rPr>
              <a:t>Compétence C18 – Métrer, estimer, analyser les offres</a:t>
            </a:r>
            <a:endParaRPr lang="en-US" sz="950" dirty="0"/>
          </a:p>
        </p:txBody>
      </p:sp>
      <p:sp>
        <p:nvSpPr>
          <p:cNvPr id="8" name="Shape 6"/>
          <p:cNvSpPr/>
          <p:nvPr/>
        </p:nvSpPr>
        <p:spPr>
          <a:xfrm>
            <a:off x="365760" y="1280160"/>
            <a:ext cx="4114800" cy="3383280"/>
          </a:xfrm>
          <a:prstGeom prst="rect">
            <a:avLst>
              <a:gd name="adj" fmla="val 1351"/>
            </a:avLst>
          </a:prstGeom>
          <a:solidFill>
            <a:srgbClr val="FFFFFF"/>
          </a:solidFill>
          <a:ln/>
          <a:effectLst>
            <a:outerShdw sx="100000" sy="100000" kx="0" ky="0" algn="bl" rotWithShape="0" blurRad="63500" dist="25400" dir="8100000">
              <a:srgbClr val="000000">
                <a:alpha val="8000"/>
              </a:srgbClr>
            </a:outerShdw>
          </a:effectLst>
        </p:spPr>
      </p:sp>
      <p:sp>
        <p:nvSpPr>
          <p:cNvPr id="9" name="Shape 7"/>
          <p:cNvSpPr/>
          <p:nvPr/>
        </p:nvSpPr>
        <p:spPr>
          <a:xfrm>
            <a:off x="365760" y="1280160"/>
            <a:ext cx="4114800" cy="36576"/>
          </a:xfrm>
          <a:prstGeom prst="rect">
            <a:avLst>
              <a:gd name="adj" fmla="val 50000"/>
            </a:avLst>
          </a:prstGeom>
          <a:solidFill>
            <a:srgbClr val="007A7F"/>
          </a:solidFill>
          <a:ln/>
        </p:spPr>
      </p:sp>
      <p:sp>
        <p:nvSpPr>
          <p:cNvPr id="10" name="Text 8"/>
          <p:cNvSpPr/>
          <p:nvPr/>
        </p:nvSpPr>
        <p:spPr>
          <a:xfrm>
            <a:off x="548640" y="1417320"/>
            <a:ext cx="3017520" cy="256032"/>
          </a:xfrm>
          <a:prstGeom prst="rect">
            <a:avLst/>
          </a:prstGeom>
          <a:noFill/>
          <a:ln/>
        </p:spPr>
        <p:txBody>
          <a:bodyPr wrap="square" lIns="0" tIns="0" rIns="0" bIns="0" rtlCol="0" anchor="ctr"/>
          <a:lstStyle/>
          <a:p>
            <a:pPr indent="0" marL="0">
              <a:buNone/>
            </a:pPr>
            <a:r>
              <a:rPr lang="en-US" sz="800" b="1" spc="100" kern="0" dirty="0">
                <a:solidFill>
                  <a:srgbClr val="007A7F"/>
                </a:solidFill>
                <a:latin typeface="Calibri" pitchFamily="34" charset="0"/>
                <a:ea typeface="Calibri" pitchFamily="34" charset="-122"/>
                <a:cs typeface="Calibri" pitchFamily="34" charset="-120"/>
              </a:rPr>
              <a:t>SITUATION 1 – ESTIMATION CONFIDENTIELLE</a:t>
            </a:r>
            <a:endParaRPr lang="en-US" sz="800" dirty="0"/>
          </a:p>
        </p:txBody>
      </p:sp>
      <p:sp>
        <p:nvSpPr>
          <p:cNvPr id="11" name="Text 9"/>
          <p:cNvSpPr/>
          <p:nvPr/>
        </p:nvSpPr>
        <p:spPr>
          <a:xfrm>
            <a:off x="548640" y="1691640"/>
            <a:ext cx="2743200" cy="201168"/>
          </a:xfrm>
          <a:prstGeom prst="rect">
            <a:avLst/>
          </a:prstGeom>
          <a:noFill/>
          <a:ln/>
        </p:spPr>
        <p:txBody>
          <a:bodyPr wrap="square" lIns="0" tIns="0" rIns="0" bIns="0" rtlCol="0" anchor="ctr"/>
          <a:lstStyle/>
          <a:p>
            <a:pPr indent="0" marL="0">
              <a:buNone/>
            </a:pPr>
            <a:r>
              <a:rPr lang="en-US" sz="900" b="1" dirty="0">
                <a:solidFill>
                  <a:srgbClr val="1E1E1E"/>
                </a:solidFill>
                <a:latin typeface="Calibri" pitchFamily="34" charset="0"/>
                <a:ea typeface="Calibri" pitchFamily="34" charset="-122"/>
                <a:cs typeface="Calibri" pitchFamily="34" charset="-120"/>
              </a:rPr>
              <a:t>Ouaoumana – 15,8 M DH HT</a:t>
            </a:r>
            <a:endParaRPr lang="en-US" sz="900" dirty="0"/>
          </a:p>
        </p:txBody>
      </p:sp>
      <p:sp>
        <p:nvSpPr>
          <p:cNvPr id="12" name="Text 10"/>
          <p:cNvSpPr/>
          <p:nvPr/>
        </p:nvSpPr>
        <p:spPr>
          <a:xfrm>
            <a:off x="3200400" y="1371600"/>
            <a:ext cx="1097280" cy="502920"/>
          </a:xfrm>
          <a:prstGeom prst="rect">
            <a:avLst/>
          </a:prstGeom>
          <a:noFill/>
          <a:ln/>
        </p:spPr>
        <p:txBody>
          <a:bodyPr wrap="square" lIns="0" tIns="0" rIns="0" bIns="0" rtlCol="0" anchor="ctr"/>
          <a:lstStyle/>
          <a:p>
            <a:pPr algn="r" indent="0" marL="0">
              <a:buNone/>
            </a:pPr>
            <a:r>
              <a:rPr lang="en-US" sz="2800" b="1" dirty="0">
                <a:solidFill>
                  <a:srgbClr val="16A34A"/>
                </a:solidFill>
                <a:latin typeface="Cambria" pitchFamily="34" charset="0"/>
                <a:ea typeface="Cambria" pitchFamily="34" charset="-122"/>
                <a:cs typeface="Cambria" pitchFamily="34" charset="-120"/>
              </a:rPr>
              <a:t>3,2%</a:t>
            </a:r>
            <a:endParaRPr lang="en-US" sz="2800" dirty="0"/>
          </a:p>
        </p:txBody>
      </p:sp>
      <p:sp>
        <p:nvSpPr>
          <p:cNvPr id="13" name="Shape 11"/>
          <p:cNvSpPr/>
          <p:nvPr/>
        </p:nvSpPr>
        <p:spPr>
          <a:xfrm>
            <a:off x="548640" y="2011680"/>
            <a:ext cx="219456" cy="219456"/>
          </a:xfrm>
          <a:prstGeom prst="ellipse">
            <a:avLst/>
          </a:prstGeom>
          <a:solidFill>
            <a:srgbClr val="007A7F"/>
          </a:solidFill>
          <a:ln/>
        </p:spPr>
      </p:sp>
      <p:sp>
        <p:nvSpPr>
          <p:cNvPr id="14" name="Text 12"/>
          <p:cNvSpPr/>
          <p:nvPr/>
        </p:nvSpPr>
        <p:spPr>
          <a:xfrm>
            <a:off x="548640" y="201168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C</a:t>
            </a:r>
            <a:endParaRPr lang="en-US" sz="1000" dirty="0"/>
          </a:p>
        </p:txBody>
      </p:sp>
      <p:sp>
        <p:nvSpPr>
          <p:cNvPr id="15" name="Text 13"/>
          <p:cNvSpPr/>
          <p:nvPr/>
        </p:nvSpPr>
        <p:spPr>
          <a:xfrm>
            <a:off x="841248" y="1993392"/>
            <a:ext cx="338328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Prix plafond avant AO. 35% du budget. Délai 3 semaines.</a:t>
            </a:r>
            <a:endParaRPr lang="en-US" sz="800" dirty="0"/>
          </a:p>
        </p:txBody>
      </p:sp>
      <p:sp>
        <p:nvSpPr>
          <p:cNvPr id="16" name="Shape 14"/>
          <p:cNvSpPr/>
          <p:nvPr/>
        </p:nvSpPr>
        <p:spPr>
          <a:xfrm>
            <a:off x="548640" y="2560320"/>
            <a:ext cx="219456" cy="219456"/>
          </a:xfrm>
          <a:prstGeom prst="ellipse">
            <a:avLst/>
          </a:prstGeom>
          <a:solidFill>
            <a:srgbClr val="D97706"/>
          </a:solidFill>
          <a:ln/>
        </p:spPr>
      </p:sp>
      <p:sp>
        <p:nvSpPr>
          <p:cNvPr id="17" name="Text 15"/>
          <p:cNvSpPr/>
          <p:nvPr/>
        </p:nvSpPr>
        <p:spPr>
          <a:xfrm>
            <a:off x="548640" y="256032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P</a:t>
            </a:r>
            <a:endParaRPr lang="en-US" sz="1000" dirty="0"/>
          </a:p>
        </p:txBody>
      </p:sp>
      <p:sp>
        <p:nvSpPr>
          <p:cNvPr id="18" name="Text 16"/>
          <p:cNvSpPr/>
          <p:nvPr/>
        </p:nvSpPr>
        <p:spPr>
          <a:xfrm>
            <a:off x="841248" y="2542032"/>
            <a:ext cx="338328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Mercuriale 2014 obsolète : prix dérivés de 15 à 22%.</a:t>
            </a:r>
            <a:endParaRPr lang="en-US" sz="800" dirty="0"/>
          </a:p>
        </p:txBody>
      </p:sp>
      <p:sp>
        <p:nvSpPr>
          <p:cNvPr id="19" name="Shape 17"/>
          <p:cNvSpPr/>
          <p:nvPr/>
        </p:nvSpPr>
        <p:spPr>
          <a:xfrm>
            <a:off x="548640" y="3108960"/>
            <a:ext cx="219456" cy="219456"/>
          </a:xfrm>
          <a:prstGeom prst="ellipse">
            <a:avLst/>
          </a:prstGeom>
          <a:solidFill>
            <a:srgbClr val="005F63"/>
          </a:solidFill>
          <a:ln/>
        </p:spPr>
      </p:sp>
      <p:sp>
        <p:nvSpPr>
          <p:cNvPr id="20" name="Text 18"/>
          <p:cNvSpPr/>
          <p:nvPr/>
        </p:nvSpPr>
        <p:spPr>
          <a:xfrm>
            <a:off x="548640" y="310896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A</a:t>
            </a:r>
            <a:endParaRPr lang="en-US" sz="1000" dirty="0"/>
          </a:p>
        </p:txBody>
      </p:sp>
      <p:sp>
        <p:nvSpPr>
          <p:cNvPr id="21" name="Text 19"/>
          <p:cNvSpPr/>
          <p:nvPr/>
        </p:nvSpPr>
        <p:spPr>
          <a:xfrm>
            <a:off x="841248" y="3090672"/>
            <a:ext cx="338328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112 lignes AutoCAD + 4 visites terrain + 3 sources croisées.</a:t>
            </a:r>
            <a:endParaRPr lang="en-US" sz="800" dirty="0"/>
          </a:p>
        </p:txBody>
      </p:sp>
      <p:sp>
        <p:nvSpPr>
          <p:cNvPr id="22" name="Shape 20"/>
          <p:cNvSpPr/>
          <p:nvPr/>
        </p:nvSpPr>
        <p:spPr>
          <a:xfrm>
            <a:off x="548640" y="3657600"/>
            <a:ext cx="219456" cy="219456"/>
          </a:xfrm>
          <a:prstGeom prst="ellipse">
            <a:avLst/>
          </a:prstGeom>
          <a:solidFill>
            <a:srgbClr val="16A34A"/>
          </a:solidFill>
          <a:ln/>
        </p:spPr>
      </p:sp>
      <p:sp>
        <p:nvSpPr>
          <p:cNvPr id="23" name="Text 21"/>
          <p:cNvSpPr/>
          <p:nvPr/>
        </p:nvSpPr>
        <p:spPr>
          <a:xfrm>
            <a:off x="548640" y="365760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R</a:t>
            </a:r>
            <a:endParaRPr lang="en-US" sz="1000" dirty="0"/>
          </a:p>
        </p:txBody>
      </p:sp>
      <p:sp>
        <p:nvSpPr>
          <p:cNvPr id="24" name="Text 22"/>
          <p:cNvSpPr/>
          <p:nvPr/>
        </p:nvSpPr>
        <p:spPr>
          <a:xfrm>
            <a:off x="841248" y="3639312"/>
            <a:ext cx="338328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Écart 3,2% vs 5-10% norme. Méthode adoptée standard.</a:t>
            </a:r>
            <a:endParaRPr lang="en-US" sz="800" dirty="0"/>
          </a:p>
        </p:txBody>
      </p:sp>
      <p:sp>
        <p:nvSpPr>
          <p:cNvPr id="25" name="Shape 23"/>
          <p:cNvSpPr/>
          <p:nvPr/>
        </p:nvSpPr>
        <p:spPr>
          <a:xfrm>
            <a:off x="4663440" y="1280160"/>
            <a:ext cx="4114800" cy="3383280"/>
          </a:xfrm>
          <a:prstGeom prst="rect">
            <a:avLst>
              <a:gd name="adj" fmla="val 1351"/>
            </a:avLst>
          </a:prstGeom>
          <a:solidFill>
            <a:srgbClr val="FFFFFF"/>
          </a:solidFill>
          <a:ln/>
          <a:effectLst>
            <a:outerShdw sx="100000" sy="100000" kx="0" ky="0" algn="bl" rotWithShape="0" blurRad="63500" dist="25400" dir="8100000">
              <a:srgbClr val="000000">
                <a:alpha val="8000"/>
              </a:srgbClr>
            </a:outerShdw>
          </a:effectLst>
        </p:spPr>
      </p:sp>
      <p:sp>
        <p:nvSpPr>
          <p:cNvPr id="26" name="Shape 24"/>
          <p:cNvSpPr/>
          <p:nvPr/>
        </p:nvSpPr>
        <p:spPr>
          <a:xfrm>
            <a:off x="4663440" y="1280160"/>
            <a:ext cx="4114800" cy="36576"/>
          </a:xfrm>
          <a:prstGeom prst="rect">
            <a:avLst>
              <a:gd name="adj" fmla="val 50000"/>
            </a:avLst>
          </a:prstGeom>
          <a:solidFill>
            <a:srgbClr val="D97706"/>
          </a:solidFill>
          <a:ln/>
        </p:spPr>
      </p:sp>
      <p:sp>
        <p:nvSpPr>
          <p:cNvPr id="27" name="Text 25"/>
          <p:cNvSpPr/>
          <p:nvPr/>
        </p:nvSpPr>
        <p:spPr>
          <a:xfrm>
            <a:off x="4846320" y="1417320"/>
            <a:ext cx="3017520" cy="256032"/>
          </a:xfrm>
          <a:prstGeom prst="rect">
            <a:avLst/>
          </a:prstGeom>
          <a:noFill/>
          <a:ln/>
        </p:spPr>
        <p:txBody>
          <a:bodyPr wrap="square" lIns="0" tIns="0" rIns="0" bIns="0" rtlCol="0" anchor="ctr"/>
          <a:lstStyle/>
          <a:p>
            <a:pPr indent="0" marL="0">
              <a:buNone/>
            </a:pPr>
            <a:r>
              <a:rPr lang="en-US" sz="800" b="1" spc="100" kern="0" dirty="0">
                <a:solidFill>
                  <a:srgbClr val="D97706"/>
                </a:solidFill>
                <a:latin typeface="Calibri" pitchFamily="34" charset="0"/>
                <a:ea typeface="Calibri" pitchFamily="34" charset="-122"/>
                <a:cs typeface="Calibri" pitchFamily="34" charset="-120"/>
              </a:rPr>
              <a:t>SITUATION 2 – ANALYSE DES OFFRES</a:t>
            </a:r>
            <a:endParaRPr lang="en-US" sz="800" dirty="0"/>
          </a:p>
        </p:txBody>
      </p:sp>
      <p:sp>
        <p:nvSpPr>
          <p:cNvPr id="28" name="Text 26"/>
          <p:cNvSpPr/>
          <p:nvPr/>
        </p:nvSpPr>
        <p:spPr>
          <a:xfrm>
            <a:off x="4846320" y="1691640"/>
            <a:ext cx="2743200" cy="201168"/>
          </a:xfrm>
          <a:prstGeom prst="rect">
            <a:avLst/>
          </a:prstGeom>
          <a:noFill/>
          <a:ln/>
        </p:spPr>
        <p:txBody>
          <a:bodyPr wrap="square" lIns="0" tIns="0" rIns="0" bIns="0" rtlCol="0" anchor="ctr"/>
          <a:lstStyle/>
          <a:p>
            <a:pPr indent="0" marL="0">
              <a:buNone/>
            </a:pPr>
            <a:r>
              <a:rPr lang="en-US" sz="900" b="1" dirty="0">
                <a:solidFill>
                  <a:srgbClr val="1E1E1E"/>
                </a:solidFill>
                <a:latin typeface="Calibri" pitchFamily="34" charset="0"/>
                <a:ea typeface="Calibri" pitchFamily="34" charset="-122"/>
                <a:cs typeface="Calibri" pitchFamily="34" charset="-120"/>
              </a:rPr>
              <a:t>Commission CAO – 3 offres</a:t>
            </a:r>
            <a:endParaRPr lang="en-US" sz="900" dirty="0"/>
          </a:p>
        </p:txBody>
      </p:sp>
      <p:sp>
        <p:nvSpPr>
          <p:cNvPr id="29" name="Text 27"/>
          <p:cNvSpPr/>
          <p:nvPr/>
        </p:nvSpPr>
        <p:spPr>
          <a:xfrm>
            <a:off x="7406640" y="1371600"/>
            <a:ext cx="1188720" cy="502920"/>
          </a:xfrm>
          <a:prstGeom prst="rect">
            <a:avLst/>
          </a:prstGeom>
          <a:noFill/>
          <a:ln/>
        </p:spPr>
        <p:txBody>
          <a:bodyPr wrap="square" lIns="0" tIns="0" rIns="0" bIns="0" rtlCol="0" anchor="ctr"/>
          <a:lstStyle/>
          <a:p>
            <a:pPr algn="r" indent="0" marL="0">
              <a:buNone/>
            </a:pPr>
            <a:r>
              <a:rPr lang="en-US" sz="2800" b="1" dirty="0">
                <a:solidFill>
                  <a:srgbClr val="D97706"/>
                </a:solidFill>
                <a:latin typeface="Cambria" pitchFamily="34" charset="0"/>
                <a:ea typeface="Cambria" pitchFamily="34" charset="-122"/>
                <a:cs typeface="Cambria" pitchFamily="34" charset="-120"/>
              </a:rPr>
              <a:t>94/100</a:t>
            </a:r>
            <a:endParaRPr lang="en-US" sz="2800" dirty="0"/>
          </a:p>
        </p:txBody>
      </p:sp>
      <p:sp>
        <p:nvSpPr>
          <p:cNvPr id="30" name="Shape 28"/>
          <p:cNvSpPr/>
          <p:nvPr/>
        </p:nvSpPr>
        <p:spPr>
          <a:xfrm>
            <a:off x="4846320" y="2011680"/>
            <a:ext cx="219456" cy="219456"/>
          </a:xfrm>
          <a:prstGeom prst="ellipse">
            <a:avLst/>
          </a:prstGeom>
          <a:solidFill>
            <a:srgbClr val="007A7F"/>
          </a:solidFill>
          <a:ln/>
        </p:spPr>
      </p:sp>
      <p:sp>
        <p:nvSpPr>
          <p:cNvPr id="31" name="Text 29"/>
          <p:cNvSpPr/>
          <p:nvPr/>
        </p:nvSpPr>
        <p:spPr>
          <a:xfrm>
            <a:off x="4846320" y="201168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C</a:t>
            </a:r>
            <a:endParaRPr lang="en-US" sz="1000" dirty="0"/>
          </a:p>
        </p:txBody>
      </p:sp>
      <p:sp>
        <p:nvSpPr>
          <p:cNvPr id="32" name="Text 30"/>
          <p:cNvSpPr/>
          <p:nvPr/>
        </p:nvSpPr>
        <p:spPr>
          <a:xfrm>
            <a:off x="5138928" y="1993392"/>
            <a:ext cx="338328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Membre technique commission. Analyse comparative 3 dossiers.</a:t>
            </a:r>
            <a:endParaRPr lang="en-US" sz="800" dirty="0"/>
          </a:p>
        </p:txBody>
      </p:sp>
      <p:sp>
        <p:nvSpPr>
          <p:cNvPr id="33" name="Shape 31"/>
          <p:cNvSpPr/>
          <p:nvPr/>
        </p:nvSpPr>
        <p:spPr>
          <a:xfrm>
            <a:off x="4846320" y="2560320"/>
            <a:ext cx="219456" cy="219456"/>
          </a:xfrm>
          <a:prstGeom prst="ellipse">
            <a:avLst/>
          </a:prstGeom>
          <a:solidFill>
            <a:srgbClr val="D97706"/>
          </a:solidFill>
          <a:ln/>
        </p:spPr>
      </p:sp>
      <p:sp>
        <p:nvSpPr>
          <p:cNvPr id="34" name="Text 32"/>
          <p:cNvSpPr/>
          <p:nvPr/>
        </p:nvSpPr>
        <p:spPr>
          <a:xfrm>
            <a:off x="4846320" y="256032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P</a:t>
            </a:r>
            <a:endParaRPr lang="en-US" sz="1000" dirty="0"/>
          </a:p>
        </p:txBody>
      </p:sp>
      <p:sp>
        <p:nvSpPr>
          <p:cNvPr id="35" name="Text 33"/>
          <p:cNvSpPr/>
          <p:nvPr/>
        </p:nvSpPr>
        <p:spPr>
          <a:xfrm>
            <a:off x="5138928" y="2542032"/>
            <a:ext cx="338328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7 erreurs arithmétiques + prix bas anormaux sur 42% du montant.</a:t>
            </a:r>
            <a:endParaRPr lang="en-US" sz="800" dirty="0"/>
          </a:p>
        </p:txBody>
      </p:sp>
      <p:sp>
        <p:nvSpPr>
          <p:cNvPr id="36" name="Shape 34"/>
          <p:cNvSpPr/>
          <p:nvPr/>
        </p:nvSpPr>
        <p:spPr>
          <a:xfrm>
            <a:off x="4846320" y="3108960"/>
            <a:ext cx="219456" cy="219456"/>
          </a:xfrm>
          <a:prstGeom prst="ellipse">
            <a:avLst/>
          </a:prstGeom>
          <a:solidFill>
            <a:srgbClr val="005F63"/>
          </a:solidFill>
          <a:ln/>
        </p:spPr>
      </p:sp>
      <p:sp>
        <p:nvSpPr>
          <p:cNvPr id="37" name="Text 35"/>
          <p:cNvSpPr/>
          <p:nvPr/>
        </p:nvSpPr>
        <p:spPr>
          <a:xfrm>
            <a:off x="4846320" y="310896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A</a:t>
            </a:r>
            <a:endParaRPr lang="en-US" sz="1000" dirty="0"/>
          </a:p>
        </p:txBody>
      </p:sp>
      <p:sp>
        <p:nvSpPr>
          <p:cNvPr id="38" name="Text 36"/>
          <p:cNvSpPr/>
          <p:nvPr/>
        </p:nvSpPr>
        <p:spPr>
          <a:xfrm>
            <a:off x="5138928" y="3090672"/>
            <a:ext cx="338328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Grille 100 pts (technique 60 + financier 40). Justification écrite.</a:t>
            </a:r>
            <a:endParaRPr lang="en-US" sz="800" dirty="0"/>
          </a:p>
        </p:txBody>
      </p:sp>
      <p:sp>
        <p:nvSpPr>
          <p:cNvPr id="39" name="Shape 37"/>
          <p:cNvSpPr/>
          <p:nvPr/>
        </p:nvSpPr>
        <p:spPr>
          <a:xfrm>
            <a:off x="4846320" y="3657600"/>
            <a:ext cx="219456" cy="219456"/>
          </a:xfrm>
          <a:prstGeom prst="ellipse">
            <a:avLst/>
          </a:prstGeom>
          <a:solidFill>
            <a:srgbClr val="16A34A"/>
          </a:solidFill>
          <a:ln/>
        </p:spPr>
      </p:sp>
      <p:sp>
        <p:nvSpPr>
          <p:cNvPr id="40" name="Text 38"/>
          <p:cNvSpPr/>
          <p:nvPr/>
        </p:nvSpPr>
        <p:spPr>
          <a:xfrm>
            <a:off x="4846320" y="365760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R</a:t>
            </a:r>
            <a:endParaRPr lang="en-US" sz="1000" dirty="0"/>
          </a:p>
        </p:txBody>
      </p:sp>
      <p:sp>
        <p:nvSpPr>
          <p:cNvPr id="41" name="Text 39"/>
          <p:cNvSpPr/>
          <p:nvPr/>
        </p:nvSpPr>
        <p:spPr>
          <a:xfrm>
            <a:off x="5138928" y="3639312"/>
            <a:ext cx="338328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Attribution 15 jours. Zéro recours. Rapport validé sans réserve.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A7F"/>
          </a:solidFill>
          <a:ln/>
        </p:spPr>
      </p:sp>
      <p:sp>
        <p:nvSpPr>
          <p:cNvPr id="3" name="Shape 1"/>
          <p:cNvSpPr/>
          <p:nvPr/>
        </p:nvSpPr>
        <p:spPr>
          <a:xfrm>
            <a:off x="365760" y="137160"/>
            <a:ext cx="1737360" cy="329184"/>
          </a:xfrm>
          <a:prstGeom prst="rect">
            <a:avLst>
              <a:gd name="adj" fmla="val 11111"/>
            </a:avLst>
          </a:prstGeom>
          <a:solidFill>
            <a:srgbClr val="E0F4F5"/>
          </a:solidFill>
          <a:ln w="7620">
            <a:solidFill>
              <a:srgbClr val="007A7F"/>
            </a:solidFill>
            <a:prstDash val="solid"/>
          </a:ln>
        </p:spPr>
      </p:sp>
      <p:sp>
        <p:nvSpPr>
          <p:cNvPr id="4" name="Text 2"/>
          <p:cNvSpPr/>
          <p:nvPr/>
        </p:nvSpPr>
        <p:spPr>
          <a:xfrm>
            <a:off x="365760" y="137160"/>
            <a:ext cx="1737360" cy="329184"/>
          </a:xfrm>
          <a:prstGeom prst="rect">
            <a:avLst/>
          </a:prstGeom>
          <a:noFill/>
          <a:ln/>
        </p:spPr>
        <p:txBody>
          <a:bodyPr wrap="square" lIns="0" tIns="0" rIns="0" bIns="0" rtlCol="0" anchor="ctr"/>
          <a:lstStyle/>
          <a:p>
            <a:pPr algn="ctr" indent="0" marL="0">
              <a:buNone/>
            </a:pPr>
            <a:r>
              <a:rPr lang="en-US" sz="850" b="1" dirty="0">
                <a:solidFill>
                  <a:srgbClr val="007A7F"/>
                </a:solidFill>
                <a:latin typeface="Calibri" pitchFamily="34" charset="0"/>
                <a:ea typeface="Calibri" pitchFamily="34" charset="-122"/>
                <a:cs typeface="Calibri" pitchFamily="34" charset="-120"/>
              </a:rPr>
              <a:t>02 – Sit. 3 &amp; 4</a:t>
            </a:r>
            <a:endParaRPr lang="en-US" sz="850" dirty="0"/>
          </a:p>
        </p:txBody>
      </p:sp>
      <p:sp>
        <p:nvSpPr>
          <p:cNvPr id="5" name="Text 3"/>
          <p:cNvSpPr/>
          <p:nvPr/>
        </p:nvSpPr>
        <p:spPr>
          <a:xfrm>
            <a:off x="365760" y="4828032"/>
            <a:ext cx="8412480" cy="228600"/>
          </a:xfrm>
          <a:prstGeom prst="rect">
            <a:avLst/>
          </a:prstGeom>
          <a:noFill/>
          <a:ln/>
        </p:spPr>
        <p:txBody>
          <a:bodyPr wrap="square" rtlCol="0" anchor="ctr"/>
          <a:lstStyle/>
          <a:p>
            <a:pPr algn="r" indent="0" marL="0">
              <a:buNone/>
            </a:pPr>
            <a:r>
              <a:rPr lang="en-US" sz="700" dirty="0">
                <a:solidFill>
                  <a:srgbClr val="777777"/>
                </a:solidFill>
                <a:latin typeface="Calibri" pitchFamily="34" charset="0"/>
                <a:ea typeface="Calibri" pitchFamily="34" charset="-122"/>
                <a:cs typeface="Calibri" pitchFamily="34" charset="-120"/>
              </a:rPr>
              <a:t>BAHAFID Mohamed  ·  Rapport U62  ·  BTS MEC 2026  ·  7/15</a:t>
            </a:r>
            <a:endParaRPr lang="en-US" sz="700" dirty="0"/>
          </a:p>
        </p:txBody>
      </p:sp>
      <p:sp>
        <p:nvSpPr>
          <p:cNvPr id="6" name="Text 4"/>
          <p:cNvSpPr/>
          <p:nvPr/>
        </p:nvSpPr>
        <p:spPr>
          <a:xfrm>
            <a:off x="365760" y="530352"/>
            <a:ext cx="8412480" cy="384048"/>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SUIVI FINANCIER &amp; COORDINATION MULTI-SITES</a:t>
            </a:r>
            <a:endParaRPr lang="en-US" sz="1800" dirty="0"/>
          </a:p>
        </p:txBody>
      </p:sp>
      <p:sp>
        <p:nvSpPr>
          <p:cNvPr id="7" name="Text 5"/>
          <p:cNvSpPr/>
          <p:nvPr/>
        </p:nvSpPr>
        <p:spPr>
          <a:xfrm>
            <a:off x="365760" y="896112"/>
            <a:ext cx="8412480" cy="256032"/>
          </a:xfrm>
          <a:prstGeom prst="rect">
            <a:avLst/>
          </a:prstGeom>
          <a:noFill/>
          <a:ln/>
        </p:spPr>
        <p:txBody>
          <a:bodyPr wrap="square" lIns="0" tIns="0" rIns="0" bIns="0" rtlCol="0" anchor="ctr"/>
          <a:lstStyle/>
          <a:p>
            <a:pPr indent="0" marL="0">
              <a:buNone/>
            </a:pPr>
            <a:r>
              <a:rPr lang="en-US" sz="950" dirty="0">
                <a:solidFill>
                  <a:srgbClr val="777777"/>
                </a:solidFill>
                <a:latin typeface="Calibri" pitchFamily="34" charset="0"/>
                <a:ea typeface="Calibri" pitchFamily="34" charset="-122"/>
                <a:cs typeface="Calibri" pitchFamily="34" charset="-120"/>
              </a:rPr>
              <a:t>Compétences C18 (suivi budget) et C19 (coordonner, communiquer)</a:t>
            </a:r>
            <a:endParaRPr lang="en-US" sz="950" dirty="0"/>
          </a:p>
        </p:txBody>
      </p:sp>
      <p:sp>
        <p:nvSpPr>
          <p:cNvPr id="8" name="Shape 6"/>
          <p:cNvSpPr/>
          <p:nvPr/>
        </p:nvSpPr>
        <p:spPr>
          <a:xfrm>
            <a:off x="365760" y="1280160"/>
            <a:ext cx="4114800" cy="3383280"/>
          </a:xfrm>
          <a:prstGeom prst="rect">
            <a:avLst>
              <a:gd name="adj" fmla="val 1351"/>
            </a:avLst>
          </a:prstGeom>
          <a:solidFill>
            <a:srgbClr val="FFFFFF"/>
          </a:solidFill>
          <a:ln/>
          <a:effectLst>
            <a:outerShdw sx="100000" sy="100000" kx="0" ky="0" algn="bl" rotWithShape="0" blurRad="63500" dist="25400" dir="8100000">
              <a:srgbClr val="000000">
                <a:alpha val="8000"/>
              </a:srgbClr>
            </a:outerShdw>
          </a:effectLst>
        </p:spPr>
      </p:sp>
      <p:sp>
        <p:nvSpPr>
          <p:cNvPr id="9" name="Shape 7"/>
          <p:cNvSpPr/>
          <p:nvPr/>
        </p:nvSpPr>
        <p:spPr>
          <a:xfrm>
            <a:off x="365760" y="1280160"/>
            <a:ext cx="4114800" cy="36576"/>
          </a:xfrm>
          <a:prstGeom prst="rect">
            <a:avLst>
              <a:gd name="adj" fmla="val 50000"/>
            </a:avLst>
          </a:prstGeom>
          <a:solidFill>
            <a:srgbClr val="007A7F"/>
          </a:solidFill>
          <a:ln/>
        </p:spPr>
      </p:sp>
      <p:sp>
        <p:nvSpPr>
          <p:cNvPr id="10" name="Text 8"/>
          <p:cNvSpPr/>
          <p:nvPr/>
        </p:nvSpPr>
        <p:spPr>
          <a:xfrm>
            <a:off x="548640" y="1417320"/>
            <a:ext cx="3017520" cy="256032"/>
          </a:xfrm>
          <a:prstGeom prst="rect">
            <a:avLst/>
          </a:prstGeom>
          <a:noFill/>
          <a:ln/>
        </p:spPr>
        <p:txBody>
          <a:bodyPr wrap="square" lIns="0" tIns="0" rIns="0" bIns="0" rtlCol="0" anchor="ctr"/>
          <a:lstStyle/>
          <a:p>
            <a:pPr indent="0" marL="0">
              <a:buNone/>
            </a:pPr>
            <a:r>
              <a:rPr lang="en-US" sz="800" b="1" spc="100" kern="0" dirty="0">
                <a:solidFill>
                  <a:srgbClr val="007A7F"/>
                </a:solidFill>
                <a:latin typeface="Calibri" pitchFamily="34" charset="0"/>
                <a:ea typeface="Calibri" pitchFamily="34" charset="-122"/>
                <a:cs typeface="Calibri" pitchFamily="34" charset="-120"/>
              </a:rPr>
              <a:t>SITUATION 3 – SUIVI FINANCIER KERROUCHEN</a:t>
            </a:r>
            <a:endParaRPr lang="en-US" sz="800" dirty="0"/>
          </a:p>
        </p:txBody>
      </p:sp>
      <p:sp>
        <p:nvSpPr>
          <p:cNvPr id="11" name="Text 9"/>
          <p:cNvSpPr/>
          <p:nvPr/>
        </p:nvSpPr>
        <p:spPr>
          <a:xfrm>
            <a:off x="548640" y="1691640"/>
            <a:ext cx="2286000" cy="201168"/>
          </a:xfrm>
          <a:prstGeom prst="rect">
            <a:avLst/>
          </a:prstGeom>
          <a:noFill/>
          <a:ln/>
        </p:spPr>
        <p:txBody>
          <a:bodyPr wrap="square" lIns="0" tIns="0" rIns="0" bIns="0" rtlCol="0" anchor="ctr"/>
          <a:lstStyle/>
          <a:p>
            <a:pPr indent="0" marL="0">
              <a:buNone/>
            </a:pPr>
            <a:r>
              <a:rPr lang="en-US" sz="900" b="1" dirty="0">
                <a:solidFill>
                  <a:srgbClr val="1E1E1E"/>
                </a:solidFill>
                <a:latin typeface="Calibri" pitchFamily="34" charset="0"/>
                <a:ea typeface="Calibri" pitchFamily="34" charset="-122"/>
                <a:cs typeface="Calibri" pitchFamily="34" charset="-120"/>
              </a:rPr>
              <a:t>7,3 M DH – 18 mois</a:t>
            </a:r>
            <a:endParaRPr lang="en-US" sz="900" dirty="0"/>
          </a:p>
        </p:txBody>
      </p:sp>
      <p:sp>
        <p:nvSpPr>
          <p:cNvPr id="12" name="Text 10"/>
          <p:cNvSpPr/>
          <p:nvPr/>
        </p:nvSpPr>
        <p:spPr>
          <a:xfrm>
            <a:off x="3200400" y="1371600"/>
            <a:ext cx="1097280" cy="502920"/>
          </a:xfrm>
          <a:prstGeom prst="rect">
            <a:avLst/>
          </a:prstGeom>
          <a:noFill/>
          <a:ln/>
        </p:spPr>
        <p:txBody>
          <a:bodyPr wrap="square" lIns="0" tIns="0" rIns="0" bIns="0" rtlCol="0" anchor="ctr"/>
          <a:lstStyle/>
          <a:p>
            <a:pPr algn="r" indent="0" marL="0">
              <a:buNone/>
            </a:pPr>
            <a:r>
              <a:rPr lang="en-US" sz="2800" b="1" dirty="0">
                <a:solidFill>
                  <a:srgbClr val="16A34A"/>
                </a:solidFill>
                <a:latin typeface="Cambria" pitchFamily="34" charset="0"/>
                <a:ea typeface="Cambria" pitchFamily="34" charset="-122"/>
                <a:cs typeface="Cambria" pitchFamily="34" charset="-120"/>
              </a:rPr>
              <a:t>+0,8%</a:t>
            </a:r>
            <a:endParaRPr lang="en-US" sz="2800" dirty="0"/>
          </a:p>
        </p:txBody>
      </p:sp>
      <p:sp>
        <p:nvSpPr>
          <p:cNvPr id="13" name="Shape 11"/>
          <p:cNvSpPr/>
          <p:nvPr/>
        </p:nvSpPr>
        <p:spPr>
          <a:xfrm>
            <a:off x="548640" y="2011680"/>
            <a:ext cx="219456" cy="219456"/>
          </a:xfrm>
          <a:prstGeom prst="ellipse">
            <a:avLst/>
          </a:prstGeom>
          <a:solidFill>
            <a:srgbClr val="007A7F"/>
          </a:solidFill>
          <a:ln/>
        </p:spPr>
      </p:sp>
      <p:sp>
        <p:nvSpPr>
          <p:cNvPr id="14" name="Text 12"/>
          <p:cNvSpPr/>
          <p:nvPr/>
        </p:nvSpPr>
        <p:spPr>
          <a:xfrm>
            <a:off x="548640" y="201168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C</a:t>
            </a:r>
            <a:endParaRPr lang="en-US" sz="1000" dirty="0"/>
          </a:p>
        </p:txBody>
      </p:sp>
      <p:sp>
        <p:nvSpPr>
          <p:cNvPr id="15" name="Text 13"/>
          <p:cNvSpPr/>
          <p:nvPr/>
        </p:nvSpPr>
        <p:spPr>
          <a:xfrm>
            <a:off x="841248" y="1993392"/>
            <a:ext cx="338328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Suivi mensuel complet : situations, quantités, décomptes.</a:t>
            </a:r>
            <a:endParaRPr lang="en-US" sz="800" dirty="0"/>
          </a:p>
        </p:txBody>
      </p:sp>
      <p:sp>
        <p:nvSpPr>
          <p:cNvPr id="16" name="Shape 14"/>
          <p:cNvSpPr/>
          <p:nvPr/>
        </p:nvSpPr>
        <p:spPr>
          <a:xfrm>
            <a:off x="548640" y="2560320"/>
            <a:ext cx="219456" cy="219456"/>
          </a:xfrm>
          <a:prstGeom prst="ellipse">
            <a:avLst/>
          </a:prstGeom>
          <a:solidFill>
            <a:srgbClr val="D97706"/>
          </a:solidFill>
          <a:ln/>
        </p:spPr>
      </p:sp>
      <p:sp>
        <p:nvSpPr>
          <p:cNvPr id="17" name="Text 15"/>
          <p:cNvSpPr/>
          <p:nvPr/>
        </p:nvSpPr>
        <p:spPr>
          <a:xfrm>
            <a:off x="548640" y="256032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P</a:t>
            </a:r>
            <a:endParaRPr lang="en-US" sz="1000" dirty="0"/>
          </a:p>
        </p:txBody>
      </p:sp>
      <p:sp>
        <p:nvSpPr>
          <p:cNvPr id="18" name="Text 16"/>
          <p:cNvSpPr/>
          <p:nvPr/>
        </p:nvSpPr>
        <p:spPr>
          <a:xfrm>
            <a:off x="841248" y="2542032"/>
            <a:ext cx="338328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Chaussée +12%, murs +15%. Dérive +4,8% (seuil avenant = 5%).</a:t>
            </a:r>
            <a:endParaRPr lang="en-US" sz="800" dirty="0"/>
          </a:p>
        </p:txBody>
      </p:sp>
      <p:sp>
        <p:nvSpPr>
          <p:cNvPr id="19" name="Shape 17"/>
          <p:cNvSpPr/>
          <p:nvPr/>
        </p:nvSpPr>
        <p:spPr>
          <a:xfrm>
            <a:off x="548640" y="3108960"/>
            <a:ext cx="219456" cy="219456"/>
          </a:xfrm>
          <a:prstGeom prst="ellipse">
            <a:avLst/>
          </a:prstGeom>
          <a:solidFill>
            <a:srgbClr val="005F63"/>
          </a:solidFill>
          <a:ln/>
        </p:spPr>
      </p:sp>
      <p:sp>
        <p:nvSpPr>
          <p:cNvPr id="20" name="Text 18"/>
          <p:cNvSpPr/>
          <p:nvPr/>
        </p:nvSpPr>
        <p:spPr>
          <a:xfrm>
            <a:off x="548640" y="310896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A</a:t>
            </a:r>
            <a:endParaRPr lang="en-US" sz="1000" dirty="0"/>
          </a:p>
        </p:txBody>
      </p:sp>
      <p:sp>
        <p:nvSpPr>
          <p:cNvPr id="21" name="Text 19"/>
          <p:cNvSpPr/>
          <p:nvPr/>
        </p:nvSpPr>
        <p:spPr>
          <a:xfrm>
            <a:off x="841248" y="3090672"/>
            <a:ext cx="338328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TdB hebdo 3 indicateurs. Compensation paysager −44k + mobilier −12k.</a:t>
            </a:r>
            <a:endParaRPr lang="en-US" sz="800" dirty="0"/>
          </a:p>
        </p:txBody>
      </p:sp>
      <p:sp>
        <p:nvSpPr>
          <p:cNvPr id="22" name="Shape 20"/>
          <p:cNvSpPr/>
          <p:nvPr/>
        </p:nvSpPr>
        <p:spPr>
          <a:xfrm>
            <a:off x="548640" y="3657600"/>
            <a:ext cx="219456" cy="219456"/>
          </a:xfrm>
          <a:prstGeom prst="ellipse">
            <a:avLst/>
          </a:prstGeom>
          <a:solidFill>
            <a:srgbClr val="16A34A"/>
          </a:solidFill>
          <a:ln/>
        </p:spPr>
      </p:sp>
      <p:sp>
        <p:nvSpPr>
          <p:cNvPr id="23" name="Text 21"/>
          <p:cNvSpPr/>
          <p:nvPr/>
        </p:nvSpPr>
        <p:spPr>
          <a:xfrm>
            <a:off x="548640" y="365760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R</a:t>
            </a:r>
            <a:endParaRPr lang="en-US" sz="1000" dirty="0"/>
          </a:p>
        </p:txBody>
      </p:sp>
      <p:sp>
        <p:nvSpPr>
          <p:cNvPr id="24" name="Text 22"/>
          <p:cNvSpPr/>
          <p:nvPr/>
        </p:nvSpPr>
        <p:spPr>
          <a:xfrm>
            <a:off x="841248" y="3639312"/>
            <a:ext cx="338328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Dépassement +0,8%. Aucun avenant. TdB adopté 3 communes.</a:t>
            </a:r>
            <a:endParaRPr lang="en-US" sz="800" dirty="0"/>
          </a:p>
        </p:txBody>
      </p:sp>
      <p:sp>
        <p:nvSpPr>
          <p:cNvPr id="25" name="Shape 23"/>
          <p:cNvSpPr/>
          <p:nvPr/>
        </p:nvSpPr>
        <p:spPr>
          <a:xfrm>
            <a:off x="4663440" y="1280160"/>
            <a:ext cx="4114800" cy="3383280"/>
          </a:xfrm>
          <a:prstGeom prst="rect">
            <a:avLst>
              <a:gd name="adj" fmla="val 1351"/>
            </a:avLst>
          </a:prstGeom>
          <a:solidFill>
            <a:srgbClr val="FFFFFF"/>
          </a:solidFill>
          <a:ln/>
          <a:effectLst>
            <a:outerShdw sx="100000" sy="100000" kx="0" ky="0" algn="bl" rotWithShape="0" blurRad="63500" dist="25400" dir="8100000">
              <a:srgbClr val="000000">
                <a:alpha val="8000"/>
              </a:srgbClr>
            </a:outerShdw>
          </a:effectLst>
        </p:spPr>
      </p:sp>
      <p:sp>
        <p:nvSpPr>
          <p:cNvPr id="26" name="Shape 24"/>
          <p:cNvSpPr/>
          <p:nvPr/>
        </p:nvSpPr>
        <p:spPr>
          <a:xfrm>
            <a:off x="4663440" y="1280160"/>
            <a:ext cx="4114800" cy="36576"/>
          </a:xfrm>
          <a:prstGeom prst="rect">
            <a:avLst>
              <a:gd name="adj" fmla="val 50000"/>
            </a:avLst>
          </a:prstGeom>
          <a:solidFill>
            <a:srgbClr val="D97706"/>
          </a:solidFill>
          <a:ln/>
        </p:spPr>
      </p:sp>
      <p:sp>
        <p:nvSpPr>
          <p:cNvPr id="27" name="Text 25"/>
          <p:cNvSpPr/>
          <p:nvPr/>
        </p:nvSpPr>
        <p:spPr>
          <a:xfrm>
            <a:off x="4846320" y="1417320"/>
            <a:ext cx="3017520" cy="256032"/>
          </a:xfrm>
          <a:prstGeom prst="rect">
            <a:avLst/>
          </a:prstGeom>
          <a:noFill/>
          <a:ln/>
        </p:spPr>
        <p:txBody>
          <a:bodyPr wrap="square" lIns="0" tIns="0" rIns="0" bIns="0" rtlCol="0" anchor="ctr"/>
          <a:lstStyle/>
          <a:p>
            <a:pPr indent="0" marL="0">
              <a:buNone/>
            </a:pPr>
            <a:r>
              <a:rPr lang="en-US" sz="800" b="1" spc="100" kern="0" dirty="0">
                <a:solidFill>
                  <a:srgbClr val="D97706"/>
                </a:solidFill>
                <a:latin typeface="Calibri" pitchFamily="34" charset="0"/>
                <a:ea typeface="Calibri" pitchFamily="34" charset="-122"/>
                <a:cs typeface="Calibri" pitchFamily="34" charset="-120"/>
              </a:rPr>
              <a:t>SITUATION 4 – COORDINATION 4 CHANTIERS</a:t>
            </a:r>
            <a:endParaRPr lang="en-US" sz="800" dirty="0"/>
          </a:p>
        </p:txBody>
      </p:sp>
      <p:sp>
        <p:nvSpPr>
          <p:cNvPr id="28" name="Text 26"/>
          <p:cNvSpPr/>
          <p:nvPr/>
        </p:nvSpPr>
        <p:spPr>
          <a:xfrm>
            <a:off x="4846320" y="1691640"/>
            <a:ext cx="2743200" cy="201168"/>
          </a:xfrm>
          <a:prstGeom prst="rect">
            <a:avLst/>
          </a:prstGeom>
          <a:noFill/>
          <a:ln/>
        </p:spPr>
        <p:txBody>
          <a:bodyPr wrap="square" lIns="0" tIns="0" rIns="0" bIns="0" rtlCol="0" anchor="ctr"/>
          <a:lstStyle/>
          <a:p>
            <a:pPr indent="0" marL="0">
              <a:buNone/>
            </a:pPr>
            <a:r>
              <a:rPr lang="en-US" sz="900" b="1" dirty="0">
                <a:solidFill>
                  <a:srgbClr val="1E1E1E"/>
                </a:solidFill>
                <a:latin typeface="Calibri" pitchFamily="34" charset="0"/>
                <a:ea typeface="Calibri" pitchFamily="34" charset="-122"/>
                <a:cs typeface="Calibri" pitchFamily="34" charset="-120"/>
              </a:rPr>
              <a:t>Province de Khénifra – 20 à 80 km</a:t>
            </a:r>
            <a:endParaRPr lang="en-US" sz="900" dirty="0"/>
          </a:p>
        </p:txBody>
      </p:sp>
      <p:sp>
        <p:nvSpPr>
          <p:cNvPr id="29" name="Text 27"/>
          <p:cNvSpPr/>
          <p:nvPr/>
        </p:nvSpPr>
        <p:spPr>
          <a:xfrm>
            <a:off x="7406640" y="1371600"/>
            <a:ext cx="1188720" cy="502920"/>
          </a:xfrm>
          <a:prstGeom prst="rect">
            <a:avLst/>
          </a:prstGeom>
          <a:noFill/>
          <a:ln/>
        </p:spPr>
        <p:txBody>
          <a:bodyPr wrap="square" lIns="0" tIns="0" rIns="0" bIns="0" rtlCol="0" anchor="ctr"/>
          <a:lstStyle/>
          <a:p>
            <a:pPr algn="r" indent="0" marL="0">
              <a:buNone/>
            </a:pPr>
            <a:r>
              <a:rPr lang="en-US" sz="2800" b="1" dirty="0">
                <a:solidFill>
                  <a:srgbClr val="D97706"/>
                </a:solidFill>
                <a:latin typeface="Cambria" pitchFamily="34" charset="0"/>
                <a:ea typeface="Cambria" pitchFamily="34" charset="-122"/>
                <a:cs typeface="Cambria" pitchFamily="34" charset="-120"/>
              </a:rPr>
              <a:t>48h</a:t>
            </a:r>
            <a:endParaRPr lang="en-US" sz="2800" dirty="0"/>
          </a:p>
        </p:txBody>
      </p:sp>
      <p:sp>
        <p:nvSpPr>
          <p:cNvPr id="30" name="Shape 28"/>
          <p:cNvSpPr/>
          <p:nvPr/>
        </p:nvSpPr>
        <p:spPr>
          <a:xfrm>
            <a:off x="4846320" y="2011680"/>
            <a:ext cx="219456" cy="219456"/>
          </a:xfrm>
          <a:prstGeom prst="ellipse">
            <a:avLst/>
          </a:prstGeom>
          <a:solidFill>
            <a:srgbClr val="007A7F"/>
          </a:solidFill>
          <a:ln/>
        </p:spPr>
      </p:sp>
      <p:sp>
        <p:nvSpPr>
          <p:cNvPr id="31" name="Text 29"/>
          <p:cNvSpPr/>
          <p:nvPr/>
        </p:nvSpPr>
        <p:spPr>
          <a:xfrm>
            <a:off x="4846320" y="201168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C</a:t>
            </a:r>
            <a:endParaRPr lang="en-US" sz="1000" dirty="0"/>
          </a:p>
        </p:txBody>
      </p:sp>
      <p:sp>
        <p:nvSpPr>
          <p:cNvPr id="32" name="Text 30"/>
          <p:cNvSpPr/>
          <p:nvPr/>
        </p:nvSpPr>
        <p:spPr>
          <a:xfrm>
            <a:off x="5138928" y="1993392"/>
            <a:ext cx="338328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Relais unique Directeur. Interface entreprise/BET/labo/hiérarchie.</a:t>
            </a:r>
            <a:endParaRPr lang="en-US" sz="800" dirty="0"/>
          </a:p>
        </p:txBody>
      </p:sp>
      <p:sp>
        <p:nvSpPr>
          <p:cNvPr id="33" name="Shape 31"/>
          <p:cNvSpPr/>
          <p:nvPr/>
        </p:nvSpPr>
        <p:spPr>
          <a:xfrm>
            <a:off x="4846320" y="2560320"/>
            <a:ext cx="219456" cy="219456"/>
          </a:xfrm>
          <a:prstGeom prst="ellipse">
            <a:avLst/>
          </a:prstGeom>
          <a:solidFill>
            <a:srgbClr val="D97706"/>
          </a:solidFill>
          <a:ln/>
        </p:spPr>
      </p:sp>
      <p:sp>
        <p:nvSpPr>
          <p:cNvPr id="34" name="Text 32"/>
          <p:cNvSpPr/>
          <p:nvPr/>
        </p:nvSpPr>
        <p:spPr>
          <a:xfrm>
            <a:off x="4846320" y="256032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P</a:t>
            </a:r>
            <a:endParaRPr lang="en-US" sz="1000" dirty="0"/>
          </a:p>
        </p:txBody>
      </p:sp>
      <p:sp>
        <p:nvSpPr>
          <p:cNvPr id="35" name="Text 33"/>
          <p:cNvSpPr/>
          <p:nvPr/>
        </p:nvSpPr>
        <p:spPr>
          <a:xfrm>
            <a:off x="5138928" y="2542032"/>
            <a:ext cx="338328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S23 : retard enrobés + alerte météo + litige bordures 15%.</a:t>
            </a:r>
            <a:endParaRPr lang="en-US" sz="800" dirty="0"/>
          </a:p>
        </p:txBody>
      </p:sp>
      <p:sp>
        <p:nvSpPr>
          <p:cNvPr id="36" name="Shape 34"/>
          <p:cNvSpPr/>
          <p:nvPr/>
        </p:nvSpPr>
        <p:spPr>
          <a:xfrm>
            <a:off x="4846320" y="3108960"/>
            <a:ext cx="219456" cy="219456"/>
          </a:xfrm>
          <a:prstGeom prst="ellipse">
            <a:avLst/>
          </a:prstGeom>
          <a:solidFill>
            <a:srgbClr val="005F63"/>
          </a:solidFill>
          <a:ln/>
        </p:spPr>
      </p:sp>
      <p:sp>
        <p:nvSpPr>
          <p:cNvPr id="37" name="Text 35"/>
          <p:cNvSpPr/>
          <p:nvPr/>
        </p:nvSpPr>
        <p:spPr>
          <a:xfrm>
            <a:off x="4846320" y="310896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A</a:t>
            </a:r>
            <a:endParaRPr lang="en-US" sz="1000" dirty="0"/>
          </a:p>
        </p:txBody>
      </p:sp>
      <p:sp>
        <p:nvSpPr>
          <p:cNvPr id="38" name="Text 36"/>
          <p:cNvSpPr/>
          <p:nvPr/>
        </p:nvSpPr>
        <p:spPr>
          <a:xfrm>
            <a:off x="5138928" y="3090672"/>
            <a:ext cx="338328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Note Directeur + OS arrêt photos + re-mesurage contradictoire.</a:t>
            </a:r>
            <a:endParaRPr lang="en-US" sz="800" dirty="0"/>
          </a:p>
        </p:txBody>
      </p:sp>
      <p:sp>
        <p:nvSpPr>
          <p:cNvPr id="39" name="Shape 37"/>
          <p:cNvSpPr/>
          <p:nvPr/>
        </p:nvSpPr>
        <p:spPr>
          <a:xfrm>
            <a:off x="4846320" y="3657600"/>
            <a:ext cx="219456" cy="219456"/>
          </a:xfrm>
          <a:prstGeom prst="ellipse">
            <a:avLst/>
          </a:prstGeom>
          <a:solidFill>
            <a:srgbClr val="16A34A"/>
          </a:solidFill>
          <a:ln/>
        </p:spPr>
      </p:sp>
      <p:sp>
        <p:nvSpPr>
          <p:cNvPr id="40" name="Text 38"/>
          <p:cNvSpPr/>
          <p:nvPr/>
        </p:nvSpPr>
        <p:spPr>
          <a:xfrm>
            <a:off x="4846320" y="365760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R</a:t>
            </a:r>
            <a:endParaRPr lang="en-US" sz="1000" dirty="0"/>
          </a:p>
        </p:txBody>
      </p:sp>
      <p:sp>
        <p:nvSpPr>
          <p:cNvPr id="41" name="Text 39"/>
          <p:cNvSpPr/>
          <p:nvPr/>
        </p:nvSpPr>
        <p:spPr>
          <a:xfrm>
            <a:off x="5138928" y="3639312"/>
            <a:ext cx="338328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3 crises résolues. Litige 15% → 2,3%. Modèle CR adopté.</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A7F"/>
          </a:solidFill>
          <a:ln/>
        </p:spPr>
      </p:sp>
      <p:sp>
        <p:nvSpPr>
          <p:cNvPr id="3" name="Shape 1"/>
          <p:cNvSpPr/>
          <p:nvPr/>
        </p:nvSpPr>
        <p:spPr>
          <a:xfrm>
            <a:off x="365760" y="137160"/>
            <a:ext cx="1554480" cy="329184"/>
          </a:xfrm>
          <a:prstGeom prst="rect">
            <a:avLst>
              <a:gd name="adj" fmla="val 11111"/>
            </a:avLst>
          </a:prstGeom>
          <a:solidFill>
            <a:srgbClr val="E0F4F5"/>
          </a:solidFill>
          <a:ln w="7620">
            <a:solidFill>
              <a:srgbClr val="007A7F"/>
            </a:solidFill>
            <a:prstDash val="solid"/>
          </a:ln>
        </p:spPr>
      </p:sp>
      <p:sp>
        <p:nvSpPr>
          <p:cNvPr id="4" name="Text 2"/>
          <p:cNvSpPr/>
          <p:nvPr/>
        </p:nvSpPr>
        <p:spPr>
          <a:xfrm>
            <a:off x="365760" y="137160"/>
            <a:ext cx="1554480" cy="329184"/>
          </a:xfrm>
          <a:prstGeom prst="rect">
            <a:avLst/>
          </a:prstGeom>
          <a:noFill/>
          <a:ln/>
        </p:spPr>
        <p:txBody>
          <a:bodyPr wrap="square" lIns="0" tIns="0" rIns="0" bIns="0" rtlCol="0" anchor="ctr"/>
          <a:lstStyle/>
          <a:p>
            <a:pPr algn="ctr" indent="0" marL="0">
              <a:buNone/>
            </a:pPr>
            <a:r>
              <a:rPr lang="en-US" sz="850" b="1" dirty="0">
                <a:solidFill>
                  <a:srgbClr val="007A7F"/>
                </a:solidFill>
                <a:latin typeface="Calibri" pitchFamily="34" charset="0"/>
                <a:ea typeface="Calibri" pitchFamily="34" charset="-122"/>
                <a:cs typeface="Calibri" pitchFamily="34" charset="-120"/>
              </a:rPr>
              <a:t>03 – Projet 2</a:t>
            </a:r>
            <a:endParaRPr lang="en-US" sz="850" dirty="0"/>
          </a:p>
        </p:txBody>
      </p:sp>
      <p:sp>
        <p:nvSpPr>
          <p:cNvPr id="5" name="Text 3"/>
          <p:cNvSpPr/>
          <p:nvPr/>
        </p:nvSpPr>
        <p:spPr>
          <a:xfrm>
            <a:off x="365760" y="4828032"/>
            <a:ext cx="8412480" cy="228600"/>
          </a:xfrm>
          <a:prstGeom prst="rect">
            <a:avLst/>
          </a:prstGeom>
          <a:noFill/>
          <a:ln/>
        </p:spPr>
        <p:txBody>
          <a:bodyPr wrap="square" rtlCol="0" anchor="ctr"/>
          <a:lstStyle/>
          <a:p>
            <a:pPr algn="r" indent="0" marL="0">
              <a:buNone/>
            </a:pPr>
            <a:r>
              <a:rPr lang="en-US" sz="700" dirty="0">
                <a:solidFill>
                  <a:srgbClr val="777777"/>
                </a:solidFill>
                <a:latin typeface="Calibri" pitchFamily="34" charset="0"/>
                <a:ea typeface="Calibri" pitchFamily="34" charset="-122"/>
                <a:cs typeface="Calibri" pitchFamily="34" charset="-120"/>
              </a:rPr>
              <a:t>BAHAFID Mohamed  ·  Rapport U62  ·  BTS MEC 2026  ·  8/15</a:t>
            </a:r>
            <a:endParaRPr lang="en-US" sz="700" dirty="0"/>
          </a:p>
        </p:txBody>
      </p:sp>
      <p:sp>
        <p:nvSpPr>
          <p:cNvPr id="6" name="Text 4"/>
          <p:cNvSpPr/>
          <p:nvPr/>
        </p:nvSpPr>
        <p:spPr>
          <a:xfrm>
            <a:off x="365760" y="530352"/>
            <a:ext cx="8412480" cy="384048"/>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ROUTE LEHRI-KERROUCHEN – 25 KM</a:t>
            </a:r>
            <a:endParaRPr lang="en-US" sz="1800" dirty="0"/>
          </a:p>
        </p:txBody>
      </p:sp>
      <p:sp>
        <p:nvSpPr>
          <p:cNvPr id="7" name="Text 5"/>
          <p:cNvSpPr/>
          <p:nvPr/>
        </p:nvSpPr>
        <p:spPr>
          <a:xfrm>
            <a:off x="365760" y="896112"/>
            <a:ext cx="8412480" cy="256032"/>
          </a:xfrm>
          <a:prstGeom prst="rect">
            <a:avLst/>
          </a:prstGeom>
          <a:noFill/>
          <a:ln/>
        </p:spPr>
        <p:txBody>
          <a:bodyPr wrap="square" lIns="0" tIns="0" rIns="0" bIns="0" rtlCol="0" anchor="ctr"/>
          <a:lstStyle/>
          <a:p>
            <a:pPr indent="0" marL="0">
              <a:buNone/>
            </a:pPr>
            <a:r>
              <a:rPr lang="en-US" sz="950" dirty="0">
                <a:solidFill>
                  <a:srgbClr val="777777"/>
                </a:solidFill>
                <a:latin typeface="Calibri" pitchFamily="34" charset="0"/>
                <a:ea typeface="Calibri" pitchFamily="34" charset="-122"/>
                <a:cs typeface="Calibri" pitchFamily="34" charset="-120"/>
              </a:rPr>
              <a:t>Programme PRR3 – 29 M DH TTC – Zone montagneuse du Moyen Atlas</a:t>
            </a:r>
            <a:endParaRPr lang="en-US" sz="950" dirty="0"/>
          </a:p>
        </p:txBody>
      </p:sp>
      <p:sp>
        <p:nvSpPr>
          <p:cNvPr id="8" name="Shape 6"/>
          <p:cNvSpPr/>
          <p:nvPr/>
        </p:nvSpPr>
        <p:spPr>
          <a:xfrm>
            <a:off x="365760" y="1280160"/>
            <a:ext cx="1965960" cy="868680"/>
          </a:xfrm>
          <a:prstGeom prst="rect">
            <a:avLst>
              <a:gd name="adj" fmla="val 5263"/>
            </a:avLst>
          </a:prstGeom>
          <a:solidFill>
            <a:srgbClr val="FFFFFF"/>
          </a:solidFill>
          <a:ln/>
          <a:effectLst>
            <a:outerShdw sx="100000" sy="100000" kx="0" ky="0" algn="bl" rotWithShape="0" blurRad="63500" dist="25400" dir="8100000">
              <a:srgbClr val="000000">
                <a:alpha val="8000"/>
              </a:srgbClr>
            </a:outerShdw>
          </a:effectLst>
        </p:spPr>
      </p:sp>
      <p:sp>
        <p:nvSpPr>
          <p:cNvPr id="9" name="Shape 7"/>
          <p:cNvSpPr/>
          <p:nvPr/>
        </p:nvSpPr>
        <p:spPr>
          <a:xfrm>
            <a:off x="365760" y="1280160"/>
            <a:ext cx="1965960" cy="36576"/>
          </a:xfrm>
          <a:prstGeom prst="rect">
            <a:avLst>
              <a:gd name="adj" fmla="val 50000"/>
            </a:avLst>
          </a:prstGeom>
          <a:solidFill>
            <a:srgbClr val="007A7F"/>
          </a:solidFill>
          <a:ln/>
        </p:spPr>
      </p:sp>
      <p:sp>
        <p:nvSpPr>
          <p:cNvPr id="10" name="Text 8"/>
          <p:cNvSpPr/>
          <p:nvPr/>
        </p:nvSpPr>
        <p:spPr>
          <a:xfrm>
            <a:off x="365760" y="1371600"/>
            <a:ext cx="1965960" cy="411480"/>
          </a:xfrm>
          <a:prstGeom prst="rect">
            <a:avLst/>
          </a:prstGeom>
          <a:noFill/>
          <a:ln/>
        </p:spPr>
        <p:txBody>
          <a:bodyPr wrap="square" lIns="0" tIns="0" rIns="0" bIns="0" rtlCol="0" anchor="ctr"/>
          <a:lstStyle/>
          <a:p>
            <a:pPr algn="ctr" indent="0" marL="0">
              <a:buNone/>
            </a:pPr>
            <a:r>
              <a:rPr lang="en-US" sz="1800" b="1" dirty="0">
                <a:solidFill>
                  <a:srgbClr val="007A7F"/>
                </a:solidFill>
                <a:latin typeface="Cambria" pitchFamily="34" charset="0"/>
                <a:ea typeface="Cambria" pitchFamily="34" charset="-122"/>
                <a:cs typeface="Cambria" pitchFamily="34" charset="-120"/>
              </a:rPr>
              <a:t>29 M DH</a:t>
            </a:r>
            <a:endParaRPr lang="en-US" sz="1800" dirty="0"/>
          </a:p>
        </p:txBody>
      </p:sp>
      <p:sp>
        <p:nvSpPr>
          <p:cNvPr id="11" name="Text 9"/>
          <p:cNvSpPr/>
          <p:nvPr/>
        </p:nvSpPr>
        <p:spPr>
          <a:xfrm>
            <a:off x="365760" y="1783080"/>
            <a:ext cx="1965960" cy="256032"/>
          </a:xfrm>
          <a:prstGeom prst="rect">
            <a:avLst/>
          </a:prstGeom>
          <a:noFill/>
          <a:ln/>
        </p:spPr>
        <p:txBody>
          <a:bodyPr wrap="square" lIns="0" tIns="0" rIns="0" bIns="0" rtlCol="0" anchor="ctr"/>
          <a:lstStyle/>
          <a:p>
            <a:pPr algn="ctr" indent="0" marL="0">
              <a:buNone/>
            </a:pPr>
            <a:r>
              <a:rPr lang="en-US" sz="800" dirty="0">
                <a:solidFill>
                  <a:srgbClr val="777777"/>
                </a:solidFill>
                <a:latin typeface="Calibri" pitchFamily="34" charset="0"/>
                <a:ea typeface="Calibri" pitchFamily="34" charset="-122"/>
                <a:cs typeface="Calibri" pitchFamily="34" charset="-120"/>
              </a:rPr>
              <a:t>Budget TTC</a:t>
            </a:r>
            <a:endParaRPr lang="en-US" sz="800" dirty="0"/>
          </a:p>
        </p:txBody>
      </p:sp>
      <p:sp>
        <p:nvSpPr>
          <p:cNvPr id="12" name="Shape 10"/>
          <p:cNvSpPr/>
          <p:nvPr/>
        </p:nvSpPr>
        <p:spPr>
          <a:xfrm>
            <a:off x="2514600" y="1280160"/>
            <a:ext cx="1965960" cy="868680"/>
          </a:xfrm>
          <a:prstGeom prst="rect">
            <a:avLst>
              <a:gd name="adj" fmla="val 5263"/>
            </a:avLst>
          </a:prstGeom>
          <a:solidFill>
            <a:srgbClr val="FFFFFF"/>
          </a:solidFill>
          <a:ln/>
          <a:effectLst>
            <a:outerShdw sx="100000" sy="100000" kx="0" ky="0" algn="bl" rotWithShape="0" blurRad="63500" dist="25400" dir="8100000">
              <a:srgbClr val="000000">
                <a:alpha val="8000"/>
              </a:srgbClr>
            </a:outerShdw>
          </a:effectLst>
        </p:spPr>
      </p:sp>
      <p:sp>
        <p:nvSpPr>
          <p:cNvPr id="13" name="Shape 11"/>
          <p:cNvSpPr/>
          <p:nvPr/>
        </p:nvSpPr>
        <p:spPr>
          <a:xfrm>
            <a:off x="2514600" y="1280160"/>
            <a:ext cx="1965960" cy="36576"/>
          </a:xfrm>
          <a:prstGeom prst="rect">
            <a:avLst>
              <a:gd name="adj" fmla="val 50000"/>
            </a:avLst>
          </a:prstGeom>
          <a:solidFill>
            <a:srgbClr val="005F63"/>
          </a:solidFill>
          <a:ln/>
        </p:spPr>
      </p:sp>
      <p:sp>
        <p:nvSpPr>
          <p:cNvPr id="14" name="Text 12"/>
          <p:cNvSpPr/>
          <p:nvPr/>
        </p:nvSpPr>
        <p:spPr>
          <a:xfrm>
            <a:off x="2514600" y="1371600"/>
            <a:ext cx="1965960" cy="411480"/>
          </a:xfrm>
          <a:prstGeom prst="rect">
            <a:avLst/>
          </a:prstGeom>
          <a:noFill/>
          <a:ln/>
        </p:spPr>
        <p:txBody>
          <a:bodyPr wrap="square" lIns="0" tIns="0" rIns="0" bIns="0" rtlCol="0" anchor="ctr"/>
          <a:lstStyle/>
          <a:p>
            <a:pPr algn="ctr" indent="0" marL="0">
              <a:buNone/>
            </a:pPr>
            <a:r>
              <a:rPr lang="en-US" sz="1800" b="1" dirty="0">
                <a:solidFill>
                  <a:srgbClr val="005F63"/>
                </a:solidFill>
                <a:latin typeface="Cambria" pitchFamily="34" charset="0"/>
                <a:ea typeface="Cambria" pitchFamily="34" charset="-122"/>
                <a:cs typeface="Cambria" pitchFamily="34" charset="-120"/>
              </a:rPr>
              <a:t>25 km</a:t>
            </a:r>
            <a:endParaRPr lang="en-US" sz="1800" dirty="0"/>
          </a:p>
        </p:txBody>
      </p:sp>
      <p:sp>
        <p:nvSpPr>
          <p:cNvPr id="15" name="Text 13"/>
          <p:cNvSpPr/>
          <p:nvPr/>
        </p:nvSpPr>
        <p:spPr>
          <a:xfrm>
            <a:off x="2514600" y="1783080"/>
            <a:ext cx="1965960" cy="256032"/>
          </a:xfrm>
          <a:prstGeom prst="rect">
            <a:avLst/>
          </a:prstGeom>
          <a:noFill/>
          <a:ln/>
        </p:spPr>
        <p:txBody>
          <a:bodyPr wrap="square" lIns="0" tIns="0" rIns="0" bIns="0" rtlCol="0" anchor="ctr"/>
          <a:lstStyle/>
          <a:p>
            <a:pPr algn="ctr" indent="0" marL="0">
              <a:buNone/>
            </a:pPr>
            <a:r>
              <a:rPr lang="en-US" sz="800" dirty="0">
                <a:solidFill>
                  <a:srgbClr val="777777"/>
                </a:solidFill>
                <a:latin typeface="Calibri" pitchFamily="34" charset="0"/>
                <a:ea typeface="Calibri" pitchFamily="34" charset="-122"/>
                <a:cs typeface="Calibri" pitchFamily="34" charset="-120"/>
              </a:rPr>
              <a:t>Zone montagneuse</a:t>
            </a:r>
            <a:endParaRPr lang="en-US" sz="800" dirty="0"/>
          </a:p>
        </p:txBody>
      </p:sp>
      <p:sp>
        <p:nvSpPr>
          <p:cNvPr id="16" name="Shape 14"/>
          <p:cNvSpPr/>
          <p:nvPr/>
        </p:nvSpPr>
        <p:spPr>
          <a:xfrm>
            <a:off x="4663440" y="1280160"/>
            <a:ext cx="1965960" cy="868680"/>
          </a:xfrm>
          <a:prstGeom prst="rect">
            <a:avLst>
              <a:gd name="adj" fmla="val 5263"/>
            </a:avLst>
          </a:prstGeom>
          <a:solidFill>
            <a:srgbClr val="FFFFFF"/>
          </a:solidFill>
          <a:ln/>
          <a:effectLst>
            <a:outerShdw sx="100000" sy="100000" kx="0" ky="0" algn="bl" rotWithShape="0" blurRad="63500" dist="25400" dir="8100000">
              <a:srgbClr val="000000">
                <a:alpha val="8000"/>
              </a:srgbClr>
            </a:outerShdw>
          </a:effectLst>
        </p:spPr>
      </p:sp>
      <p:sp>
        <p:nvSpPr>
          <p:cNvPr id="17" name="Shape 15"/>
          <p:cNvSpPr/>
          <p:nvPr/>
        </p:nvSpPr>
        <p:spPr>
          <a:xfrm>
            <a:off x="4663440" y="1280160"/>
            <a:ext cx="1965960" cy="36576"/>
          </a:xfrm>
          <a:prstGeom prst="rect">
            <a:avLst>
              <a:gd name="adj" fmla="val 50000"/>
            </a:avLst>
          </a:prstGeom>
          <a:solidFill>
            <a:srgbClr val="D97706"/>
          </a:solidFill>
          <a:ln/>
        </p:spPr>
      </p:sp>
      <p:sp>
        <p:nvSpPr>
          <p:cNvPr id="18" name="Text 16"/>
          <p:cNvSpPr/>
          <p:nvPr/>
        </p:nvSpPr>
        <p:spPr>
          <a:xfrm>
            <a:off x="4663440" y="1371600"/>
            <a:ext cx="1965960" cy="411480"/>
          </a:xfrm>
          <a:prstGeom prst="rect">
            <a:avLst/>
          </a:prstGeom>
          <a:noFill/>
          <a:ln/>
        </p:spPr>
        <p:txBody>
          <a:bodyPr wrap="square" lIns="0" tIns="0" rIns="0" bIns="0" rtlCol="0" anchor="ctr"/>
          <a:lstStyle/>
          <a:p>
            <a:pPr algn="ctr" indent="0" marL="0">
              <a:buNone/>
            </a:pPr>
            <a:r>
              <a:rPr lang="en-US" sz="1800" b="1" dirty="0">
                <a:solidFill>
                  <a:srgbClr val="D97706"/>
                </a:solidFill>
                <a:latin typeface="Cambria" pitchFamily="34" charset="0"/>
                <a:ea typeface="Cambria" pitchFamily="34" charset="-122"/>
                <a:cs typeface="Cambria" pitchFamily="34" charset="-120"/>
              </a:rPr>
              <a:t>120 334 m³</a:t>
            </a:r>
            <a:endParaRPr lang="en-US" sz="1800" dirty="0"/>
          </a:p>
        </p:txBody>
      </p:sp>
      <p:sp>
        <p:nvSpPr>
          <p:cNvPr id="19" name="Text 17"/>
          <p:cNvSpPr/>
          <p:nvPr/>
        </p:nvSpPr>
        <p:spPr>
          <a:xfrm>
            <a:off x="4663440" y="1783080"/>
            <a:ext cx="1965960" cy="256032"/>
          </a:xfrm>
          <a:prstGeom prst="rect">
            <a:avLst/>
          </a:prstGeom>
          <a:noFill/>
          <a:ln/>
        </p:spPr>
        <p:txBody>
          <a:bodyPr wrap="square" lIns="0" tIns="0" rIns="0" bIns="0" rtlCol="0" anchor="ctr"/>
          <a:lstStyle/>
          <a:p>
            <a:pPr algn="ctr" indent="0" marL="0">
              <a:buNone/>
            </a:pPr>
            <a:r>
              <a:rPr lang="en-US" sz="800" dirty="0">
                <a:solidFill>
                  <a:srgbClr val="777777"/>
                </a:solidFill>
                <a:latin typeface="Calibri" pitchFamily="34" charset="0"/>
                <a:ea typeface="Calibri" pitchFamily="34" charset="-122"/>
                <a:cs typeface="Calibri" pitchFamily="34" charset="-120"/>
              </a:rPr>
              <a:t>Déblais vérifiés</a:t>
            </a:r>
            <a:endParaRPr lang="en-US" sz="800" dirty="0"/>
          </a:p>
        </p:txBody>
      </p:sp>
      <p:sp>
        <p:nvSpPr>
          <p:cNvPr id="20" name="Shape 18"/>
          <p:cNvSpPr/>
          <p:nvPr/>
        </p:nvSpPr>
        <p:spPr>
          <a:xfrm>
            <a:off x="6812280" y="1280160"/>
            <a:ext cx="1965960" cy="868680"/>
          </a:xfrm>
          <a:prstGeom prst="rect">
            <a:avLst>
              <a:gd name="adj" fmla="val 5263"/>
            </a:avLst>
          </a:prstGeom>
          <a:solidFill>
            <a:srgbClr val="FFFFFF"/>
          </a:solidFill>
          <a:ln/>
          <a:effectLst>
            <a:outerShdw sx="100000" sy="100000" kx="0" ky="0" algn="bl" rotWithShape="0" blurRad="63500" dist="25400" dir="8100000">
              <a:srgbClr val="000000">
                <a:alpha val="8000"/>
              </a:srgbClr>
            </a:outerShdw>
          </a:effectLst>
        </p:spPr>
      </p:sp>
      <p:sp>
        <p:nvSpPr>
          <p:cNvPr id="21" name="Shape 19"/>
          <p:cNvSpPr/>
          <p:nvPr/>
        </p:nvSpPr>
        <p:spPr>
          <a:xfrm>
            <a:off x="6812280" y="1280160"/>
            <a:ext cx="1965960" cy="36576"/>
          </a:xfrm>
          <a:prstGeom prst="rect">
            <a:avLst>
              <a:gd name="adj" fmla="val 50000"/>
            </a:avLst>
          </a:prstGeom>
          <a:solidFill>
            <a:srgbClr val="1A2744"/>
          </a:solidFill>
          <a:ln/>
        </p:spPr>
      </p:sp>
      <p:sp>
        <p:nvSpPr>
          <p:cNvPr id="22" name="Text 20"/>
          <p:cNvSpPr/>
          <p:nvPr/>
        </p:nvSpPr>
        <p:spPr>
          <a:xfrm>
            <a:off x="6812280" y="1371600"/>
            <a:ext cx="1965960" cy="411480"/>
          </a:xfrm>
          <a:prstGeom prst="rect">
            <a:avLst/>
          </a:prstGeom>
          <a:noFill/>
          <a:ln/>
        </p:spPr>
        <p:txBody>
          <a:bodyPr wrap="square" lIns="0" tIns="0" rIns="0" bIns="0" rtlCol="0" anchor="ctr"/>
          <a:lstStyle/>
          <a:p>
            <a:pPr algn="ctr" indent="0" marL="0">
              <a:buNone/>
            </a:pPr>
            <a:r>
              <a:rPr lang="en-US" sz="1800" b="1" dirty="0">
                <a:solidFill>
                  <a:srgbClr val="1A2744"/>
                </a:solidFill>
                <a:latin typeface="Cambria" pitchFamily="34" charset="0"/>
                <a:ea typeface="Cambria" pitchFamily="34" charset="-122"/>
                <a:cs typeface="Cambria" pitchFamily="34" charset="-120"/>
              </a:rPr>
              <a:t>53 prix</a:t>
            </a:r>
            <a:endParaRPr lang="en-US" sz="1800" dirty="0"/>
          </a:p>
        </p:txBody>
      </p:sp>
      <p:sp>
        <p:nvSpPr>
          <p:cNvPr id="23" name="Text 21"/>
          <p:cNvSpPr/>
          <p:nvPr/>
        </p:nvSpPr>
        <p:spPr>
          <a:xfrm>
            <a:off x="6812280" y="1783080"/>
            <a:ext cx="1965960" cy="256032"/>
          </a:xfrm>
          <a:prstGeom prst="rect">
            <a:avLst/>
          </a:prstGeom>
          <a:noFill/>
          <a:ln/>
        </p:spPr>
        <p:txBody>
          <a:bodyPr wrap="square" lIns="0" tIns="0" rIns="0" bIns="0" rtlCol="0" anchor="ctr"/>
          <a:lstStyle/>
          <a:p>
            <a:pPr algn="ctr" indent="0" marL="0">
              <a:buNone/>
            </a:pPr>
            <a:r>
              <a:rPr lang="en-US" sz="800" dirty="0">
                <a:solidFill>
                  <a:srgbClr val="777777"/>
                </a:solidFill>
                <a:latin typeface="Calibri" pitchFamily="34" charset="0"/>
                <a:ea typeface="Calibri" pitchFamily="34" charset="-122"/>
                <a:cs typeface="Calibri" pitchFamily="34" charset="-120"/>
              </a:rPr>
              <a:t>Au bordereau</a:t>
            </a:r>
            <a:endParaRPr lang="en-US" sz="800" dirty="0"/>
          </a:p>
        </p:txBody>
      </p:sp>
      <p:graphicFrame>
        <p:nvGraphicFramePr>
          <p:cNvPr id="24" name="Chart 0" descr=""/>
          <p:cNvGraphicFramePr/>
          <p:nvPr/>
        </p:nvGraphicFramePr>
        <p:xfrm>
          <a:off x="365760" y="2331720"/>
          <a:ext cx="8412480" cy="23774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A7F"/>
          </a:solidFill>
          <a:ln/>
        </p:spPr>
      </p:sp>
      <p:sp>
        <p:nvSpPr>
          <p:cNvPr id="3" name="Shape 1"/>
          <p:cNvSpPr/>
          <p:nvPr/>
        </p:nvSpPr>
        <p:spPr>
          <a:xfrm>
            <a:off x="365760" y="137160"/>
            <a:ext cx="1371600" cy="329184"/>
          </a:xfrm>
          <a:prstGeom prst="rect">
            <a:avLst>
              <a:gd name="adj" fmla="val 11111"/>
            </a:avLst>
          </a:prstGeom>
          <a:solidFill>
            <a:srgbClr val="E0F4F5"/>
          </a:solidFill>
          <a:ln w="7620">
            <a:solidFill>
              <a:srgbClr val="007A7F"/>
            </a:solidFill>
            <a:prstDash val="solid"/>
          </a:ln>
        </p:spPr>
      </p:sp>
      <p:sp>
        <p:nvSpPr>
          <p:cNvPr id="4" name="Text 2"/>
          <p:cNvSpPr/>
          <p:nvPr/>
        </p:nvSpPr>
        <p:spPr>
          <a:xfrm>
            <a:off x="365760" y="137160"/>
            <a:ext cx="1371600" cy="329184"/>
          </a:xfrm>
          <a:prstGeom prst="rect">
            <a:avLst/>
          </a:prstGeom>
          <a:noFill/>
          <a:ln/>
        </p:spPr>
        <p:txBody>
          <a:bodyPr wrap="square" lIns="0" tIns="0" rIns="0" bIns="0" rtlCol="0" anchor="ctr"/>
          <a:lstStyle/>
          <a:p>
            <a:pPr algn="ctr" indent="0" marL="0">
              <a:buNone/>
            </a:pPr>
            <a:r>
              <a:rPr lang="en-US" sz="850" b="1" dirty="0">
                <a:solidFill>
                  <a:srgbClr val="007A7F"/>
                </a:solidFill>
                <a:latin typeface="Calibri" pitchFamily="34" charset="0"/>
                <a:ea typeface="Calibri" pitchFamily="34" charset="-122"/>
                <a:cs typeface="Calibri" pitchFamily="34" charset="-120"/>
              </a:rPr>
              <a:t>03 – Sit. 5</a:t>
            </a:r>
            <a:endParaRPr lang="en-US" sz="850" dirty="0"/>
          </a:p>
        </p:txBody>
      </p:sp>
      <p:sp>
        <p:nvSpPr>
          <p:cNvPr id="5" name="Text 3"/>
          <p:cNvSpPr/>
          <p:nvPr/>
        </p:nvSpPr>
        <p:spPr>
          <a:xfrm>
            <a:off x="365760" y="4828032"/>
            <a:ext cx="8412480" cy="228600"/>
          </a:xfrm>
          <a:prstGeom prst="rect">
            <a:avLst/>
          </a:prstGeom>
          <a:noFill/>
          <a:ln/>
        </p:spPr>
        <p:txBody>
          <a:bodyPr wrap="square" rtlCol="0" anchor="ctr"/>
          <a:lstStyle/>
          <a:p>
            <a:pPr algn="r" indent="0" marL="0">
              <a:buNone/>
            </a:pPr>
            <a:r>
              <a:rPr lang="en-US" sz="700" dirty="0">
                <a:solidFill>
                  <a:srgbClr val="777777"/>
                </a:solidFill>
                <a:latin typeface="Calibri" pitchFamily="34" charset="0"/>
                <a:ea typeface="Calibri" pitchFamily="34" charset="-122"/>
                <a:cs typeface="Calibri" pitchFamily="34" charset="-120"/>
              </a:rPr>
              <a:t>BAHAFID Mohamed  ·  Rapport U62  ·  BTS MEC 2026  ·  9/15</a:t>
            </a:r>
            <a:endParaRPr lang="en-US" sz="700" dirty="0"/>
          </a:p>
        </p:txBody>
      </p:sp>
      <p:sp>
        <p:nvSpPr>
          <p:cNvPr id="6" name="Text 4"/>
          <p:cNvSpPr/>
          <p:nvPr/>
        </p:nvSpPr>
        <p:spPr>
          <a:xfrm>
            <a:off x="365760" y="530352"/>
            <a:ext cx="8412480" cy="384048"/>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CONTRÔLE DES CUBATURES DE TERRASSEMENT</a:t>
            </a:r>
            <a:endParaRPr lang="en-US" sz="1800" dirty="0"/>
          </a:p>
        </p:txBody>
      </p:sp>
      <p:sp>
        <p:nvSpPr>
          <p:cNvPr id="7" name="Text 5"/>
          <p:cNvSpPr/>
          <p:nvPr/>
        </p:nvSpPr>
        <p:spPr>
          <a:xfrm>
            <a:off x="365760" y="896112"/>
            <a:ext cx="8412480" cy="256032"/>
          </a:xfrm>
          <a:prstGeom prst="rect">
            <a:avLst/>
          </a:prstGeom>
          <a:noFill/>
          <a:ln/>
        </p:spPr>
        <p:txBody>
          <a:bodyPr wrap="square" lIns="0" tIns="0" rIns="0" bIns="0" rtlCol="0" anchor="ctr"/>
          <a:lstStyle/>
          <a:p>
            <a:pPr indent="0" marL="0">
              <a:buNone/>
            </a:pPr>
            <a:r>
              <a:rPr lang="en-US" sz="950" dirty="0">
                <a:solidFill>
                  <a:srgbClr val="777777"/>
                </a:solidFill>
                <a:latin typeface="Calibri" pitchFamily="34" charset="0"/>
                <a:ea typeface="Calibri" pitchFamily="34" charset="-122"/>
                <a:cs typeface="Calibri" pitchFamily="34" charset="-120"/>
              </a:rPr>
              <a:t>Compétence C18 – Vérifier les quantités exécutées</a:t>
            </a:r>
            <a:endParaRPr lang="en-US" sz="950" dirty="0"/>
          </a:p>
        </p:txBody>
      </p:sp>
      <p:sp>
        <p:nvSpPr>
          <p:cNvPr id="8" name="Text 6"/>
          <p:cNvSpPr/>
          <p:nvPr/>
        </p:nvSpPr>
        <p:spPr>
          <a:xfrm>
            <a:off x="365760" y="1325880"/>
            <a:ext cx="2011680" cy="502920"/>
          </a:xfrm>
          <a:prstGeom prst="rect">
            <a:avLst/>
          </a:prstGeom>
          <a:noFill/>
          <a:ln/>
        </p:spPr>
        <p:txBody>
          <a:bodyPr wrap="square" lIns="0" tIns="0" rIns="0" bIns="0" rtlCol="0" anchor="ctr"/>
          <a:lstStyle/>
          <a:p>
            <a:pPr indent="0" marL="0">
              <a:buNone/>
            </a:pPr>
            <a:r>
              <a:rPr lang="en-US" sz="2400" b="1" dirty="0">
                <a:solidFill>
                  <a:srgbClr val="D97706"/>
                </a:solidFill>
                <a:latin typeface="Cambria" pitchFamily="34" charset="0"/>
                <a:ea typeface="Cambria" pitchFamily="34" charset="-122"/>
                <a:cs typeface="Cambria" pitchFamily="34" charset="-120"/>
              </a:rPr>
              <a:t>+8%</a:t>
            </a:r>
            <a:endParaRPr lang="en-US" sz="2400" dirty="0"/>
          </a:p>
        </p:txBody>
      </p:sp>
      <p:sp>
        <p:nvSpPr>
          <p:cNvPr id="9" name="Text 7"/>
          <p:cNvSpPr/>
          <p:nvPr/>
        </p:nvSpPr>
        <p:spPr>
          <a:xfrm>
            <a:off x="365760" y="1783080"/>
            <a:ext cx="2011680" cy="201168"/>
          </a:xfrm>
          <a:prstGeom prst="rect">
            <a:avLst/>
          </a:prstGeom>
          <a:noFill/>
          <a:ln/>
        </p:spPr>
        <p:txBody>
          <a:bodyPr wrap="square" lIns="0" tIns="0" rIns="0" bIns="0" rtlCol="0" anchor="ctr"/>
          <a:lstStyle/>
          <a:p>
            <a:pPr indent="0" marL="0">
              <a:buNone/>
            </a:pPr>
            <a:r>
              <a:rPr lang="en-US" sz="800" dirty="0">
                <a:solidFill>
                  <a:srgbClr val="777777"/>
                </a:solidFill>
                <a:latin typeface="Calibri" pitchFamily="34" charset="0"/>
                <a:ea typeface="Calibri" pitchFamily="34" charset="-122"/>
                <a:cs typeface="Calibri" pitchFamily="34" charset="-120"/>
              </a:rPr>
              <a:t>Écart cumulé détecté et corrigé</a:t>
            </a:r>
            <a:endParaRPr lang="en-US" sz="800" dirty="0"/>
          </a:p>
        </p:txBody>
      </p:sp>
      <p:sp>
        <p:nvSpPr>
          <p:cNvPr id="10" name="Text 8"/>
          <p:cNvSpPr/>
          <p:nvPr/>
        </p:nvSpPr>
        <p:spPr>
          <a:xfrm>
            <a:off x="2926080" y="1325880"/>
            <a:ext cx="2011680" cy="502920"/>
          </a:xfrm>
          <a:prstGeom prst="rect">
            <a:avLst/>
          </a:prstGeom>
          <a:noFill/>
          <a:ln/>
        </p:spPr>
        <p:txBody>
          <a:bodyPr wrap="square" lIns="0" tIns="0" rIns="0" bIns="0" rtlCol="0" anchor="ctr"/>
          <a:lstStyle/>
          <a:p>
            <a:pPr indent="0" marL="0">
              <a:buNone/>
            </a:pPr>
            <a:r>
              <a:rPr lang="en-US" sz="2400" b="1" dirty="0">
                <a:solidFill>
                  <a:srgbClr val="007A7F"/>
                </a:solidFill>
                <a:latin typeface="Cambria" pitchFamily="34" charset="0"/>
                <a:ea typeface="Cambria" pitchFamily="34" charset="-122"/>
                <a:cs typeface="Cambria" pitchFamily="34" charset="-120"/>
              </a:rPr>
              <a:t>285 000 DH</a:t>
            </a:r>
            <a:endParaRPr lang="en-US" sz="2400" dirty="0"/>
          </a:p>
        </p:txBody>
      </p:sp>
      <p:sp>
        <p:nvSpPr>
          <p:cNvPr id="11" name="Text 9"/>
          <p:cNvSpPr/>
          <p:nvPr/>
        </p:nvSpPr>
        <p:spPr>
          <a:xfrm>
            <a:off x="2926080" y="1783080"/>
            <a:ext cx="2011680" cy="201168"/>
          </a:xfrm>
          <a:prstGeom prst="rect">
            <a:avLst/>
          </a:prstGeom>
          <a:noFill/>
          <a:ln/>
        </p:spPr>
        <p:txBody>
          <a:bodyPr wrap="square" lIns="0" tIns="0" rIns="0" bIns="0" rtlCol="0" anchor="ctr"/>
          <a:lstStyle/>
          <a:p>
            <a:pPr indent="0" marL="0">
              <a:buNone/>
            </a:pPr>
            <a:r>
              <a:rPr lang="en-US" sz="800" dirty="0">
                <a:solidFill>
                  <a:srgbClr val="777777"/>
                </a:solidFill>
                <a:latin typeface="Calibri" pitchFamily="34" charset="0"/>
                <a:ea typeface="Calibri" pitchFamily="34" charset="-122"/>
                <a:cs typeface="Calibri" pitchFamily="34" charset="-120"/>
              </a:rPr>
              <a:t>Surcoût absorbé sans avenant</a:t>
            </a:r>
            <a:endParaRPr lang="en-US" sz="800" dirty="0"/>
          </a:p>
        </p:txBody>
      </p:sp>
      <p:sp>
        <p:nvSpPr>
          <p:cNvPr id="12" name="Shape 10"/>
          <p:cNvSpPr/>
          <p:nvPr/>
        </p:nvSpPr>
        <p:spPr>
          <a:xfrm>
            <a:off x="365760" y="2286000"/>
            <a:ext cx="8412480" cy="2468880"/>
          </a:xfrm>
          <a:prstGeom prst="rect">
            <a:avLst>
              <a:gd name="adj" fmla="val 1852"/>
            </a:avLst>
          </a:prstGeom>
          <a:solidFill>
            <a:srgbClr val="FFFFFF"/>
          </a:solidFill>
          <a:ln/>
          <a:effectLst>
            <a:outerShdw sx="100000" sy="100000" kx="0" ky="0" algn="bl" rotWithShape="0" blurRad="63500" dist="25400" dir="8100000">
              <a:srgbClr val="000000">
                <a:alpha val="8000"/>
              </a:srgbClr>
            </a:outerShdw>
          </a:effectLst>
        </p:spPr>
      </p:sp>
      <p:sp>
        <p:nvSpPr>
          <p:cNvPr id="13" name="Shape 11"/>
          <p:cNvSpPr/>
          <p:nvPr/>
        </p:nvSpPr>
        <p:spPr>
          <a:xfrm>
            <a:off x="365760" y="2286000"/>
            <a:ext cx="8412480" cy="36576"/>
          </a:xfrm>
          <a:prstGeom prst="rect">
            <a:avLst>
              <a:gd name="adj" fmla="val 50000"/>
            </a:avLst>
          </a:prstGeom>
          <a:solidFill>
            <a:srgbClr val="005F63"/>
          </a:solidFill>
          <a:ln/>
        </p:spPr>
      </p:sp>
      <p:sp>
        <p:nvSpPr>
          <p:cNvPr id="14" name="Shape 12"/>
          <p:cNvSpPr/>
          <p:nvPr/>
        </p:nvSpPr>
        <p:spPr>
          <a:xfrm>
            <a:off x="548640" y="2468880"/>
            <a:ext cx="219456" cy="219456"/>
          </a:xfrm>
          <a:prstGeom prst="ellipse">
            <a:avLst/>
          </a:prstGeom>
          <a:solidFill>
            <a:srgbClr val="007A7F"/>
          </a:solidFill>
          <a:ln/>
        </p:spPr>
      </p:sp>
      <p:sp>
        <p:nvSpPr>
          <p:cNvPr id="15" name="Text 13"/>
          <p:cNvSpPr/>
          <p:nvPr/>
        </p:nvSpPr>
        <p:spPr>
          <a:xfrm>
            <a:off x="548640" y="246888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C</a:t>
            </a:r>
            <a:endParaRPr lang="en-US" sz="1000" dirty="0"/>
          </a:p>
        </p:txBody>
      </p:sp>
      <p:sp>
        <p:nvSpPr>
          <p:cNvPr id="16" name="Text 14"/>
          <p:cNvSpPr/>
          <p:nvPr/>
        </p:nvSpPr>
        <p:spPr>
          <a:xfrm>
            <a:off x="841248" y="2450592"/>
            <a:ext cx="768096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Vérification 120 334 m³ déblais + 76 735 m³ remblais. Dénivelé 400 m, pentes 12%.</a:t>
            </a:r>
            <a:endParaRPr lang="en-US" sz="800" dirty="0"/>
          </a:p>
        </p:txBody>
      </p:sp>
      <p:sp>
        <p:nvSpPr>
          <p:cNvPr id="17" name="Shape 15"/>
          <p:cNvSpPr/>
          <p:nvPr/>
        </p:nvSpPr>
        <p:spPr>
          <a:xfrm>
            <a:off x="548640" y="3017520"/>
            <a:ext cx="219456" cy="219456"/>
          </a:xfrm>
          <a:prstGeom prst="ellipse">
            <a:avLst/>
          </a:prstGeom>
          <a:solidFill>
            <a:srgbClr val="D97706"/>
          </a:solidFill>
          <a:ln/>
        </p:spPr>
      </p:sp>
      <p:sp>
        <p:nvSpPr>
          <p:cNvPr id="18" name="Text 16"/>
          <p:cNvSpPr/>
          <p:nvPr/>
        </p:nvSpPr>
        <p:spPr>
          <a:xfrm>
            <a:off x="548640" y="301752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P</a:t>
            </a:r>
            <a:endParaRPr lang="en-US" sz="1000" dirty="0"/>
          </a:p>
        </p:txBody>
      </p:sp>
      <p:sp>
        <p:nvSpPr>
          <p:cNvPr id="19" name="Text 17"/>
          <p:cNvSpPr/>
          <p:nvPr/>
        </p:nvSpPr>
        <p:spPr>
          <a:xfrm>
            <a:off x="841248" y="2999232"/>
            <a:ext cx="768096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PK 12 : calcaire fracturé non détecté. 5 000 m³ à reclassifier. Écart cumulé +8%.</a:t>
            </a:r>
            <a:endParaRPr lang="en-US" sz="800" dirty="0"/>
          </a:p>
        </p:txBody>
      </p:sp>
      <p:sp>
        <p:nvSpPr>
          <p:cNvPr id="20" name="Shape 18"/>
          <p:cNvSpPr/>
          <p:nvPr/>
        </p:nvSpPr>
        <p:spPr>
          <a:xfrm>
            <a:off x="548640" y="3566160"/>
            <a:ext cx="219456" cy="219456"/>
          </a:xfrm>
          <a:prstGeom prst="ellipse">
            <a:avLst/>
          </a:prstGeom>
          <a:solidFill>
            <a:srgbClr val="005F63"/>
          </a:solidFill>
          <a:ln/>
        </p:spPr>
      </p:sp>
      <p:sp>
        <p:nvSpPr>
          <p:cNvPr id="21" name="Text 19"/>
          <p:cNvSpPr/>
          <p:nvPr/>
        </p:nvSpPr>
        <p:spPr>
          <a:xfrm>
            <a:off x="548640" y="356616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A</a:t>
            </a:r>
            <a:endParaRPr lang="en-US" sz="1000" dirty="0"/>
          </a:p>
        </p:txBody>
      </p:sp>
      <p:sp>
        <p:nvSpPr>
          <p:cNvPr id="22" name="Text 20"/>
          <p:cNvSpPr/>
          <p:nvPr/>
        </p:nvSpPr>
        <p:spPr>
          <a:xfrm>
            <a:off x="841248" y="3547872"/>
            <a:ext cx="768096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Profils en travers /25 m. Relevés GPS contradictoires /500 ml. 3 dalots dimensionnés avec BET.</a:t>
            </a:r>
            <a:endParaRPr lang="en-US" sz="800" dirty="0"/>
          </a:p>
        </p:txBody>
      </p:sp>
      <p:sp>
        <p:nvSpPr>
          <p:cNvPr id="23" name="Shape 21"/>
          <p:cNvSpPr/>
          <p:nvPr/>
        </p:nvSpPr>
        <p:spPr>
          <a:xfrm>
            <a:off x="548640" y="4114800"/>
            <a:ext cx="219456" cy="219456"/>
          </a:xfrm>
          <a:prstGeom prst="ellipse">
            <a:avLst/>
          </a:prstGeom>
          <a:solidFill>
            <a:srgbClr val="16A34A"/>
          </a:solidFill>
          <a:ln/>
        </p:spPr>
      </p:sp>
      <p:sp>
        <p:nvSpPr>
          <p:cNvPr id="24" name="Text 22"/>
          <p:cNvSpPr/>
          <p:nvPr/>
        </p:nvSpPr>
        <p:spPr>
          <a:xfrm>
            <a:off x="548640" y="411480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R</a:t>
            </a:r>
            <a:endParaRPr lang="en-US" sz="1000" dirty="0"/>
          </a:p>
        </p:txBody>
      </p:sp>
      <p:sp>
        <p:nvSpPr>
          <p:cNvPr id="25" name="Text 23"/>
          <p:cNvSpPr/>
          <p:nvPr/>
        </p:nvSpPr>
        <p:spPr>
          <a:xfrm>
            <a:off x="841248" y="4096512"/>
            <a:ext cx="7680960" cy="475488"/>
          </a:xfrm>
          <a:prstGeom prst="rect">
            <a:avLst/>
          </a:prstGeom>
          <a:noFill/>
          <a:ln/>
        </p:spPr>
        <p:txBody>
          <a:bodyPr wrap="square" lIns="0" tIns="0" rIns="0" bIns="0" rtlCol="0" anchor="ctr"/>
          <a:lstStyle/>
          <a:p>
            <a:pPr indent="0" marL="0">
              <a:buNone/>
            </a:pPr>
            <a:r>
              <a:rPr lang="en-US" sz="800" dirty="0">
                <a:solidFill>
                  <a:srgbClr val="3A3A3A"/>
                </a:solidFill>
                <a:latin typeface="Calibri" pitchFamily="34" charset="0"/>
                <a:ea typeface="Calibri" pitchFamily="34" charset="-122"/>
                <a:cs typeface="Calibri" pitchFamily="34" charset="-120"/>
              </a:rPr>
              <a:t>Surcoût absorbé par compensation. Réception sans avenant. Traçabilité complète.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A7F"/>
          </a:solidFill>
          <a:ln/>
        </p:spPr>
      </p:sp>
      <p:sp>
        <p:nvSpPr>
          <p:cNvPr id="3" name="Shape 1"/>
          <p:cNvSpPr/>
          <p:nvPr/>
        </p:nvSpPr>
        <p:spPr>
          <a:xfrm>
            <a:off x="365760" y="137160"/>
            <a:ext cx="1371600" cy="329184"/>
          </a:xfrm>
          <a:prstGeom prst="rect">
            <a:avLst>
              <a:gd name="adj" fmla="val 11111"/>
            </a:avLst>
          </a:prstGeom>
          <a:solidFill>
            <a:srgbClr val="E0F4F5"/>
          </a:solidFill>
          <a:ln w="7620">
            <a:solidFill>
              <a:srgbClr val="007A7F"/>
            </a:solidFill>
            <a:prstDash val="solid"/>
          </a:ln>
        </p:spPr>
      </p:sp>
      <p:sp>
        <p:nvSpPr>
          <p:cNvPr id="4" name="Text 2"/>
          <p:cNvSpPr/>
          <p:nvPr/>
        </p:nvSpPr>
        <p:spPr>
          <a:xfrm>
            <a:off x="365760" y="137160"/>
            <a:ext cx="1371600" cy="329184"/>
          </a:xfrm>
          <a:prstGeom prst="rect">
            <a:avLst/>
          </a:prstGeom>
          <a:noFill/>
          <a:ln/>
        </p:spPr>
        <p:txBody>
          <a:bodyPr wrap="square" lIns="0" tIns="0" rIns="0" bIns="0" rtlCol="0" anchor="ctr"/>
          <a:lstStyle/>
          <a:p>
            <a:pPr algn="ctr" indent="0" marL="0">
              <a:buNone/>
            </a:pPr>
            <a:r>
              <a:rPr lang="en-US" sz="850" b="1" dirty="0">
                <a:solidFill>
                  <a:srgbClr val="007A7F"/>
                </a:solidFill>
                <a:latin typeface="Calibri" pitchFamily="34" charset="0"/>
                <a:ea typeface="Calibri" pitchFamily="34" charset="-122"/>
                <a:cs typeface="Calibri" pitchFamily="34" charset="-120"/>
              </a:rPr>
              <a:t>03 – Compl.</a:t>
            </a:r>
            <a:endParaRPr lang="en-US" sz="850" dirty="0"/>
          </a:p>
        </p:txBody>
      </p:sp>
      <p:sp>
        <p:nvSpPr>
          <p:cNvPr id="5" name="Text 3"/>
          <p:cNvSpPr/>
          <p:nvPr/>
        </p:nvSpPr>
        <p:spPr>
          <a:xfrm>
            <a:off x="365760" y="4828032"/>
            <a:ext cx="8412480" cy="228600"/>
          </a:xfrm>
          <a:prstGeom prst="rect">
            <a:avLst/>
          </a:prstGeom>
          <a:noFill/>
          <a:ln/>
        </p:spPr>
        <p:txBody>
          <a:bodyPr wrap="square" rtlCol="0" anchor="ctr"/>
          <a:lstStyle/>
          <a:p>
            <a:pPr algn="r" indent="0" marL="0">
              <a:buNone/>
            </a:pPr>
            <a:r>
              <a:rPr lang="en-US" sz="700" dirty="0">
                <a:solidFill>
                  <a:srgbClr val="777777"/>
                </a:solidFill>
                <a:latin typeface="Calibri" pitchFamily="34" charset="0"/>
                <a:ea typeface="Calibri" pitchFamily="34" charset="-122"/>
                <a:cs typeface="Calibri" pitchFamily="34" charset="-120"/>
              </a:rPr>
              <a:t>BAHAFID Mohamed  ·  Rapport U62  ·  BTS MEC 2026  ·  10/15</a:t>
            </a:r>
            <a:endParaRPr lang="en-US" sz="700" dirty="0"/>
          </a:p>
        </p:txBody>
      </p:sp>
      <p:sp>
        <p:nvSpPr>
          <p:cNvPr id="6" name="Text 4"/>
          <p:cNvSpPr/>
          <p:nvPr/>
        </p:nvSpPr>
        <p:spPr>
          <a:xfrm>
            <a:off x="365760" y="530352"/>
            <a:ext cx="8412480" cy="384048"/>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ACTIVITÉS COMPLÉMENTAIRES</a:t>
            </a:r>
            <a:endParaRPr lang="en-US" sz="1800" dirty="0"/>
          </a:p>
        </p:txBody>
      </p:sp>
      <p:sp>
        <p:nvSpPr>
          <p:cNvPr id="7" name="Text 5"/>
          <p:cNvSpPr/>
          <p:nvPr/>
        </p:nvSpPr>
        <p:spPr>
          <a:xfrm>
            <a:off x="365760" y="896112"/>
            <a:ext cx="8412480" cy="256032"/>
          </a:xfrm>
          <a:prstGeom prst="rect">
            <a:avLst/>
          </a:prstGeom>
          <a:noFill/>
          <a:ln/>
        </p:spPr>
        <p:txBody>
          <a:bodyPr wrap="square" lIns="0" tIns="0" rIns="0" bIns="0" rtlCol="0" anchor="ctr"/>
          <a:lstStyle/>
          <a:p>
            <a:pPr indent="0" marL="0">
              <a:buNone/>
            </a:pPr>
            <a:r>
              <a:rPr lang="en-US" sz="950" dirty="0">
                <a:solidFill>
                  <a:srgbClr val="777777"/>
                </a:solidFill>
                <a:latin typeface="Calibri" pitchFamily="34" charset="0"/>
                <a:ea typeface="Calibri" pitchFamily="34" charset="-122"/>
                <a:cs typeface="Calibri" pitchFamily="34" charset="-120"/>
              </a:rPr>
              <a:t>5 autres marchés publics + expérience terrain en France</a:t>
            </a:r>
            <a:endParaRPr lang="en-US" sz="950" dirty="0"/>
          </a:p>
        </p:txBody>
      </p:sp>
      <p:sp>
        <p:nvSpPr>
          <p:cNvPr id="8" name="Shape 6"/>
          <p:cNvSpPr/>
          <p:nvPr/>
        </p:nvSpPr>
        <p:spPr>
          <a:xfrm>
            <a:off x="365760" y="1280160"/>
            <a:ext cx="4754880" cy="2560320"/>
          </a:xfrm>
          <a:prstGeom prst="rect">
            <a:avLst>
              <a:gd name="adj" fmla="val 1786"/>
            </a:avLst>
          </a:prstGeom>
          <a:solidFill>
            <a:srgbClr val="FFFFFF"/>
          </a:solidFill>
          <a:ln/>
          <a:effectLst>
            <a:outerShdw sx="100000" sy="100000" kx="0" ky="0" algn="bl" rotWithShape="0" blurRad="63500" dist="25400" dir="8100000">
              <a:srgbClr val="000000">
                <a:alpha val="8000"/>
              </a:srgbClr>
            </a:outerShdw>
          </a:effectLst>
        </p:spPr>
      </p:sp>
      <p:sp>
        <p:nvSpPr>
          <p:cNvPr id="9" name="Shape 7"/>
          <p:cNvSpPr/>
          <p:nvPr/>
        </p:nvSpPr>
        <p:spPr>
          <a:xfrm>
            <a:off x="365760" y="1280160"/>
            <a:ext cx="4754880" cy="36576"/>
          </a:xfrm>
          <a:prstGeom prst="rect">
            <a:avLst>
              <a:gd name="adj" fmla="val 50000"/>
            </a:avLst>
          </a:prstGeom>
          <a:solidFill>
            <a:srgbClr val="007A7F"/>
          </a:solidFill>
          <a:ln/>
        </p:spPr>
      </p:sp>
      <p:sp>
        <p:nvSpPr>
          <p:cNvPr id="10" name="Text 8"/>
          <p:cNvSpPr/>
          <p:nvPr/>
        </p:nvSpPr>
        <p:spPr>
          <a:xfrm>
            <a:off x="548640" y="1417320"/>
            <a:ext cx="4389120" cy="201168"/>
          </a:xfrm>
          <a:prstGeom prst="rect">
            <a:avLst/>
          </a:prstGeom>
          <a:noFill/>
          <a:ln/>
        </p:spPr>
        <p:txBody>
          <a:bodyPr wrap="square" lIns="0" tIns="0" rIns="0" bIns="0" rtlCol="0" anchor="ctr"/>
          <a:lstStyle/>
          <a:p>
            <a:pPr indent="0" marL="0">
              <a:buNone/>
            </a:pPr>
            <a:r>
              <a:rPr lang="en-US" sz="900" b="1" spc="100" kern="0" dirty="0">
                <a:solidFill>
                  <a:srgbClr val="007A7F"/>
                </a:solidFill>
                <a:latin typeface="Calibri" pitchFamily="34" charset="0"/>
                <a:ea typeface="Calibri" pitchFamily="34" charset="-122"/>
                <a:cs typeface="Calibri" pitchFamily="34" charset="-120"/>
              </a:rPr>
              <a:t>5 AUTRES MARCHÉS</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4389120" cy="914400"/>
        </p:xfrm>
        <a:graphic>
          <a:graphicData uri="http://schemas.openxmlformats.org/drawingml/2006/table">
            <a:tbl>
              <a:tblPr/>
              <a:tblGrid>
                <a:gridCol w="640080"/>
                <a:gridCol w="2834640"/>
                <a:gridCol w="914400"/>
              </a:tblGrid>
              <a:tr h="237744">
                <a:tc>
                  <a:txBody>
                    <a:bodyPr/>
                    <a:lstStyle/>
                    <a:p>
                      <a:pPr indent="0" marL="0">
                        <a:buNone/>
                      </a:pPr>
                      <a:r>
                        <a:rPr lang="en-US" sz="700" b="1" dirty="0">
                          <a:solidFill>
                            <a:srgbClr val="FFFFFF"/>
                          </a:solidFill>
                        </a:rPr>
                        <a:t>N°</a:t>
                      </a:r>
                      <a:endParaRPr lang="en-US" sz="7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A7F"/>
                    </a:solidFill>
                  </a:tcPr>
                </a:tc>
                <a:tc>
                  <a:txBody>
                    <a:bodyPr/>
                    <a:lstStyle/>
                    <a:p>
                      <a:pPr indent="0" marL="0">
                        <a:buNone/>
                      </a:pPr>
                      <a:r>
                        <a:rPr lang="en-US" sz="700" b="1" dirty="0">
                          <a:solidFill>
                            <a:srgbClr val="FFFFFF"/>
                          </a:solidFill>
                        </a:rPr>
                        <a:t>Objet</a:t>
                      </a:r>
                      <a:endParaRPr lang="en-US" sz="7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A7F"/>
                    </a:solidFill>
                  </a:tcPr>
                </a:tc>
                <a:tc>
                  <a:txBody>
                    <a:bodyPr/>
                    <a:lstStyle/>
                    <a:p>
                      <a:pPr algn="r" indent="0" marL="0">
                        <a:buNone/>
                      </a:pPr>
                      <a:r>
                        <a:rPr lang="en-US" sz="700" b="1" dirty="0">
                          <a:solidFill>
                            <a:srgbClr val="FFFFFF"/>
                          </a:solidFill>
                        </a:rPr>
                        <a:t>Montant</a:t>
                      </a:r>
                      <a:endParaRPr lang="en-US" sz="7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A7F"/>
                    </a:solidFill>
                  </a:tcPr>
                </a:tc>
              </a:tr>
              <a:tr h="237744">
                <a:tc>
                  <a:txBody>
                    <a:bodyPr/>
                    <a:lstStyle/>
                    <a:p>
                      <a:pPr indent="0" marL="0">
                        <a:buNone/>
                      </a:pPr>
                      <a:r>
                        <a:rPr lang="en-US" sz="700" b="1" dirty="0">
                          <a:solidFill>
                            <a:srgbClr val="005F63"/>
                          </a:solidFill>
                        </a:rPr>
                        <a:t>27-RBK</a:t>
                      </a:r>
                      <a:endParaRPr lang="en-US" sz="7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00" dirty="0">
                          <a:solidFill>
                            <a:srgbClr val="3A3A3A"/>
                          </a:solidFill>
                        </a:rPr>
                        <a:t>Route Sidi Bouabbad → Oued Grou (12 km)</a:t>
                      </a:r>
                      <a:endParaRPr lang="en-US" sz="7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700" dirty="0">
                          <a:solidFill>
                            <a:srgbClr val="3A3A3A"/>
                          </a:solidFill>
                        </a:rPr>
                        <a:t>8,2 M DH</a:t>
                      </a:r>
                      <a:endParaRPr lang="en-US" sz="7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37744">
                <a:tc>
                  <a:txBody>
                    <a:bodyPr/>
                    <a:lstStyle/>
                    <a:p>
                      <a:pPr indent="0" marL="0">
                        <a:buNone/>
                      </a:pPr>
                      <a:r>
                        <a:rPr lang="en-US" sz="700" b="1" dirty="0">
                          <a:solidFill>
                            <a:srgbClr val="005F63"/>
                          </a:solidFill>
                        </a:rPr>
                        <a:t>28-RBK</a:t>
                      </a:r>
                      <a:endParaRPr lang="en-US" sz="7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00" dirty="0">
                          <a:solidFill>
                            <a:srgbClr val="3A3A3A"/>
                          </a:solidFill>
                        </a:rPr>
                        <a:t>Route Ajdir-Ayoun + Piste Lijon</a:t>
                      </a:r>
                      <a:endParaRPr lang="en-US" sz="7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700" dirty="0">
                          <a:solidFill>
                            <a:srgbClr val="3A3A3A"/>
                          </a:solidFill>
                        </a:rPr>
                        <a:t>6,5 M DH</a:t>
                      </a:r>
                      <a:endParaRPr lang="en-US" sz="7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37744">
                <a:tc>
                  <a:txBody>
                    <a:bodyPr/>
                    <a:lstStyle/>
                    <a:p>
                      <a:pPr indent="0" marL="0">
                        <a:buNone/>
                      </a:pPr>
                      <a:r>
                        <a:rPr lang="en-US" sz="700" b="1" dirty="0">
                          <a:solidFill>
                            <a:srgbClr val="005F63"/>
                          </a:solidFill>
                        </a:rPr>
                        <a:t>30-RBK</a:t>
                      </a:r>
                      <a:endParaRPr lang="en-US" sz="7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00" dirty="0">
                          <a:solidFill>
                            <a:srgbClr val="3A3A3A"/>
                          </a:solidFill>
                        </a:rPr>
                        <a:t>AEP El Borj – El Hamam (18 km)</a:t>
                      </a:r>
                      <a:endParaRPr lang="en-US" sz="7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700" dirty="0">
                          <a:solidFill>
                            <a:srgbClr val="3A3A3A"/>
                          </a:solidFill>
                        </a:rPr>
                        <a:t>4,8 M DH</a:t>
                      </a:r>
                      <a:endParaRPr lang="en-US" sz="7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37744">
                <a:tc>
                  <a:txBody>
                    <a:bodyPr/>
                    <a:lstStyle/>
                    <a:p>
                      <a:pPr indent="0" marL="0">
                        <a:buNone/>
                      </a:pPr>
                      <a:r>
                        <a:rPr lang="en-US" sz="700" b="1" dirty="0">
                          <a:solidFill>
                            <a:srgbClr val="005F63"/>
                          </a:solidFill>
                        </a:rPr>
                        <a:t>39-RBK</a:t>
                      </a:r>
                      <a:endParaRPr lang="en-US" sz="7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00" dirty="0">
                          <a:solidFill>
                            <a:srgbClr val="3A3A3A"/>
                          </a:solidFill>
                        </a:rPr>
                        <a:t>Pistes Hartaf – Sebt Ait Rahou</a:t>
                      </a:r>
                      <a:endParaRPr lang="en-US" sz="7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700" dirty="0">
                          <a:solidFill>
                            <a:srgbClr val="3A3A3A"/>
                          </a:solidFill>
                        </a:rPr>
                        <a:t>3,1 M DH</a:t>
                      </a:r>
                      <a:endParaRPr lang="en-US" sz="7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37744">
                <a:tc>
                  <a:txBody>
                    <a:bodyPr/>
                    <a:lstStyle/>
                    <a:p>
                      <a:pPr indent="0" marL="0">
                        <a:buNone/>
                      </a:pPr>
                      <a:r>
                        <a:rPr lang="en-US" sz="700" b="1" dirty="0">
                          <a:solidFill>
                            <a:srgbClr val="005F63"/>
                          </a:solidFill>
                        </a:rPr>
                        <a:t>49-RBK</a:t>
                      </a:r>
                      <a:endParaRPr lang="en-US" sz="7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00" dirty="0">
                          <a:solidFill>
                            <a:srgbClr val="3A3A3A"/>
                          </a:solidFill>
                        </a:rPr>
                        <a:t>Voirie Amghass – Bouchbel</a:t>
                      </a:r>
                      <a:endParaRPr lang="en-US" sz="7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r" indent="0" marL="0">
                        <a:buNone/>
                      </a:pPr>
                      <a:r>
                        <a:rPr lang="en-US" sz="700" dirty="0">
                          <a:solidFill>
                            <a:srgbClr val="3A3A3A"/>
                          </a:solidFill>
                        </a:rPr>
                        <a:t>5,9 M DH</a:t>
                      </a:r>
                      <a:endParaRPr lang="en-US" sz="7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sp>
        <p:nvSpPr>
          <p:cNvPr id="12" name="Shape 9"/>
          <p:cNvSpPr/>
          <p:nvPr/>
        </p:nvSpPr>
        <p:spPr>
          <a:xfrm>
            <a:off x="5394960" y="1280160"/>
            <a:ext cx="3383280" cy="2560320"/>
          </a:xfrm>
          <a:prstGeom prst="rect">
            <a:avLst>
              <a:gd name="adj" fmla="val 1786"/>
            </a:avLst>
          </a:prstGeom>
          <a:solidFill>
            <a:srgbClr val="FFFFFF"/>
          </a:solidFill>
          <a:ln/>
          <a:effectLst>
            <a:outerShdw sx="100000" sy="100000" kx="0" ky="0" algn="bl" rotWithShape="0" blurRad="63500" dist="25400" dir="8100000">
              <a:srgbClr val="000000">
                <a:alpha val="8000"/>
              </a:srgbClr>
            </a:outerShdw>
          </a:effectLst>
        </p:spPr>
      </p:sp>
      <p:sp>
        <p:nvSpPr>
          <p:cNvPr id="13" name="Shape 10"/>
          <p:cNvSpPr/>
          <p:nvPr/>
        </p:nvSpPr>
        <p:spPr>
          <a:xfrm>
            <a:off x="5394960" y="1280160"/>
            <a:ext cx="3383280" cy="36576"/>
          </a:xfrm>
          <a:prstGeom prst="rect">
            <a:avLst>
              <a:gd name="adj" fmla="val 50000"/>
            </a:avLst>
          </a:prstGeom>
          <a:solidFill>
            <a:srgbClr val="D97706"/>
          </a:solidFill>
          <a:ln/>
        </p:spPr>
      </p:sp>
      <p:sp>
        <p:nvSpPr>
          <p:cNvPr id="14" name="Text 11"/>
          <p:cNvSpPr/>
          <p:nvPr/>
        </p:nvSpPr>
        <p:spPr>
          <a:xfrm>
            <a:off x="5577840" y="1417320"/>
            <a:ext cx="3017520" cy="201168"/>
          </a:xfrm>
          <a:prstGeom prst="rect">
            <a:avLst/>
          </a:prstGeom>
          <a:noFill/>
          <a:ln/>
        </p:spPr>
        <p:txBody>
          <a:bodyPr wrap="square" lIns="0" tIns="0" rIns="0" bIns="0" rtlCol="0" anchor="ctr"/>
          <a:lstStyle/>
          <a:p>
            <a:pPr indent="0" marL="0">
              <a:buNone/>
            </a:pPr>
            <a:r>
              <a:rPr lang="en-US" sz="900" b="1" spc="100" kern="0" dirty="0">
                <a:solidFill>
                  <a:srgbClr val="D97706"/>
                </a:solidFill>
                <a:latin typeface="Calibri" pitchFamily="34" charset="0"/>
                <a:ea typeface="Calibri" pitchFamily="34" charset="-122"/>
                <a:cs typeface="Calibri" pitchFamily="34" charset="-120"/>
              </a:rPr>
              <a:t>EXPÉRIENCE TERRAIN FRANCE</a:t>
            </a:r>
            <a:endParaRPr lang="en-US" sz="900" dirty="0"/>
          </a:p>
        </p:txBody>
      </p:sp>
      <p:sp>
        <p:nvSpPr>
          <p:cNvPr id="15" name="Text 12"/>
          <p:cNvSpPr/>
          <p:nvPr/>
        </p:nvSpPr>
        <p:spPr>
          <a:xfrm>
            <a:off x="5577840" y="1737360"/>
            <a:ext cx="3017520" cy="1920240"/>
          </a:xfrm>
          <a:prstGeom prst="rect">
            <a:avLst/>
          </a:prstGeom>
          <a:noFill/>
          <a:ln/>
        </p:spPr>
        <p:txBody>
          <a:bodyPr wrap="square" lIns="0" tIns="0" rIns="0" bIns="0" rtlCol="0" anchor="ctr"/>
          <a:lstStyle/>
          <a:p>
            <a:pPr indent="0" marL="0">
              <a:buNone/>
            </a:pPr>
            <a:r>
              <a:rPr lang="en-US" sz="900" b="1" dirty="0">
                <a:solidFill>
                  <a:srgbClr val="1E1E1E"/>
                </a:solidFill>
                <a:latin typeface="Calibri" pitchFamily="34" charset="0"/>
                <a:ea typeface="Calibri" pitchFamily="34" charset="-122"/>
                <a:cs typeface="Calibri" pitchFamily="34" charset="-120"/>
              </a:rPr>
              <a:t>Chef d’équipe GO – Ergalis BTP</a:t>
            </a:r>
            <a:endParaRPr lang="en-US" sz="900" dirty="0"/>
          </a:p>
          <a:p>
            <a:pPr indent="0" marL="0">
              <a:buNone/>
            </a:pPr>
            <a:r>
              <a:rPr lang="en-US" sz="800" dirty="0">
                <a:solidFill>
                  <a:srgbClr val="3A3A3A"/>
                </a:solidFill>
                <a:latin typeface="Calibri" pitchFamily="34" charset="0"/>
                <a:ea typeface="Calibri" pitchFamily="34" charset="-122"/>
                <a:cs typeface="Calibri" pitchFamily="34" charset="-120"/>
              </a:rPr>
              <a:t>Feurs (Loire) : banches, armatures HA, coulage</a:t>
            </a:r>
            <a:endParaRPr lang="en-US" sz="900" dirty="0"/>
          </a:p>
          <a:p>
            <a:pPr indent="0" marL="0">
              <a:buNone/>
            </a:pPr>
            <a:endParaRPr lang="en-US" sz="900" dirty="0"/>
          </a:p>
          <a:p>
            <a:pPr indent="0" marL="0">
              <a:buNone/>
            </a:pPr>
            <a:r>
              <a:rPr lang="en-US" sz="900" b="1" dirty="0">
                <a:solidFill>
                  <a:srgbClr val="1E1E1E"/>
                </a:solidFill>
                <a:latin typeface="Calibri" pitchFamily="34" charset="0"/>
                <a:ea typeface="Calibri" pitchFamily="34" charset="-122"/>
                <a:cs typeface="Calibri" pitchFamily="34" charset="-120"/>
              </a:rPr>
              <a:t>Chef de chantier – Minssieux &amp; Fils</a:t>
            </a:r>
            <a:endParaRPr lang="en-US" sz="900" dirty="0"/>
          </a:p>
          <a:p>
            <a:pPr indent="0" marL="0">
              <a:buNone/>
            </a:pPr>
            <a:r>
              <a:rPr lang="en-US" sz="800" dirty="0">
                <a:solidFill>
                  <a:srgbClr val="3A3A3A"/>
                </a:solidFill>
                <a:latin typeface="Calibri" pitchFamily="34" charset="0"/>
                <a:ea typeface="Calibri" pitchFamily="34" charset="-122"/>
                <a:cs typeface="Calibri" pitchFamily="34" charset="-120"/>
              </a:rPr>
              <a:t>Mornant (Rhône) : planning, contrôle qualité</a:t>
            </a:r>
            <a:endParaRPr lang="en-US" sz="900" dirty="0"/>
          </a:p>
          <a:p>
            <a:pPr indent="0" marL="0">
              <a:buNone/>
            </a:pPr>
            <a:endParaRPr lang="en-US" sz="900" dirty="0"/>
          </a:p>
          <a:p>
            <a:pPr indent="0" marL="0">
              <a:buNone/>
            </a:pPr>
            <a:r>
              <a:rPr lang="en-US" sz="800" b="1" dirty="0">
                <a:solidFill>
                  <a:srgbClr val="007A7F"/>
                </a:solidFill>
                <a:latin typeface="Calibri" pitchFamily="34" charset="0"/>
                <a:ea typeface="Calibri" pitchFamily="34" charset="-122"/>
                <a:cs typeface="Calibri" pitchFamily="34" charset="-120"/>
              </a:rPr>
              <a:t>Apport : </a:t>
            </a:r>
            <a:pPr indent="0" marL="0">
              <a:buNone/>
            </a:pPr>
            <a:r>
              <a:rPr lang="en-US" sz="800" dirty="0">
                <a:solidFill>
                  <a:srgbClr val="3A3A3A"/>
                </a:solidFill>
                <a:latin typeface="Calibri" pitchFamily="34" charset="0"/>
                <a:ea typeface="Calibri" pitchFamily="34" charset="-122"/>
                <a:cs typeface="Calibri" pitchFamily="34" charset="-120"/>
              </a:rPr>
              <a:t>coûts réels, rendements, contraintes terrain</a:t>
            </a:r>
            <a:endParaRPr lang="en-US" sz="900" dirty="0"/>
          </a:p>
        </p:txBody>
      </p:sp>
      <p:sp>
        <p:nvSpPr>
          <p:cNvPr id="16" name="Shape 13"/>
          <p:cNvSpPr/>
          <p:nvPr/>
        </p:nvSpPr>
        <p:spPr>
          <a:xfrm>
            <a:off x="365760" y="4023360"/>
            <a:ext cx="8412480" cy="502920"/>
          </a:xfrm>
          <a:prstGeom prst="rect">
            <a:avLst>
              <a:gd name="adj" fmla="val 7273"/>
            </a:avLst>
          </a:prstGeom>
          <a:solidFill>
            <a:srgbClr val="E0F4F5"/>
          </a:solidFill>
          <a:ln/>
        </p:spPr>
      </p:sp>
      <p:sp>
        <p:nvSpPr>
          <p:cNvPr id="17" name="Text 14"/>
          <p:cNvSpPr/>
          <p:nvPr/>
        </p:nvSpPr>
        <p:spPr>
          <a:xfrm>
            <a:off x="548640" y="4023360"/>
            <a:ext cx="8046720" cy="502920"/>
          </a:xfrm>
          <a:prstGeom prst="rect">
            <a:avLst/>
          </a:prstGeom>
          <a:noFill/>
          <a:ln/>
        </p:spPr>
        <p:txBody>
          <a:bodyPr wrap="square" lIns="0" tIns="0" rIns="0" bIns="0" rtlCol="0" anchor="ctr"/>
          <a:lstStyle/>
          <a:p>
            <a:pPr algn="ctr" indent="0" marL="0">
              <a:buNone/>
            </a:pPr>
            <a:r>
              <a:rPr lang="en-US" sz="900" i="1" dirty="0">
                <a:solidFill>
                  <a:srgbClr val="005F63"/>
                </a:solidFill>
                <a:latin typeface="Calibri" pitchFamily="34" charset="0"/>
                <a:ea typeface="Calibri" pitchFamily="34" charset="-122"/>
                <a:cs typeface="Calibri" pitchFamily="34" charset="-120"/>
              </a:rPr>
              <a:t>4 types d’infrastructures : routes, VRD, adduction d’eau potable, voirie urbaine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A7F"/>
          </a:solidFill>
          <a:ln/>
        </p:spPr>
      </p:sp>
      <p:sp>
        <p:nvSpPr>
          <p:cNvPr id="3" name="Shape 1"/>
          <p:cNvSpPr/>
          <p:nvPr/>
        </p:nvSpPr>
        <p:spPr>
          <a:xfrm>
            <a:off x="365760" y="137160"/>
            <a:ext cx="1280160" cy="329184"/>
          </a:xfrm>
          <a:prstGeom prst="rect">
            <a:avLst>
              <a:gd name="adj" fmla="val 11111"/>
            </a:avLst>
          </a:prstGeom>
          <a:solidFill>
            <a:srgbClr val="E0F4F5"/>
          </a:solidFill>
          <a:ln w="7620">
            <a:solidFill>
              <a:srgbClr val="007A7F"/>
            </a:solidFill>
            <a:prstDash val="solid"/>
          </a:ln>
        </p:spPr>
      </p:sp>
      <p:sp>
        <p:nvSpPr>
          <p:cNvPr id="4" name="Text 2"/>
          <p:cNvSpPr/>
          <p:nvPr/>
        </p:nvSpPr>
        <p:spPr>
          <a:xfrm>
            <a:off x="365760" y="137160"/>
            <a:ext cx="1280160" cy="329184"/>
          </a:xfrm>
          <a:prstGeom prst="rect">
            <a:avLst/>
          </a:prstGeom>
          <a:noFill/>
          <a:ln/>
        </p:spPr>
        <p:txBody>
          <a:bodyPr wrap="square" lIns="0" tIns="0" rIns="0" bIns="0" rtlCol="0" anchor="ctr"/>
          <a:lstStyle/>
          <a:p>
            <a:pPr algn="ctr" indent="0" marL="0">
              <a:buNone/>
            </a:pPr>
            <a:r>
              <a:rPr lang="en-US" sz="850" b="1" dirty="0">
                <a:solidFill>
                  <a:srgbClr val="007A7F"/>
                </a:solidFill>
                <a:latin typeface="Calibri" pitchFamily="34" charset="0"/>
                <a:ea typeface="Calibri" pitchFamily="34" charset="-122"/>
                <a:cs typeface="Calibri" pitchFamily="34" charset="-120"/>
              </a:rPr>
              <a:t>04 – Bilan</a:t>
            </a:r>
            <a:endParaRPr lang="en-US" sz="850" dirty="0"/>
          </a:p>
        </p:txBody>
      </p:sp>
      <p:sp>
        <p:nvSpPr>
          <p:cNvPr id="5" name="Text 3"/>
          <p:cNvSpPr/>
          <p:nvPr/>
        </p:nvSpPr>
        <p:spPr>
          <a:xfrm>
            <a:off x="365760" y="4828032"/>
            <a:ext cx="8412480" cy="228600"/>
          </a:xfrm>
          <a:prstGeom prst="rect">
            <a:avLst/>
          </a:prstGeom>
          <a:noFill/>
          <a:ln/>
        </p:spPr>
        <p:txBody>
          <a:bodyPr wrap="square" rtlCol="0" anchor="ctr"/>
          <a:lstStyle/>
          <a:p>
            <a:pPr algn="r" indent="0" marL="0">
              <a:buNone/>
            </a:pPr>
            <a:r>
              <a:rPr lang="en-US" sz="700" dirty="0">
                <a:solidFill>
                  <a:srgbClr val="777777"/>
                </a:solidFill>
                <a:latin typeface="Calibri" pitchFamily="34" charset="0"/>
                <a:ea typeface="Calibri" pitchFamily="34" charset="-122"/>
                <a:cs typeface="Calibri" pitchFamily="34" charset="-120"/>
              </a:rPr>
              <a:t>BAHAFID Mohamed  ·  Rapport U62  ·  BTS MEC 2026  ·  11/15</a:t>
            </a:r>
            <a:endParaRPr lang="en-US" sz="700" dirty="0"/>
          </a:p>
        </p:txBody>
      </p:sp>
      <p:sp>
        <p:nvSpPr>
          <p:cNvPr id="6" name="Text 4"/>
          <p:cNvSpPr/>
          <p:nvPr/>
        </p:nvSpPr>
        <p:spPr>
          <a:xfrm>
            <a:off x="365760" y="530352"/>
            <a:ext cx="8412480" cy="384048"/>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SYNTHÈSE DES COMPÉTENCES BTS MEC</a:t>
            </a:r>
            <a:endParaRPr lang="en-US" sz="1800" dirty="0"/>
          </a:p>
        </p:txBody>
      </p:sp>
      <p:sp>
        <p:nvSpPr>
          <p:cNvPr id="7" name="Text 5"/>
          <p:cNvSpPr/>
          <p:nvPr/>
        </p:nvSpPr>
        <p:spPr>
          <a:xfrm>
            <a:off x="365760" y="896112"/>
            <a:ext cx="8412480" cy="256032"/>
          </a:xfrm>
          <a:prstGeom prst="rect">
            <a:avLst/>
          </a:prstGeom>
          <a:noFill/>
          <a:ln/>
        </p:spPr>
        <p:txBody>
          <a:bodyPr wrap="square" lIns="0" tIns="0" rIns="0" bIns="0" rtlCol="0" anchor="ctr"/>
          <a:lstStyle/>
          <a:p>
            <a:pPr indent="0" marL="0">
              <a:buNone/>
            </a:pPr>
            <a:r>
              <a:rPr lang="en-US" sz="950" dirty="0">
                <a:solidFill>
                  <a:srgbClr val="777777"/>
                </a:solidFill>
                <a:latin typeface="Calibri" pitchFamily="34" charset="0"/>
                <a:ea typeface="Calibri" pitchFamily="34" charset="-122"/>
                <a:cs typeface="Calibri" pitchFamily="34" charset="-120"/>
              </a:rPr>
              <a:t>Compétences mobilisées sur 5 situations professionnelles</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2651760"/>
                <a:gridCol w="2560320"/>
                <a:gridCol w="548640"/>
                <a:gridCol w="914400"/>
              </a:tblGrid>
              <a:tr h="301752">
                <a:tc>
                  <a:txBody>
                    <a:bodyPr/>
                    <a:lstStyle/>
                    <a:p>
                      <a:pPr indent="0" marL="0">
                        <a:buNone/>
                      </a:pPr>
                      <a:r>
                        <a:rPr lang="en-US" sz="750" b="1" dirty="0">
                          <a:solidFill>
                            <a:srgbClr val="FFFFFF"/>
                          </a:solidFill>
                        </a:rPr>
                        <a:t>Activité</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A7F"/>
                    </a:solidFill>
                  </a:tcPr>
                </a:tc>
                <a:tc>
                  <a:txBody>
                    <a:bodyPr/>
                    <a:lstStyle/>
                    <a:p>
                      <a:pPr indent="0" marL="0">
                        <a:buNone/>
                      </a:pPr>
                      <a:r>
                        <a:rPr lang="en-US" sz="750" b="1" dirty="0">
                          <a:solidFill>
                            <a:srgbClr val="FFFFFF"/>
                          </a:solidFill>
                        </a:rPr>
                        <a:t>Sous-compétence</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A7F"/>
                    </a:solidFill>
                  </a:tcPr>
                </a:tc>
                <a:tc>
                  <a:txBody>
                    <a:bodyPr/>
                    <a:lstStyle/>
                    <a:p>
                      <a:pPr algn="ctr" indent="0" marL="0">
                        <a:buNone/>
                      </a:pPr>
                      <a:r>
                        <a:rPr lang="en-US" sz="750" b="1" dirty="0">
                          <a:solidFill>
                            <a:srgbClr val="FFFFFF"/>
                          </a:solidFill>
                        </a:rPr>
                        <a:t>Sit.</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A7F"/>
                    </a:solidFill>
                  </a:tcPr>
                </a:tc>
                <a:tc>
                  <a:txBody>
                    <a:bodyPr/>
                    <a:lstStyle/>
                    <a:p>
                      <a:pPr algn="ctr" indent="0" marL="0">
                        <a:buNone/>
                      </a:pPr>
                      <a:r>
                        <a:rPr lang="en-US" sz="750" b="1" dirty="0">
                          <a:solidFill>
                            <a:srgbClr val="FFFFFF"/>
                          </a:solidFill>
                        </a:rPr>
                        <a:t>Niveau</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A7F"/>
                    </a:solidFill>
                  </a:tcPr>
                </a:tc>
              </a:tr>
              <a:tr h="301752">
                <a:tc>
                  <a:txBody>
                    <a:bodyPr/>
                    <a:lstStyle/>
                    <a:p>
                      <a:pPr indent="0" marL="0">
                        <a:buNone/>
                      </a:pPr>
                      <a:r>
                        <a:rPr lang="en-US" sz="750" dirty="0">
                          <a:solidFill>
                            <a:srgbClr val="000000"/>
                          </a:solidFill>
                        </a:rPr>
                        <a:t>Métrés 112 prix, 4 communes</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50" dirty="0">
                          <a:solidFill>
                            <a:srgbClr val="000000"/>
                          </a:solidFill>
                        </a:rPr>
                        <a:t>Réaliser des métrés TCA</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dirty="0">
                          <a:solidFill>
                            <a:srgbClr val="000000"/>
                          </a:solidFill>
                        </a:rPr>
                        <a:t>1</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b="1" dirty="0">
                          <a:solidFill>
                            <a:srgbClr val="007A7F"/>
                          </a:solidFill>
                        </a:rPr>
                        <a:t>● Maîtrise</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01752">
                <a:tc>
                  <a:txBody>
                    <a:bodyPr/>
                    <a:lstStyle/>
                    <a:p>
                      <a:pPr indent="0" marL="0">
                        <a:buNone/>
                      </a:pPr>
                      <a:r>
                        <a:rPr lang="en-US" sz="750" dirty="0">
                          <a:solidFill>
                            <a:srgbClr val="000000"/>
                          </a:solidFill>
                        </a:rPr>
                        <a:t>Estimation 15,8 M DH, 3 sources</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50" dirty="0">
                          <a:solidFill>
                            <a:srgbClr val="000000"/>
                          </a:solidFill>
                        </a:rPr>
                        <a:t>Estimer un ouvrage en AO</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dirty="0">
                          <a:solidFill>
                            <a:srgbClr val="000000"/>
                          </a:solidFill>
                        </a:rPr>
                        <a:t>1</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b="1" dirty="0">
                          <a:solidFill>
                            <a:srgbClr val="007A7F"/>
                          </a:solidFill>
                        </a:rPr>
                        <a:t>● Maîtrise</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01752">
                <a:tc>
                  <a:txBody>
                    <a:bodyPr/>
                    <a:lstStyle/>
                    <a:p>
                      <a:pPr indent="0" marL="0">
                        <a:buNone/>
                      </a:pPr>
                      <a:r>
                        <a:rPr lang="en-US" sz="750" dirty="0">
                          <a:solidFill>
                            <a:srgbClr val="000000"/>
                          </a:solidFill>
                        </a:rPr>
                        <a:t>Analyse 3 offres, grille /100</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50" dirty="0">
                          <a:solidFill>
                            <a:srgbClr val="000000"/>
                          </a:solidFill>
                        </a:rPr>
                        <a:t>Analyser les offres en commission</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dirty="0">
                          <a:solidFill>
                            <a:srgbClr val="000000"/>
                          </a:solidFill>
                        </a:rPr>
                        <a:t>2</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b="1" dirty="0">
                          <a:solidFill>
                            <a:srgbClr val="007A7F"/>
                          </a:solidFill>
                        </a:rPr>
                        <a:t>● Maîtrise</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01752">
                <a:tc>
                  <a:txBody>
                    <a:bodyPr/>
                    <a:lstStyle/>
                    <a:p>
                      <a:pPr indent="0" marL="0">
                        <a:buNone/>
                      </a:pPr>
                      <a:r>
                        <a:rPr lang="en-US" sz="750" dirty="0">
                          <a:solidFill>
                            <a:srgbClr val="000000"/>
                          </a:solidFill>
                        </a:rPr>
                        <a:t>TdB hebdo, compensation</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50" dirty="0">
                          <a:solidFill>
                            <a:srgbClr val="000000"/>
                          </a:solidFill>
                        </a:rPr>
                        <a:t>Suivre l’exécution financière</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dirty="0">
                          <a:solidFill>
                            <a:srgbClr val="000000"/>
                          </a:solidFill>
                        </a:rPr>
                        <a:t>3</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b="1" dirty="0">
                          <a:solidFill>
                            <a:srgbClr val="16A34A"/>
                          </a:solidFill>
                        </a:rPr>
                        <a:t>★ Expert</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01752">
                <a:tc>
                  <a:txBody>
                    <a:bodyPr/>
                    <a:lstStyle/>
                    <a:p>
                      <a:pPr indent="0" marL="0">
                        <a:buNone/>
                      </a:pPr>
                      <a:r>
                        <a:rPr lang="en-US" sz="750" dirty="0">
                          <a:solidFill>
                            <a:srgbClr val="000000"/>
                          </a:solidFill>
                        </a:rPr>
                        <a:t>Contrôle cubatures GPS</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50" dirty="0">
                          <a:solidFill>
                            <a:srgbClr val="000000"/>
                          </a:solidFill>
                        </a:rPr>
                        <a:t>Vérifier les quantités</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dirty="0">
                          <a:solidFill>
                            <a:srgbClr val="000000"/>
                          </a:solidFill>
                        </a:rPr>
                        <a:t>5</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b="1" dirty="0">
                          <a:solidFill>
                            <a:srgbClr val="16A34A"/>
                          </a:solidFill>
                        </a:rPr>
                        <a:t>★ Expert</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01752">
                <a:tc>
                  <a:txBody>
                    <a:bodyPr/>
                    <a:lstStyle/>
                    <a:p>
                      <a:pPr indent="0" marL="0">
                        <a:buNone/>
                      </a:pPr>
                      <a:r>
                        <a:rPr lang="en-US" sz="750" dirty="0">
                          <a:solidFill>
                            <a:srgbClr val="000000"/>
                          </a:solidFill>
                        </a:rPr>
                        <a:t>CR, OS, notes factuelles</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50" dirty="0">
                          <a:solidFill>
                            <a:srgbClr val="000000"/>
                          </a:solidFill>
                        </a:rPr>
                        <a:t>Communiquer par écrit</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dirty="0">
                          <a:solidFill>
                            <a:srgbClr val="000000"/>
                          </a:solidFill>
                        </a:rPr>
                        <a:t>4</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b="1" dirty="0">
                          <a:solidFill>
                            <a:srgbClr val="007A7F"/>
                          </a:solidFill>
                        </a:rPr>
                        <a:t>● Maîtrise</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01752">
                <a:tc>
                  <a:txBody>
                    <a:bodyPr/>
                    <a:lstStyle/>
                    <a:p>
                      <a:pPr indent="0" marL="0">
                        <a:buNone/>
                      </a:pPr>
                      <a:r>
                        <a:rPr lang="en-US" sz="750" dirty="0">
                          <a:solidFill>
                            <a:srgbClr val="000000"/>
                          </a:solidFill>
                        </a:rPr>
                        <a:t>Réunions, points quotidiens, CAO</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50" dirty="0">
                          <a:solidFill>
                            <a:srgbClr val="000000"/>
                          </a:solidFill>
                        </a:rPr>
                        <a:t>Communiquer oralement</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dirty="0">
                          <a:solidFill>
                            <a:srgbClr val="000000"/>
                          </a:solidFill>
                        </a:rPr>
                        <a:t>2,4</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b="1" dirty="0">
                          <a:solidFill>
                            <a:srgbClr val="007A7F"/>
                          </a:solidFill>
                        </a:rPr>
                        <a:t>● Maîtrise</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01752">
                <a:tc>
                  <a:txBody>
                    <a:bodyPr/>
                    <a:lstStyle/>
                    <a:p>
                      <a:pPr indent="0" marL="0">
                        <a:buNone/>
                      </a:pPr>
                      <a:r>
                        <a:rPr lang="en-US" sz="750" dirty="0">
                          <a:solidFill>
                            <a:srgbClr val="000000"/>
                          </a:solidFill>
                        </a:rPr>
                        <a:t>Convention BIM, export IFC, 78 postes</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750" dirty="0">
                          <a:solidFill>
                            <a:srgbClr val="000000"/>
                          </a:solidFill>
                        </a:rPr>
                        <a:t>Collaborer en BIM (Open BIM)</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dirty="0">
                          <a:solidFill>
                            <a:srgbClr val="000000"/>
                          </a:solidFill>
                        </a:rPr>
                        <a:t>BIM</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750" b="1" dirty="0">
                          <a:solidFill>
                            <a:srgbClr val="007A7F"/>
                          </a:solidFill>
                        </a:rPr>
                        <a:t>● Maîtrise</a:t>
                      </a:r>
                      <a:endParaRPr lang="en-US" sz="75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sp>
        <p:nvSpPr>
          <p:cNvPr id="9" name="Shape 6"/>
          <p:cNvSpPr/>
          <p:nvPr/>
        </p:nvSpPr>
        <p:spPr>
          <a:xfrm>
            <a:off x="365760" y="4114800"/>
            <a:ext cx="1965960" cy="594360"/>
          </a:xfrm>
          <a:prstGeom prst="rect">
            <a:avLst>
              <a:gd name="adj" fmla="val 7692"/>
            </a:avLst>
          </a:prstGeom>
          <a:solidFill>
            <a:srgbClr val="FFFFFF"/>
          </a:solidFill>
          <a:ln/>
          <a:effectLst>
            <a:outerShdw sx="100000" sy="100000" kx="0" ky="0" algn="bl" rotWithShape="0" blurRad="63500" dist="25400" dir="8100000">
              <a:srgbClr val="000000">
                <a:alpha val="8000"/>
              </a:srgbClr>
            </a:outerShdw>
          </a:effectLst>
        </p:spPr>
      </p:sp>
      <p:sp>
        <p:nvSpPr>
          <p:cNvPr id="10" name="Shape 7"/>
          <p:cNvSpPr/>
          <p:nvPr/>
        </p:nvSpPr>
        <p:spPr>
          <a:xfrm>
            <a:off x="365760" y="4114800"/>
            <a:ext cx="1965960" cy="36576"/>
          </a:xfrm>
          <a:prstGeom prst="rect">
            <a:avLst>
              <a:gd name="adj" fmla="val 50000"/>
            </a:avLst>
          </a:prstGeom>
          <a:solidFill>
            <a:srgbClr val="007A7F"/>
          </a:solidFill>
          <a:ln/>
        </p:spPr>
      </p:sp>
      <p:sp>
        <p:nvSpPr>
          <p:cNvPr id="11" name="Text 8"/>
          <p:cNvSpPr/>
          <p:nvPr/>
        </p:nvSpPr>
        <p:spPr>
          <a:xfrm>
            <a:off x="365760" y="4133088"/>
            <a:ext cx="640080" cy="502920"/>
          </a:xfrm>
          <a:prstGeom prst="rect">
            <a:avLst/>
          </a:prstGeom>
          <a:noFill/>
          <a:ln/>
        </p:spPr>
        <p:txBody>
          <a:bodyPr wrap="square" lIns="0" tIns="0" rIns="0" bIns="0" rtlCol="0" anchor="ctr"/>
          <a:lstStyle/>
          <a:p>
            <a:pPr algn="ctr" indent="0" marL="0">
              <a:buNone/>
            </a:pPr>
            <a:r>
              <a:rPr lang="en-US" sz="2200" b="1" dirty="0">
                <a:solidFill>
                  <a:srgbClr val="007A7F"/>
                </a:solidFill>
                <a:latin typeface="Cambria" pitchFamily="34" charset="0"/>
                <a:ea typeface="Cambria" pitchFamily="34" charset="-122"/>
                <a:cs typeface="Cambria" pitchFamily="34" charset="-120"/>
              </a:rPr>
              <a:t>8</a:t>
            </a:r>
            <a:endParaRPr lang="en-US" sz="2200" dirty="0"/>
          </a:p>
        </p:txBody>
      </p:sp>
      <p:sp>
        <p:nvSpPr>
          <p:cNvPr id="12" name="Text 9"/>
          <p:cNvSpPr/>
          <p:nvPr/>
        </p:nvSpPr>
        <p:spPr>
          <a:xfrm>
            <a:off x="1005840" y="4133088"/>
            <a:ext cx="1234440" cy="502920"/>
          </a:xfrm>
          <a:prstGeom prst="rect">
            <a:avLst/>
          </a:prstGeom>
          <a:noFill/>
          <a:ln/>
        </p:spPr>
        <p:txBody>
          <a:bodyPr wrap="square" lIns="0" tIns="0" rIns="0" bIns="0" rtlCol="0" anchor="ctr"/>
          <a:lstStyle/>
          <a:p>
            <a:pPr indent="0" marL="0">
              <a:buNone/>
            </a:pPr>
            <a:r>
              <a:rPr lang="en-US" sz="900" dirty="0">
                <a:solidFill>
                  <a:srgbClr val="3A3A3A"/>
                </a:solidFill>
                <a:latin typeface="Calibri" pitchFamily="34" charset="0"/>
                <a:ea typeface="Calibri" pitchFamily="34" charset="-122"/>
                <a:cs typeface="Calibri" pitchFamily="34" charset="-120"/>
              </a:rPr>
              <a:t>sous-compétences</a:t>
            </a:r>
            <a:endParaRPr lang="en-US" sz="900" dirty="0"/>
          </a:p>
        </p:txBody>
      </p:sp>
      <p:sp>
        <p:nvSpPr>
          <p:cNvPr id="13" name="Shape 10"/>
          <p:cNvSpPr/>
          <p:nvPr/>
        </p:nvSpPr>
        <p:spPr>
          <a:xfrm>
            <a:off x="2514600" y="4114800"/>
            <a:ext cx="1965960" cy="594360"/>
          </a:xfrm>
          <a:prstGeom prst="rect">
            <a:avLst>
              <a:gd name="adj" fmla="val 7692"/>
            </a:avLst>
          </a:prstGeom>
          <a:solidFill>
            <a:srgbClr val="FFFFFF"/>
          </a:solidFill>
          <a:ln/>
          <a:effectLst>
            <a:outerShdw sx="100000" sy="100000" kx="0" ky="0" algn="bl" rotWithShape="0" blurRad="63500" dist="25400" dir="8100000">
              <a:srgbClr val="000000">
                <a:alpha val="8000"/>
              </a:srgbClr>
            </a:outerShdw>
          </a:effectLst>
        </p:spPr>
      </p:sp>
      <p:sp>
        <p:nvSpPr>
          <p:cNvPr id="14" name="Shape 11"/>
          <p:cNvSpPr/>
          <p:nvPr/>
        </p:nvSpPr>
        <p:spPr>
          <a:xfrm>
            <a:off x="2514600" y="4114800"/>
            <a:ext cx="1965960" cy="36576"/>
          </a:xfrm>
          <a:prstGeom prst="rect">
            <a:avLst>
              <a:gd name="adj" fmla="val 50000"/>
            </a:avLst>
          </a:prstGeom>
          <a:solidFill>
            <a:srgbClr val="16A34A"/>
          </a:solidFill>
          <a:ln/>
        </p:spPr>
      </p:sp>
      <p:sp>
        <p:nvSpPr>
          <p:cNvPr id="15" name="Text 12"/>
          <p:cNvSpPr/>
          <p:nvPr/>
        </p:nvSpPr>
        <p:spPr>
          <a:xfrm>
            <a:off x="2514600" y="4133088"/>
            <a:ext cx="640080" cy="502920"/>
          </a:xfrm>
          <a:prstGeom prst="rect">
            <a:avLst/>
          </a:prstGeom>
          <a:noFill/>
          <a:ln/>
        </p:spPr>
        <p:txBody>
          <a:bodyPr wrap="square" lIns="0" tIns="0" rIns="0" bIns="0" rtlCol="0" anchor="ctr"/>
          <a:lstStyle/>
          <a:p>
            <a:pPr algn="ctr" indent="0" marL="0">
              <a:buNone/>
            </a:pPr>
            <a:r>
              <a:rPr lang="en-US" sz="2200" b="1" dirty="0">
                <a:solidFill>
                  <a:srgbClr val="16A34A"/>
                </a:solidFill>
                <a:latin typeface="Cambria" pitchFamily="34" charset="0"/>
                <a:ea typeface="Cambria" pitchFamily="34" charset="-122"/>
                <a:cs typeface="Cambria" pitchFamily="34" charset="-120"/>
              </a:rPr>
              <a:t>2</a:t>
            </a:r>
            <a:endParaRPr lang="en-US" sz="2200" dirty="0"/>
          </a:p>
        </p:txBody>
      </p:sp>
      <p:sp>
        <p:nvSpPr>
          <p:cNvPr id="16" name="Text 13"/>
          <p:cNvSpPr/>
          <p:nvPr/>
        </p:nvSpPr>
        <p:spPr>
          <a:xfrm>
            <a:off x="3154680" y="4133088"/>
            <a:ext cx="1234440" cy="502920"/>
          </a:xfrm>
          <a:prstGeom prst="rect">
            <a:avLst/>
          </a:prstGeom>
          <a:noFill/>
          <a:ln/>
        </p:spPr>
        <p:txBody>
          <a:bodyPr wrap="square" lIns="0" tIns="0" rIns="0" bIns="0" rtlCol="0" anchor="ctr"/>
          <a:lstStyle/>
          <a:p>
            <a:pPr indent="0" marL="0">
              <a:buNone/>
            </a:pPr>
            <a:r>
              <a:rPr lang="en-US" sz="900" dirty="0">
                <a:solidFill>
                  <a:srgbClr val="3A3A3A"/>
                </a:solidFill>
                <a:latin typeface="Calibri" pitchFamily="34" charset="0"/>
                <a:ea typeface="Calibri" pitchFamily="34" charset="-122"/>
                <a:cs typeface="Calibri" pitchFamily="34" charset="-120"/>
              </a:rPr>
              <a:t>niveau Expert</a:t>
            </a:r>
            <a:endParaRPr lang="en-US" sz="900" dirty="0"/>
          </a:p>
        </p:txBody>
      </p:sp>
      <p:sp>
        <p:nvSpPr>
          <p:cNvPr id="17" name="Shape 14"/>
          <p:cNvSpPr/>
          <p:nvPr/>
        </p:nvSpPr>
        <p:spPr>
          <a:xfrm>
            <a:off x="4663440" y="4114800"/>
            <a:ext cx="1965960" cy="594360"/>
          </a:xfrm>
          <a:prstGeom prst="rect">
            <a:avLst>
              <a:gd name="adj" fmla="val 7692"/>
            </a:avLst>
          </a:prstGeom>
          <a:solidFill>
            <a:srgbClr val="FFFFFF"/>
          </a:solidFill>
          <a:ln/>
          <a:effectLst>
            <a:outerShdw sx="100000" sy="100000" kx="0" ky="0" algn="bl" rotWithShape="0" blurRad="63500" dist="25400" dir="8100000">
              <a:srgbClr val="000000">
                <a:alpha val="8000"/>
              </a:srgbClr>
            </a:outerShdw>
          </a:effectLst>
        </p:spPr>
      </p:sp>
      <p:sp>
        <p:nvSpPr>
          <p:cNvPr id="18" name="Shape 15"/>
          <p:cNvSpPr/>
          <p:nvPr/>
        </p:nvSpPr>
        <p:spPr>
          <a:xfrm>
            <a:off x="4663440" y="4114800"/>
            <a:ext cx="1965960" cy="36576"/>
          </a:xfrm>
          <a:prstGeom prst="rect">
            <a:avLst>
              <a:gd name="adj" fmla="val 50000"/>
            </a:avLst>
          </a:prstGeom>
          <a:solidFill>
            <a:srgbClr val="D97706"/>
          </a:solidFill>
          <a:ln/>
        </p:spPr>
      </p:sp>
      <p:sp>
        <p:nvSpPr>
          <p:cNvPr id="19" name="Text 16"/>
          <p:cNvSpPr/>
          <p:nvPr/>
        </p:nvSpPr>
        <p:spPr>
          <a:xfrm>
            <a:off x="4663440" y="4133088"/>
            <a:ext cx="640080" cy="502920"/>
          </a:xfrm>
          <a:prstGeom prst="rect">
            <a:avLst/>
          </a:prstGeom>
          <a:noFill/>
          <a:ln/>
        </p:spPr>
        <p:txBody>
          <a:bodyPr wrap="square" lIns="0" tIns="0" rIns="0" bIns="0" rtlCol="0" anchor="ctr"/>
          <a:lstStyle/>
          <a:p>
            <a:pPr algn="ctr" indent="0" marL="0">
              <a:buNone/>
            </a:pPr>
            <a:r>
              <a:rPr lang="en-US" sz="2200" b="1" dirty="0">
                <a:solidFill>
                  <a:srgbClr val="D97706"/>
                </a:solidFill>
                <a:latin typeface="Cambria" pitchFamily="34" charset="0"/>
                <a:ea typeface="Cambria" pitchFamily="34" charset="-122"/>
                <a:cs typeface="Cambria" pitchFamily="34" charset="-120"/>
              </a:rPr>
              <a:t>5</a:t>
            </a:r>
            <a:endParaRPr lang="en-US" sz="2200" dirty="0"/>
          </a:p>
        </p:txBody>
      </p:sp>
      <p:sp>
        <p:nvSpPr>
          <p:cNvPr id="20" name="Text 17"/>
          <p:cNvSpPr/>
          <p:nvPr/>
        </p:nvSpPr>
        <p:spPr>
          <a:xfrm>
            <a:off x="5303520" y="4133088"/>
            <a:ext cx="1234440" cy="502920"/>
          </a:xfrm>
          <a:prstGeom prst="rect">
            <a:avLst/>
          </a:prstGeom>
          <a:noFill/>
          <a:ln/>
        </p:spPr>
        <p:txBody>
          <a:bodyPr wrap="square" lIns="0" tIns="0" rIns="0" bIns="0" rtlCol="0" anchor="ctr"/>
          <a:lstStyle/>
          <a:p>
            <a:pPr indent="0" marL="0">
              <a:buNone/>
            </a:pPr>
            <a:r>
              <a:rPr lang="en-US" sz="900" dirty="0">
                <a:solidFill>
                  <a:srgbClr val="3A3A3A"/>
                </a:solidFill>
                <a:latin typeface="Calibri" pitchFamily="34" charset="0"/>
                <a:ea typeface="Calibri" pitchFamily="34" charset="-122"/>
                <a:cs typeface="Calibri" pitchFamily="34" charset="-120"/>
              </a:rPr>
              <a:t>situations réelles</a:t>
            </a:r>
            <a:endParaRPr lang="en-US" sz="900" dirty="0"/>
          </a:p>
        </p:txBody>
      </p:sp>
      <p:sp>
        <p:nvSpPr>
          <p:cNvPr id="21" name="Shape 18"/>
          <p:cNvSpPr/>
          <p:nvPr/>
        </p:nvSpPr>
        <p:spPr>
          <a:xfrm>
            <a:off x="6812280" y="4114800"/>
            <a:ext cx="1965960" cy="594360"/>
          </a:xfrm>
          <a:prstGeom prst="rect">
            <a:avLst>
              <a:gd name="adj" fmla="val 7692"/>
            </a:avLst>
          </a:prstGeom>
          <a:solidFill>
            <a:srgbClr val="FFFFFF"/>
          </a:solidFill>
          <a:ln/>
          <a:effectLst>
            <a:outerShdw sx="100000" sy="100000" kx="0" ky="0" algn="bl" rotWithShape="0" blurRad="63500" dist="25400" dir="8100000">
              <a:srgbClr val="000000">
                <a:alpha val="8000"/>
              </a:srgbClr>
            </a:outerShdw>
          </a:effectLst>
        </p:spPr>
      </p:sp>
      <p:sp>
        <p:nvSpPr>
          <p:cNvPr id="22" name="Shape 19"/>
          <p:cNvSpPr/>
          <p:nvPr/>
        </p:nvSpPr>
        <p:spPr>
          <a:xfrm>
            <a:off x="6812280" y="4114800"/>
            <a:ext cx="1965960" cy="36576"/>
          </a:xfrm>
          <a:prstGeom prst="rect">
            <a:avLst>
              <a:gd name="adj" fmla="val 50000"/>
            </a:avLst>
          </a:prstGeom>
          <a:solidFill>
            <a:srgbClr val="1A2744"/>
          </a:solidFill>
          <a:ln/>
        </p:spPr>
      </p:sp>
      <p:sp>
        <p:nvSpPr>
          <p:cNvPr id="23" name="Text 20"/>
          <p:cNvSpPr/>
          <p:nvPr/>
        </p:nvSpPr>
        <p:spPr>
          <a:xfrm>
            <a:off x="6812280" y="4133088"/>
            <a:ext cx="640080" cy="502920"/>
          </a:xfrm>
          <a:prstGeom prst="rect">
            <a:avLst/>
          </a:prstGeom>
          <a:noFill/>
          <a:ln/>
        </p:spPr>
        <p:txBody>
          <a:bodyPr wrap="square" lIns="0" tIns="0" rIns="0" bIns="0" rtlCol="0" anchor="ctr"/>
          <a:lstStyle/>
          <a:p>
            <a:pPr algn="ctr" indent="0" marL="0">
              <a:buNone/>
            </a:pPr>
            <a:r>
              <a:rPr lang="en-US" sz="2200" b="1" dirty="0">
                <a:solidFill>
                  <a:srgbClr val="1A2744"/>
                </a:solidFill>
                <a:latin typeface="Cambria" pitchFamily="34" charset="0"/>
                <a:ea typeface="Cambria" pitchFamily="34" charset="-122"/>
                <a:cs typeface="Cambria" pitchFamily="34" charset="-120"/>
              </a:rPr>
              <a:t>100%</a:t>
            </a:r>
            <a:endParaRPr lang="en-US" sz="2200" dirty="0"/>
          </a:p>
        </p:txBody>
      </p:sp>
      <p:sp>
        <p:nvSpPr>
          <p:cNvPr id="24" name="Text 21"/>
          <p:cNvSpPr/>
          <p:nvPr/>
        </p:nvSpPr>
        <p:spPr>
          <a:xfrm>
            <a:off x="7452360" y="4133088"/>
            <a:ext cx="1234440" cy="502920"/>
          </a:xfrm>
          <a:prstGeom prst="rect">
            <a:avLst/>
          </a:prstGeom>
          <a:noFill/>
          <a:ln/>
        </p:spPr>
        <p:txBody>
          <a:bodyPr wrap="square" lIns="0" tIns="0" rIns="0" bIns="0" rtlCol="0" anchor="ctr"/>
          <a:lstStyle/>
          <a:p>
            <a:pPr indent="0" marL="0">
              <a:buNone/>
            </a:pPr>
            <a:r>
              <a:rPr lang="en-US" sz="900" dirty="0">
                <a:solidFill>
                  <a:srgbClr val="3A3A3A"/>
                </a:solidFill>
                <a:latin typeface="Calibri" pitchFamily="34" charset="0"/>
                <a:ea typeface="Calibri" pitchFamily="34" charset="-122"/>
                <a:cs typeface="Calibri" pitchFamily="34" charset="-120"/>
              </a:rPr>
              <a:t>sous contrainte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A7F"/>
          </a:solidFill>
          <a:ln/>
        </p:spPr>
      </p:sp>
      <p:sp>
        <p:nvSpPr>
          <p:cNvPr id="3" name="Shape 1"/>
          <p:cNvSpPr/>
          <p:nvPr/>
        </p:nvSpPr>
        <p:spPr>
          <a:xfrm>
            <a:off x="365760" y="137160"/>
            <a:ext cx="1463040" cy="329184"/>
          </a:xfrm>
          <a:prstGeom prst="rect">
            <a:avLst>
              <a:gd name="adj" fmla="val 11111"/>
            </a:avLst>
          </a:prstGeom>
          <a:solidFill>
            <a:srgbClr val="E0F4F5"/>
          </a:solidFill>
          <a:ln w="7620">
            <a:solidFill>
              <a:srgbClr val="007A7F"/>
            </a:solidFill>
            <a:prstDash val="solid"/>
          </a:ln>
        </p:spPr>
      </p:sp>
      <p:sp>
        <p:nvSpPr>
          <p:cNvPr id="4" name="Text 2"/>
          <p:cNvSpPr/>
          <p:nvPr/>
        </p:nvSpPr>
        <p:spPr>
          <a:xfrm>
            <a:off x="365760" y="137160"/>
            <a:ext cx="1463040" cy="329184"/>
          </a:xfrm>
          <a:prstGeom prst="rect">
            <a:avLst/>
          </a:prstGeom>
          <a:noFill/>
          <a:ln/>
        </p:spPr>
        <p:txBody>
          <a:bodyPr wrap="square" lIns="0" tIns="0" rIns="0" bIns="0" rtlCol="0" anchor="ctr"/>
          <a:lstStyle/>
          <a:p>
            <a:pPr algn="ctr" indent="0" marL="0">
              <a:buNone/>
            </a:pPr>
            <a:r>
              <a:rPr lang="en-US" sz="850" b="1" dirty="0">
                <a:solidFill>
                  <a:srgbClr val="007A7F"/>
                </a:solidFill>
                <a:latin typeface="Calibri" pitchFamily="34" charset="0"/>
                <a:ea typeface="Calibri" pitchFamily="34" charset="-122"/>
                <a:cs typeface="Calibri" pitchFamily="34" charset="-120"/>
              </a:rPr>
              <a:t>04 – Analyse</a:t>
            </a:r>
            <a:endParaRPr lang="en-US" sz="850" dirty="0"/>
          </a:p>
        </p:txBody>
      </p:sp>
      <p:sp>
        <p:nvSpPr>
          <p:cNvPr id="5" name="Text 3"/>
          <p:cNvSpPr/>
          <p:nvPr/>
        </p:nvSpPr>
        <p:spPr>
          <a:xfrm>
            <a:off x="365760" y="4828032"/>
            <a:ext cx="8412480" cy="228600"/>
          </a:xfrm>
          <a:prstGeom prst="rect">
            <a:avLst/>
          </a:prstGeom>
          <a:noFill/>
          <a:ln/>
        </p:spPr>
        <p:txBody>
          <a:bodyPr wrap="square" rtlCol="0" anchor="ctr"/>
          <a:lstStyle/>
          <a:p>
            <a:pPr algn="r" indent="0" marL="0">
              <a:buNone/>
            </a:pPr>
            <a:r>
              <a:rPr lang="en-US" sz="700" dirty="0">
                <a:solidFill>
                  <a:srgbClr val="777777"/>
                </a:solidFill>
                <a:latin typeface="Calibri" pitchFamily="34" charset="0"/>
                <a:ea typeface="Calibri" pitchFamily="34" charset="-122"/>
                <a:cs typeface="Calibri" pitchFamily="34" charset="-120"/>
              </a:rPr>
              <a:t>BAHAFID Mohamed  ·  Rapport U62  ·  BTS MEC 2026  ·  12/15</a:t>
            </a:r>
            <a:endParaRPr lang="en-US" sz="700" dirty="0"/>
          </a:p>
        </p:txBody>
      </p:sp>
      <p:sp>
        <p:nvSpPr>
          <p:cNvPr id="6" name="Text 4"/>
          <p:cNvSpPr/>
          <p:nvPr/>
        </p:nvSpPr>
        <p:spPr>
          <a:xfrm>
            <a:off x="365760" y="530352"/>
            <a:ext cx="8412480" cy="384048"/>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ANALYSE COMPARATIVE MAROC / FRANCE</a:t>
            </a:r>
            <a:endParaRPr lang="en-US" sz="1800" dirty="0"/>
          </a:p>
        </p:txBody>
      </p:sp>
      <p:sp>
        <p:nvSpPr>
          <p:cNvPr id="7" name="Text 5"/>
          <p:cNvSpPr/>
          <p:nvPr/>
        </p:nvSpPr>
        <p:spPr>
          <a:xfrm>
            <a:off x="365760" y="896112"/>
            <a:ext cx="8412480" cy="256032"/>
          </a:xfrm>
          <a:prstGeom prst="rect">
            <a:avLst/>
          </a:prstGeom>
          <a:noFill/>
          <a:ln/>
        </p:spPr>
        <p:txBody>
          <a:bodyPr wrap="square" lIns="0" tIns="0" rIns="0" bIns="0" rtlCol="0" anchor="ctr"/>
          <a:lstStyle/>
          <a:p>
            <a:pPr indent="0" marL="0">
              <a:buNone/>
            </a:pPr>
            <a:r>
              <a:rPr lang="en-US" sz="950" dirty="0">
                <a:solidFill>
                  <a:srgbClr val="777777"/>
                </a:solidFill>
                <a:latin typeface="Calibri" pitchFamily="34" charset="0"/>
                <a:ea typeface="Calibri" pitchFamily="34" charset="-122"/>
                <a:cs typeface="Calibri" pitchFamily="34" charset="-120"/>
              </a:rPr>
              <a:t>Mêmes fondamentaux – deux cadres réglementaires – une seule exigence : la rigueur</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1645920"/>
                <a:gridCol w="3383280"/>
                <a:gridCol w="3383280"/>
              </a:tblGrid>
              <a:tr h="329184">
                <a:tc>
                  <a:txBody>
                    <a:bodyPr/>
                    <a:lstStyle/>
                    <a:p>
                      <a:pPr indent="0" marL="0">
                        <a:buNone/>
                      </a:pPr>
                      <a:r>
                        <a:rPr lang="en-US" sz="800" b="1" dirty="0">
                          <a:solidFill>
                            <a:srgbClr val="FFFFFF"/>
                          </a:solidFill>
                        </a:rPr>
                        <a:t>Aspect</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A2744"/>
                    </a:solidFill>
                  </a:tcPr>
                </a:tc>
                <a:tc>
                  <a:txBody>
                    <a:bodyPr/>
                    <a:lstStyle/>
                    <a:p>
                      <a:pPr algn="ctr" indent="0" marL="0">
                        <a:buNone/>
                      </a:pPr>
                      <a:r>
                        <a:rPr lang="en-US" sz="800" b="1" dirty="0">
                          <a:solidFill>
                            <a:srgbClr val="FFFFFF"/>
                          </a:solidFill>
                        </a:rPr>
                        <a:t>🇲🇦  Maroc</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07A7F"/>
                    </a:solidFill>
                  </a:tcPr>
                </a:tc>
                <a:tc>
                  <a:txBody>
                    <a:bodyPr/>
                    <a:lstStyle/>
                    <a:p>
                      <a:pPr algn="ctr" indent="0" marL="0">
                        <a:buNone/>
                      </a:pPr>
                      <a:r>
                        <a:rPr lang="en-US" sz="800" b="1" dirty="0">
                          <a:solidFill>
                            <a:srgbClr val="FFFFFF"/>
                          </a:solidFill>
                        </a:rPr>
                        <a:t>🇫🇷  France</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D97706"/>
                    </a:solidFill>
                  </a:tcPr>
                </a:tc>
              </a:tr>
              <a:tr h="329184">
                <a:tc>
                  <a:txBody>
                    <a:bodyPr/>
                    <a:lstStyle/>
                    <a:p>
                      <a:pPr indent="0" marL="0">
                        <a:buNone/>
                      </a:pPr>
                      <a:r>
                        <a:rPr lang="en-US" sz="800" b="1" dirty="0">
                          <a:solidFill>
                            <a:srgbClr val="000000"/>
                          </a:solidFill>
                        </a:rPr>
                        <a:t>Réglementation</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800" dirty="0">
                          <a:solidFill>
                            <a:srgbClr val="000000"/>
                          </a:solidFill>
                        </a:rPr>
                        <a:t>Décret n°2-12-349</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800" dirty="0">
                          <a:solidFill>
                            <a:srgbClr val="000000"/>
                          </a:solidFill>
                        </a:rPr>
                        <a:t>Code commande publique</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29184">
                <a:tc>
                  <a:txBody>
                    <a:bodyPr/>
                    <a:lstStyle/>
                    <a:p>
                      <a:pPr indent="0" marL="0">
                        <a:buNone/>
                      </a:pPr>
                      <a:r>
                        <a:rPr lang="en-US" sz="800" b="1" dirty="0">
                          <a:solidFill>
                            <a:srgbClr val="000000"/>
                          </a:solidFill>
                        </a:rPr>
                        <a:t>Pièces marché</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800" dirty="0">
                          <a:solidFill>
                            <a:srgbClr val="000000"/>
                          </a:solidFill>
                        </a:rPr>
                        <a:t>CPS + RC + BPDE</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800" dirty="0">
                          <a:solidFill>
                            <a:srgbClr val="000000"/>
                          </a:solidFill>
                        </a:rPr>
                        <a:t>CCAP + CCTP + BPU/DQE</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29184">
                <a:tc>
                  <a:txBody>
                    <a:bodyPr/>
                    <a:lstStyle/>
                    <a:p>
                      <a:pPr indent="0" marL="0">
                        <a:buNone/>
                      </a:pPr>
                      <a:r>
                        <a:rPr lang="en-US" sz="800" b="1" dirty="0">
                          <a:solidFill>
                            <a:srgbClr val="000000"/>
                          </a:solidFill>
                        </a:rPr>
                        <a:t>Estimation</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800" dirty="0">
                          <a:solidFill>
                            <a:srgbClr val="000000"/>
                          </a:solidFill>
                        </a:rPr>
                        <a:t>Confidentielle obligatoire</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800" dirty="0">
                          <a:solidFill>
                            <a:srgbClr val="000000"/>
                          </a:solidFill>
                        </a:rPr>
                        <a:t>Estimation MOA</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29184">
                <a:tc>
                  <a:txBody>
                    <a:bodyPr/>
                    <a:lstStyle/>
                    <a:p>
                      <a:pPr indent="0" marL="0">
                        <a:buNone/>
                      </a:pPr>
                      <a:r>
                        <a:rPr lang="en-US" sz="800" b="1" dirty="0">
                          <a:solidFill>
                            <a:srgbClr val="000000"/>
                          </a:solidFill>
                        </a:rPr>
                        <a:t>Normes</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800" dirty="0">
                          <a:solidFill>
                            <a:srgbClr val="000000"/>
                          </a:solidFill>
                        </a:rPr>
                        <a:t>Normes marocaines, RPS 2000</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800" dirty="0">
                          <a:solidFill>
                            <a:srgbClr val="000000"/>
                          </a:solidFill>
                        </a:rPr>
                        <a:t>DTU, Eurocodes, RE2020</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29184">
                <a:tc>
                  <a:txBody>
                    <a:bodyPr/>
                    <a:lstStyle/>
                    <a:p>
                      <a:pPr indent="0" marL="0">
                        <a:buNone/>
                      </a:pPr>
                      <a:r>
                        <a:rPr lang="en-US" sz="800" b="1" dirty="0">
                          <a:solidFill>
                            <a:srgbClr val="000000"/>
                          </a:solidFill>
                        </a:rPr>
                        <a:t>Suivi financier</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800" dirty="0">
                          <a:solidFill>
                            <a:srgbClr val="000000"/>
                          </a:solidFill>
                        </a:rPr>
                        <a:t>Attachements contradictoires</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800" dirty="0">
                          <a:solidFill>
                            <a:srgbClr val="000000"/>
                          </a:solidFill>
                        </a:rPr>
                        <a:t>Situations mensuelles</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29184">
                <a:tc>
                  <a:txBody>
                    <a:bodyPr/>
                    <a:lstStyle/>
                    <a:p>
                      <a:pPr indent="0" marL="0">
                        <a:buNone/>
                      </a:pPr>
                      <a:r>
                        <a:rPr lang="en-US" sz="800" b="1" dirty="0">
                          <a:solidFill>
                            <a:srgbClr val="000000"/>
                          </a:solidFill>
                        </a:rPr>
                        <a:t>Commission</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800" dirty="0">
                          <a:solidFill>
                            <a:srgbClr val="000000"/>
                          </a:solidFill>
                        </a:rPr>
                        <a:t>CAO</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800" dirty="0">
                          <a:solidFill>
                            <a:srgbClr val="000000"/>
                          </a:solidFill>
                        </a:rPr>
                        <a:t>Commission d’AO</a:t>
                      </a:r>
                      <a:endParaRPr lang="en-US" sz="800" dirty="0"/>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sp>
        <p:nvSpPr>
          <p:cNvPr id="9" name="Shape 6"/>
          <p:cNvSpPr/>
          <p:nvPr/>
        </p:nvSpPr>
        <p:spPr>
          <a:xfrm>
            <a:off x="365760" y="3611880"/>
            <a:ext cx="3931920" cy="1051560"/>
          </a:xfrm>
          <a:prstGeom prst="rect">
            <a:avLst>
              <a:gd name="adj" fmla="val 4348"/>
            </a:avLst>
          </a:prstGeom>
          <a:solidFill>
            <a:srgbClr val="FFFFFF"/>
          </a:solidFill>
          <a:ln/>
          <a:effectLst>
            <a:outerShdw sx="100000" sy="100000" kx="0" ky="0" algn="bl" rotWithShape="0" blurRad="63500" dist="25400" dir="8100000">
              <a:srgbClr val="000000">
                <a:alpha val="8000"/>
              </a:srgbClr>
            </a:outerShdw>
          </a:effectLst>
        </p:spPr>
      </p:sp>
      <p:sp>
        <p:nvSpPr>
          <p:cNvPr id="10" name="Shape 7"/>
          <p:cNvSpPr/>
          <p:nvPr/>
        </p:nvSpPr>
        <p:spPr>
          <a:xfrm>
            <a:off x="365760" y="3611880"/>
            <a:ext cx="3931920" cy="36576"/>
          </a:xfrm>
          <a:prstGeom prst="rect">
            <a:avLst>
              <a:gd name="adj" fmla="val 50000"/>
            </a:avLst>
          </a:prstGeom>
          <a:solidFill>
            <a:srgbClr val="007A7F"/>
          </a:solidFill>
          <a:ln/>
        </p:spPr>
      </p:sp>
      <p:sp>
        <p:nvSpPr>
          <p:cNvPr id="11" name="Text 8"/>
          <p:cNvSpPr/>
          <p:nvPr/>
        </p:nvSpPr>
        <p:spPr>
          <a:xfrm>
            <a:off x="548640" y="3703320"/>
            <a:ext cx="3566160" cy="868680"/>
          </a:xfrm>
          <a:prstGeom prst="rect">
            <a:avLst/>
          </a:prstGeom>
          <a:noFill/>
          <a:ln/>
        </p:spPr>
        <p:txBody>
          <a:bodyPr wrap="square" lIns="0" tIns="0" rIns="0" bIns="0" rtlCol="0" anchor="ctr"/>
          <a:lstStyle/>
          <a:p>
            <a:pPr indent="0" marL="0">
              <a:buNone/>
            </a:pPr>
            <a:r>
              <a:rPr lang="en-US" sz="900" b="1" dirty="0">
                <a:solidFill>
                  <a:srgbClr val="007A7F"/>
                </a:solidFill>
                <a:latin typeface="Calibri" pitchFamily="34" charset="0"/>
                <a:ea typeface="Calibri" pitchFamily="34" charset="-122"/>
                <a:cs typeface="Calibri" pitchFamily="34" charset="-120"/>
              </a:rPr>
              <a:t>Côté MOA – Maroc</a:t>
            </a:r>
            <a:endParaRPr lang="en-US" sz="900" dirty="0"/>
          </a:p>
          <a:p>
            <a:pPr indent="0" marL="0">
              <a:buNone/>
            </a:pPr>
            <a:r>
              <a:rPr lang="en-US" sz="800" dirty="0">
                <a:solidFill>
                  <a:srgbClr val="3A3A3A"/>
                </a:solidFill>
                <a:latin typeface="Calibri" pitchFamily="34" charset="0"/>
                <a:ea typeface="Calibri" pitchFamily="34" charset="-122"/>
                <a:cs typeface="Calibri" pitchFamily="34" charset="-120"/>
              </a:rPr>
              <a:t>Concevoir les marchés, rédiger CPS/RC/BPDE, piloter la CAO. 7 marchés, 100 M DH.</a:t>
            </a:r>
            <a:endParaRPr lang="en-US" sz="900" dirty="0"/>
          </a:p>
        </p:txBody>
      </p:sp>
      <p:sp>
        <p:nvSpPr>
          <p:cNvPr id="12" name="Shape 9"/>
          <p:cNvSpPr/>
          <p:nvPr/>
        </p:nvSpPr>
        <p:spPr>
          <a:xfrm>
            <a:off x="4846320" y="3611880"/>
            <a:ext cx="3931920" cy="1051560"/>
          </a:xfrm>
          <a:prstGeom prst="rect">
            <a:avLst>
              <a:gd name="adj" fmla="val 4348"/>
            </a:avLst>
          </a:prstGeom>
          <a:solidFill>
            <a:srgbClr val="FFFFFF"/>
          </a:solidFill>
          <a:ln/>
          <a:effectLst>
            <a:outerShdw sx="100000" sy="100000" kx="0" ky="0" algn="bl" rotWithShape="0" blurRad="63500" dist="25400" dir="8100000">
              <a:srgbClr val="000000">
                <a:alpha val="8000"/>
              </a:srgbClr>
            </a:outerShdw>
          </a:effectLst>
        </p:spPr>
      </p:sp>
      <p:sp>
        <p:nvSpPr>
          <p:cNvPr id="13" name="Shape 10"/>
          <p:cNvSpPr/>
          <p:nvPr/>
        </p:nvSpPr>
        <p:spPr>
          <a:xfrm>
            <a:off x="4846320" y="3611880"/>
            <a:ext cx="3931920" cy="36576"/>
          </a:xfrm>
          <a:prstGeom prst="rect">
            <a:avLst>
              <a:gd name="adj" fmla="val 50000"/>
            </a:avLst>
          </a:prstGeom>
          <a:solidFill>
            <a:srgbClr val="D97706"/>
          </a:solidFill>
          <a:ln/>
        </p:spPr>
      </p:sp>
      <p:sp>
        <p:nvSpPr>
          <p:cNvPr id="14" name="Text 11"/>
          <p:cNvSpPr/>
          <p:nvPr/>
        </p:nvSpPr>
        <p:spPr>
          <a:xfrm>
            <a:off x="5029200" y="3703320"/>
            <a:ext cx="3566160" cy="868680"/>
          </a:xfrm>
          <a:prstGeom prst="rect">
            <a:avLst/>
          </a:prstGeom>
          <a:noFill/>
          <a:ln/>
        </p:spPr>
        <p:txBody>
          <a:bodyPr wrap="square" lIns="0" tIns="0" rIns="0" bIns="0" rtlCol="0" anchor="ctr"/>
          <a:lstStyle/>
          <a:p>
            <a:pPr indent="0" marL="0">
              <a:buNone/>
            </a:pPr>
            <a:r>
              <a:rPr lang="en-US" sz="900" b="1" dirty="0">
                <a:solidFill>
                  <a:srgbClr val="D97706"/>
                </a:solidFill>
                <a:latin typeface="Calibri" pitchFamily="34" charset="0"/>
                <a:ea typeface="Calibri" pitchFamily="34" charset="-122"/>
                <a:cs typeface="Calibri" pitchFamily="34" charset="-120"/>
              </a:rPr>
              <a:t>Côté exécution – France</a:t>
            </a:r>
            <a:endParaRPr lang="en-US" sz="900" dirty="0"/>
          </a:p>
          <a:p>
            <a:pPr indent="0" marL="0">
              <a:buNone/>
            </a:pPr>
            <a:r>
              <a:rPr lang="en-US" sz="800" dirty="0">
                <a:solidFill>
                  <a:srgbClr val="3A3A3A"/>
                </a:solidFill>
                <a:latin typeface="Calibri" pitchFamily="34" charset="0"/>
                <a:ea typeface="Calibri" pitchFamily="34" charset="-122"/>
                <a:cs typeface="Calibri" pitchFamily="34" charset="-120"/>
              </a:rPr>
              <a:t>Banches, ferraillage, planning, contrôle qualité. Coûts réels et rendements.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A7F"/>
          </a:solidFill>
          <a:ln/>
        </p:spPr>
      </p:sp>
      <p:sp>
        <p:nvSpPr>
          <p:cNvPr id="3" name="Shape 1"/>
          <p:cNvSpPr/>
          <p:nvPr/>
        </p:nvSpPr>
        <p:spPr>
          <a:xfrm>
            <a:off x="365760" y="137160"/>
            <a:ext cx="1554480" cy="329184"/>
          </a:xfrm>
          <a:prstGeom prst="rect">
            <a:avLst>
              <a:gd name="adj" fmla="val 11111"/>
            </a:avLst>
          </a:prstGeom>
          <a:solidFill>
            <a:srgbClr val="E0F4F5"/>
          </a:solidFill>
          <a:ln w="7620">
            <a:solidFill>
              <a:srgbClr val="007A7F"/>
            </a:solidFill>
            <a:prstDash val="solid"/>
          </a:ln>
        </p:spPr>
      </p:sp>
      <p:sp>
        <p:nvSpPr>
          <p:cNvPr id="4" name="Text 2"/>
          <p:cNvSpPr/>
          <p:nvPr/>
        </p:nvSpPr>
        <p:spPr>
          <a:xfrm>
            <a:off x="365760" y="137160"/>
            <a:ext cx="1554480" cy="329184"/>
          </a:xfrm>
          <a:prstGeom prst="rect">
            <a:avLst/>
          </a:prstGeom>
          <a:noFill/>
          <a:ln/>
        </p:spPr>
        <p:txBody>
          <a:bodyPr wrap="square" lIns="0" tIns="0" rIns="0" bIns="0" rtlCol="0" anchor="ctr"/>
          <a:lstStyle/>
          <a:p>
            <a:pPr algn="ctr" indent="0" marL="0">
              <a:buNone/>
            </a:pPr>
            <a:r>
              <a:rPr lang="en-US" sz="850" b="1" dirty="0">
                <a:solidFill>
                  <a:srgbClr val="007A7F"/>
                </a:solidFill>
                <a:latin typeface="Calibri" pitchFamily="34" charset="0"/>
                <a:ea typeface="Calibri" pitchFamily="34" charset="-122"/>
                <a:cs typeface="Calibri" pitchFamily="34" charset="-120"/>
              </a:rPr>
              <a:t>04 – Réflexif</a:t>
            </a:r>
            <a:endParaRPr lang="en-US" sz="850" dirty="0"/>
          </a:p>
        </p:txBody>
      </p:sp>
      <p:sp>
        <p:nvSpPr>
          <p:cNvPr id="5" name="Text 3"/>
          <p:cNvSpPr/>
          <p:nvPr/>
        </p:nvSpPr>
        <p:spPr>
          <a:xfrm>
            <a:off x="365760" y="4828032"/>
            <a:ext cx="8412480" cy="228600"/>
          </a:xfrm>
          <a:prstGeom prst="rect">
            <a:avLst/>
          </a:prstGeom>
          <a:noFill/>
          <a:ln/>
        </p:spPr>
        <p:txBody>
          <a:bodyPr wrap="square" rtlCol="0" anchor="ctr"/>
          <a:lstStyle/>
          <a:p>
            <a:pPr algn="r" indent="0" marL="0">
              <a:buNone/>
            </a:pPr>
            <a:r>
              <a:rPr lang="en-US" sz="700" dirty="0">
                <a:solidFill>
                  <a:srgbClr val="777777"/>
                </a:solidFill>
                <a:latin typeface="Calibri" pitchFamily="34" charset="0"/>
                <a:ea typeface="Calibri" pitchFamily="34" charset="-122"/>
                <a:cs typeface="Calibri" pitchFamily="34" charset="-120"/>
              </a:rPr>
              <a:t>BAHAFID Mohamed  ·  Rapport U62  ·  BTS MEC 2026  ·  13/15</a:t>
            </a:r>
            <a:endParaRPr lang="en-US" sz="700" dirty="0"/>
          </a:p>
        </p:txBody>
      </p:sp>
      <p:sp>
        <p:nvSpPr>
          <p:cNvPr id="6" name="Text 4"/>
          <p:cNvSpPr/>
          <p:nvPr/>
        </p:nvSpPr>
        <p:spPr>
          <a:xfrm>
            <a:off x="365760" y="530352"/>
            <a:ext cx="8412480" cy="384048"/>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BILAN RÉFLEXIF</a:t>
            </a:r>
            <a:endParaRPr lang="en-US" sz="1800" dirty="0"/>
          </a:p>
        </p:txBody>
      </p:sp>
      <p:sp>
        <p:nvSpPr>
          <p:cNvPr id="7" name="Text 5"/>
          <p:cNvSpPr/>
          <p:nvPr/>
        </p:nvSpPr>
        <p:spPr>
          <a:xfrm>
            <a:off x="365760" y="896112"/>
            <a:ext cx="8412480" cy="256032"/>
          </a:xfrm>
          <a:prstGeom prst="rect">
            <a:avLst/>
          </a:prstGeom>
          <a:noFill/>
          <a:ln/>
        </p:spPr>
        <p:txBody>
          <a:bodyPr wrap="square" lIns="0" tIns="0" rIns="0" bIns="0" rtlCol="0" anchor="ctr"/>
          <a:lstStyle/>
          <a:p>
            <a:pPr indent="0" marL="0">
              <a:buNone/>
            </a:pPr>
            <a:r>
              <a:rPr lang="en-US" sz="950" dirty="0">
                <a:solidFill>
                  <a:srgbClr val="777777"/>
                </a:solidFill>
                <a:latin typeface="Calibri" pitchFamily="34" charset="0"/>
                <a:ea typeface="Calibri" pitchFamily="34" charset="-122"/>
                <a:cs typeface="Calibri" pitchFamily="34" charset="-120"/>
              </a:rPr>
              <a:t>Ce que le terrain m’a appris – 8 ans de pratique</a:t>
            </a:r>
            <a:endParaRPr lang="en-US" sz="950" dirty="0"/>
          </a:p>
        </p:txBody>
      </p:sp>
      <p:sp>
        <p:nvSpPr>
          <p:cNvPr id="8" name="Shape 6"/>
          <p:cNvSpPr/>
          <p:nvPr/>
        </p:nvSpPr>
        <p:spPr>
          <a:xfrm>
            <a:off x="365760" y="1234440"/>
            <a:ext cx="8412480" cy="1024128"/>
          </a:xfrm>
          <a:prstGeom prst="rect">
            <a:avLst>
              <a:gd name="adj" fmla="val 4464"/>
            </a:avLst>
          </a:prstGeom>
          <a:solidFill>
            <a:srgbClr val="FFFFFF"/>
          </a:solidFill>
          <a:ln/>
          <a:effectLst>
            <a:outerShdw sx="100000" sy="100000" kx="0" ky="0" algn="bl" rotWithShape="0" blurRad="63500" dist="25400" dir="8100000">
              <a:srgbClr val="000000">
                <a:alpha val="8000"/>
              </a:srgbClr>
            </a:outerShdw>
          </a:effectLst>
        </p:spPr>
      </p:sp>
      <p:sp>
        <p:nvSpPr>
          <p:cNvPr id="9" name="Shape 7"/>
          <p:cNvSpPr/>
          <p:nvPr/>
        </p:nvSpPr>
        <p:spPr>
          <a:xfrm>
            <a:off x="365760" y="1234440"/>
            <a:ext cx="8412480" cy="36576"/>
          </a:xfrm>
          <a:prstGeom prst="rect">
            <a:avLst>
              <a:gd name="adj" fmla="val 50000"/>
            </a:avLst>
          </a:prstGeom>
          <a:solidFill>
            <a:srgbClr val="007A7F"/>
          </a:solidFill>
          <a:ln/>
        </p:spPr>
      </p:sp>
      <p:sp>
        <p:nvSpPr>
          <p:cNvPr id="10" name="Shape 8"/>
          <p:cNvSpPr/>
          <p:nvPr/>
        </p:nvSpPr>
        <p:spPr>
          <a:xfrm>
            <a:off x="502920" y="1344168"/>
            <a:ext cx="310896" cy="310896"/>
          </a:xfrm>
          <a:prstGeom prst="ellipse">
            <a:avLst/>
          </a:prstGeom>
          <a:solidFill>
            <a:srgbClr val="007A7F"/>
          </a:solidFill>
          <a:ln/>
        </p:spPr>
      </p:sp>
      <p:sp>
        <p:nvSpPr>
          <p:cNvPr id="11" name="Text 9"/>
          <p:cNvSpPr/>
          <p:nvPr/>
        </p:nvSpPr>
        <p:spPr>
          <a:xfrm>
            <a:off x="502920" y="134416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a:t>
            </a:r>
            <a:endParaRPr lang="en-US" sz="1300" dirty="0"/>
          </a:p>
        </p:txBody>
      </p:sp>
      <p:sp>
        <p:nvSpPr>
          <p:cNvPr id="12" name="Text 10"/>
          <p:cNvSpPr/>
          <p:nvPr/>
        </p:nvSpPr>
        <p:spPr>
          <a:xfrm>
            <a:off x="914400" y="1325880"/>
            <a:ext cx="7589520" cy="256032"/>
          </a:xfrm>
          <a:prstGeom prst="rect">
            <a:avLst/>
          </a:prstGeom>
          <a:noFill/>
          <a:ln/>
        </p:spPr>
        <p:txBody>
          <a:bodyPr wrap="square" lIns="0" tIns="0" rIns="0" bIns="0" rtlCol="0" anchor="ctr"/>
          <a:lstStyle/>
          <a:p>
            <a:pPr indent="0" marL="0">
              <a:buNone/>
            </a:pPr>
            <a:r>
              <a:rPr lang="en-US" sz="900" b="1" spc="100" kern="0" dirty="0">
                <a:solidFill>
                  <a:srgbClr val="007A7F"/>
                </a:solidFill>
                <a:latin typeface="Calibri" pitchFamily="34" charset="0"/>
                <a:ea typeface="Calibri" pitchFamily="34" charset="-122"/>
                <a:cs typeface="Calibri" pitchFamily="34" charset="-120"/>
              </a:rPr>
              <a:t>CE QUE J’AI APPRIS</a:t>
            </a:r>
            <a:endParaRPr lang="en-US" sz="900" dirty="0"/>
          </a:p>
        </p:txBody>
      </p:sp>
      <p:sp>
        <p:nvSpPr>
          <p:cNvPr id="13" name="Text 11"/>
          <p:cNvSpPr/>
          <p:nvPr/>
        </p:nvSpPr>
        <p:spPr>
          <a:xfrm>
            <a:off x="914400" y="1600200"/>
            <a:ext cx="7589520" cy="594360"/>
          </a:xfrm>
          <a:prstGeom prst="rect">
            <a:avLst/>
          </a:prstGeom>
          <a:noFill/>
          <a:ln/>
        </p:spPr>
        <p:txBody>
          <a:bodyPr wrap="square" lIns="0" tIns="0" rIns="0" bIns="0" rtlCol="0" anchor="ctr"/>
          <a:lstStyle/>
          <a:p>
            <a:pPr indent="0" marL="0">
              <a:buNone/>
            </a:pPr>
            <a:r>
              <a:rPr lang="en-US" sz="850" dirty="0">
                <a:solidFill>
                  <a:srgbClr val="3A3A3A"/>
                </a:solidFill>
                <a:latin typeface="Calibri" pitchFamily="34" charset="0"/>
                <a:ea typeface="Calibri" pitchFamily="34" charset="-122"/>
                <a:cs typeface="Calibri" pitchFamily="34" charset="-120"/>
              </a:rPr>
              <a:t>L’écrit systématique – OS, attachements, CR consolidés – est le seul rempart contre les litiges. Croiser 3 sources de prix donne un écart de 3,2% là où les estimations régionales dépassaient 10%. Voir le projet depuis le terrain rend les estimations plus justes.</a:t>
            </a:r>
            <a:endParaRPr lang="en-US" sz="850" dirty="0"/>
          </a:p>
        </p:txBody>
      </p:sp>
      <p:sp>
        <p:nvSpPr>
          <p:cNvPr id="14" name="Shape 12"/>
          <p:cNvSpPr/>
          <p:nvPr/>
        </p:nvSpPr>
        <p:spPr>
          <a:xfrm>
            <a:off x="365760" y="2423160"/>
            <a:ext cx="8412480" cy="1024128"/>
          </a:xfrm>
          <a:prstGeom prst="rect">
            <a:avLst>
              <a:gd name="adj" fmla="val 4464"/>
            </a:avLst>
          </a:prstGeom>
          <a:solidFill>
            <a:srgbClr val="FFFFFF"/>
          </a:solidFill>
          <a:ln/>
          <a:effectLst>
            <a:outerShdw sx="100000" sy="100000" kx="0" ky="0" algn="bl" rotWithShape="0" blurRad="63500" dist="25400" dir="8100000">
              <a:srgbClr val="000000">
                <a:alpha val="8000"/>
              </a:srgbClr>
            </a:outerShdw>
          </a:effectLst>
        </p:spPr>
      </p:sp>
      <p:sp>
        <p:nvSpPr>
          <p:cNvPr id="15" name="Shape 13"/>
          <p:cNvSpPr/>
          <p:nvPr/>
        </p:nvSpPr>
        <p:spPr>
          <a:xfrm>
            <a:off x="365760" y="2423160"/>
            <a:ext cx="8412480" cy="36576"/>
          </a:xfrm>
          <a:prstGeom prst="rect">
            <a:avLst>
              <a:gd name="adj" fmla="val 50000"/>
            </a:avLst>
          </a:prstGeom>
          <a:solidFill>
            <a:srgbClr val="D97706"/>
          </a:solidFill>
          <a:ln/>
        </p:spPr>
      </p:sp>
      <p:sp>
        <p:nvSpPr>
          <p:cNvPr id="16" name="Shape 14"/>
          <p:cNvSpPr/>
          <p:nvPr/>
        </p:nvSpPr>
        <p:spPr>
          <a:xfrm>
            <a:off x="502920" y="2532888"/>
            <a:ext cx="310896" cy="310896"/>
          </a:xfrm>
          <a:prstGeom prst="ellipse">
            <a:avLst/>
          </a:prstGeom>
          <a:solidFill>
            <a:srgbClr val="D97706"/>
          </a:solidFill>
          <a:ln/>
        </p:spPr>
      </p:sp>
      <p:sp>
        <p:nvSpPr>
          <p:cNvPr id="17" name="Text 15"/>
          <p:cNvSpPr/>
          <p:nvPr/>
        </p:nvSpPr>
        <p:spPr>
          <a:xfrm>
            <a:off x="502920" y="25328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D</a:t>
            </a:r>
            <a:endParaRPr lang="en-US" sz="1300" dirty="0"/>
          </a:p>
        </p:txBody>
      </p:sp>
      <p:sp>
        <p:nvSpPr>
          <p:cNvPr id="18" name="Text 16"/>
          <p:cNvSpPr/>
          <p:nvPr/>
        </p:nvSpPr>
        <p:spPr>
          <a:xfrm>
            <a:off x="914400" y="2514600"/>
            <a:ext cx="7589520" cy="256032"/>
          </a:xfrm>
          <a:prstGeom prst="rect">
            <a:avLst/>
          </a:prstGeom>
          <a:noFill/>
          <a:ln/>
        </p:spPr>
        <p:txBody>
          <a:bodyPr wrap="square" lIns="0" tIns="0" rIns="0" bIns="0" rtlCol="0" anchor="ctr"/>
          <a:lstStyle/>
          <a:p>
            <a:pPr indent="0" marL="0">
              <a:buNone/>
            </a:pPr>
            <a:r>
              <a:rPr lang="en-US" sz="900" b="1" spc="100" kern="0" dirty="0">
                <a:solidFill>
                  <a:srgbClr val="D97706"/>
                </a:solidFill>
                <a:latin typeface="Calibri" pitchFamily="34" charset="0"/>
                <a:ea typeface="Calibri" pitchFamily="34" charset="-122"/>
                <a:cs typeface="Calibri" pitchFamily="34" charset="-120"/>
              </a:rPr>
              <a:t>CE QUE JE FERAIS DIFFÉREMMENT</a:t>
            </a:r>
            <a:endParaRPr lang="en-US" sz="900" dirty="0"/>
          </a:p>
        </p:txBody>
      </p:sp>
      <p:sp>
        <p:nvSpPr>
          <p:cNvPr id="19" name="Text 17"/>
          <p:cNvSpPr/>
          <p:nvPr/>
        </p:nvSpPr>
        <p:spPr>
          <a:xfrm>
            <a:off x="914400" y="2788920"/>
            <a:ext cx="7589520" cy="594360"/>
          </a:xfrm>
          <a:prstGeom prst="rect">
            <a:avLst/>
          </a:prstGeom>
          <a:noFill/>
          <a:ln/>
        </p:spPr>
        <p:txBody>
          <a:bodyPr wrap="square" lIns="0" tIns="0" rIns="0" bIns="0" rtlCol="0" anchor="ctr"/>
          <a:lstStyle/>
          <a:p>
            <a:pPr indent="0" marL="0">
              <a:buNone/>
            </a:pPr>
            <a:r>
              <a:rPr lang="en-US" sz="850" dirty="0">
                <a:solidFill>
                  <a:srgbClr val="3A3A3A"/>
                </a:solidFill>
                <a:latin typeface="Calibri" pitchFamily="34" charset="0"/>
                <a:ea typeface="Calibri" pitchFamily="34" charset="-122"/>
                <a:cs typeface="Calibri" pitchFamily="34" charset="-120"/>
              </a:rPr>
              <a:t>Déployer le TdB dès le 1er mois, pas au 9ème quand le signal était déjà à +4,8%. Insister pour une étude géotechnique complémentaire avant terrassements. Standardiser les CR dès le démarrage – pas dans l’urgence de la semaine 23.</a:t>
            </a:r>
            <a:endParaRPr lang="en-US" sz="850" dirty="0"/>
          </a:p>
        </p:txBody>
      </p:sp>
      <p:sp>
        <p:nvSpPr>
          <p:cNvPr id="20" name="Shape 18"/>
          <p:cNvSpPr/>
          <p:nvPr/>
        </p:nvSpPr>
        <p:spPr>
          <a:xfrm>
            <a:off x="365760" y="3611880"/>
            <a:ext cx="8412480" cy="1024128"/>
          </a:xfrm>
          <a:prstGeom prst="rect">
            <a:avLst>
              <a:gd name="adj" fmla="val 4464"/>
            </a:avLst>
          </a:prstGeom>
          <a:solidFill>
            <a:srgbClr val="FFFFFF"/>
          </a:solidFill>
          <a:ln/>
          <a:effectLst>
            <a:outerShdw sx="100000" sy="100000" kx="0" ky="0" algn="bl" rotWithShape="0" blurRad="63500" dist="25400" dir="8100000">
              <a:srgbClr val="000000">
                <a:alpha val="8000"/>
              </a:srgbClr>
            </a:outerShdw>
          </a:effectLst>
        </p:spPr>
      </p:sp>
      <p:sp>
        <p:nvSpPr>
          <p:cNvPr id="21" name="Shape 19"/>
          <p:cNvSpPr/>
          <p:nvPr/>
        </p:nvSpPr>
        <p:spPr>
          <a:xfrm>
            <a:off x="365760" y="3611880"/>
            <a:ext cx="8412480" cy="36576"/>
          </a:xfrm>
          <a:prstGeom prst="rect">
            <a:avLst>
              <a:gd name="adj" fmla="val 50000"/>
            </a:avLst>
          </a:prstGeom>
          <a:solidFill>
            <a:srgbClr val="1A2744"/>
          </a:solidFill>
          <a:ln/>
        </p:spPr>
      </p:sp>
      <p:sp>
        <p:nvSpPr>
          <p:cNvPr id="22" name="Shape 20"/>
          <p:cNvSpPr/>
          <p:nvPr/>
        </p:nvSpPr>
        <p:spPr>
          <a:xfrm>
            <a:off x="502920" y="3721608"/>
            <a:ext cx="310896" cy="310896"/>
          </a:xfrm>
          <a:prstGeom prst="ellipse">
            <a:avLst/>
          </a:prstGeom>
          <a:solidFill>
            <a:srgbClr val="1A2744"/>
          </a:solidFill>
          <a:ln/>
        </p:spPr>
      </p:sp>
      <p:sp>
        <p:nvSpPr>
          <p:cNvPr id="23" name="Text 21"/>
          <p:cNvSpPr/>
          <p:nvPr/>
        </p:nvSpPr>
        <p:spPr>
          <a:xfrm>
            <a:off x="502920" y="372160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a:t>
            </a:r>
            <a:endParaRPr lang="en-US" sz="1300" dirty="0"/>
          </a:p>
        </p:txBody>
      </p:sp>
      <p:sp>
        <p:nvSpPr>
          <p:cNvPr id="24" name="Text 22"/>
          <p:cNvSpPr/>
          <p:nvPr/>
        </p:nvSpPr>
        <p:spPr>
          <a:xfrm>
            <a:off x="914400" y="3703320"/>
            <a:ext cx="7589520" cy="256032"/>
          </a:xfrm>
          <a:prstGeom prst="rect">
            <a:avLst/>
          </a:prstGeom>
          <a:noFill/>
          <a:ln/>
        </p:spPr>
        <p:txBody>
          <a:bodyPr wrap="square" lIns="0" tIns="0" rIns="0" bIns="0" rtlCol="0" anchor="ctr"/>
          <a:lstStyle/>
          <a:p>
            <a:pPr indent="0" marL="0">
              <a:buNone/>
            </a:pPr>
            <a:r>
              <a:rPr lang="en-US" sz="900" b="1" spc="100" kern="0" dirty="0">
                <a:solidFill>
                  <a:srgbClr val="1A2744"/>
                </a:solidFill>
                <a:latin typeface="Calibri" pitchFamily="34" charset="0"/>
                <a:ea typeface="Calibri" pitchFamily="34" charset="-122"/>
                <a:cs typeface="Calibri" pitchFamily="34" charset="-120"/>
              </a:rPr>
              <a:t>CE QUE J’APPORTE AU BTS MEC</a:t>
            </a:r>
            <a:endParaRPr lang="en-US" sz="900" dirty="0"/>
          </a:p>
        </p:txBody>
      </p:sp>
      <p:sp>
        <p:nvSpPr>
          <p:cNvPr id="25" name="Text 23"/>
          <p:cNvSpPr/>
          <p:nvPr/>
        </p:nvSpPr>
        <p:spPr>
          <a:xfrm>
            <a:off x="914400" y="3977640"/>
            <a:ext cx="7589520" cy="594360"/>
          </a:xfrm>
          <a:prstGeom prst="rect">
            <a:avLst/>
          </a:prstGeom>
          <a:noFill/>
          <a:ln/>
        </p:spPr>
        <p:txBody>
          <a:bodyPr wrap="square" lIns="0" tIns="0" rIns="0" bIns="0" rtlCol="0" anchor="ctr"/>
          <a:lstStyle/>
          <a:p>
            <a:pPr indent="0" marL="0">
              <a:buNone/>
            </a:pPr>
            <a:r>
              <a:rPr lang="en-US" sz="850" dirty="0">
                <a:solidFill>
                  <a:srgbClr val="3A3A3A"/>
                </a:solidFill>
                <a:latin typeface="Calibri" pitchFamily="34" charset="0"/>
                <a:ea typeface="Calibri" pitchFamily="34" charset="-122"/>
                <a:cs typeface="Calibri" pitchFamily="34" charset="-120"/>
              </a:rPr>
              <a:t>L’estimation confidentielle est l’acte fondateur de tout marché public. En France, mêmes fondamentaux avec le DQE/DPGF. Triple compétence MOA + Exécution + BIM = positionnement rare. BIMCO est né de ce parcours.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A7F"/>
          </a:solidFill>
          <a:ln/>
        </p:spPr>
      </p:sp>
      <p:sp>
        <p:nvSpPr>
          <p:cNvPr id="3" name="Shape 1"/>
          <p:cNvSpPr/>
          <p:nvPr/>
        </p:nvSpPr>
        <p:spPr>
          <a:xfrm>
            <a:off x="365760" y="137160"/>
            <a:ext cx="1097280" cy="329184"/>
          </a:xfrm>
          <a:prstGeom prst="rect">
            <a:avLst>
              <a:gd name="adj" fmla="val 11111"/>
            </a:avLst>
          </a:prstGeom>
          <a:solidFill>
            <a:srgbClr val="E0F4F5"/>
          </a:solidFill>
          <a:ln w="7620">
            <a:solidFill>
              <a:srgbClr val="007A7F"/>
            </a:solidFill>
            <a:prstDash val="solid"/>
          </a:ln>
        </p:spPr>
      </p:sp>
      <p:sp>
        <p:nvSpPr>
          <p:cNvPr id="4" name="Text 2"/>
          <p:cNvSpPr/>
          <p:nvPr/>
        </p:nvSpPr>
        <p:spPr>
          <a:xfrm>
            <a:off x="365760" y="137160"/>
            <a:ext cx="1097280" cy="329184"/>
          </a:xfrm>
          <a:prstGeom prst="rect">
            <a:avLst/>
          </a:prstGeom>
          <a:noFill/>
          <a:ln/>
        </p:spPr>
        <p:txBody>
          <a:bodyPr wrap="square" lIns="0" tIns="0" rIns="0" bIns="0" rtlCol="0" anchor="ctr"/>
          <a:lstStyle/>
          <a:p>
            <a:pPr algn="ctr" indent="0" marL="0">
              <a:buNone/>
            </a:pPr>
            <a:r>
              <a:rPr lang="en-US" sz="850" b="1" dirty="0">
                <a:solidFill>
                  <a:srgbClr val="007A7F"/>
                </a:solidFill>
                <a:latin typeface="Calibri" pitchFamily="34" charset="0"/>
                <a:ea typeface="Calibri" pitchFamily="34" charset="-122"/>
                <a:cs typeface="Calibri" pitchFamily="34" charset="-120"/>
              </a:rPr>
              <a:t>05 – BIM</a:t>
            </a:r>
            <a:endParaRPr lang="en-US" sz="850" dirty="0"/>
          </a:p>
        </p:txBody>
      </p:sp>
      <p:sp>
        <p:nvSpPr>
          <p:cNvPr id="5" name="Text 3"/>
          <p:cNvSpPr/>
          <p:nvPr/>
        </p:nvSpPr>
        <p:spPr>
          <a:xfrm>
            <a:off x="365760" y="4828032"/>
            <a:ext cx="8412480" cy="228600"/>
          </a:xfrm>
          <a:prstGeom prst="rect">
            <a:avLst/>
          </a:prstGeom>
          <a:noFill/>
          <a:ln/>
        </p:spPr>
        <p:txBody>
          <a:bodyPr wrap="square" rtlCol="0" anchor="ctr"/>
          <a:lstStyle/>
          <a:p>
            <a:pPr algn="r" indent="0" marL="0">
              <a:buNone/>
            </a:pPr>
            <a:r>
              <a:rPr lang="en-US" sz="700" dirty="0">
                <a:solidFill>
                  <a:srgbClr val="777777"/>
                </a:solidFill>
                <a:latin typeface="Calibri" pitchFamily="34" charset="0"/>
                <a:ea typeface="Calibri" pitchFamily="34" charset="-122"/>
                <a:cs typeface="Calibri" pitchFamily="34" charset="-120"/>
              </a:rPr>
              <a:t>BAHAFID Mohamed  ·  Rapport U62  ·  BTS MEC 2026  ·  14/15</a:t>
            </a:r>
            <a:endParaRPr lang="en-US" sz="700" dirty="0"/>
          </a:p>
        </p:txBody>
      </p:sp>
      <p:sp>
        <p:nvSpPr>
          <p:cNvPr id="6" name="Text 4"/>
          <p:cNvSpPr/>
          <p:nvPr/>
        </p:nvSpPr>
        <p:spPr>
          <a:xfrm>
            <a:off x="365760" y="530352"/>
            <a:ext cx="8412480" cy="384048"/>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PROTOCOLE BIM &amp; PERSPECTIVES BIMCO</a:t>
            </a:r>
            <a:endParaRPr lang="en-US" sz="1800" dirty="0"/>
          </a:p>
        </p:txBody>
      </p:sp>
      <p:sp>
        <p:nvSpPr>
          <p:cNvPr id="7" name="Text 5"/>
          <p:cNvSpPr/>
          <p:nvPr/>
        </p:nvSpPr>
        <p:spPr>
          <a:xfrm>
            <a:off x="365760" y="896112"/>
            <a:ext cx="8412480" cy="256032"/>
          </a:xfrm>
          <a:prstGeom prst="rect">
            <a:avLst/>
          </a:prstGeom>
          <a:noFill/>
          <a:ln/>
        </p:spPr>
        <p:txBody>
          <a:bodyPr wrap="square" lIns="0" tIns="0" rIns="0" bIns="0" rtlCol="0" anchor="ctr"/>
          <a:lstStyle/>
          <a:p>
            <a:pPr indent="0" marL="0">
              <a:buNone/>
            </a:pPr>
            <a:r>
              <a:rPr lang="en-US" sz="950" dirty="0">
                <a:solidFill>
                  <a:srgbClr val="777777"/>
                </a:solidFill>
                <a:latin typeface="Calibri" pitchFamily="34" charset="0"/>
                <a:ea typeface="Calibri" pitchFamily="34" charset="-122"/>
                <a:cs typeface="Calibri" pitchFamily="34" charset="-120"/>
              </a:rPr>
              <a:t>Formation AFPA Colmar + Projet professionnel 2026–2029</a:t>
            </a:r>
            <a:endParaRPr lang="en-US" sz="950" dirty="0"/>
          </a:p>
        </p:txBody>
      </p:sp>
      <p:sp>
        <p:nvSpPr>
          <p:cNvPr id="8" name="Shape 6"/>
          <p:cNvSpPr/>
          <p:nvPr/>
        </p:nvSpPr>
        <p:spPr>
          <a:xfrm>
            <a:off x="365760" y="1234440"/>
            <a:ext cx="4114800" cy="3429000"/>
          </a:xfrm>
          <a:prstGeom prst="rect">
            <a:avLst>
              <a:gd name="adj" fmla="val 1333"/>
            </a:avLst>
          </a:prstGeom>
          <a:solidFill>
            <a:srgbClr val="FFFFFF"/>
          </a:solidFill>
          <a:ln/>
          <a:effectLst>
            <a:outerShdw sx="100000" sy="100000" kx="0" ky="0" algn="bl" rotWithShape="0" blurRad="63500" dist="25400" dir="8100000">
              <a:srgbClr val="000000">
                <a:alpha val="8000"/>
              </a:srgbClr>
            </a:outerShdw>
          </a:effectLst>
        </p:spPr>
      </p:sp>
      <p:sp>
        <p:nvSpPr>
          <p:cNvPr id="9" name="Shape 7"/>
          <p:cNvSpPr/>
          <p:nvPr/>
        </p:nvSpPr>
        <p:spPr>
          <a:xfrm>
            <a:off x="365760" y="1234440"/>
            <a:ext cx="4114800" cy="36576"/>
          </a:xfrm>
          <a:prstGeom prst="rect">
            <a:avLst>
              <a:gd name="adj" fmla="val 50000"/>
            </a:avLst>
          </a:prstGeom>
          <a:solidFill>
            <a:srgbClr val="007A7F"/>
          </a:solidFill>
          <a:ln/>
        </p:spPr>
      </p:sp>
      <p:sp>
        <p:nvSpPr>
          <p:cNvPr id="10" name="Text 8"/>
          <p:cNvSpPr/>
          <p:nvPr/>
        </p:nvSpPr>
        <p:spPr>
          <a:xfrm>
            <a:off x="548640" y="1371600"/>
            <a:ext cx="3749040" cy="201168"/>
          </a:xfrm>
          <a:prstGeom prst="rect">
            <a:avLst/>
          </a:prstGeom>
          <a:noFill/>
          <a:ln/>
        </p:spPr>
        <p:txBody>
          <a:bodyPr wrap="square" lIns="0" tIns="0" rIns="0" bIns="0" rtlCol="0" anchor="ctr"/>
          <a:lstStyle/>
          <a:p>
            <a:pPr indent="0" marL="0">
              <a:buNone/>
            </a:pPr>
            <a:r>
              <a:rPr lang="en-US" sz="900" b="1" spc="100" kern="0" dirty="0">
                <a:solidFill>
                  <a:srgbClr val="007A7F"/>
                </a:solidFill>
                <a:latin typeface="Calibri" pitchFamily="34" charset="0"/>
                <a:ea typeface="Calibri" pitchFamily="34" charset="-122"/>
                <a:cs typeface="Calibri" pitchFamily="34" charset="-120"/>
              </a:rPr>
              <a:t>PROTOCOLE BIM – CAS AFPA</a:t>
            </a:r>
            <a:endParaRPr lang="en-US" sz="900" dirty="0"/>
          </a:p>
        </p:txBody>
      </p:sp>
      <p:sp>
        <p:nvSpPr>
          <p:cNvPr id="11" name="Text 9"/>
          <p:cNvSpPr/>
          <p:nvPr/>
        </p:nvSpPr>
        <p:spPr>
          <a:xfrm>
            <a:off x="548640" y="1664208"/>
            <a:ext cx="1143000" cy="365760"/>
          </a:xfrm>
          <a:prstGeom prst="rect">
            <a:avLst/>
          </a:prstGeom>
          <a:noFill/>
          <a:ln/>
        </p:spPr>
        <p:txBody>
          <a:bodyPr wrap="square" lIns="0" tIns="0" rIns="0" bIns="0" rtlCol="0" anchor="ctr"/>
          <a:lstStyle/>
          <a:p>
            <a:pPr algn="ctr" indent="0" marL="0">
              <a:buNone/>
            </a:pPr>
            <a:r>
              <a:rPr lang="en-US" sz="2000" b="1" dirty="0">
                <a:solidFill>
                  <a:srgbClr val="007A7F"/>
                </a:solidFill>
                <a:latin typeface="Cambria" pitchFamily="34" charset="0"/>
                <a:ea typeface="Cambria" pitchFamily="34" charset="-122"/>
                <a:cs typeface="Cambria" pitchFamily="34" charset="-120"/>
              </a:rPr>
              <a:t>78</a:t>
            </a:r>
            <a:endParaRPr lang="en-US" sz="2000" dirty="0"/>
          </a:p>
        </p:txBody>
      </p:sp>
      <p:sp>
        <p:nvSpPr>
          <p:cNvPr id="12" name="Text 10"/>
          <p:cNvSpPr/>
          <p:nvPr/>
        </p:nvSpPr>
        <p:spPr>
          <a:xfrm>
            <a:off x="548640" y="2029968"/>
            <a:ext cx="1143000" cy="182880"/>
          </a:xfrm>
          <a:prstGeom prst="rect">
            <a:avLst/>
          </a:prstGeom>
          <a:noFill/>
          <a:ln/>
        </p:spPr>
        <p:txBody>
          <a:bodyPr wrap="square" lIns="0" tIns="0" rIns="0" bIns="0" rtlCol="0" anchor="ctr"/>
          <a:lstStyle/>
          <a:p>
            <a:pPr algn="ctr" indent="0" marL="0">
              <a:buNone/>
            </a:pPr>
            <a:r>
              <a:rPr lang="en-US" sz="700" dirty="0">
                <a:solidFill>
                  <a:srgbClr val="777777"/>
                </a:solidFill>
                <a:latin typeface="Calibri" pitchFamily="34" charset="0"/>
                <a:ea typeface="Calibri" pitchFamily="34" charset="-122"/>
                <a:cs typeface="Calibri" pitchFamily="34" charset="-120"/>
              </a:rPr>
              <a:t>postes</a:t>
            </a:r>
            <a:endParaRPr lang="en-US" sz="700" dirty="0"/>
          </a:p>
        </p:txBody>
      </p:sp>
      <p:sp>
        <p:nvSpPr>
          <p:cNvPr id="13" name="Text 11"/>
          <p:cNvSpPr/>
          <p:nvPr/>
        </p:nvSpPr>
        <p:spPr>
          <a:xfrm>
            <a:off x="1828800" y="1664208"/>
            <a:ext cx="1143000" cy="365760"/>
          </a:xfrm>
          <a:prstGeom prst="rect">
            <a:avLst/>
          </a:prstGeom>
          <a:noFill/>
          <a:ln/>
        </p:spPr>
        <p:txBody>
          <a:bodyPr wrap="square" lIns="0" tIns="0" rIns="0" bIns="0" rtlCol="0" anchor="ctr"/>
          <a:lstStyle/>
          <a:p>
            <a:pPr algn="ctr" indent="0" marL="0">
              <a:buNone/>
            </a:pPr>
            <a:r>
              <a:rPr lang="en-US" sz="2000" b="1" dirty="0">
                <a:solidFill>
                  <a:srgbClr val="007A7F"/>
                </a:solidFill>
                <a:latin typeface="Cambria" pitchFamily="34" charset="0"/>
                <a:ea typeface="Cambria" pitchFamily="34" charset="-122"/>
                <a:cs typeface="Cambria" pitchFamily="34" charset="-120"/>
              </a:rPr>
              <a:t>1,8%</a:t>
            </a:r>
            <a:endParaRPr lang="en-US" sz="2000" dirty="0"/>
          </a:p>
        </p:txBody>
      </p:sp>
      <p:sp>
        <p:nvSpPr>
          <p:cNvPr id="14" name="Text 12"/>
          <p:cNvSpPr/>
          <p:nvPr/>
        </p:nvSpPr>
        <p:spPr>
          <a:xfrm>
            <a:off x="1828800" y="2029968"/>
            <a:ext cx="1143000" cy="182880"/>
          </a:xfrm>
          <a:prstGeom prst="rect">
            <a:avLst/>
          </a:prstGeom>
          <a:noFill/>
          <a:ln/>
        </p:spPr>
        <p:txBody>
          <a:bodyPr wrap="square" lIns="0" tIns="0" rIns="0" bIns="0" rtlCol="0" anchor="ctr"/>
          <a:lstStyle/>
          <a:p>
            <a:pPr algn="ctr" indent="0" marL="0">
              <a:buNone/>
            </a:pPr>
            <a:r>
              <a:rPr lang="en-US" sz="700" dirty="0">
                <a:solidFill>
                  <a:srgbClr val="777777"/>
                </a:solidFill>
                <a:latin typeface="Calibri" pitchFamily="34" charset="0"/>
                <a:ea typeface="Calibri" pitchFamily="34" charset="-122"/>
                <a:cs typeface="Calibri" pitchFamily="34" charset="-120"/>
              </a:rPr>
              <a:t>écart</a:t>
            </a:r>
            <a:endParaRPr lang="en-US" sz="700" dirty="0"/>
          </a:p>
        </p:txBody>
      </p:sp>
      <p:sp>
        <p:nvSpPr>
          <p:cNvPr id="15" name="Text 13"/>
          <p:cNvSpPr/>
          <p:nvPr/>
        </p:nvSpPr>
        <p:spPr>
          <a:xfrm>
            <a:off x="3108960" y="1664208"/>
            <a:ext cx="1143000" cy="365760"/>
          </a:xfrm>
          <a:prstGeom prst="rect">
            <a:avLst/>
          </a:prstGeom>
          <a:noFill/>
          <a:ln/>
        </p:spPr>
        <p:txBody>
          <a:bodyPr wrap="square" lIns="0" tIns="0" rIns="0" bIns="0" rtlCol="0" anchor="ctr"/>
          <a:lstStyle/>
          <a:p>
            <a:pPr algn="ctr" indent="0" marL="0">
              <a:buNone/>
            </a:pPr>
            <a:r>
              <a:rPr lang="en-US" sz="2000" b="1" dirty="0">
                <a:solidFill>
                  <a:srgbClr val="007A7F"/>
                </a:solidFill>
                <a:latin typeface="Cambria" pitchFamily="34" charset="0"/>
                <a:ea typeface="Cambria" pitchFamily="34" charset="-122"/>
                <a:cs typeface="Cambria" pitchFamily="34" charset="-120"/>
              </a:rPr>
              <a:t>12</a:t>
            </a:r>
            <a:endParaRPr lang="en-US" sz="2000" dirty="0"/>
          </a:p>
        </p:txBody>
      </p:sp>
      <p:sp>
        <p:nvSpPr>
          <p:cNvPr id="16" name="Text 14"/>
          <p:cNvSpPr/>
          <p:nvPr/>
        </p:nvSpPr>
        <p:spPr>
          <a:xfrm>
            <a:off x="3108960" y="2029968"/>
            <a:ext cx="1143000" cy="182880"/>
          </a:xfrm>
          <a:prstGeom prst="rect">
            <a:avLst/>
          </a:prstGeom>
          <a:noFill/>
          <a:ln/>
        </p:spPr>
        <p:txBody>
          <a:bodyPr wrap="square" lIns="0" tIns="0" rIns="0" bIns="0" rtlCol="0" anchor="ctr"/>
          <a:lstStyle/>
          <a:p>
            <a:pPr algn="ctr" indent="0" marL="0">
              <a:buNone/>
            </a:pPr>
            <a:r>
              <a:rPr lang="en-US" sz="700" dirty="0">
                <a:solidFill>
                  <a:srgbClr val="777777"/>
                </a:solidFill>
                <a:latin typeface="Calibri" pitchFamily="34" charset="0"/>
                <a:ea typeface="Calibri" pitchFamily="34" charset="-122"/>
                <a:cs typeface="Calibri" pitchFamily="34" charset="-120"/>
              </a:rPr>
              <a:t>clashs</a:t>
            </a:r>
            <a:endParaRPr lang="en-US" sz="700" dirty="0"/>
          </a:p>
        </p:txBody>
      </p:sp>
      <p:sp>
        <p:nvSpPr>
          <p:cNvPr id="17" name="Shape 15"/>
          <p:cNvSpPr/>
          <p:nvPr/>
        </p:nvSpPr>
        <p:spPr>
          <a:xfrm>
            <a:off x="548640" y="2377440"/>
            <a:ext cx="182880" cy="182880"/>
          </a:xfrm>
          <a:prstGeom prst="ellipse">
            <a:avLst/>
          </a:prstGeom>
          <a:solidFill>
            <a:srgbClr val="007A7F"/>
          </a:solidFill>
          <a:ln/>
        </p:spPr>
      </p:sp>
      <p:sp>
        <p:nvSpPr>
          <p:cNvPr id="18" name="Text 16"/>
          <p:cNvSpPr/>
          <p:nvPr/>
        </p:nvSpPr>
        <p:spPr>
          <a:xfrm>
            <a:off x="548640" y="2377440"/>
            <a:ext cx="18288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1</a:t>
            </a:r>
            <a:endParaRPr lang="en-US" sz="1000" dirty="0"/>
          </a:p>
        </p:txBody>
      </p:sp>
      <p:sp>
        <p:nvSpPr>
          <p:cNvPr id="19" name="Text 17"/>
          <p:cNvSpPr/>
          <p:nvPr/>
        </p:nvSpPr>
        <p:spPr>
          <a:xfrm>
            <a:off x="804672" y="2359152"/>
            <a:ext cx="3520440" cy="329184"/>
          </a:xfrm>
          <a:prstGeom prst="rect">
            <a:avLst/>
          </a:prstGeom>
          <a:noFill/>
          <a:ln/>
        </p:spPr>
        <p:txBody>
          <a:bodyPr wrap="square" lIns="0" tIns="0" rIns="0" bIns="0" rtlCol="0" anchor="ctr"/>
          <a:lstStyle/>
          <a:p>
            <a:pPr indent="0" marL="0">
              <a:buNone/>
            </a:pPr>
            <a:r>
              <a:rPr lang="en-US" sz="750" dirty="0">
                <a:solidFill>
                  <a:srgbClr val="3A3A3A"/>
                </a:solidFill>
                <a:latin typeface="Calibri" pitchFamily="34" charset="0"/>
                <a:ea typeface="Calibri" pitchFamily="34" charset="-122"/>
                <a:cs typeface="Calibri" pitchFamily="34" charset="-120"/>
              </a:rPr>
              <a:t>Modélisation Revit Architecture + Structure (LOD 300)</a:t>
            </a:r>
            <a:endParaRPr lang="en-US" sz="750" dirty="0"/>
          </a:p>
        </p:txBody>
      </p:sp>
      <p:sp>
        <p:nvSpPr>
          <p:cNvPr id="20" name="Shape 18"/>
          <p:cNvSpPr/>
          <p:nvPr/>
        </p:nvSpPr>
        <p:spPr>
          <a:xfrm>
            <a:off x="548640" y="2761488"/>
            <a:ext cx="182880" cy="182880"/>
          </a:xfrm>
          <a:prstGeom prst="ellipse">
            <a:avLst/>
          </a:prstGeom>
          <a:solidFill>
            <a:srgbClr val="007A7F"/>
          </a:solidFill>
          <a:ln/>
        </p:spPr>
      </p:sp>
      <p:sp>
        <p:nvSpPr>
          <p:cNvPr id="21" name="Text 19"/>
          <p:cNvSpPr/>
          <p:nvPr/>
        </p:nvSpPr>
        <p:spPr>
          <a:xfrm>
            <a:off x="548640" y="2761488"/>
            <a:ext cx="18288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2</a:t>
            </a:r>
            <a:endParaRPr lang="en-US" sz="1000" dirty="0"/>
          </a:p>
        </p:txBody>
      </p:sp>
      <p:sp>
        <p:nvSpPr>
          <p:cNvPr id="22" name="Text 20"/>
          <p:cNvSpPr/>
          <p:nvPr/>
        </p:nvSpPr>
        <p:spPr>
          <a:xfrm>
            <a:off x="804672" y="2743200"/>
            <a:ext cx="3520440" cy="329184"/>
          </a:xfrm>
          <a:prstGeom prst="rect">
            <a:avLst/>
          </a:prstGeom>
          <a:noFill/>
          <a:ln/>
        </p:spPr>
        <p:txBody>
          <a:bodyPr wrap="square" lIns="0" tIns="0" rIns="0" bIns="0" rtlCol="0" anchor="ctr"/>
          <a:lstStyle/>
          <a:p>
            <a:pPr indent="0" marL="0">
              <a:buNone/>
            </a:pPr>
            <a:r>
              <a:rPr lang="en-US" sz="750" dirty="0">
                <a:solidFill>
                  <a:srgbClr val="3A3A3A"/>
                </a:solidFill>
                <a:latin typeface="Calibri" pitchFamily="34" charset="0"/>
                <a:ea typeface="Calibri" pitchFamily="34" charset="-122"/>
                <a:cs typeface="Calibri" pitchFamily="34" charset="-120"/>
              </a:rPr>
              <a:t>Export IFC 2x3 – Open BIM – MVD Coordination View</a:t>
            </a:r>
            <a:endParaRPr lang="en-US" sz="750" dirty="0"/>
          </a:p>
        </p:txBody>
      </p:sp>
      <p:sp>
        <p:nvSpPr>
          <p:cNvPr id="23" name="Shape 21"/>
          <p:cNvSpPr/>
          <p:nvPr/>
        </p:nvSpPr>
        <p:spPr>
          <a:xfrm>
            <a:off x="548640" y="3145536"/>
            <a:ext cx="182880" cy="182880"/>
          </a:xfrm>
          <a:prstGeom prst="ellipse">
            <a:avLst/>
          </a:prstGeom>
          <a:solidFill>
            <a:srgbClr val="007A7F"/>
          </a:solidFill>
          <a:ln/>
        </p:spPr>
      </p:sp>
      <p:sp>
        <p:nvSpPr>
          <p:cNvPr id="24" name="Text 22"/>
          <p:cNvSpPr/>
          <p:nvPr/>
        </p:nvSpPr>
        <p:spPr>
          <a:xfrm>
            <a:off x="548640" y="3145536"/>
            <a:ext cx="18288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3</a:t>
            </a:r>
            <a:endParaRPr lang="en-US" sz="1000" dirty="0"/>
          </a:p>
        </p:txBody>
      </p:sp>
      <p:sp>
        <p:nvSpPr>
          <p:cNvPr id="25" name="Text 23"/>
          <p:cNvSpPr/>
          <p:nvPr/>
        </p:nvSpPr>
        <p:spPr>
          <a:xfrm>
            <a:off x="804672" y="3127248"/>
            <a:ext cx="3520440" cy="329184"/>
          </a:xfrm>
          <a:prstGeom prst="rect">
            <a:avLst/>
          </a:prstGeom>
          <a:noFill/>
          <a:ln/>
        </p:spPr>
        <p:txBody>
          <a:bodyPr wrap="square" lIns="0" tIns="0" rIns="0" bIns="0" rtlCol="0" anchor="ctr"/>
          <a:lstStyle/>
          <a:p>
            <a:pPr indent="0" marL="0">
              <a:buNone/>
            </a:pPr>
            <a:r>
              <a:rPr lang="en-US" sz="750" dirty="0">
                <a:solidFill>
                  <a:srgbClr val="3A3A3A"/>
                </a:solidFill>
                <a:latin typeface="Calibri" pitchFamily="34" charset="0"/>
                <a:ea typeface="Calibri" pitchFamily="34" charset="-122"/>
                <a:cs typeface="Calibri" pitchFamily="34" charset="-120"/>
              </a:rPr>
              <a:t>Détection clashs Navisworks (12 conflits résolus)</a:t>
            </a:r>
            <a:endParaRPr lang="en-US" sz="750" dirty="0"/>
          </a:p>
        </p:txBody>
      </p:sp>
      <p:sp>
        <p:nvSpPr>
          <p:cNvPr id="26" name="Shape 24"/>
          <p:cNvSpPr/>
          <p:nvPr/>
        </p:nvSpPr>
        <p:spPr>
          <a:xfrm>
            <a:off x="548640" y="3529584"/>
            <a:ext cx="182880" cy="182880"/>
          </a:xfrm>
          <a:prstGeom prst="ellipse">
            <a:avLst/>
          </a:prstGeom>
          <a:solidFill>
            <a:srgbClr val="007A7F"/>
          </a:solidFill>
          <a:ln/>
        </p:spPr>
      </p:sp>
      <p:sp>
        <p:nvSpPr>
          <p:cNvPr id="27" name="Text 25"/>
          <p:cNvSpPr/>
          <p:nvPr/>
        </p:nvSpPr>
        <p:spPr>
          <a:xfrm>
            <a:off x="548640" y="3529584"/>
            <a:ext cx="18288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4</a:t>
            </a:r>
            <a:endParaRPr lang="en-US" sz="1000" dirty="0"/>
          </a:p>
        </p:txBody>
      </p:sp>
      <p:sp>
        <p:nvSpPr>
          <p:cNvPr id="28" name="Text 26"/>
          <p:cNvSpPr/>
          <p:nvPr/>
        </p:nvSpPr>
        <p:spPr>
          <a:xfrm>
            <a:off x="804672" y="3511296"/>
            <a:ext cx="3520440" cy="329184"/>
          </a:xfrm>
          <a:prstGeom prst="rect">
            <a:avLst/>
          </a:prstGeom>
          <a:noFill/>
          <a:ln/>
        </p:spPr>
        <p:txBody>
          <a:bodyPr wrap="square" lIns="0" tIns="0" rIns="0" bIns="0" rtlCol="0" anchor="ctr"/>
          <a:lstStyle/>
          <a:p>
            <a:pPr indent="0" marL="0">
              <a:buNone/>
            </a:pPr>
            <a:r>
              <a:rPr lang="en-US" sz="750" dirty="0">
                <a:solidFill>
                  <a:srgbClr val="3A3A3A"/>
                </a:solidFill>
                <a:latin typeface="Calibri" pitchFamily="34" charset="0"/>
                <a:ea typeface="Calibri" pitchFamily="34" charset="-122"/>
                <a:cs typeface="Calibri" pitchFamily="34" charset="-120"/>
              </a:rPr>
              <a:t>Extraction quantités Revit + Dynamo (2h vs 2 jours)</a:t>
            </a:r>
            <a:endParaRPr lang="en-US" sz="750" dirty="0"/>
          </a:p>
        </p:txBody>
      </p:sp>
      <p:sp>
        <p:nvSpPr>
          <p:cNvPr id="29" name="Shape 27"/>
          <p:cNvSpPr/>
          <p:nvPr/>
        </p:nvSpPr>
        <p:spPr>
          <a:xfrm>
            <a:off x="548640" y="3913632"/>
            <a:ext cx="182880" cy="182880"/>
          </a:xfrm>
          <a:prstGeom prst="ellipse">
            <a:avLst/>
          </a:prstGeom>
          <a:solidFill>
            <a:srgbClr val="007A7F"/>
          </a:solidFill>
          <a:ln/>
        </p:spPr>
      </p:sp>
      <p:sp>
        <p:nvSpPr>
          <p:cNvPr id="30" name="Text 28"/>
          <p:cNvSpPr/>
          <p:nvPr/>
        </p:nvSpPr>
        <p:spPr>
          <a:xfrm>
            <a:off x="548640" y="3913632"/>
            <a:ext cx="18288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5</a:t>
            </a:r>
            <a:endParaRPr lang="en-US" sz="1000" dirty="0"/>
          </a:p>
        </p:txBody>
      </p:sp>
      <p:sp>
        <p:nvSpPr>
          <p:cNvPr id="31" name="Text 29"/>
          <p:cNvSpPr/>
          <p:nvPr/>
        </p:nvSpPr>
        <p:spPr>
          <a:xfrm>
            <a:off x="804672" y="3895344"/>
            <a:ext cx="3520440" cy="329184"/>
          </a:xfrm>
          <a:prstGeom prst="rect">
            <a:avLst/>
          </a:prstGeom>
          <a:noFill/>
          <a:ln/>
        </p:spPr>
        <p:txBody>
          <a:bodyPr wrap="square" lIns="0" tIns="0" rIns="0" bIns="0" rtlCol="0" anchor="ctr"/>
          <a:lstStyle/>
          <a:p>
            <a:pPr indent="0" marL="0">
              <a:buNone/>
            </a:pPr>
            <a:r>
              <a:rPr lang="en-US" sz="750" dirty="0">
                <a:solidFill>
                  <a:srgbClr val="3A3A3A"/>
                </a:solidFill>
                <a:latin typeface="Calibri" pitchFamily="34" charset="0"/>
                <a:ea typeface="Calibri" pitchFamily="34" charset="-122"/>
                <a:cs typeface="Calibri" pitchFamily="34" charset="-120"/>
              </a:rPr>
              <a:t>Chiffrage avec traçabilité maquette</a:t>
            </a:r>
            <a:endParaRPr lang="en-US" sz="750" dirty="0"/>
          </a:p>
        </p:txBody>
      </p:sp>
      <p:sp>
        <p:nvSpPr>
          <p:cNvPr id="32" name="Shape 30"/>
          <p:cNvSpPr/>
          <p:nvPr/>
        </p:nvSpPr>
        <p:spPr>
          <a:xfrm>
            <a:off x="4663440" y="1234440"/>
            <a:ext cx="4114800" cy="3429000"/>
          </a:xfrm>
          <a:prstGeom prst="rect">
            <a:avLst>
              <a:gd name="adj" fmla="val 1333"/>
            </a:avLst>
          </a:prstGeom>
          <a:solidFill>
            <a:srgbClr val="FFFFFF"/>
          </a:solidFill>
          <a:ln/>
          <a:effectLst>
            <a:outerShdw sx="100000" sy="100000" kx="0" ky="0" algn="bl" rotWithShape="0" blurRad="63500" dist="25400" dir="8100000">
              <a:srgbClr val="000000">
                <a:alpha val="8000"/>
              </a:srgbClr>
            </a:outerShdw>
          </a:effectLst>
        </p:spPr>
      </p:sp>
      <p:sp>
        <p:nvSpPr>
          <p:cNvPr id="33" name="Shape 31"/>
          <p:cNvSpPr/>
          <p:nvPr/>
        </p:nvSpPr>
        <p:spPr>
          <a:xfrm>
            <a:off x="4663440" y="1234440"/>
            <a:ext cx="4114800" cy="36576"/>
          </a:xfrm>
          <a:prstGeom prst="rect">
            <a:avLst>
              <a:gd name="adj" fmla="val 50000"/>
            </a:avLst>
          </a:prstGeom>
          <a:solidFill>
            <a:srgbClr val="D97706"/>
          </a:solidFill>
          <a:ln/>
        </p:spPr>
      </p:sp>
      <p:sp>
        <p:nvSpPr>
          <p:cNvPr id="34" name="Text 32"/>
          <p:cNvSpPr/>
          <p:nvPr/>
        </p:nvSpPr>
        <p:spPr>
          <a:xfrm>
            <a:off x="4846320" y="1371600"/>
            <a:ext cx="3749040" cy="201168"/>
          </a:xfrm>
          <a:prstGeom prst="rect">
            <a:avLst/>
          </a:prstGeom>
          <a:noFill/>
          <a:ln/>
        </p:spPr>
        <p:txBody>
          <a:bodyPr wrap="square" lIns="0" tIns="0" rIns="0" bIns="0" rtlCol="0" anchor="ctr"/>
          <a:lstStyle/>
          <a:p>
            <a:pPr indent="0" marL="0">
              <a:buNone/>
            </a:pPr>
            <a:r>
              <a:rPr lang="en-US" sz="900" b="1" spc="100" kern="0" dirty="0">
                <a:solidFill>
                  <a:srgbClr val="D97706"/>
                </a:solidFill>
                <a:latin typeface="Calibri" pitchFamily="34" charset="0"/>
                <a:ea typeface="Calibri" pitchFamily="34" charset="-122"/>
                <a:cs typeface="Calibri" pitchFamily="34" charset="-120"/>
              </a:rPr>
              <a:t>PROJET PROFESSIONNEL</a:t>
            </a:r>
            <a:endParaRPr lang="en-US" sz="900" dirty="0"/>
          </a:p>
        </p:txBody>
      </p:sp>
      <p:sp>
        <p:nvSpPr>
          <p:cNvPr id="35" name="Shape 33"/>
          <p:cNvSpPr/>
          <p:nvPr/>
        </p:nvSpPr>
        <p:spPr>
          <a:xfrm>
            <a:off x="4846320" y="1691640"/>
            <a:ext cx="731520" cy="256032"/>
          </a:xfrm>
          <a:prstGeom prst="rect">
            <a:avLst>
              <a:gd name="adj" fmla="val 10714"/>
            </a:avLst>
          </a:prstGeom>
          <a:solidFill>
            <a:srgbClr val="007A7F"/>
          </a:solidFill>
          <a:ln/>
        </p:spPr>
      </p:sp>
      <p:sp>
        <p:nvSpPr>
          <p:cNvPr id="36" name="Text 34"/>
          <p:cNvSpPr/>
          <p:nvPr/>
        </p:nvSpPr>
        <p:spPr>
          <a:xfrm>
            <a:off x="4846320" y="1691640"/>
            <a:ext cx="7315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2026</a:t>
            </a:r>
            <a:endParaRPr lang="en-US" sz="800" dirty="0"/>
          </a:p>
        </p:txBody>
      </p:sp>
      <p:sp>
        <p:nvSpPr>
          <p:cNvPr id="37" name="Text 35"/>
          <p:cNvSpPr/>
          <p:nvPr/>
        </p:nvSpPr>
        <p:spPr>
          <a:xfrm>
            <a:off x="5669280" y="1691640"/>
            <a:ext cx="2926080" cy="256032"/>
          </a:xfrm>
          <a:prstGeom prst="rect">
            <a:avLst/>
          </a:prstGeom>
          <a:noFill/>
          <a:ln/>
        </p:spPr>
        <p:txBody>
          <a:bodyPr wrap="square" lIns="0" tIns="0" rIns="0" bIns="0" rtlCol="0" anchor="ctr"/>
          <a:lstStyle/>
          <a:p>
            <a:pPr indent="0" marL="0">
              <a:buNone/>
            </a:pPr>
            <a:r>
              <a:rPr lang="en-US" sz="900" b="1" dirty="0">
                <a:solidFill>
                  <a:srgbClr val="1E1E1E"/>
                </a:solidFill>
                <a:latin typeface="Calibri" pitchFamily="34" charset="0"/>
                <a:ea typeface="Calibri" pitchFamily="34" charset="-122"/>
                <a:cs typeface="Calibri" pitchFamily="34" charset="-120"/>
              </a:rPr>
              <a:t>Court terme</a:t>
            </a:r>
            <a:endParaRPr lang="en-US" sz="900" dirty="0"/>
          </a:p>
        </p:txBody>
      </p:sp>
      <p:sp>
        <p:nvSpPr>
          <p:cNvPr id="38" name="Text 36"/>
          <p:cNvSpPr/>
          <p:nvPr/>
        </p:nvSpPr>
        <p:spPr>
          <a:xfrm>
            <a:off x="4846320" y="1993392"/>
            <a:ext cx="3749040" cy="685800"/>
          </a:xfrm>
          <a:prstGeom prst="rect">
            <a:avLst/>
          </a:prstGeom>
          <a:noFill/>
          <a:ln/>
        </p:spPr>
        <p:txBody>
          <a:bodyPr wrap="square" lIns="0" tIns="0" rIns="0" bIns="0" rtlCol="0" anchor="ctr"/>
          <a:lstStyle/>
          <a:p>
            <a:pPr indent="0" marL="0">
              <a:buNone/>
            </a:pPr>
            <a:r>
              <a:rPr lang="en-US" sz="750" dirty="0">
                <a:solidFill>
                  <a:srgbClr val="3A3A3A"/>
                </a:solidFill>
                <a:latin typeface="Calibri" pitchFamily="34" charset="0"/>
                <a:ea typeface="Calibri" pitchFamily="34" charset="-122"/>
                <a:cs typeface="Calibri" pitchFamily="34" charset="-120"/>
              </a:rPr>
              <a:t>BTS MEC + premières prestations BIMCO : métrés BIM, études de prix, DPGF. Premiers plugins Revit/Dynamo.</a:t>
            </a:r>
            <a:endParaRPr lang="en-US" sz="750" dirty="0"/>
          </a:p>
        </p:txBody>
      </p:sp>
      <p:sp>
        <p:nvSpPr>
          <p:cNvPr id="39" name="Shape 37"/>
          <p:cNvSpPr/>
          <p:nvPr/>
        </p:nvSpPr>
        <p:spPr>
          <a:xfrm>
            <a:off x="4846320" y="2679192"/>
            <a:ext cx="731520" cy="256032"/>
          </a:xfrm>
          <a:prstGeom prst="rect">
            <a:avLst>
              <a:gd name="adj" fmla="val 10714"/>
            </a:avLst>
          </a:prstGeom>
          <a:solidFill>
            <a:srgbClr val="D97706"/>
          </a:solidFill>
          <a:ln/>
        </p:spPr>
      </p:sp>
      <p:sp>
        <p:nvSpPr>
          <p:cNvPr id="40" name="Text 38"/>
          <p:cNvSpPr/>
          <p:nvPr/>
        </p:nvSpPr>
        <p:spPr>
          <a:xfrm>
            <a:off x="4846320" y="2679192"/>
            <a:ext cx="7315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2027–28</a:t>
            </a:r>
            <a:endParaRPr lang="en-US" sz="800" dirty="0"/>
          </a:p>
        </p:txBody>
      </p:sp>
      <p:sp>
        <p:nvSpPr>
          <p:cNvPr id="41" name="Text 39"/>
          <p:cNvSpPr/>
          <p:nvPr/>
        </p:nvSpPr>
        <p:spPr>
          <a:xfrm>
            <a:off x="5669280" y="2679192"/>
            <a:ext cx="2926080" cy="256032"/>
          </a:xfrm>
          <a:prstGeom prst="rect">
            <a:avLst/>
          </a:prstGeom>
          <a:noFill/>
          <a:ln/>
        </p:spPr>
        <p:txBody>
          <a:bodyPr wrap="square" lIns="0" tIns="0" rIns="0" bIns="0" rtlCol="0" anchor="ctr"/>
          <a:lstStyle/>
          <a:p>
            <a:pPr indent="0" marL="0">
              <a:buNone/>
            </a:pPr>
            <a:r>
              <a:rPr lang="en-US" sz="900" b="1" dirty="0">
                <a:solidFill>
                  <a:srgbClr val="1E1E1E"/>
                </a:solidFill>
                <a:latin typeface="Calibri" pitchFamily="34" charset="0"/>
                <a:ea typeface="Calibri" pitchFamily="34" charset="-122"/>
                <a:cs typeface="Calibri" pitchFamily="34" charset="-120"/>
              </a:rPr>
              <a:t>Moyen terme</a:t>
            </a:r>
            <a:endParaRPr lang="en-US" sz="900" dirty="0"/>
          </a:p>
        </p:txBody>
      </p:sp>
      <p:sp>
        <p:nvSpPr>
          <p:cNvPr id="42" name="Text 40"/>
          <p:cNvSpPr/>
          <p:nvPr/>
        </p:nvSpPr>
        <p:spPr>
          <a:xfrm>
            <a:off x="4846320" y="2980944"/>
            <a:ext cx="3749040" cy="685800"/>
          </a:xfrm>
          <a:prstGeom prst="rect">
            <a:avLst/>
          </a:prstGeom>
          <a:noFill/>
          <a:ln/>
        </p:spPr>
        <p:txBody>
          <a:bodyPr wrap="square" lIns="0" tIns="0" rIns="0" bIns="0" rtlCol="0" anchor="ctr"/>
          <a:lstStyle/>
          <a:p>
            <a:pPr indent="0" marL="0">
              <a:buNone/>
            </a:pPr>
            <a:r>
              <a:rPr lang="en-US" sz="750" dirty="0">
                <a:solidFill>
                  <a:srgbClr val="3A3A3A"/>
                </a:solidFill>
                <a:latin typeface="Calibri" pitchFamily="34" charset="0"/>
                <a:ea typeface="Calibri" pitchFamily="34" charset="-122"/>
                <a:cs typeface="Calibri" pitchFamily="34" charset="-120"/>
              </a:rPr>
              <a:t>Plugin Revit → DPGF automatisé. App web suivi économique. Base prix Batiprix. 3–5 clients.</a:t>
            </a:r>
            <a:endParaRPr lang="en-US" sz="750" dirty="0"/>
          </a:p>
        </p:txBody>
      </p:sp>
      <p:sp>
        <p:nvSpPr>
          <p:cNvPr id="43" name="Shape 41"/>
          <p:cNvSpPr/>
          <p:nvPr/>
        </p:nvSpPr>
        <p:spPr>
          <a:xfrm>
            <a:off x="4846320" y="3666744"/>
            <a:ext cx="731520" cy="256032"/>
          </a:xfrm>
          <a:prstGeom prst="rect">
            <a:avLst>
              <a:gd name="adj" fmla="val 10714"/>
            </a:avLst>
          </a:prstGeom>
          <a:solidFill>
            <a:srgbClr val="1A2744"/>
          </a:solidFill>
          <a:ln/>
        </p:spPr>
      </p:sp>
      <p:sp>
        <p:nvSpPr>
          <p:cNvPr id="44" name="Text 42"/>
          <p:cNvSpPr/>
          <p:nvPr/>
        </p:nvSpPr>
        <p:spPr>
          <a:xfrm>
            <a:off x="4846320" y="3666744"/>
            <a:ext cx="7315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2029+</a:t>
            </a:r>
            <a:endParaRPr lang="en-US" sz="800" dirty="0"/>
          </a:p>
        </p:txBody>
      </p:sp>
      <p:sp>
        <p:nvSpPr>
          <p:cNvPr id="45" name="Text 43"/>
          <p:cNvSpPr/>
          <p:nvPr/>
        </p:nvSpPr>
        <p:spPr>
          <a:xfrm>
            <a:off x="5669280" y="3666744"/>
            <a:ext cx="2926080" cy="256032"/>
          </a:xfrm>
          <a:prstGeom prst="rect">
            <a:avLst/>
          </a:prstGeom>
          <a:noFill/>
          <a:ln/>
        </p:spPr>
        <p:txBody>
          <a:bodyPr wrap="square" lIns="0" tIns="0" rIns="0" bIns="0" rtlCol="0" anchor="ctr"/>
          <a:lstStyle/>
          <a:p>
            <a:pPr indent="0" marL="0">
              <a:buNone/>
            </a:pPr>
            <a:r>
              <a:rPr lang="en-US" sz="900" b="1" dirty="0">
                <a:solidFill>
                  <a:srgbClr val="1E1E1E"/>
                </a:solidFill>
                <a:latin typeface="Calibri" pitchFamily="34" charset="0"/>
                <a:ea typeface="Calibri" pitchFamily="34" charset="-122"/>
                <a:cs typeface="Calibri" pitchFamily="34" charset="-120"/>
              </a:rPr>
              <a:t>Long terme</a:t>
            </a:r>
            <a:endParaRPr lang="en-US" sz="900" dirty="0"/>
          </a:p>
        </p:txBody>
      </p:sp>
      <p:sp>
        <p:nvSpPr>
          <p:cNvPr id="46" name="Text 44"/>
          <p:cNvSpPr/>
          <p:nvPr/>
        </p:nvSpPr>
        <p:spPr>
          <a:xfrm>
            <a:off x="4846320" y="3968496"/>
            <a:ext cx="3749040" cy="685800"/>
          </a:xfrm>
          <a:prstGeom prst="rect">
            <a:avLst/>
          </a:prstGeom>
          <a:noFill/>
          <a:ln/>
        </p:spPr>
        <p:txBody>
          <a:bodyPr wrap="square" lIns="0" tIns="0" rIns="0" bIns="0" rtlCol="0" anchor="ctr"/>
          <a:lstStyle/>
          <a:p>
            <a:pPr indent="0" marL="0">
              <a:buNone/>
            </a:pPr>
            <a:r>
              <a:rPr lang="en-US" sz="750" dirty="0">
                <a:solidFill>
                  <a:srgbClr val="3A3A3A"/>
                </a:solidFill>
                <a:latin typeface="Calibri" pitchFamily="34" charset="0"/>
                <a:ea typeface="Calibri" pitchFamily="34" charset="-122"/>
                <a:cs typeface="Calibri" pitchFamily="34" charset="-120"/>
              </a:rPr>
              <a:t>Cabinet ingénierie BIM + éco construction. SaaS MEC. Équipe 3–5 pers. CA 200–300 k€/an.</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744"/>
        </a:solidFill>
      </p:bgPr>
    </p:bg>
    <p:spTree>
      <p:nvGrpSpPr>
        <p:cNvPr id="1" name=""/>
        <p:cNvGrpSpPr/>
        <p:nvPr/>
      </p:nvGrpSpPr>
      <p:grpSpPr>
        <a:xfrm>
          <a:off x="0" y="0"/>
          <a:ext cx="0" cy="0"/>
          <a:chOff x="0" y="0"/>
          <a:chExt cx="0" cy="0"/>
        </a:xfrm>
      </p:grpSpPr>
      <p:sp>
        <p:nvSpPr>
          <p:cNvPr id="2" name="Text 0"/>
          <p:cNvSpPr/>
          <p:nvPr/>
        </p:nvSpPr>
        <p:spPr>
          <a:xfrm>
            <a:off x="457200" y="365760"/>
            <a:ext cx="4572000" cy="274320"/>
          </a:xfrm>
          <a:prstGeom prst="rect">
            <a:avLst/>
          </a:prstGeom>
          <a:noFill/>
          <a:ln/>
        </p:spPr>
        <p:txBody>
          <a:bodyPr wrap="square" lIns="0" tIns="0" rIns="0" bIns="0" rtlCol="0" anchor="ctr"/>
          <a:lstStyle/>
          <a:p>
            <a:pPr indent="0" marL="0">
              <a:buNone/>
            </a:pPr>
            <a:r>
              <a:rPr lang="en-US" sz="900" spc="200" kern="0" dirty="0">
                <a:solidFill>
                  <a:srgbClr val="007A7F"/>
                </a:solidFill>
                <a:latin typeface="Calibri" pitchFamily="34" charset="0"/>
                <a:ea typeface="Calibri" pitchFamily="34" charset="-122"/>
                <a:cs typeface="Calibri" pitchFamily="34" charset="-120"/>
              </a:rPr>
              <a:t>Soutenance BTS MEC U62  ·  Session 2026</a:t>
            </a:r>
            <a:endParaRPr lang="en-US" sz="900" dirty="0"/>
          </a:p>
        </p:txBody>
      </p:sp>
      <p:sp>
        <p:nvSpPr>
          <p:cNvPr id="3" name="Shape 1"/>
          <p:cNvSpPr/>
          <p:nvPr/>
        </p:nvSpPr>
        <p:spPr>
          <a:xfrm>
            <a:off x="365760" y="777240"/>
            <a:ext cx="36576" cy="1371600"/>
          </a:xfrm>
          <a:prstGeom prst="rect">
            <a:avLst/>
          </a:prstGeom>
          <a:solidFill>
            <a:srgbClr val="007A7F"/>
          </a:solidFill>
          <a:ln/>
        </p:spPr>
      </p:sp>
      <p:sp>
        <p:nvSpPr>
          <p:cNvPr id="4" name="Text 2"/>
          <p:cNvSpPr/>
          <p:nvPr/>
        </p:nvSpPr>
        <p:spPr>
          <a:xfrm>
            <a:off x="548640" y="777240"/>
            <a:ext cx="5029200" cy="13716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Merci de votre</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attention</a:t>
            </a:r>
            <a:endParaRPr lang="en-US" sz="3400" dirty="0"/>
          </a:p>
        </p:txBody>
      </p:sp>
      <p:sp>
        <p:nvSpPr>
          <p:cNvPr id="5" name="Shape 3"/>
          <p:cNvSpPr/>
          <p:nvPr/>
        </p:nvSpPr>
        <p:spPr>
          <a:xfrm>
            <a:off x="5486400" y="640080"/>
            <a:ext cx="3291840" cy="804672"/>
          </a:xfrm>
          <a:prstGeom prst="rect">
            <a:avLst>
              <a:gd name="adj" fmla="val 5682"/>
            </a:avLst>
          </a:prstGeom>
          <a:solidFill>
            <a:srgbClr val="FFFFFF"/>
          </a:solidFill>
          <a:ln/>
          <a:effectLst>
            <a:outerShdw sx="100000" sy="100000" kx="0" ky="0" algn="bl" rotWithShape="0" blurRad="63500" dist="25400" dir="8100000">
              <a:srgbClr val="000000">
                <a:alpha val="8000"/>
              </a:srgbClr>
            </a:outerShdw>
          </a:effectLst>
        </p:spPr>
      </p:sp>
      <p:sp>
        <p:nvSpPr>
          <p:cNvPr id="6" name="Shape 4"/>
          <p:cNvSpPr/>
          <p:nvPr/>
        </p:nvSpPr>
        <p:spPr>
          <a:xfrm>
            <a:off x="5486400" y="640080"/>
            <a:ext cx="54864" cy="804672"/>
          </a:xfrm>
          <a:prstGeom prst="rect">
            <a:avLst>
              <a:gd name="adj" fmla="val 33333"/>
            </a:avLst>
          </a:prstGeom>
          <a:solidFill>
            <a:srgbClr val="007A7F"/>
          </a:solidFill>
          <a:ln/>
        </p:spPr>
      </p:sp>
      <p:sp>
        <p:nvSpPr>
          <p:cNvPr id="7" name="Shape 5"/>
          <p:cNvSpPr/>
          <p:nvPr/>
        </p:nvSpPr>
        <p:spPr>
          <a:xfrm>
            <a:off x="5623560" y="749808"/>
            <a:ext cx="256032" cy="256032"/>
          </a:xfrm>
          <a:prstGeom prst="ellipse">
            <a:avLst/>
          </a:prstGeom>
          <a:solidFill>
            <a:srgbClr val="007A7F"/>
          </a:solidFill>
          <a:ln/>
        </p:spPr>
      </p:sp>
      <p:sp>
        <p:nvSpPr>
          <p:cNvPr id="8" name="Text 6"/>
          <p:cNvSpPr/>
          <p:nvPr/>
        </p:nvSpPr>
        <p:spPr>
          <a:xfrm>
            <a:off x="5623560" y="74980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1</a:t>
            </a:r>
            <a:endParaRPr lang="en-US" sz="1000" dirty="0"/>
          </a:p>
        </p:txBody>
      </p:sp>
      <p:sp>
        <p:nvSpPr>
          <p:cNvPr id="9" name="Text 7"/>
          <p:cNvSpPr/>
          <p:nvPr/>
        </p:nvSpPr>
        <p:spPr>
          <a:xfrm>
            <a:off x="5989320" y="749808"/>
            <a:ext cx="2651760" cy="621792"/>
          </a:xfrm>
          <a:prstGeom prst="rect">
            <a:avLst/>
          </a:prstGeom>
          <a:noFill/>
          <a:ln/>
        </p:spPr>
        <p:txBody>
          <a:bodyPr wrap="square" lIns="0" tIns="0" rIns="0" bIns="0" rtlCol="0" anchor="ctr"/>
          <a:lstStyle/>
          <a:p>
            <a:pPr indent="0" marL="0">
              <a:buNone/>
            </a:pPr>
            <a:r>
              <a:rPr lang="en-US" sz="1000" b="1" dirty="0">
                <a:solidFill>
                  <a:srgbClr val="1E1E1E"/>
                </a:solidFill>
                <a:latin typeface="Calibri" pitchFamily="34" charset="0"/>
                <a:ea typeface="Calibri" pitchFamily="34" charset="-122"/>
                <a:cs typeface="Calibri" pitchFamily="34" charset="-120"/>
              </a:rPr>
              <a:t>5 compétences terrain</a:t>
            </a:r>
            <a:endParaRPr lang="en-US" sz="1000" dirty="0"/>
          </a:p>
          <a:p>
            <a:pPr indent="0" marL="0">
              <a:buNone/>
            </a:pPr>
            <a:r>
              <a:rPr lang="en-US" sz="800" dirty="0">
                <a:solidFill>
                  <a:srgbClr val="777777"/>
                </a:solidFill>
                <a:latin typeface="Calibri" pitchFamily="34" charset="0"/>
                <a:ea typeface="Calibri" pitchFamily="34" charset="-122"/>
                <a:cs typeface="Calibri" pitchFamily="34" charset="-120"/>
              </a:rPr>
              <a:t>Estimer, analyser, suivre, coordonner, contrôler</a:t>
            </a:r>
            <a:endParaRPr lang="en-US" sz="1000" dirty="0"/>
          </a:p>
        </p:txBody>
      </p:sp>
      <p:sp>
        <p:nvSpPr>
          <p:cNvPr id="10" name="Shape 8"/>
          <p:cNvSpPr/>
          <p:nvPr/>
        </p:nvSpPr>
        <p:spPr>
          <a:xfrm>
            <a:off x="5486400" y="1600200"/>
            <a:ext cx="3291840" cy="804672"/>
          </a:xfrm>
          <a:prstGeom prst="rect">
            <a:avLst>
              <a:gd name="adj" fmla="val 5682"/>
            </a:avLst>
          </a:prstGeom>
          <a:solidFill>
            <a:srgbClr val="FFFFFF"/>
          </a:solidFill>
          <a:ln/>
          <a:effectLst>
            <a:outerShdw sx="100000" sy="100000" kx="0" ky="0" algn="bl" rotWithShape="0" blurRad="63500" dist="25400" dir="8100000">
              <a:srgbClr val="000000">
                <a:alpha val="8000"/>
              </a:srgbClr>
            </a:outerShdw>
          </a:effectLst>
        </p:spPr>
      </p:sp>
      <p:sp>
        <p:nvSpPr>
          <p:cNvPr id="11" name="Shape 9"/>
          <p:cNvSpPr/>
          <p:nvPr/>
        </p:nvSpPr>
        <p:spPr>
          <a:xfrm>
            <a:off x="5486400" y="1600200"/>
            <a:ext cx="54864" cy="804672"/>
          </a:xfrm>
          <a:prstGeom prst="rect">
            <a:avLst>
              <a:gd name="adj" fmla="val 33333"/>
            </a:avLst>
          </a:prstGeom>
          <a:solidFill>
            <a:srgbClr val="D97706"/>
          </a:solidFill>
          <a:ln/>
        </p:spPr>
      </p:sp>
      <p:sp>
        <p:nvSpPr>
          <p:cNvPr id="12" name="Shape 10"/>
          <p:cNvSpPr/>
          <p:nvPr/>
        </p:nvSpPr>
        <p:spPr>
          <a:xfrm>
            <a:off x="5623560" y="1709928"/>
            <a:ext cx="256032" cy="256032"/>
          </a:xfrm>
          <a:prstGeom prst="ellipse">
            <a:avLst/>
          </a:prstGeom>
          <a:solidFill>
            <a:srgbClr val="D97706"/>
          </a:solidFill>
          <a:ln/>
        </p:spPr>
      </p:sp>
      <p:sp>
        <p:nvSpPr>
          <p:cNvPr id="13" name="Text 11"/>
          <p:cNvSpPr/>
          <p:nvPr/>
        </p:nvSpPr>
        <p:spPr>
          <a:xfrm>
            <a:off x="5623560" y="170992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2</a:t>
            </a:r>
            <a:endParaRPr lang="en-US" sz="1000" dirty="0"/>
          </a:p>
        </p:txBody>
      </p:sp>
      <p:sp>
        <p:nvSpPr>
          <p:cNvPr id="14" name="Text 12"/>
          <p:cNvSpPr/>
          <p:nvPr/>
        </p:nvSpPr>
        <p:spPr>
          <a:xfrm>
            <a:off x="5989320" y="1709928"/>
            <a:ext cx="2651760" cy="621792"/>
          </a:xfrm>
          <a:prstGeom prst="rect">
            <a:avLst/>
          </a:prstGeom>
          <a:noFill/>
          <a:ln/>
        </p:spPr>
        <p:txBody>
          <a:bodyPr wrap="square" lIns="0" tIns="0" rIns="0" bIns="0" rtlCol="0" anchor="ctr"/>
          <a:lstStyle/>
          <a:p>
            <a:pPr indent="0" marL="0">
              <a:buNone/>
            </a:pPr>
            <a:r>
              <a:rPr lang="en-US" sz="1000" b="1" dirty="0">
                <a:solidFill>
                  <a:srgbClr val="1E1E1E"/>
                </a:solidFill>
                <a:latin typeface="Calibri" pitchFamily="34" charset="0"/>
                <a:ea typeface="Calibri" pitchFamily="34" charset="-122"/>
                <a:cs typeface="Calibri" pitchFamily="34" charset="-120"/>
              </a:rPr>
              <a:t>Double lecture</a:t>
            </a:r>
            <a:endParaRPr lang="en-US" sz="1000" dirty="0"/>
          </a:p>
          <a:p>
            <a:pPr indent="0" marL="0">
              <a:buNone/>
            </a:pPr>
            <a:r>
              <a:rPr lang="en-US" sz="800" dirty="0">
                <a:solidFill>
                  <a:srgbClr val="777777"/>
                </a:solidFill>
                <a:latin typeface="Calibri" pitchFamily="34" charset="0"/>
                <a:ea typeface="Calibri" pitchFamily="34" charset="-122"/>
                <a:cs typeface="Calibri" pitchFamily="34" charset="-120"/>
              </a:rPr>
              <a:t>MOA Maroc + exécution France</a:t>
            </a:r>
            <a:endParaRPr lang="en-US" sz="1000" dirty="0"/>
          </a:p>
        </p:txBody>
      </p:sp>
      <p:sp>
        <p:nvSpPr>
          <p:cNvPr id="15" name="Shape 13"/>
          <p:cNvSpPr/>
          <p:nvPr/>
        </p:nvSpPr>
        <p:spPr>
          <a:xfrm>
            <a:off x="5486400" y="2560320"/>
            <a:ext cx="3291840" cy="804672"/>
          </a:xfrm>
          <a:prstGeom prst="rect">
            <a:avLst>
              <a:gd name="adj" fmla="val 5682"/>
            </a:avLst>
          </a:prstGeom>
          <a:solidFill>
            <a:srgbClr val="FFFFFF"/>
          </a:solidFill>
          <a:ln/>
          <a:effectLst>
            <a:outerShdw sx="100000" sy="100000" kx="0" ky="0" algn="bl" rotWithShape="0" blurRad="63500" dist="25400" dir="8100000">
              <a:srgbClr val="000000">
                <a:alpha val="8000"/>
              </a:srgbClr>
            </a:outerShdw>
          </a:effectLst>
        </p:spPr>
      </p:sp>
      <p:sp>
        <p:nvSpPr>
          <p:cNvPr id="16" name="Shape 14"/>
          <p:cNvSpPr/>
          <p:nvPr/>
        </p:nvSpPr>
        <p:spPr>
          <a:xfrm>
            <a:off x="5486400" y="2560320"/>
            <a:ext cx="54864" cy="804672"/>
          </a:xfrm>
          <a:prstGeom prst="rect">
            <a:avLst>
              <a:gd name="adj" fmla="val 33333"/>
            </a:avLst>
          </a:prstGeom>
          <a:solidFill>
            <a:srgbClr val="16A34A"/>
          </a:solidFill>
          <a:ln/>
        </p:spPr>
      </p:sp>
      <p:sp>
        <p:nvSpPr>
          <p:cNvPr id="17" name="Shape 15"/>
          <p:cNvSpPr/>
          <p:nvPr/>
        </p:nvSpPr>
        <p:spPr>
          <a:xfrm>
            <a:off x="5623560" y="2670048"/>
            <a:ext cx="256032" cy="256032"/>
          </a:xfrm>
          <a:prstGeom prst="ellipse">
            <a:avLst/>
          </a:prstGeom>
          <a:solidFill>
            <a:srgbClr val="16A34A"/>
          </a:solidFill>
          <a:ln/>
        </p:spPr>
      </p:sp>
      <p:sp>
        <p:nvSpPr>
          <p:cNvPr id="18" name="Text 16"/>
          <p:cNvSpPr/>
          <p:nvPr/>
        </p:nvSpPr>
        <p:spPr>
          <a:xfrm>
            <a:off x="5623560" y="267004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3</a:t>
            </a:r>
            <a:endParaRPr lang="en-US" sz="1000" dirty="0"/>
          </a:p>
        </p:txBody>
      </p:sp>
      <p:sp>
        <p:nvSpPr>
          <p:cNvPr id="19" name="Text 17"/>
          <p:cNvSpPr/>
          <p:nvPr/>
        </p:nvSpPr>
        <p:spPr>
          <a:xfrm>
            <a:off x="5989320" y="2670048"/>
            <a:ext cx="2651760" cy="621792"/>
          </a:xfrm>
          <a:prstGeom prst="rect">
            <a:avLst/>
          </a:prstGeom>
          <a:noFill/>
          <a:ln/>
        </p:spPr>
        <p:txBody>
          <a:bodyPr wrap="square" lIns="0" tIns="0" rIns="0" bIns="0" rtlCol="0" anchor="ctr"/>
          <a:lstStyle/>
          <a:p>
            <a:pPr indent="0" marL="0">
              <a:buNone/>
            </a:pPr>
            <a:r>
              <a:rPr lang="en-US" sz="1000" b="1" dirty="0">
                <a:solidFill>
                  <a:srgbClr val="1E1E1E"/>
                </a:solidFill>
                <a:latin typeface="Calibri" pitchFamily="34" charset="0"/>
                <a:ea typeface="Calibri" pitchFamily="34" charset="-122"/>
                <a:cs typeface="Calibri" pitchFamily="34" charset="-120"/>
              </a:rPr>
              <a:t>Rigueur de l’écrit</a:t>
            </a:r>
            <a:endParaRPr lang="en-US" sz="1000" dirty="0"/>
          </a:p>
          <a:p>
            <a:pPr indent="0" marL="0">
              <a:buNone/>
            </a:pPr>
            <a:r>
              <a:rPr lang="en-US" sz="800" dirty="0">
                <a:solidFill>
                  <a:srgbClr val="777777"/>
                </a:solidFill>
                <a:latin typeface="Calibri" pitchFamily="34" charset="0"/>
                <a:ea typeface="Calibri" pitchFamily="34" charset="-122"/>
                <a:cs typeface="Calibri" pitchFamily="34" charset="-120"/>
              </a:rPr>
              <a:t>OS, attachements, CR – le rempart contre les litiges</a:t>
            </a:r>
            <a:endParaRPr lang="en-US" sz="1000" dirty="0"/>
          </a:p>
        </p:txBody>
      </p:sp>
      <p:sp>
        <p:nvSpPr>
          <p:cNvPr id="20" name="Shape 18"/>
          <p:cNvSpPr/>
          <p:nvPr/>
        </p:nvSpPr>
        <p:spPr>
          <a:xfrm>
            <a:off x="5486400" y="3520440"/>
            <a:ext cx="3291840" cy="804672"/>
          </a:xfrm>
          <a:prstGeom prst="rect">
            <a:avLst>
              <a:gd name="adj" fmla="val 5682"/>
            </a:avLst>
          </a:prstGeom>
          <a:solidFill>
            <a:srgbClr val="FFFFFF"/>
          </a:solidFill>
          <a:ln/>
          <a:effectLst>
            <a:outerShdw sx="100000" sy="100000" kx="0" ky="0" algn="bl" rotWithShape="0" blurRad="63500" dist="25400" dir="8100000">
              <a:srgbClr val="000000">
                <a:alpha val="8000"/>
              </a:srgbClr>
            </a:outerShdw>
          </a:effectLst>
        </p:spPr>
      </p:sp>
      <p:sp>
        <p:nvSpPr>
          <p:cNvPr id="21" name="Shape 19"/>
          <p:cNvSpPr/>
          <p:nvPr/>
        </p:nvSpPr>
        <p:spPr>
          <a:xfrm>
            <a:off x="5486400" y="3520440"/>
            <a:ext cx="54864" cy="804672"/>
          </a:xfrm>
          <a:prstGeom prst="rect">
            <a:avLst>
              <a:gd name="adj" fmla="val 33333"/>
            </a:avLst>
          </a:prstGeom>
          <a:solidFill>
            <a:srgbClr val="1A2744"/>
          </a:solidFill>
          <a:ln/>
        </p:spPr>
      </p:sp>
      <p:sp>
        <p:nvSpPr>
          <p:cNvPr id="22" name="Shape 20"/>
          <p:cNvSpPr/>
          <p:nvPr/>
        </p:nvSpPr>
        <p:spPr>
          <a:xfrm>
            <a:off x="5623560" y="3630168"/>
            <a:ext cx="256032" cy="256032"/>
          </a:xfrm>
          <a:prstGeom prst="ellipse">
            <a:avLst/>
          </a:prstGeom>
          <a:solidFill>
            <a:srgbClr val="1A2744"/>
          </a:solidFill>
          <a:ln/>
        </p:spPr>
      </p:sp>
      <p:sp>
        <p:nvSpPr>
          <p:cNvPr id="23" name="Text 21"/>
          <p:cNvSpPr/>
          <p:nvPr/>
        </p:nvSpPr>
        <p:spPr>
          <a:xfrm>
            <a:off x="5623560" y="363016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4</a:t>
            </a:r>
            <a:endParaRPr lang="en-US" sz="1000" dirty="0"/>
          </a:p>
        </p:txBody>
      </p:sp>
      <p:sp>
        <p:nvSpPr>
          <p:cNvPr id="24" name="Text 22"/>
          <p:cNvSpPr/>
          <p:nvPr/>
        </p:nvSpPr>
        <p:spPr>
          <a:xfrm>
            <a:off x="5989320" y="3630168"/>
            <a:ext cx="2651760" cy="621792"/>
          </a:xfrm>
          <a:prstGeom prst="rect">
            <a:avLst/>
          </a:prstGeom>
          <a:noFill/>
          <a:ln/>
        </p:spPr>
        <p:txBody>
          <a:bodyPr wrap="square" lIns="0" tIns="0" rIns="0" bIns="0" rtlCol="0" anchor="ctr"/>
          <a:lstStyle/>
          <a:p>
            <a:pPr indent="0" marL="0">
              <a:buNone/>
            </a:pPr>
            <a:r>
              <a:rPr lang="en-US" sz="1000" b="1" dirty="0">
                <a:solidFill>
                  <a:srgbClr val="1E1E1E"/>
                </a:solidFill>
                <a:latin typeface="Calibri" pitchFamily="34" charset="0"/>
                <a:ea typeface="Calibri" pitchFamily="34" charset="-122"/>
                <a:cs typeface="Calibri" pitchFamily="34" charset="-120"/>
              </a:rPr>
              <a:t>BIMCO</a:t>
            </a:r>
            <a:endParaRPr lang="en-US" sz="1000" dirty="0"/>
          </a:p>
          <a:p>
            <a:pPr indent="0" marL="0">
              <a:buNone/>
            </a:pPr>
            <a:r>
              <a:rPr lang="en-US" sz="800" dirty="0">
                <a:solidFill>
                  <a:srgbClr val="777777"/>
                </a:solidFill>
                <a:latin typeface="Calibri" pitchFamily="34" charset="0"/>
                <a:ea typeface="Calibri" pitchFamily="34" charset="-122"/>
                <a:cs typeface="Calibri" pitchFamily="34" charset="-120"/>
              </a:rPr>
              <a:t>La rigueur terrain + les outils numériques</a:t>
            </a:r>
            <a:endParaRPr lang="en-US" sz="1000" dirty="0"/>
          </a:p>
        </p:txBody>
      </p:sp>
      <p:sp>
        <p:nvSpPr>
          <p:cNvPr id="25" name="Text 23"/>
          <p:cNvSpPr/>
          <p:nvPr/>
        </p:nvSpPr>
        <p:spPr>
          <a:xfrm>
            <a:off x="548640" y="4160520"/>
            <a:ext cx="5486400" cy="731520"/>
          </a:xfrm>
          <a:prstGeom prst="rect">
            <a:avLst/>
          </a:prstGeom>
          <a:noFill/>
          <a:ln/>
        </p:spPr>
        <p:txBody>
          <a:bodyPr wrap="square" lIns="0" tIns="0" rIns="0" bIns="0" rtlCol="0" anchor="ctr"/>
          <a:lstStyle/>
          <a:p>
            <a:pPr indent="0" marL="0">
              <a:buNone/>
            </a:pPr>
            <a:r>
              <a:rPr lang="en-US" sz="900" dirty="0">
                <a:solidFill>
                  <a:srgbClr val="007A7F"/>
                </a:solidFill>
                <a:latin typeface="Calibri" pitchFamily="34" charset="0"/>
                <a:ea typeface="Calibri" pitchFamily="34" charset="-122"/>
                <a:cs typeface="Calibri" pitchFamily="34" charset="-120"/>
              </a:rPr>
              <a:t>BAHAFID Mohamed  ·  N° 02537399911  ·  Académie de Lyon</a:t>
            </a:r>
            <a:endParaRPr lang="en-US" sz="900" dirty="0"/>
          </a:p>
          <a:p>
            <a:pPr indent="0" marL="0">
              <a:buNone/>
            </a:pPr>
            <a:r>
              <a:rPr lang="en-US" sz="900" dirty="0">
                <a:solidFill>
                  <a:srgbClr val="007A7F"/>
                </a:solidFill>
                <a:latin typeface="Calibri" pitchFamily="34" charset="0"/>
                <a:ea typeface="Calibri" pitchFamily="34" charset="-122"/>
                <a:cs typeface="Calibri" pitchFamily="34" charset="-120"/>
              </a:rPr>
              <a:t>BIMCO  |  gestion.bimco-consulting.fr  |  Bussières, Loire 42510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Rapport d’Activités Professionnelles – BTS MEC U62 – Session 2026</dc:title>
  <dc:subject>PptxGenJS Presentation</dc:subject>
  <dc:creator>BAHAFID Mohamed</dc:creator>
  <cp:lastModifiedBy>BAHAFID Mohamed</cp:lastModifiedBy>
  <cp:revision>1</cp:revision>
  <dcterms:created xsi:type="dcterms:W3CDTF">2026-03-23T16:17:15Z</dcterms:created>
  <dcterms:modified xsi:type="dcterms:W3CDTF">2026-03-23T16:17:15Z</dcterms:modified>
</cp:coreProperties>
</file>